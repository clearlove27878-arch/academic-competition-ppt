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20" d="100"/>
          <a:sy n="120" d="100"/>
        </p:scale>
        <p:origin x="80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a:spLocks noGrp="1"/>
          </p:cNvSpPr>
          <p:nvPr/>
        </p:nvSpPr>
        <p:spPr>
          <a:xfrm>
            <a:off x="0" y="0"/>
            <a:ext cx="12192000" cy="6858000"/>
          </a:xfrm>
          <a:prstGeom prst="rect">
            <a:avLst/>
          </a:prstGeom>
          <a:solidFill>
            <a:srgbClr val="0A3F40"/>
          </a:solidFill>
          <a:ln w="0">
            <a:solidFill>
              <a:srgbClr val="FFFFFF"/>
            </a:solidFill>
          </a:ln>
        </p:spPr>
      </p:sp>
      <p:sp>
        <p:nvSpPr>
          <p:cNvPr id="3" name="矩形 2"/>
          <p:cNvSpPr>
            <a:spLocks noGrp="1"/>
          </p:cNvSpPr>
          <p:nvPr/>
        </p:nvSpPr>
        <p:spPr>
          <a:xfrm>
            <a:off x="0" y="0"/>
            <a:ext cx="12192000" cy="6858000"/>
          </a:xfrm>
          <a:prstGeom prst="rect">
            <a:avLst/>
          </a:prstGeom>
          <a:solidFill>
            <a:srgbClr val="2F7150"/>
          </a:solidFill>
          <a:ln w="0">
            <a:solidFill>
              <a:srgbClr val="FFFFFF"/>
            </a:solidFill>
          </a:ln>
        </p:spPr>
      </p:sp>
      <p:sp>
        <p:nvSpPr>
          <p:cNvPr id="4" name="圆角矩形 3"/>
          <p:cNvSpPr>
            <a:spLocks noGrp="1"/>
          </p:cNvSpPr>
          <p:nvPr/>
        </p:nvSpPr>
        <p:spPr>
          <a:xfrm>
            <a:off x="-666750" y="381000"/>
            <a:ext cx="2286000" cy="4000500"/>
          </a:xfrm>
          <a:prstGeom prst="roundRect">
            <a:avLst>
              <a:gd name="adj" fmla="val 8333"/>
            </a:avLst>
          </a:prstGeom>
          <a:solidFill>
            <a:srgbClr val="174A33"/>
          </a:solidFill>
          <a:ln w="0">
            <a:solidFill>
              <a:srgbClr val="FFFFFF"/>
            </a:solidFill>
          </a:ln>
        </p:spPr>
      </p:sp>
      <p:sp>
        <p:nvSpPr>
          <p:cNvPr id="5" name="圆角矩形 4"/>
          <p:cNvSpPr>
            <a:spLocks noGrp="1"/>
          </p:cNvSpPr>
          <p:nvPr/>
        </p:nvSpPr>
        <p:spPr>
          <a:xfrm>
            <a:off x="952500" y="1219200"/>
            <a:ext cx="2286000" cy="4000500"/>
          </a:xfrm>
          <a:prstGeom prst="roundRect">
            <a:avLst>
              <a:gd name="adj" fmla="val 8333"/>
            </a:avLst>
          </a:prstGeom>
          <a:solidFill>
            <a:srgbClr val="6E966E"/>
          </a:solidFill>
          <a:ln w="0">
            <a:solidFill>
              <a:srgbClr val="FFFFFF"/>
            </a:solidFill>
          </a:ln>
        </p:spPr>
      </p:sp>
      <p:sp>
        <p:nvSpPr>
          <p:cNvPr id="6" name="圆角矩形 5"/>
          <p:cNvSpPr>
            <a:spLocks noGrp="1"/>
          </p:cNvSpPr>
          <p:nvPr/>
        </p:nvSpPr>
        <p:spPr>
          <a:xfrm>
            <a:off x="2571750" y="2057400"/>
            <a:ext cx="2286000" cy="4000500"/>
          </a:xfrm>
          <a:prstGeom prst="roundRect">
            <a:avLst>
              <a:gd name="adj" fmla="val 8333"/>
            </a:avLst>
          </a:prstGeom>
          <a:solidFill>
            <a:srgbClr val="174A33"/>
          </a:solidFill>
          <a:ln w="0">
            <a:solidFill>
              <a:srgbClr val="FFFFFF"/>
            </a:solidFill>
          </a:ln>
        </p:spPr>
      </p:sp>
      <p:sp>
        <p:nvSpPr>
          <p:cNvPr id="7" name="圆角矩形 6"/>
          <p:cNvSpPr>
            <a:spLocks noGrp="1"/>
          </p:cNvSpPr>
          <p:nvPr/>
        </p:nvSpPr>
        <p:spPr>
          <a:xfrm>
            <a:off x="4191000" y="381000"/>
            <a:ext cx="2286000" cy="4000500"/>
          </a:xfrm>
          <a:prstGeom prst="roundRect">
            <a:avLst>
              <a:gd name="adj" fmla="val 8333"/>
            </a:avLst>
          </a:prstGeom>
          <a:solidFill>
            <a:srgbClr val="6E966E"/>
          </a:solidFill>
          <a:ln w="0">
            <a:solidFill>
              <a:srgbClr val="FFFFFF"/>
            </a:solidFill>
          </a:ln>
        </p:spPr>
      </p:sp>
      <p:sp>
        <p:nvSpPr>
          <p:cNvPr id="8" name="圆角矩形 7"/>
          <p:cNvSpPr>
            <a:spLocks noGrp="1"/>
          </p:cNvSpPr>
          <p:nvPr/>
        </p:nvSpPr>
        <p:spPr>
          <a:xfrm>
            <a:off x="5810250" y="1219200"/>
            <a:ext cx="2286000" cy="4000500"/>
          </a:xfrm>
          <a:prstGeom prst="roundRect">
            <a:avLst>
              <a:gd name="adj" fmla="val 8333"/>
            </a:avLst>
          </a:prstGeom>
          <a:solidFill>
            <a:srgbClr val="174A33"/>
          </a:solidFill>
          <a:ln w="0">
            <a:solidFill>
              <a:srgbClr val="FFFFFF"/>
            </a:solidFill>
          </a:ln>
        </p:spPr>
      </p:sp>
      <p:sp>
        <p:nvSpPr>
          <p:cNvPr id="9" name="圆角矩形 8"/>
          <p:cNvSpPr>
            <a:spLocks noGrp="1"/>
          </p:cNvSpPr>
          <p:nvPr/>
        </p:nvSpPr>
        <p:spPr>
          <a:xfrm>
            <a:off x="7429500" y="2057400"/>
            <a:ext cx="2286000" cy="4000500"/>
          </a:xfrm>
          <a:prstGeom prst="roundRect">
            <a:avLst>
              <a:gd name="adj" fmla="val 8333"/>
            </a:avLst>
          </a:prstGeom>
          <a:solidFill>
            <a:srgbClr val="6E966E"/>
          </a:solidFill>
          <a:ln w="0">
            <a:solidFill>
              <a:srgbClr val="FFFFFF"/>
            </a:solidFill>
          </a:ln>
        </p:spPr>
      </p:sp>
      <p:sp>
        <p:nvSpPr>
          <p:cNvPr id="10" name="圆角矩形 9"/>
          <p:cNvSpPr>
            <a:spLocks noGrp="1"/>
          </p:cNvSpPr>
          <p:nvPr/>
        </p:nvSpPr>
        <p:spPr>
          <a:xfrm>
            <a:off x="9048750" y="381000"/>
            <a:ext cx="2286000" cy="4000500"/>
          </a:xfrm>
          <a:prstGeom prst="roundRect">
            <a:avLst>
              <a:gd name="adj" fmla="val 8333"/>
            </a:avLst>
          </a:prstGeom>
          <a:solidFill>
            <a:srgbClr val="174A33"/>
          </a:solidFill>
          <a:ln w="0">
            <a:solidFill>
              <a:srgbClr val="FFFFFF"/>
            </a:solidFill>
          </a:ln>
        </p:spPr>
      </p:sp>
      <p:sp>
        <p:nvSpPr>
          <p:cNvPr id="11" name="圆角矩形 10"/>
          <p:cNvSpPr>
            <a:spLocks noGrp="1"/>
          </p:cNvSpPr>
          <p:nvPr/>
        </p:nvSpPr>
        <p:spPr>
          <a:xfrm>
            <a:off x="10668000" y="1219200"/>
            <a:ext cx="2286000" cy="4000500"/>
          </a:xfrm>
          <a:prstGeom prst="roundRect">
            <a:avLst>
              <a:gd name="adj" fmla="val 8333"/>
            </a:avLst>
          </a:prstGeom>
          <a:solidFill>
            <a:srgbClr val="6E966E"/>
          </a:solidFill>
          <a:ln w="0">
            <a:solidFill>
              <a:srgbClr val="FFFFFF"/>
            </a:solidFill>
          </a:ln>
        </p:spPr>
      </p:sp>
      <p:sp>
        <p:nvSpPr>
          <p:cNvPr id="12" name="矩形 11"/>
          <p:cNvSpPr>
            <a:spLocks noGrp="1"/>
          </p:cNvSpPr>
          <p:nvPr/>
        </p:nvSpPr>
        <p:spPr>
          <a:xfrm>
            <a:off x="0" y="2333625"/>
            <a:ext cx="12192000" cy="1809750"/>
          </a:xfrm>
          <a:prstGeom prst="rect">
            <a:avLst/>
          </a:prstGeom>
          <a:solidFill>
            <a:srgbClr val="062C20"/>
          </a:solidFill>
          <a:ln w="0">
            <a:solidFill>
              <a:srgbClr val="FFFFFF"/>
            </a:solidFill>
          </a:ln>
        </p:spPr>
      </p:sp>
      <p:sp>
        <p:nvSpPr>
          <p:cNvPr id="13" name="矩形 12"/>
          <p:cNvSpPr>
            <a:spLocks noGrp="1"/>
          </p:cNvSpPr>
          <p:nvPr/>
        </p:nvSpPr>
        <p:spPr>
          <a:xfrm>
            <a:off x="1190625" y="2476500"/>
            <a:ext cx="9810750" cy="914400"/>
          </a:xfrm>
          <a:prstGeom prst="rect">
            <a:avLst/>
          </a:prstGeom>
          <a:noFill/>
          <a:ln w="0">
            <a:solidFill>
              <a:srgbClr val="FFFFFF"/>
            </a:solidFill>
          </a:ln>
        </p:spPr>
        <p:txBody>
          <a:bodyPr lIns="76200" tIns="38100" rIns="76200" bIns="38100" anchor="ctr"/>
          <a:lstStyle/>
          <a:p>
            <a:pPr algn="ctr">
              <a:defRPr sz="2775" b="1">
                <a:solidFill>
                  <a:srgbClr val="FFFFFF"/>
                </a:solidFill>
                <a:latin typeface="黑体" panose="02010609060101010101" charset="-122"/>
                <a:ea typeface="黑体" panose="02010609060101010101" charset="-122"/>
                <a:cs typeface="黑体" panose="02010609060101010101" charset="-122"/>
              </a:defRPr>
            </a:pPr>
            <a:r>
              <a:rPr sz="2775" b="1">
                <a:solidFill>
                  <a:srgbClr val="FFFFFF"/>
                </a:solidFill>
                <a:latin typeface="黑体" panose="02010609060101010101" charset="-122"/>
                <a:ea typeface="黑体" panose="02010609060101010101" charset="-122"/>
                <a:cs typeface="黑体" panose="02010609060101010101" charset="-122"/>
              </a:rPr>
              <a:t>环境规制强度、企业合规成本与绿色全要素生产率</a:t>
            </a:r>
            <a:endParaRPr sz="2775" b="1">
              <a:solidFill>
                <a:srgbClr val="FFFFFF"/>
              </a:solidFill>
              <a:latin typeface="黑体" panose="02010609060101010101" charset="-122"/>
              <a:ea typeface="黑体" panose="02010609060101010101" charset="-122"/>
              <a:cs typeface="黑体" panose="02010609060101010101" charset="-122"/>
            </a:endParaRPr>
          </a:p>
        </p:txBody>
      </p:sp>
      <p:sp>
        <p:nvSpPr>
          <p:cNvPr id="14" name="矩形 13"/>
          <p:cNvSpPr>
            <a:spLocks noGrp="1"/>
          </p:cNvSpPr>
          <p:nvPr/>
        </p:nvSpPr>
        <p:spPr>
          <a:xfrm>
            <a:off x="2190750" y="3409950"/>
            <a:ext cx="7810500" cy="438150"/>
          </a:xfrm>
          <a:prstGeom prst="rect">
            <a:avLst/>
          </a:prstGeom>
          <a:noFill/>
          <a:ln w="0">
            <a:solidFill>
              <a:srgbClr val="FFFFFF"/>
            </a:solidFill>
          </a:ln>
        </p:spPr>
        <p:txBody>
          <a:bodyPr lIns="76200" tIns="38100" rIns="76200" bIns="38100" anchor="ctr"/>
          <a:lstStyle/>
          <a:p>
            <a:pPr algn="ctr">
              <a:defRPr sz="1725" b="0">
                <a:solidFill>
                  <a:srgbClr val="F4F5F0"/>
                </a:solidFill>
                <a:latin typeface="宋体" panose="02010600030101010101" pitchFamily="2" charset="-122"/>
                <a:ea typeface="宋体" panose="02010600030101010101" pitchFamily="2" charset="-122"/>
                <a:cs typeface="宋体" panose="02010600030101010101" pitchFamily="2" charset="-122"/>
              </a:defRPr>
            </a:pPr>
            <a:r>
              <a:rPr sz="1725" b="0">
                <a:solidFill>
                  <a:srgbClr val="F4F5F0"/>
                </a:solidFill>
                <a:latin typeface="宋体" panose="02010600030101010101" pitchFamily="2" charset="-122"/>
                <a:ea typeface="宋体" panose="02010600030101010101" pitchFamily="2" charset="-122"/>
                <a:cs typeface="宋体" panose="02010600030101010101" pitchFamily="2" charset="-122"/>
              </a:rPr>
              <a:t>应用经济管理方法论（课程考核）研究选题计划</a:t>
            </a:r>
            <a:endParaRPr sz="1725" b="0">
              <a:solidFill>
                <a:srgbClr val="F4F5F0"/>
              </a:solidFill>
              <a:latin typeface="宋体" panose="02010600030101010101" pitchFamily="2" charset="-122"/>
              <a:ea typeface="宋体" panose="02010600030101010101" pitchFamily="2" charset="-122"/>
              <a:cs typeface="宋体" panose="02010600030101010101" pitchFamily="2" charset="-122"/>
            </a:endParaRPr>
          </a:p>
        </p:txBody>
      </p:sp>
      <p:sp>
        <p:nvSpPr>
          <p:cNvPr id="15" name="矩形 14"/>
          <p:cNvSpPr>
            <a:spLocks noGrp="1"/>
          </p:cNvSpPr>
          <p:nvPr/>
        </p:nvSpPr>
        <p:spPr>
          <a:xfrm>
            <a:off x="3143250" y="5219700"/>
            <a:ext cx="5905500" cy="723900"/>
          </a:xfrm>
          <a:prstGeom prst="rect">
            <a:avLst/>
          </a:prstGeom>
          <a:noFill/>
          <a:ln w="0">
            <a:solidFill>
              <a:srgbClr val="FFFFFF"/>
            </a:solidFill>
          </a:ln>
        </p:spPr>
        <p:txBody>
          <a:bodyPr lIns="76200" tIns="38100" rIns="76200" bIns="38100" anchor="ctr"/>
          <a:lstStyle/>
          <a:p>
            <a:pPr algn="ctr">
              <a:defRPr sz="1350" b="0">
                <a:solidFill>
                  <a:srgbClr val="FFFFFF"/>
                </a:solidFill>
                <a:latin typeface="Microsoft YaHei UI" panose="020B0503020204020204" charset="-122"/>
                <a:ea typeface="Microsoft YaHei UI" panose="020B0503020204020204" charset="-122"/>
                <a:cs typeface="Microsoft YaHei UI" panose="020B0503020204020204" charset="-122"/>
              </a:defRPr>
            </a:pPr>
            <a:r>
              <a:rPr sz="1350" b="0">
                <a:solidFill>
                  <a:srgbClr val="FFFFFF"/>
                </a:solidFill>
                <a:latin typeface="Microsoft YaHei UI" panose="020B0503020204020204" charset="-122"/>
                <a:ea typeface="Microsoft YaHei UI" panose="020B0503020204020204" charset="-122"/>
                <a:cs typeface="Microsoft YaHei UI" panose="020B0503020204020204" charset="-122"/>
              </a:rPr>
              <a:t>专业：金融学    姓名：        学号：</a:t>
            </a:r>
            <a:endParaRPr sz="1350" b="0">
              <a:solidFill>
                <a:srgbClr val="FFFFFF"/>
              </a:solidFill>
              <a:latin typeface="Microsoft YaHei UI" panose="020B0503020204020204" charset="-122"/>
              <a:ea typeface="Microsoft YaHei UI" panose="020B0503020204020204" charset="-122"/>
              <a:cs typeface="Microsoft YaHei UI" panose="020B0503020204020204" charset="-122"/>
            </a:endParaRPr>
          </a:p>
          <a:p>
            <a:pPr algn="ctr">
              <a:defRPr sz="1350" b="0">
                <a:solidFill>
                  <a:srgbClr val="FFFFFF"/>
                </a:solidFill>
                <a:latin typeface="Microsoft YaHei UI" panose="020B0503020204020204" charset="-122"/>
                <a:ea typeface="Microsoft YaHei UI" panose="020B0503020204020204" charset="-122"/>
                <a:cs typeface="Microsoft YaHei UI" panose="020B0503020204020204" charset="-122"/>
              </a:defRPr>
            </a:pPr>
            <a:r>
              <a:rPr sz="1350" b="0">
                <a:solidFill>
                  <a:srgbClr val="FFFFFF"/>
                </a:solidFill>
                <a:latin typeface="Microsoft YaHei UI" panose="020B0503020204020204" charset="-122"/>
                <a:ea typeface="Microsoft YaHei UI" panose="020B0503020204020204" charset="-122"/>
                <a:cs typeface="Microsoft YaHei UI" panose="020B0503020204020204" charset="-122"/>
              </a:rPr>
              <a:t>提交日期：2026年6月</a:t>
            </a:r>
            <a:endParaRPr sz="1350"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a:spLocks noGrp="1"/>
          </p:cNvSpPr>
          <p:nvPr/>
        </p:nvSpPr>
        <p:spPr>
          <a:xfrm>
            <a:off x="0" y="0"/>
            <a:ext cx="12192000" cy="6858000"/>
          </a:xfrm>
          <a:prstGeom prst="rect">
            <a:avLst/>
          </a:prstGeom>
          <a:solidFill>
            <a:srgbClr val="F4F6F5"/>
          </a:solidFill>
          <a:ln w="0">
            <a:solidFill>
              <a:srgbClr val="FFFFFF"/>
            </a:solidFill>
          </a:ln>
        </p:spPr>
      </p:sp>
      <p:sp>
        <p:nvSpPr>
          <p:cNvPr id="3" name="矩形 2"/>
          <p:cNvSpPr>
            <a:spLocks noGrp="1"/>
          </p:cNvSpPr>
          <p:nvPr/>
        </p:nvSpPr>
        <p:spPr>
          <a:xfrm>
            <a:off x="0" y="0"/>
            <a:ext cx="12192000" cy="6858000"/>
          </a:xfrm>
          <a:prstGeom prst="rect">
            <a:avLst/>
          </a:prstGeom>
          <a:solidFill>
            <a:srgbClr val="F9FAF9"/>
          </a:solidFill>
          <a:ln w="0">
            <a:solidFill>
              <a:srgbClr val="FFFFFF"/>
            </a:solidFill>
          </a:ln>
        </p:spPr>
      </p:sp>
      <p:sp>
        <p:nvSpPr>
          <p:cNvPr id="4" name="矩形 3"/>
          <p:cNvSpPr>
            <a:spLocks noGrp="1"/>
          </p:cNvSpPr>
          <p:nvPr/>
        </p:nvSpPr>
        <p:spPr>
          <a:xfrm>
            <a:off x="8858250" y="0"/>
            <a:ext cx="3333750" cy="6858000"/>
          </a:xfrm>
          <a:prstGeom prst="rect">
            <a:avLst/>
          </a:prstGeom>
          <a:solidFill>
            <a:srgbClr val="F7F9F8"/>
          </a:solidFill>
          <a:ln w="0">
            <a:solidFill>
              <a:srgbClr val="FFFFFF"/>
            </a:solidFill>
          </a:ln>
        </p:spPr>
      </p:sp>
      <p:sp>
        <p:nvSpPr>
          <p:cNvPr id="5" name="矩形 4"/>
          <p:cNvSpPr>
            <a:spLocks noGrp="1"/>
          </p:cNvSpPr>
          <p:nvPr/>
        </p:nvSpPr>
        <p:spPr>
          <a:xfrm>
            <a:off x="0" y="6115050"/>
            <a:ext cx="12192000" cy="742950"/>
          </a:xfrm>
          <a:prstGeom prst="rect">
            <a:avLst/>
          </a:prstGeom>
          <a:solidFill>
            <a:srgbClr val="F8FAF9"/>
          </a:solidFill>
          <a:ln w="0">
            <a:solidFill>
              <a:srgbClr val="FFFFFF"/>
            </a:solidFill>
          </a:ln>
        </p:spPr>
      </p:sp>
      <p:sp>
        <p:nvSpPr>
          <p:cNvPr id="6" name="等腰三角形 5"/>
          <p:cNvSpPr>
            <a:spLocks noGrp="1"/>
          </p:cNvSpPr>
          <p:nvPr/>
        </p:nvSpPr>
        <p:spPr>
          <a:xfrm>
            <a:off x="1524000" y="904875"/>
            <a:ext cx="2476500" cy="1714500"/>
          </a:xfrm>
          <a:prstGeom prst="triangle">
            <a:avLst/>
          </a:prstGeom>
          <a:solidFill>
            <a:srgbClr val="FFFFFF"/>
          </a:solidFill>
          <a:ln w="0">
            <a:solidFill>
              <a:srgbClr val="FFFFFF"/>
            </a:solidFill>
          </a:ln>
        </p:spPr>
      </p:sp>
      <p:sp>
        <p:nvSpPr>
          <p:cNvPr id="7" name="等腰三角形 6"/>
          <p:cNvSpPr>
            <a:spLocks noGrp="1"/>
          </p:cNvSpPr>
          <p:nvPr/>
        </p:nvSpPr>
        <p:spPr>
          <a:xfrm>
            <a:off x="3857625" y="1762125"/>
            <a:ext cx="2476500" cy="1714500"/>
          </a:xfrm>
          <a:prstGeom prst="triangle">
            <a:avLst/>
          </a:prstGeom>
          <a:solidFill>
            <a:srgbClr val="F8FBFA"/>
          </a:solidFill>
          <a:ln w="0">
            <a:solidFill>
              <a:srgbClr val="FFFFFF"/>
            </a:solidFill>
          </a:ln>
        </p:spPr>
      </p:sp>
      <p:sp>
        <p:nvSpPr>
          <p:cNvPr id="8" name="等腰三角形 7"/>
          <p:cNvSpPr>
            <a:spLocks noGrp="1"/>
          </p:cNvSpPr>
          <p:nvPr/>
        </p:nvSpPr>
        <p:spPr>
          <a:xfrm>
            <a:off x="6191250" y="904875"/>
            <a:ext cx="2476500" cy="1714500"/>
          </a:xfrm>
          <a:prstGeom prst="triangle">
            <a:avLst/>
          </a:prstGeom>
          <a:solidFill>
            <a:srgbClr val="FFFFFF"/>
          </a:solidFill>
          <a:ln w="0">
            <a:solidFill>
              <a:srgbClr val="FFFFFF"/>
            </a:solidFill>
          </a:ln>
        </p:spPr>
      </p:sp>
      <p:sp>
        <p:nvSpPr>
          <p:cNvPr id="9" name="等腰三角形 8"/>
          <p:cNvSpPr>
            <a:spLocks noGrp="1"/>
          </p:cNvSpPr>
          <p:nvPr/>
        </p:nvSpPr>
        <p:spPr>
          <a:xfrm>
            <a:off x="8524875" y="1762125"/>
            <a:ext cx="2476500" cy="1714500"/>
          </a:xfrm>
          <a:prstGeom prst="triangle">
            <a:avLst/>
          </a:prstGeom>
          <a:solidFill>
            <a:srgbClr val="F8FBFA"/>
          </a:solidFill>
          <a:ln w="0">
            <a:solidFill>
              <a:srgbClr val="FFFFFF"/>
            </a:solidFill>
          </a:ln>
        </p:spPr>
      </p:sp>
      <p:sp>
        <p:nvSpPr>
          <p:cNvPr id="10" name="等腰三角形 9"/>
          <p:cNvSpPr>
            <a:spLocks noGrp="1"/>
          </p:cNvSpPr>
          <p:nvPr/>
        </p:nvSpPr>
        <p:spPr>
          <a:xfrm>
            <a:off x="10858500" y="904875"/>
            <a:ext cx="2476500" cy="1714500"/>
          </a:xfrm>
          <a:prstGeom prst="triangle">
            <a:avLst/>
          </a:prstGeom>
          <a:solidFill>
            <a:srgbClr val="FFFFFF"/>
          </a:solidFill>
          <a:ln w="0">
            <a:solidFill>
              <a:srgbClr val="FFFFFF"/>
            </a:solidFill>
          </a:ln>
        </p:spPr>
      </p:sp>
      <p:sp>
        <p:nvSpPr>
          <p:cNvPr id="11" name="等腰三角形 10"/>
          <p:cNvSpPr>
            <a:spLocks noGrp="1"/>
          </p:cNvSpPr>
          <p:nvPr/>
        </p:nvSpPr>
        <p:spPr>
          <a:xfrm rot="5400000">
            <a:off x="152400" y="266700"/>
            <a:ext cx="533400" cy="476250"/>
          </a:xfrm>
          <a:prstGeom prst="triangle">
            <a:avLst/>
          </a:prstGeom>
          <a:solidFill>
            <a:srgbClr val="206040"/>
          </a:solidFill>
          <a:ln w="0">
            <a:solidFill>
              <a:srgbClr val="FFFFFF"/>
            </a:solidFill>
          </a:ln>
        </p:spPr>
      </p:sp>
      <p:sp>
        <p:nvSpPr>
          <p:cNvPr id="12" name="等腰三角形 11"/>
          <p:cNvSpPr>
            <a:spLocks noGrp="1"/>
          </p:cNvSpPr>
          <p:nvPr/>
        </p:nvSpPr>
        <p:spPr>
          <a:xfrm rot="5400000">
            <a:off x="381000" y="304800"/>
            <a:ext cx="457200" cy="419100"/>
          </a:xfrm>
          <a:prstGeom prst="triangle">
            <a:avLst/>
          </a:prstGeom>
          <a:solidFill>
            <a:srgbClr val="80A090"/>
          </a:solidFill>
          <a:ln w="0">
            <a:solidFill>
              <a:srgbClr val="FFFFFF"/>
            </a:solidFill>
          </a:ln>
        </p:spPr>
      </p:sp>
      <p:sp>
        <p:nvSpPr>
          <p:cNvPr id="13" name="矩形 12"/>
          <p:cNvSpPr>
            <a:spLocks noGrp="1"/>
          </p:cNvSpPr>
          <p:nvPr/>
        </p:nvSpPr>
        <p:spPr>
          <a:xfrm>
            <a:off x="857250" y="228600"/>
            <a:ext cx="2857500" cy="457200"/>
          </a:xfrm>
          <a:prstGeom prst="rect">
            <a:avLst/>
          </a:prstGeom>
          <a:noFill/>
          <a:ln w="0">
            <a:solidFill>
              <a:srgbClr val="FFFFFF"/>
            </a:solidFill>
          </a:ln>
        </p:spPr>
        <p:txBody>
          <a:bodyPr lIns="76200" tIns="38100" rIns="76200" bIns="38100" anchor="ctr"/>
          <a:lstStyle/>
          <a:p>
            <a:pPr algn="l">
              <a:defRPr sz="2550" b="1">
                <a:solidFill>
                  <a:srgbClr val="206040"/>
                </a:solidFill>
                <a:latin typeface="黑体" panose="02010609060101010101" charset="-122"/>
                <a:ea typeface="黑体" panose="02010609060101010101" charset="-122"/>
                <a:cs typeface="黑体" panose="02010609060101010101" charset="-122"/>
              </a:defRPr>
            </a:pPr>
            <a:r>
              <a:rPr sz="2550" b="1">
                <a:solidFill>
                  <a:srgbClr val="206040"/>
                </a:solidFill>
                <a:latin typeface="黑体" panose="02010609060101010101" charset="-122"/>
                <a:ea typeface="黑体" panose="02010609060101010101" charset="-122"/>
                <a:cs typeface="黑体" panose="02010609060101010101" charset="-122"/>
              </a:rPr>
              <a:t>目录与研究链条</a:t>
            </a:r>
            <a:endParaRPr sz="2550" b="1">
              <a:solidFill>
                <a:srgbClr val="206040"/>
              </a:solidFill>
              <a:latin typeface="黑体" panose="02010609060101010101" charset="-122"/>
              <a:ea typeface="黑体" panose="02010609060101010101" charset="-122"/>
              <a:cs typeface="黑体" panose="02010609060101010101" charset="-122"/>
            </a:endParaRPr>
          </a:p>
        </p:txBody>
      </p:sp>
      <p:sp>
        <p:nvSpPr>
          <p:cNvPr id="14" name="矩形 13"/>
          <p:cNvSpPr>
            <a:spLocks noGrp="1"/>
          </p:cNvSpPr>
          <p:nvPr/>
        </p:nvSpPr>
        <p:spPr>
          <a:xfrm>
            <a:off x="4000500" y="228600"/>
            <a:ext cx="1123950" cy="323850"/>
          </a:xfrm>
          <a:prstGeom prst="rect">
            <a:avLst/>
          </a:prstGeom>
          <a:noFill/>
          <a:ln w="0">
            <a:solidFill>
              <a:srgbClr val="FFFFFF"/>
            </a:solidFill>
          </a:ln>
        </p:spPr>
        <p:txBody>
          <a:bodyPr lIns="76200" tIns="38100" rIns="76200" bIns="38100" anchor="ctr"/>
          <a:lstStyle/>
          <a:p>
            <a:pPr algn="ctr">
              <a:defRPr sz="1500" b="1">
                <a:solidFill>
                  <a:srgbClr val="206040"/>
                </a:solidFill>
                <a:latin typeface="Microsoft YaHei UI" panose="020B0503020204020204" charset="-122"/>
                <a:ea typeface="Microsoft YaHei UI" panose="020B0503020204020204" charset="-122"/>
                <a:cs typeface="Microsoft YaHei UI" panose="020B0503020204020204" charset="-122"/>
              </a:defRPr>
            </a:pPr>
            <a:r>
              <a:rPr sz="1500" b="1">
                <a:solidFill>
                  <a:srgbClr val="206040"/>
                </a:solidFill>
                <a:latin typeface="Microsoft YaHei UI" panose="020B0503020204020204" charset="-122"/>
                <a:ea typeface="Microsoft YaHei UI" panose="020B0503020204020204" charset="-122"/>
                <a:cs typeface="Microsoft YaHei UI" panose="020B0503020204020204" charset="-122"/>
              </a:rPr>
              <a:t>现实问题</a:t>
            </a:r>
            <a:endParaRPr sz="1500" b="1">
              <a:solidFill>
                <a:srgbClr val="206040"/>
              </a:solidFill>
              <a:latin typeface="Microsoft YaHei UI" panose="020B0503020204020204" charset="-122"/>
              <a:ea typeface="Microsoft YaHei UI" panose="020B0503020204020204" charset="-122"/>
              <a:cs typeface="Microsoft YaHei UI" panose="020B0503020204020204" charset="-122"/>
            </a:endParaRPr>
          </a:p>
        </p:txBody>
      </p:sp>
      <p:sp>
        <p:nvSpPr>
          <p:cNvPr id="15" name="圆角矩形 14"/>
          <p:cNvSpPr>
            <a:spLocks noGrp="1"/>
          </p:cNvSpPr>
          <p:nvPr/>
        </p:nvSpPr>
        <p:spPr>
          <a:xfrm>
            <a:off x="4171950" y="657225"/>
            <a:ext cx="781050" cy="38100"/>
          </a:xfrm>
          <a:prstGeom prst="roundRect">
            <a:avLst>
              <a:gd name="adj" fmla="val 25000"/>
            </a:avLst>
          </a:prstGeom>
          <a:solidFill>
            <a:srgbClr val="206040"/>
          </a:solidFill>
          <a:ln w="0">
            <a:solidFill>
              <a:srgbClr val="FFFFFF"/>
            </a:solidFill>
          </a:ln>
        </p:spPr>
      </p:sp>
      <p:sp>
        <p:nvSpPr>
          <p:cNvPr id="16" name="矩形 15"/>
          <p:cNvSpPr>
            <a:spLocks noGrp="1"/>
          </p:cNvSpPr>
          <p:nvPr/>
        </p:nvSpPr>
        <p:spPr>
          <a:xfrm>
            <a:off x="5200650" y="295275"/>
            <a:ext cx="1123950" cy="323850"/>
          </a:xfrm>
          <a:prstGeom prst="rect">
            <a:avLst/>
          </a:prstGeom>
          <a:noFill/>
          <a:ln w="0">
            <a:solidFill>
              <a:srgbClr val="FFFFFF"/>
            </a:solidFill>
          </a:ln>
        </p:spPr>
        <p:txBody>
          <a:bodyPr lIns="76200" tIns="38100" rIns="76200" bIns="38100" anchor="ctr"/>
          <a:lstStyle/>
          <a:p>
            <a:pPr algn="ctr">
              <a:defRPr sz="1125" b="0">
                <a:solidFill>
                  <a:srgbClr val="161616"/>
                </a:solidFill>
                <a:latin typeface="Microsoft YaHei UI" panose="020B0503020204020204" charset="-122"/>
                <a:ea typeface="Microsoft YaHei UI" panose="020B0503020204020204" charset="-122"/>
                <a:cs typeface="Microsoft YaHei UI" panose="020B0503020204020204" charset="-122"/>
              </a:defRPr>
            </a:pPr>
            <a:r>
              <a:rPr sz="1125" b="0">
                <a:solidFill>
                  <a:srgbClr val="161616"/>
                </a:solidFill>
                <a:latin typeface="Microsoft YaHei UI" panose="020B0503020204020204" charset="-122"/>
                <a:ea typeface="Microsoft YaHei UI" panose="020B0503020204020204" charset="-122"/>
                <a:cs typeface="Microsoft YaHei UI" panose="020B0503020204020204" charset="-122"/>
              </a:rPr>
              <a:t>科学问题</a:t>
            </a:r>
            <a:endParaRPr sz="1125" b="0">
              <a:solidFill>
                <a:srgbClr val="161616"/>
              </a:solidFill>
              <a:latin typeface="Microsoft YaHei UI" panose="020B0503020204020204" charset="-122"/>
              <a:ea typeface="Microsoft YaHei UI" panose="020B0503020204020204" charset="-122"/>
              <a:cs typeface="Microsoft YaHei UI" panose="020B0503020204020204" charset="-122"/>
            </a:endParaRPr>
          </a:p>
        </p:txBody>
      </p:sp>
      <p:sp>
        <p:nvSpPr>
          <p:cNvPr id="17" name="矩形 16"/>
          <p:cNvSpPr>
            <a:spLocks noGrp="1"/>
          </p:cNvSpPr>
          <p:nvPr/>
        </p:nvSpPr>
        <p:spPr>
          <a:xfrm>
            <a:off x="6400800" y="295275"/>
            <a:ext cx="1123950" cy="323850"/>
          </a:xfrm>
          <a:prstGeom prst="rect">
            <a:avLst/>
          </a:prstGeom>
          <a:noFill/>
          <a:ln w="0">
            <a:solidFill>
              <a:srgbClr val="FFFFFF"/>
            </a:solidFill>
          </a:ln>
        </p:spPr>
        <p:txBody>
          <a:bodyPr lIns="76200" tIns="38100" rIns="76200" bIns="38100" anchor="ctr"/>
          <a:lstStyle/>
          <a:p>
            <a:pPr algn="ctr">
              <a:defRPr sz="1125" b="0">
                <a:solidFill>
                  <a:srgbClr val="161616"/>
                </a:solidFill>
                <a:latin typeface="Microsoft YaHei UI" panose="020B0503020204020204" charset="-122"/>
                <a:ea typeface="Microsoft YaHei UI" panose="020B0503020204020204" charset="-122"/>
                <a:cs typeface="Microsoft YaHei UI" panose="020B0503020204020204" charset="-122"/>
              </a:defRPr>
            </a:pPr>
            <a:r>
              <a:rPr sz="1125" b="0">
                <a:solidFill>
                  <a:srgbClr val="161616"/>
                </a:solidFill>
                <a:latin typeface="Microsoft YaHei UI" panose="020B0503020204020204" charset="-122"/>
                <a:ea typeface="Microsoft YaHei UI" panose="020B0503020204020204" charset="-122"/>
                <a:cs typeface="Microsoft YaHei UI" panose="020B0503020204020204" charset="-122"/>
              </a:rPr>
              <a:t>理论机制</a:t>
            </a:r>
            <a:endParaRPr sz="1125" b="0">
              <a:solidFill>
                <a:srgbClr val="161616"/>
              </a:solidFill>
              <a:latin typeface="Microsoft YaHei UI" panose="020B0503020204020204" charset="-122"/>
              <a:ea typeface="Microsoft YaHei UI" panose="020B0503020204020204" charset="-122"/>
              <a:cs typeface="Microsoft YaHei UI" panose="020B0503020204020204" charset="-122"/>
            </a:endParaRPr>
          </a:p>
        </p:txBody>
      </p:sp>
      <p:sp>
        <p:nvSpPr>
          <p:cNvPr id="18" name="矩形 17"/>
          <p:cNvSpPr>
            <a:spLocks noGrp="1"/>
          </p:cNvSpPr>
          <p:nvPr/>
        </p:nvSpPr>
        <p:spPr>
          <a:xfrm>
            <a:off x="7600950" y="295275"/>
            <a:ext cx="1123950" cy="323850"/>
          </a:xfrm>
          <a:prstGeom prst="rect">
            <a:avLst/>
          </a:prstGeom>
          <a:noFill/>
          <a:ln w="0">
            <a:solidFill>
              <a:srgbClr val="FFFFFF"/>
            </a:solidFill>
          </a:ln>
        </p:spPr>
        <p:txBody>
          <a:bodyPr lIns="76200" tIns="38100" rIns="76200" bIns="38100" anchor="ctr"/>
          <a:lstStyle/>
          <a:p>
            <a:pPr algn="ctr">
              <a:defRPr sz="1125" b="0">
                <a:solidFill>
                  <a:srgbClr val="161616"/>
                </a:solidFill>
                <a:latin typeface="Microsoft YaHei UI" panose="020B0503020204020204" charset="-122"/>
                <a:ea typeface="Microsoft YaHei UI" panose="020B0503020204020204" charset="-122"/>
                <a:cs typeface="Microsoft YaHei UI" panose="020B0503020204020204" charset="-122"/>
              </a:defRPr>
            </a:pPr>
            <a:r>
              <a:rPr sz="1125" b="0">
                <a:solidFill>
                  <a:srgbClr val="161616"/>
                </a:solidFill>
                <a:latin typeface="Microsoft YaHei UI" panose="020B0503020204020204" charset="-122"/>
                <a:ea typeface="Microsoft YaHei UI" panose="020B0503020204020204" charset="-122"/>
                <a:cs typeface="Microsoft YaHei UI" panose="020B0503020204020204" charset="-122"/>
              </a:rPr>
              <a:t>数据变量</a:t>
            </a:r>
            <a:endParaRPr sz="1125" b="0">
              <a:solidFill>
                <a:srgbClr val="161616"/>
              </a:solidFill>
              <a:latin typeface="Microsoft YaHei UI" panose="020B0503020204020204" charset="-122"/>
              <a:ea typeface="Microsoft YaHei UI" panose="020B0503020204020204" charset="-122"/>
              <a:cs typeface="Microsoft YaHei UI" panose="020B0503020204020204" charset="-122"/>
            </a:endParaRPr>
          </a:p>
        </p:txBody>
      </p:sp>
      <p:sp>
        <p:nvSpPr>
          <p:cNvPr id="19" name="矩形 18"/>
          <p:cNvSpPr>
            <a:spLocks noGrp="1"/>
          </p:cNvSpPr>
          <p:nvPr/>
        </p:nvSpPr>
        <p:spPr>
          <a:xfrm>
            <a:off x="8801100" y="295275"/>
            <a:ext cx="1123950" cy="323850"/>
          </a:xfrm>
          <a:prstGeom prst="rect">
            <a:avLst/>
          </a:prstGeom>
          <a:noFill/>
          <a:ln w="0">
            <a:solidFill>
              <a:srgbClr val="FFFFFF"/>
            </a:solidFill>
          </a:ln>
        </p:spPr>
        <p:txBody>
          <a:bodyPr lIns="76200" tIns="38100" rIns="76200" bIns="38100" anchor="ctr"/>
          <a:lstStyle/>
          <a:p>
            <a:pPr algn="ctr">
              <a:defRPr sz="1125" b="0">
                <a:solidFill>
                  <a:srgbClr val="161616"/>
                </a:solidFill>
                <a:latin typeface="Microsoft YaHei UI" panose="020B0503020204020204" charset="-122"/>
                <a:ea typeface="Microsoft YaHei UI" panose="020B0503020204020204" charset="-122"/>
                <a:cs typeface="Microsoft YaHei UI" panose="020B0503020204020204" charset="-122"/>
              </a:defRPr>
            </a:pPr>
            <a:r>
              <a:rPr sz="1125" b="0">
                <a:solidFill>
                  <a:srgbClr val="161616"/>
                </a:solidFill>
                <a:latin typeface="Microsoft YaHei UI" panose="020B0503020204020204" charset="-122"/>
                <a:ea typeface="Microsoft YaHei UI" panose="020B0503020204020204" charset="-122"/>
                <a:cs typeface="Microsoft YaHei UI" panose="020B0503020204020204" charset="-122"/>
              </a:rPr>
              <a:t>模型识别</a:t>
            </a:r>
            <a:endParaRPr sz="1125" b="0">
              <a:solidFill>
                <a:srgbClr val="161616"/>
              </a:solidFill>
              <a:latin typeface="Microsoft YaHei UI" panose="020B0503020204020204" charset="-122"/>
              <a:ea typeface="Microsoft YaHei UI" panose="020B0503020204020204" charset="-122"/>
              <a:cs typeface="Microsoft YaHei UI" panose="020B0503020204020204" charset="-122"/>
            </a:endParaRPr>
          </a:p>
        </p:txBody>
      </p:sp>
      <p:sp>
        <p:nvSpPr>
          <p:cNvPr id="20" name="矩形 19"/>
          <p:cNvSpPr>
            <a:spLocks noGrp="1"/>
          </p:cNvSpPr>
          <p:nvPr/>
        </p:nvSpPr>
        <p:spPr>
          <a:xfrm>
            <a:off x="10001250" y="295275"/>
            <a:ext cx="1123950" cy="323850"/>
          </a:xfrm>
          <a:prstGeom prst="rect">
            <a:avLst/>
          </a:prstGeom>
          <a:noFill/>
          <a:ln w="0">
            <a:solidFill>
              <a:srgbClr val="FFFFFF"/>
            </a:solidFill>
          </a:ln>
        </p:spPr>
        <p:txBody>
          <a:bodyPr lIns="76200" tIns="38100" rIns="76200" bIns="38100" anchor="ctr"/>
          <a:lstStyle/>
          <a:p>
            <a:pPr algn="ctr">
              <a:defRPr sz="1125" b="0">
                <a:solidFill>
                  <a:srgbClr val="161616"/>
                </a:solidFill>
                <a:latin typeface="Microsoft YaHei UI" panose="020B0503020204020204" charset="-122"/>
                <a:ea typeface="Microsoft YaHei UI" panose="020B0503020204020204" charset="-122"/>
                <a:cs typeface="Microsoft YaHei UI" panose="020B0503020204020204" charset="-122"/>
              </a:defRPr>
            </a:pPr>
            <a:r>
              <a:rPr sz="1125" b="0">
                <a:solidFill>
                  <a:srgbClr val="161616"/>
                </a:solidFill>
                <a:latin typeface="Microsoft YaHei UI" panose="020B0503020204020204" charset="-122"/>
                <a:ea typeface="Microsoft YaHei UI" panose="020B0503020204020204" charset="-122"/>
                <a:cs typeface="Microsoft YaHei UI" panose="020B0503020204020204" charset="-122"/>
              </a:rPr>
              <a:t>预期贡献</a:t>
            </a:r>
            <a:endParaRPr sz="1125" b="0">
              <a:solidFill>
                <a:srgbClr val="161616"/>
              </a:solidFill>
              <a:latin typeface="Microsoft YaHei UI" panose="020B0503020204020204" charset="-122"/>
              <a:ea typeface="Microsoft YaHei UI" panose="020B0503020204020204" charset="-122"/>
              <a:cs typeface="Microsoft YaHei UI" panose="020B0503020204020204" charset="-122"/>
            </a:endParaRPr>
          </a:p>
        </p:txBody>
      </p:sp>
      <p:sp>
        <p:nvSpPr>
          <p:cNvPr id="21" name="圆角矩形 20"/>
          <p:cNvSpPr>
            <a:spLocks noGrp="1"/>
          </p:cNvSpPr>
          <p:nvPr/>
        </p:nvSpPr>
        <p:spPr>
          <a:xfrm>
            <a:off x="3905250" y="742950"/>
            <a:ext cx="8001000" cy="9525"/>
          </a:xfrm>
          <a:prstGeom prst="roundRect">
            <a:avLst>
              <a:gd name="adj" fmla="val 50000"/>
            </a:avLst>
          </a:prstGeom>
          <a:solidFill>
            <a:srgbClr val="D7DFDA"/>
          </a:solidFill>
          <a:ln w="0">
            <a:solidFill>
              <a:srgbClr val="FFFFFF"/>
            </a:solidFill>
          </a:ln>
        </p:spPr>
      </p:sp>
      <p:sp>
        <p:nvSpPr>
          <p:cNvPr id="22" name="矩形 21"/>
          <p:cNvSpPr>
            <a:spLocks noGrp="1"/>
          </p:cNvSpPr>
          <p:nvPr/>
        </p:nvSpPr>
        <p:spPr>
          <a:xfrm>
            <a:off x="11334750" y="6286500"/>
            <a:ext cx="495300" cy="266700"/>
          </a:xfrm>
          <a:prstGeom prst="rect">
            <a:avLst/>
          </a:prstGeom>
          <a:noFill/>
          <a:ln w="0">
            <a:solidFill>
              <a:srgbClr val="FFFFFF"/>
            </a:solidFill>
          </a:ln>
        </p:spPr>
        <p:txBody>
          <a:bodyPr lIns="76200" tIns="38100" rIns="76200" bIns="38100" anchor="ctr"/>
          <a:lstStyle/>
          <a:p>
            <a:pPr algn="r">
              <a:defRPr sz="975" b="0">
                <a:solidFill>
                  <a:srgbClr val="80A090"/>
                </a:solidFill>
                <a:latin typeface="Microsoft YaHei UI" panose="020B0503020204020204" charset="-122"/>
                <a:ea typeface="Microsoft YaHei UI" panose="020B0503020204020204" charset="-122"/>
                <a:cs typeface="Microsoft YaHei UI" panose="020B0503020204020204" charset="-122"/>
              </a:defRPr>
            </a:pPr>
            <a:r>
              <a:rPr sz="975" b="0">
                <a:solidFill>
                  <a:srgbClr val="80A090"/>
                </a:solidFill>
                <a:latin typeface="Microsoft YaHei UI" panose="020B0503020204020204" charset="-122"/>
                <a:ea typeface="Microsoft YaHei UI" panose="020B0503020204020204" charset="-122"/>
                <a:cs typeface="Microsoft YaHei UI" panose="020B0503020204020204" charset="-122"/>
              </a:rPr>
              <a:t>02</a:t>
            </a:r>
            <a:endParaRPr sz="975" b="0">
              <a:solidFill>
                <a:srgbClr val="80A090"/>
              </a:solidFill>
              <a:latin typeface="Microsoft YaHei UI" panose="020B0503020204020204" charset="-122"/>
              <a:ea typeface="Microsoft YaHei UI" panose="020B0503020204020204" charset="-122"/>
              <a:cs typeface="Microsoft YaHei UI" panose="020B0503020204020204" charset="-122"/>
            </a:endParaRPr>
          </a:p>
        </p:txBody>
      </p:sp>
      <p:sp>
        <p:nvSpPr>
          <p:cNvPr id="23" name="矩形 22"/>
          <p:cNvSpPr>
            <a:spLocks noGrp="1"/>
          </p:cNvSpPr>
          <p:nvPr/>
        </p:nvSpPr>
        <p:spPr>
          <a:xfrm>
            <a:off x="857250" y="1095375"/>
            <a:ext cx="9525000" cy="323850"/>
          </a:xfrm>
          <a:prstGeom prst="rect">
            <a:avLst/>
          </a:prstGeom>
          <a:noFill/>
          <a:ln w="0">
            <a:solidFill>
              <a:srgbClr val="FFFFFF"/>
            </a:solidFill>
          </a:ln>
        </p:spPr>
        <p:txBody>
          <a:bodyPr lIns="76200" tIns="38100" rIns="76200" bIns="38100" anchor="ctr"/>
          <a:lstStyle/>
          <a:p>
            <a:pPr algn="l">
              <a:defRPr sz="1500" b="1">
                <a:solidFill>
                  <a:srgbClr val="206040"/>
                </a:solidFill>
                <a:latin typeface="Microsoft YaHei UI" panose="020B0503020204020204" charset="-122"/>
                <a:ea typeface="Microsoft YaHei UI" panose="020B0503020204020204" charset="-122"/>
                <a:cs typeface="Microsoft YaHei UI" panose="020B0503020204020204" charset="-122"/>
              </a:defRPr>
            </a:pPr>
            <a:r>
              <a:rPr sz="1500" b="1">
                <a:solidFill>
                  <a:srgbClr val="206040"/>
                </a:solidFill>
                <a:latin typeface="Microsoft YaHei UI" panose="020B0503020204020204" charset="-122"/>
                <a:ea typeface="Microsoft YaHei UI" panose="020B0503020204020204" charset="-122"/>
                <a:cs typeface="Microsoft YaHei UI" panose="020B0503020204020204" charset="-122"/>
              </a:rPr>
              <a:t>研究主线：把环境规制从宏观政策压力拆解到企业财务成本，再回到绿色效率变化。</a:t>
            </a:r>
            <a:endParaRPr sz="1500" b="1">
              <a:solidFill>
                <a:srgbClr val="206040"/>
              </a:solidFill>
              <a:latin typeface="Microsoft YaHei UI" panose="020B0503020204020204" charset="-122"/>
              <a:ea typeface="Microsoft YaHei UI" panose="020B0503020204020204" charset="-122"/>
              <a:cs typeface="Microsoft YaHei UI" panose="020B0503020204020204" charset="-122"/>
            </a:endParaRPr>
          </a:p>
        </p:txBody>
      </p:sp>
      <p:sp>
        <p:nvSpPr>
          <p:cNvPr id="24" name="圆角矩形 23"/>
          <p:cNvSpPr>
            <a:spLocks noGrp="1"/>
          </p:cNvSpPr>
          <p:nvPr/>
        </p:nvSpPr>
        <p:spPr>
          <a:xfrm>
            <a:off x="762000" y="2381250"/>
            <a:ext cx="1381125" cy="609600"/>
          </a:xfrm>
          <a:prstGeom prst="roundRect">
            <a:avLst>
              <a:gd name="adj" fmla="val 18750"/>
            </a:avLst>
          </a:prstGeom>
          <a:solidFill>
            <a:srgbClr val="206040"/>
          </a:solidFill>
          <a:ln w="11430">
            <a:solidFill>
              <a:srgbClr val="206040"/>
            </a:solidFill>
          </a:ln>
        </p:spPr>
      </p:sp>
      <p:sp>
        <p:nvSpPr>
          <p:cNvPr id="25" name="矩形 24"/>
          <p:cNvSpPr>
            <a:spLocks noGrp="1"/>
          </p:cNvSpPr>
          <p:nvPr/>
        </p:nvSpPr>
        <p:spPr>
          <a:xfrm>
            <a:off x="762000" y="2381250"/>
            <a:ext cx="1381125" cy="609600"/>
          </a:xfrm>
          <a:prstGeom prst="rect">
            <a:avLst/>
          </a:prstGeom>
          <a:noFill/>
          <a:ln w="0">
            <a:solidFill>
              <a:srgbClr val="FFFFFF"/>
            </a:solidFill>
          </a:ln>
        </p:spPr>
        <p:txBody>
          <a:bodyPr lIns="76200" tIns="38100" rIns="76200" bIns="38100" anchor="ctr"/>
          <a:lstStyle/>
          <a:p>
            <a:pPr algn="ctr">
              <a:defRPr sz="1350" b="1">
                <a:solidFill>
                  <a:srgbClr val="FFFFFF"/>
                </a:solidFill>
                <a:latin typeface="Microsoft YaHei UI" panose="020B0503020204020204" charset="-122"/>
                <a:ea typeface="Microsoft YaHei UI" panose="020B0503020204020204" charset="-122"/>
                <a:cs typeface="Microsoft YaHei UI" panose="020B0503020204020204" charset="-122"/>
              </a:defRPr>
            </a:pPr>
            <a:r>
              <a:rPr sz="1350" b="1">
                <a:solidFill>
                  <a:srgbClr val="FFFFFF"/>
                </a:solidFill>
                <a:latin typeface="Microsoft YaHei UI" panose="020B0503020204020204" charset="-122"/>
                <a:ea typeface="Microsoft YaHei UI" panose="020B0503020204020204" charset="-122"/>
                <a:cs typeface="Microsoft YaHei UI" panose="020B0503020204020204" charset="-122"/>
              </a:rPr>
              <a:t>现实问题</a:t>
            </a:r>
            <a:endParaRPr sz="1350" b="1">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26" name="矩形 25"/>
          <p:cNvSpPr>
            <a:spLocks noGrp="1"/>
          </p:cNvSpPr>
          <p:nvPr/>
        </p:nvSpPr>
        <p:spPr>
          <a:xfrm>
            <a:off x="647700" y="3143250"/>
            <a:ext cx="1619250" cy="742950"/>
          </a:xfrm>
          <a:prstGeom prst="rect">
            <a:avLst/>
          </a:prstGeom>
          <a:noFill/>
          <a:ln w="0">
            <a:solidFill>
              <a:srgbClr val="FFFFFF"/>
            </a:solidFill>
          </a:ln>
        </p:spPr>
        <p:txBody>
          <a:bodyPr lIns="76200" tIns="38100" rIns="76200" bIns="38100" anchor="t"/>
          <a:lstStyle/>
          <a:p>
            <a:pPr algn="ctr">
              <a:defRPr sz="1050" b="0">
                <a:solidFill>
                  <a:srgbClr val="5D6763"/>
                </a:solidFill>
                <a:latin typeface="Microsoft YaHei UI" panose="020B0503020204020204" charset="-122"/>
                <a:ea typeface="Microsoft YaHei UI" panose="020B0503020204020204" charset="-122"/>
                <a:cs typeface="Microsoft YaHei UI" panose="020B0503020204020204" charset="-122"/>
              </a:defRPr>
            </a:pPr>
            <a:r>
              <a:rPr sz="1050" b="0">
                <a:solidFill>
                  <a:srgbClr val="5D6763"/>
                </a:solidFill>
                <a:latin typeface="Microsoft YaHei UI" panose="020B0503020204020204" charset="-122"/>
                <a:ea typeface="Microsoft YaHei UI" panose="020B0503020204020204" charset="-122"/>
                <a:cs typeface="Microsoft YaHei UI" panose="020B0503020204020204" charset="-122"/>
              </a:rPr>
              <a:t>双碳约束下企业绿色转型的成本压力</a:t>
            </a:r>
            <a:endParaRPr sz="1050" b="0">
              <a:solidFill>
                <a:srgbClr val="5D6763"/>
              </a:solidFill>
              <a:latin typeface="Microsoft YaHei UI" panose="020B0503020204020204" charset="-122"/>
              <a:ea typeface="Microsoft YaHei UI" panose="020B0503020204020204" charset="-122"/>
              <a:cs typeface="Microsoft YaHei UI" panose="020B0503020204020204" charset="-122"/>
            </a:endParaRPr>
          </a:p>
        </p:txBody>
      </p:sp>
      <p:sp>
        <p:nvSpPr>
          <p:cNvPr id="27" name="圆角矩形 26"/>
          <p:cNvSpPr>
            <a:spLocks noGrp="1"/>
          </p:cNvSpPr>
          <p:nvPr/>
        </p:nvSpPr>
        <p:spPr>
          <a:xfrm>
            <a:off x="2571750" y="2381250"/>
            <a:ext cx="1381125" cy="609600"/>
          </a:xfrm>
          <a:prstGeom prst="roundRect">
            <a:avLst>
              <a:gd name="adj" fmla="val 18750"/>
            </a:avLst>
          </a:prstGeom>
          <a:solidFill>
            <a:srgbClr val="FFFFFF"/>
          </a:solidFill>
          <a:ln w="11430">
            <a:solidFill>
              <a:srgbClr val="206040"/>
            </a:solidFill>
          </a:ln>
        </p:spPr>
      </p:sp>
      <p:sp>
        <p:nvSpPr>
          <p:cNvPr id="28" name="矩形 27"/>
          <p:cNvSpPr>
            <a:spLocks noGrp="1"/>
          </p:cNvSpPr>
          <p:nvPr/>
        </p:nvSpPr>
        <p:spPr>
          <a:xfrm>
            <a:off x="2571750" y="2381250"/>
            <a:ext cx="1381125" cy="609600"/>
          </a:xfrm>
          <a:prstGeom prst="rect">
            <a:avLst/>
          </a:prstGeom>
          <a:noFill/>
          <a:ln w="0">
            <a:solidFill>
              <a:srgbClr val="FFFFFF"/>
            </a:solidFill>
          </a:ln>
        </p:spPr>
        <p:txBody>
          <a:bodyPr lIns="76200" tIns="38100" rIns="76200" bIns="38100" anchor="ctr"/>
          <a:lstStyle/>
          <a:p>
            <a:pPr algn="ctr">
              <a:defRPr sz="1350" b="1">
                <a:solidFill>
                  <a:srgbClr val="206040"/>
                </a:solidFill>
                <a:latin typeface="Microsoft YaHei UI" panose="020B0503020204020204" charset="-122"/>
                <a:ea typeface="Microsoft YaHei UI" panose="020B0503020204020204" charset="-122"/>
                <a:cs typeface="Microsoft YaHei UI" panose="020B0503020204020204" charset="-122"/>
              </a:defRPr>
            </a:pPr>
            <a:r>
              <a:rPr sz="1350" b="1">
                <a:solidFill>
                  <a:srgbClr val="206040"/>
                </a:solidFill>
                <a:latin typeface="Microsoft YaHei UI" panose="020B0503020204020204" charset="-122"/>
                <a:ea typeface="Microsoft YaHei UI" panose="020B0503020204020204" charset="-122"/>
                <a:cs typeface="Microsoft YaHei UI" panose="020B0503020204020204" charset="-122"/>
              </a:rPr>
              <a:t>科学问题</a:t>
            </a:r>
            <a:endParaRPr sz="1350" b="1">
              <a:solidFill>
                <a:srgbClr val="206040"/>
              </a:solidFill>
              <a:latin typeface="Microsoft YaHei UI" panose="020B0503020204020204" charset="-122"/>
              <a:ea typeface="Microsoft YaHei UI" panose="020B0503020204020204" charset="-122"/>
              <a:cs typeface="Microsoft YaHei UI" panose="020B0503020204020204" charset="-122"/>
            </a:endParaRPr>
          </a:p>
        </p:txBody>
      </p:sp>
      <p:sp>
        <p:nvSpPr>
          <p:cNvPr id="29" name="矩形 28"/>
          <p:cNvSpPr>
            <a:spLocks noGrp="1"/>
          </p:cNvSpPr>
          <p:nvPr/>
        </p:nvSpPr>
        <p:spPr>
          <a:xfrm>
            <a:off x="2457450" y="3143250"/>
            <a:ext cx="1619250" cy="742950"/>
          </a:xfrm>
          <a:prstGeom prst="rect">
            <a:avLst/>
          </a:prstGeom>
          <a:noFill/>
          <a:ln w="0">
            <a:solidFill>
              <a:srgbClr val="FFFFFF"/>
            </a:solidFill>
          </a:ln>
        </p:spPr>
        <p:txBody>
          <a:bodyPr lIns="76200" tIns="38100" rIns="76200" bIns="38100" anchor="t"/>
          <a:lstStyle/>
          <a:p>
            <a:pPr algn="ctr">
              <a:defRPr sz="1050" b="0">
                <a:solidFill>
                  <a:srgbClr val="5D6763"/>
                </a:solidFill>
                <a:latin typeface="Microsoft YaHei UI" panose="020B0503020204020204" charset="-122"/>
                <a:ea typeface="Microsoft YaHei UI" panose="020B0503020204020204" charset="-122"/>
                <a:cs typeface="Microsoft YaHei UI" panose="020B0503020204020204" charset="-122"/>
              </a:defRPr>
            </a:pPr>
            <a:r>
              <a:rPr sz="1050" b="0">
                <a:solidFill>
                  <a:srgbClr val="5D6763"/>
                </a:solidFill>
                <a:latin typeface="Microsoft YaHei UI" panose="020B0503020204020204" charset="-122"/>
                <a:ea typeface="Microsoft YaHei UI" panose="020B0503020204020204" charset="-122"/>
                <a:cs typeface="Microsoft YaHei UI" panose="020B0503020204020204" charset="-122"/>
              </a:rPr>
              <a:t>ER如何经由合规成本影响GTFP</a:t>
            </a:r>
            <a:endParaRPr sz="1050" b="0">
              <a:solidFill>
                <a:srgbClr val="5D6763"/>
              </a:solidFill>
              <a:latin typeface="Microsoft YaHei UI" panose="020B0503020204020204" charset="-122"/>
              <a:ea typeface="Microsoft YaHei UI" panose="020B0503020204020204" charset="-122"/>
              <a:cs typeface="Microsoft YaHei UI" panose="020B0503020204020204" charset="-122"/>
            </a:endParaRPr>
          </a:p>
        </p:txBody>
      </p:sp>
      <p:cxnSp>
        <p:nvCxnSpPr>
          <p:cNvPr id="30" name="直接箭头连接符 29"/>
          <p:cNvCxnSpPr>
            <a:stCxn id="23" idx="3"/>
            <a:endCxn id="26" idx="1"/>
          </p:cNvCxnSpPr>
          <p:nvPr/>
        </p:nvCxnSpPr>
        <p:spPr>
          <a:xfrm>
            <a:off x="2143125" y="2686050"/>
            <a:ext cx="428625" cy="0"/>
          </a:xfrm>
          <a:prstGeom prst="straightConnector1">
            <a:avLst/>
          </a:prstGeom>
          <a:ln w="20955">
            <a:solidFill>
              <a:srgbClr val="206040"/>
            </a:solidFill>
          </a:ln>
        </p:spPr>
      </p:cxnSp>
      <p:sp>
        <p:nvSpPr>
          <p:cNvPr id="31" name="圆角矩形 30"/>
          <p:cNvSpPr>
            <a:spLocks noGrp="1"/>
          </p:cNvSpPr>
          <p:nvPr/>
        </p:nvSpPr>
        <p:spPr>
          <a:xfrm>
            <a:off x="4381500" y="2381250"/>
            <a:ext cx="1381125" cy="609600"/>
          </a:xfrm>
          <a:prstGeom prst="roundRect">
            <a:avLst>
              <a:gd name="adj" fmla="val 18750"/>
            </a:avLst>
          </a:prstGeom>
          <a:solidFill>
            <a:srgbClr val="FFFFFF"/>
          </a:solidFill>
          <a:ln w="11430">
            <a:solidFill>
              <a:srgbClr val="206040"/>
            </a:solidFill>
          </a:ln>
        </p:spPr>
      </p:sp>
      <p:sp>
        <p:nvSpPr>
          <p:cNvPr id="32" name="矩形 31"/>
          <p:cNvSpPr>
            <a:spLocks noGrp="1"/>
          </p:cNvSpPr>
          <p:nvPr/>
        </p:nvSpPr>
        <p:spPr>
          <a:xfrm>
            <a:off x="4381500" y="2381250"/>
            <a:ext cx="1381125" cy="609600"/>
          </a:xfrm>
          <a:prstGeom prst="rect">
            <a:avLst/>
          </a:prstGeom>
          <a:noFill/>
          <a:ln w="0">
            <a:solidFill>
              <a:srgbClr val="FFFFFF"/>
            </a:solidFill>
          </a:ln>
        </p:spPr>
        <p:txBody>
          <a:bodyPr lIns="76200" tIns="38100" rIns="76200" bIns="38100" anchor="ctr"/>
          <a:lstStyle/>
          <a:p>
            <a:pPr algn="ctr">
              <a:defRPr sz="1350" b="1">
                <a:solidFill>
                  <a:srgbClr val="206040"/>
                </a:solidFill>
                <a:latin typeface="Microsoft YaHei UI" panose="020B0503020204020204" charset="-122"/>
                <a:ea typeface="Microsoft YaHei UI" panose="020B0503020204020204" charset="-122"/>
                <a:cs typeface="Microsoft YaHei UI" panose="020B0503020204020204" charset="-122"/>
              </a:defRPr>
            </a:pPr>
            <a:r>
              <a:rPr sz="1350" b="1">
                <a:solidFill>
                  <a:srgbClr val="206040"/>
                </a:solidFill>
                <a:latin typeface="Microsoft YaHei UI" panose="020B0503020204020204" charset="-122"/>
                <a:ea typeface="Microsoft YaHei UI" panose="020B0503020204020204" charset="-122"/>
                <a:cs typeface="Microsoft YaHei UI" panose="020B0503020204020204" charset="-122"/>
              </a:rPr>
              <a:t>理论机制</a:t>
            </a:r>
            <a:endParaRPr sz="1350" b="1">
              <a:solidFill>
                <a:srgbClr val="206040"/>
              </a:solidFill>
              <a:latin typeface="Microsoft YaHei UI" panose="020B0503020204020204" charset="-122"/>
              <a:ea typeface="Microsoft YaHei UI" panose="020B0503020204020204" charset="-122"/>
              <a:cs typeface="Microsoft YaHei UI" panose="020B0503020204020204" charset="-122"/>
            </a:endParaRPr>
          </a:p>
        </p:txBody>
      </p:sp>
      <p:sp>
        <p:nvSpPr>
          <p:cNvPr id="33" name="矩形 32"/>
          <p:cNvSpPr>
            <a:spLocks noGrp="1"/>
          </p:cNvSpPr>
          <p:nvPr/>
        </p:nvSpPr>
        <p:spPr>
          <a:xfrm>
            <a:off x="4267200" y="3143250"/>
            <a:ext cx="1619250" cy="742950"/>
          </a:xfrm>
          <a:prstGeom prst="rect">
            <a:avLst/>
          </a:prstGeom>
          <a:noFill/>
          <a:ln w="0">
            <a:solidFill>
              <a:srgbClr val="FFFFFF"/>
            </a:solidFill>
          </a:ln>
        </p:spPr>
        <p:txBody>
          <a:bodyPr lIns="76200" tIns="38100" rIns="76200" bIns="38100" anchor="t"/>
          <a:lstStyle/>
          <a:p>
            <a:pPr algn="ctr">
              <a:defRPr sz="1050" b="0">
                <a:solidFill>
                  <a:srgbClr val="5D6763"/>
                </a:solidFill>
                <a:latin typeface="Microsoft YaHei UI" panose="020B0503020204020204" charset="-122"/>
                <a:ea typeface="Microsoft YaHei UI" panose="020B0503020204020204" charset="-122"/>
                <a:cs typeface="Microsoft YaHei UI" panose="020B0503020204020204" charset="-122"/>
              </a:defRPr>
            </a:pPr>
            <a:r>
              <a:rPr sz="1050" b="0">
                <a:solidFill>
                  <a:srgbClr val="5D6763"/>
                </a:solidFill>
                <a:latin typeface="Microsoft YaHei UI" panose="020B0503020204020204" charset="-122"/>
                <a:ea typeface="Microsoft YaHei UI" panose="020B0503020204020204" charset="-122"/>
                <a:cs typeface="Microsoft YaHei UI" panose="020B0503020204020204" charset="-122"/>
              </a:rPr>
              <a:t>外部性、波特假说、资源基础观</a:t>
            </a:r>
            <a:endParaRPr sz="1050" b="0">
              <a:solidFill>
                <a:srgbClr val="5D6763"/>
              </a:solidFill>
              <a:latin typeface="Microsoft YaHei UI" panose="020B0503020204020204" charset="-122"/>
              <a:ea typeface="Microsoft YaHei UI" panose="020B0503020204020204" charset="-122"/>
              <a:cs typeface="Microsoft YaHei UI" panose="020B0503020204020204" charset="-122"/>
            </a:endParaRPr>
          </a:p>
        </p:txBody>
      </p:sp>
      <p:cxnSp>
        <p:nvCxnSpPr>
          <p:cNvPr id="34" name="直接箭头连接符 33"/>
          <p:cNvCxnSpPr>
            <a:stCxn id="26" idx="3"/>
            <a:endCxn id="30" idx="1"/>
          </p:cNvCxnSpPr>
          <p:nvPr/>
        </p:nvCxnSpPr>
        <p:spPr>
          <a:xfrm>
            <a:off x="3952875" y="2686050"/>
            <a:ext cx="428625" cy="0"/>
          </a:xfrm>
          <a:prstGeom prst="straightConnector1">
            <a:avLst/>
          </a:prstGeom>
          <a:ln w="20955">
            <a:solidFill>
              <a:srgbClr val="206040"/>
            </a:solidFill>
          </a:ln>
        </p:spPr>
      </p:cxnSp>
      <p:sp>
        <p:nvSpPr>
          <p:cNvPr id="35" name="圆角矩形 34"/>
          <p:cNvSpPr>
            <a:spLocks noGrp="1"/>
          </p:cNvSpPr>
          <p:nvPr/>
        </p:nvSpPr>
        <p:spPr>
          <a:xfrm>
            <a:off x="6191250" y="2381250"/>
            <a:ext cx="1381125" cy="609600"/>
          </a:xfrm>
          <a:prstGeom prst="roundRect">
            <a:avLst>
              <a:gd name="adj" fmla="val 18750"/>
            </a:avLst>
          </a:prstGeom>
          <a:solidFill>
            <a:srgbClr val="FFFFFF"/>
          </a:solidFill>
          <a:ln w="11430">
            <a:solidFill>
              <a:srgbClr val="206040"/>
            </a:solidFill>
          </a:ln>
        </p:spPr>
      </p:sp>
      <p:sp>
        <p:nvSpPr>
          <p:cNvPr id="36" name="矩形 35"/>
          <p:cNvSpPr>
            <a:spLocks noGrp="1"/>
          </p:cNvSpPr>
          <p:nvPr/>
        </p:nvSpPr>
        <p:spPr>
          <a:xfrm>
            <a:off x="6191250" y="2381250"/>
            <a:ext cx="1381125" cy="609600"/>
          </a:xfrm>
          <a:prstGeom prst="rect">
            <a:avLst/>
          </a:prstGeom>
          <a:noFill/>
          <a:ln w="0">
            <a:solidFill>
              <a:srgbClr val="FFFFFF"/>
            </a:solidFill>
          </a:ln>
        </p:spPr>
        <p:txBody>
          <a:bodyPr lIns="76200" tIns="38100" rIns="76200" bIns="38100" anchor="ctr"/>
          <a:lstStyle/>
          <a:p>
            <a:pPr algn="ctr">
              <a:defRPr sz="1350" b="1">
                <a:solidFill>
                  <a:srgbClr val="206040"/>
                </a:solidFill>
                <a:latin typeface="Microsoft YaHei UI" panose="020B0503020204020204" charset="-122"/>
                <a:ea typeface="Microsoft YaHei UI" panose="020B0503020204020204" charset="-122"/>
                <a:cs typeface="Microsoft YaHei UI" panose="020B0503020204020204" charset="-122"/>
              </a:defRPr>
            </a:pPr>
            <a:r>
              <a:rPr sz="1350" b="1">
                <a:solidFill>
                  <a:srgbClr val="206040"/>
                </a:solidFill>
                <a:latin typeface="Microsoft YaHei UI" panose="020B0503020204020204" charset="-122"/>
                <a:ea typeface="Microsoft YaHei UI" panose="020B0503020204020204" charset="-122"/>
                <a:cs typeface="Microsoft YaHei UI" panose="020B0503020204020204" charset="-122"/>
              </a:rPr>
              <a:t>数据变量</a:t>
            </a:r>
            <a:endParaRPr sz="1350" b="1">
              <a:solidFill>
                <a:srgbClr val="206040"/>
              </a:solidFill>
              <a:latin typeface="Microsoft YaHei UI" panose="020B0503020204020204" charset="-122"/>
              <a:ea typeface="Microsoft YaHei UI" panose="020B0503020204020204" charset="-122"/>
              <a:cs typeface="Microsoft YaHei UI" panose="020B0503020204020204" charset="-122"/>
            </a:endParaRPr>
          </a:p>
        </p:txBody>
      </p:sp>
      <p:sp>
        <p:nvSpPr>
          <p:cNvPr id="37" name="矩形 36"/>
          <p:cNvSpPr>
            <a:spLocks noGrp="1"/>
          </p:cNvSpPr>
          <p:nvPr/>
        </p:nvSpPr>
        <p:spPr>
          <a:xfrm>
            <a:off x="6076950" y="3143250"/>
            <a:ext cx="1619250" cy="742950"/>
          </a:xfrm>
          <a:prstGeom prst="rect">
            <a:avLst/>
          </a:prstGeom>
          <a:noFill/>
          <a:ln w="0">
            <a:solidFill>
              <a:srgbClr val="FFFFFF"/>
            </a:solidFill>
          </a:ln>
        </p:spPr>
        <p:txBody>
          <a:bodyPr lIns="76200" tIns="38100" rIns="76200" bIns="38100" anchor="t"/>
          <a:lstStyle/>
          <a:p>
            <a:pPr algn="ctr">
              <a:defRPr sz="1050" b="0">
                <a:solidFill>
                  <a:srgbClr val="5D6763"/>
                </a:solidFill>
                <a:latin typeface="Microsoft YaHei UI" panose="020B0503020204020204" charset="-122"/>
                <a:ea typeface="Microsoft YaHei UI" panose="020B0503020204020204" charset="-122"/>
                <a:cs typeface="Microsoft YaHei UI" panose="020B0503020204020204" charset="-122"/>
              </a:defRPr>
            </a:pPr>
            <a:r>
              <a:rPr sz="1050" b="0">
                <a:solidFill>
                  <a:srgbClr val="5D6763"/>
                </a:solidFill>
                <a:latin typeface="Microsoft YaHei UI" panose="020B0503020204020204" charset="-122"/>
                <a:ea typeface="Microsoft YaHei UI" panose="020B0503020204020204" charset="-122"/>
                <a:cs typeface="Microsoft YaHei UI" panose="020B0503020204020204" charset="-122"/>
              </a:rPr>
              <a:t>A股公司、城市政策文本与企业披露</a:t>
            </a:r>
            <a:endParaRPr sz="1050" b="0">
              <a:solidFill>
                <a:srgbClr val="5D6763"/>
              </a:solidFill>
              <a:latin typeface="Microsoft YaHei UI" panose="020B0503020204020204" charset="-122"/>
              <a:ea typeface="Microsoft YaHei UI" panose="020B0503020204020204" charset="-122"/>
              <a:cs typeface="Microsoft YaHei UI" panose="020B0503020204020204" charset="-122"/>
            </a:endParaRPr>
          </a:p>
        </p:txBody>
      </p:sp>
      <p:cxnSp>
        <p:nvCxnSpPr>
          <p:cNvPr id="38" name="直接箭头连接符 37"/>
          <p:cNvCxnSpPr>
            <a:stCxn id="30" idx="3"/>
            <a:endCxn id="34" idx="1"/>
          </p:cNvCxnSpPr>
          <p:nvPr/>
        </p:nvCxnSpPr>
        <p:spPr>
          <a:xfrm>
            <a:off x="5762625" y="2686050"/>
            <a:ext cx="428625" cy="0"/>
          </a:xfrm>
          <a:prstGeom prst="straightConnector1">
            <a:avLst/>
          </a:prstGeom>
          <a:ln w="20955">
            <a:solidFill>
              <a:srgbClr val="206040"/>
            </a:solidFill>
          </a:ln>
        </p:spPr>
      </p:cxnSp>
      <p:sp>
        <p:nvSpPr>
          <p:cNvPr id="39" name="圆角矩形 38"/>
          <p:cNvSpPr>
            <a:spLocks noGrp="1"/>
          </p:cNvSpPr>
          <p:nvPr/>
        </p:nvSpPr>
        <p:spPr>
          <a:xfrm>
            <a:off x="8001000" y="2381250"/>
            <a:ext cx="1381125" cy="609600"/>
          </a:xfrm>
          <a:prstGeom prst="roundRect">
            <a:avLst>
              <a:gd name="adj" fmla="val 18750"/>
            </a:avLst>
          </a:prstGeom>
          <a:solidFill>
            <a:srgbClr val="FFFFFF"/>
          </a:solidFill>
          <a:ln w="11430">
            <a:solidFill>
              <a:srgbClr val="206040"/>
            </a:solidFill>
          </a:ln>
        </p:spPr>
      </p:sp>
      <p:sp>
        <p:nvSpPr>
          <p:cNvPr id="40" name="矩形 39"/>
          <p:cNvSpPr>
            <a:spLocks noGrp="1"/>
          </p:cNvSpPr>
          <p:nvPr/>
        </p:nvSpPr>
        <p:spPr>
          <a:xfrm>
            <a:off x="8001000" y="2381250"/>
            <a:ext cx="1381125" cy="609600"/>
          </a:xfrm>
          <a:prstGeom prst="rect">
            <a:avLst/>
          </a:prstGeom>
          <a:noFill/>
          <a:ln w="0">
            <a:solidFill>
              <a:srgbClr val="FFFFFF"/>
            </a:solidFill>
          </a:ln>
        </p:spPr>
        <p:txBody>
          <a:bodyPr lIns="76200" tIns="38100" rIns="76200" bIns="38100" anchor="ctr"/>
          <a:lstStyle/>
          <a:p>
            <a:pPr algn="ctr">
              <a:defRPr sz="1350" b="1">
                <a:solidFill>
                  <a:srgbClr val="206040"/>
                </a:solidFill>
                <a:latin typeface="Microsoft YaHei UI" panose="020B0503020204020204" charset="-122"/>
                <a:ea typeface="Microsoft YaHei UI" panose="020B0503020204020204" charset="-122"/>
                <a:cs typeface="Microsoft YaHei UI" panose="020B0503020204020204" charset="-122"/>
              </a:defRPr>
            </a:pPr>
            <a:r>
              <a:rPr sz="1350" b="1">
                <a:solidFill>
                  <a:srgbClr val="206040"/>
                </a:solidFill>
                <a:latin typeface="Microsoft YaHei UI" panose="020B0503020204020204" charset="-122"/>
                <a:ea typeface="Microsoft YaHei UI" panose="020B0503020204020204" charset="-122"/>
                <a:cs typeface="Microsoft YaHei UI" panose="020B0503020204020204" charset="-122"/>
              </a:rPr>
              <a:t>模型识别</a:t>
            </a:r>
            <a:endParaRPr sz="1350" b="1">
              <a:solidFill>
                <a:srgbClr val="206040"/>
              </a:solidFill>
              <a:latin typeface="Microsoft YaHei UI" panose="020B0503020204020204" charset="-122"/>
              <a:ea typeface="Microsoft YaHei UI" panose="020B0503020204020204" charset="-122"/>
              <a:cs typeface="Microsoft YaHei UI" panose="020B0503020204020204" charset="-122"/>
            </a:endParaRPr>
          </a:p>
        </p:txBody>
      </p:sp>
      <p:sp>
        <p:nvSpPr>
          <p:cNvPr id="41" name="矩形 40"/>
          <p:cNvSpPr>
            <a:spLocks noGrp="1"/>
          </p:cNvSpPr>
          <p:nvPr/>
        </p:nvSpPr>
        <p:spPr>
          <a:xfrm>
            <a:off x="7886700" y="3143250"/>
            <a:ext cx="1619250" cy="742950"/>
          </a:xfrm>
          <a:prstGeom prst="rect">
            <a:avLst/>
          </a:prstGeom>
          <a:noFill/>
          <a:ln w="0">
            <a:solidFill>
              <a:srgbClr val="FFFFFF"/>
            </a:solidFill>
          </a:ln>
        </p:spPr>
        <p:txBody>
          <a:bodyPr lIns="76200" tIns="38100" rIns="76200" bIns="38100" anchor="t"/>
          <a:lstStyle/>
          <a:p>
            <a:pPr algn="ctr">
              <a:defRPr sz="1050" b="0">
                <a:solidFill>
                  <a:srgbClr val="5D6763"/>
                </a:solidFill>
                <a:latin typeface="Microsoft YaHei UI" panose="020B0503020204020204" charset="-122"/>
                <a:ea typeface="Microsoft YaHei UI" panose="020B0503020204020204" charset="-122"/>
                <a:cs typeface="Microsoft YaHei UI" panose="020B0503020204020204" charset="-122"/>
              </a:defRPr>
            </a:pPr>
            <a:r>
              <a:rPr sz="1050" b="0">
                <a:solidFill>
                  <a:srgbClr val="5D6763"/>
                </a:solidFill>
                <a:latin typeface="Microsoft YaHei UI" panose="020B0503020204020204" charset="-122"/>
                <a:ea typeface="Microsoft YaHei UI" panose="020B0503020204020204" charset="-122"/>
                <a:cs typeface="Microsoft YaHei UI" panose="020B0503020204020204" charset="-122"/>
              </a:rPr>
              <a:t>双向固定效应、机制、异质性、IV/DID</a:t>
            </a:r>
            <a:endParaRPr sz="1050" b="0">
              <a:solidFill>
                <a:srgbClr val="5D6763"/>
              </a:solidFill>
              <a:latin typeface="Microsoft YaHei UI" panose="020B0503020204020204" charset="-122"/>
              <a:ea typeface="Microsoft YaHei UI" panose="020B0503020204020204" charset="-122"/>
              <a:cs typeface="Microsoft YaHei UI" panose="020B0503020204020204" charset="-122"/>
            </a:endParaRPr>
          </a:p>
        </p:txBody>
      </p:sp>
      <p:cxnSp>
        <p:nvCxnSpPr>
          <p:cNvPr id="42" name="直接箭头连接符 41"/>
          <p:cNvCxnSpPr>
            <a:stCxn id="34" idx="3"/>
            <a:endCxn id="38" idx="1"/>
          </p:cNvCxnSpPr>
          <p:nvPr/>
        </p:nvCxnSpPr>
        <p:spPr>
          <a:xfrm>
            <a:off x="7572375" y="2686050"/>
            <a:ext cx="428625" cy="0"/>
          </a:xfrm>
          <a:prstGeom prst="straightConnector1">
            <a:avLst/>
          </a:prstGeom>
          <a:ln w="20955">
            <a:solidFill>
              <a:srgbClr val="206040"/>
            </a:solidFill>
          </a:ln>
        </p:spPr>
      </p:cxnSp>
      <p:sp>
        <p:nvSpPr>
          <p:cNvPr id="43" name="圆角矩形 42"/>
          <p:cNvSpPr>
            <a:spLocks noGrp="1"/>
          </p:cNvSpPr>
          <p:nvPr/>
        </p:nvSpPr>
        <p:spPr>
          <a:xfrm>
            <a:off x="9810750" y="2381250"/>
            <a:ext cx="1381125" cy="609600"/>
          </a:xfrm>
          <a:prstGeom prst="roundRect">
            <a:avLst>
              <a:gd name="adj" fmla="val 18750"/>
            </a:avLst>
          </a:prstGeom>
          <a:solidFill>
            <a:srgbClr val="FFFFFF"/>
          </a:solidFill>
          <a:ln w="11430">
            <a:solidFill>
              <a:srgbClr val="206040"/>
            </a:solidFill>
          </a:ln>
        </p:spPr>
      </p:sp>
      <p:sp>
        <p:nvSpPr>
          <p:cNvPr id="44" name="矩形 43"/>
          <p:cNvSpPr>
            <a:spLocks noGrp="1"/>
          </p:cNvSpPr>
          <p:nvPr/>
        </p:nvSpPr>
        <p:spPr>
          <a:xfrm>
            <a:off x="9810750" y="2381250"/>
            <a:ext cx="1381125" cy="609600"/>
          </a:xfrm>
          <a:prstGeom prst="rect">
            <a:avLst/>
          </a:prstGeom>
          <a:noFill/>
          <a:ln w="0">
            <a:solidFill>
              <a:srgbClr val="FFFFFF"/>
            </a:solidFill>
          </a:ln>
        </p:spPr>
        <p:txBody>
          <a:bodyPr lIns="76200" tIns="38100" rIns="76200" bIns="38100" anchor="ctr"/>
          <a:lstStyle/>
          <a:p>
            <a:pPr algn="ctr">
              <a:defRPr sz="1350" b="1">
                <a:solidFill>
                  <a:srgbClr val="206040"/>
                </a:solidFill>
                <a:latin typeface="Microsoft YaHei UI" panose="020B0503020204020204" charset="-122"/>
                <a:ea typeface="Microsoft YaHei UI" panose="020B0503020204020204" charset="-122"/>
                <a:cs typeface="Microsoft YaHei UI" panose="020B0503020204020204" charset="-122"/>
              </a:defRPr>
            </a:pPr>
            <a:r>
              <a:rPr sz="1350" b="1">
                <a:solidFill>
                  <a:srgbClr val="206040"/>
                </a:solidFill>
                <a:latin typeface="Microsoft YaHei UI" panose="020B0503020204020204" charset="-122"/>
                <a:ea typeface="Microsoft YaHei UI" panose="020B0503020204020204" charset="-122"/>
                <a:cs typeface="Microsoft YaHei UI" panose="020B0503020204020204" charset="-122"/>
              </a:rPr>
              <a:t>预期贡献</a:t>
            </a:r>
            <a:endParaRPr sz="1350" b="1">
              <a:solidFill>
                <a:srgbClr val="206040"/>
              </a:solidFill>
              <a:latin typeface="Microsoft YaHei UI" panose="020B0503020204020204" charset="-122"/>
              <a:ea typeface="Microsoft YaHei UI" panose="020B0503020204020204" charset="-122"/>
              <a:cs typeface="Microsoft YaHei UI" panose="020B0503020204020204" charset="-122"/>
            </a:endParaRPr>
          </a:p>
        </p:txBody>
      </p:sp>
      <p:sp>
        <p:nvSpPr>
          <p:cNvPr id="45" name="矩形 44"/>
          <p:cNvSpPr>
            <a:spLocks noGrp="1"/>
          </p:cNvSpPr>
          <p:nvPr/>
        </p:nvSpPr>
        <p:spPr>
          <a:xfrm>
            <a:off x="9696450" y="3143250"/>
            <a:ext cx="1619250" cy="742950"/>
          </a:xfrm>
          <a:prstGeom prst="rect">
            <a:avLst/>
          </a:prstGeom>
          <a:noFill/>
          <a:ln w="0">
            <a:solidFill>
              <a:srgbClr val="FFFFFF"/>
            </a:solidFill>
          </a:ln>
        </p:spPr>
        <p:txBody>
          <a:bodyPr lIns="76200" tIns="38100" rIns="76200" bIns="38100" anchor="t"/>
          <a:lstStyle/>
          <a:p>
            <a:pPr algn="ctr">
              <a:defRPr sz="1050" b="0">
                <a:solidFill>
                  <a:srgbClr val="5D6763"/>
                </a:solidFill>
                <a:latin typeface="Microsoft YaHei UI" panose="020B0503020204020204" charset="-122"/>
                <a:ea typeface="Microsoft YaHei UI" panose="020B0503020204020204" charset="-122"/>
                <a:cs typeface="Microsoft YaHei UI" panose="020B0503020204020204" charset="-122"/>
              </a:defRPr>
            </a:pPr>
            <a:r>
              <a:rPr sz="1050" b="0">
                <a:solidFill>
                  <a:srgbClr val="5D6763"/>
                </a:solidFill>
                <a:latin typeface="Microsoft YaHei UI" panose="020B0503020204020204" charset="-122"/>
                <a:ea typeface="Microsoft YaHei UI" panose="020B0503020204020204" charset="-122"/>
                <a:cs typeface="Microsoft YaHei UI" panose="020B0503020204020204" charset="-122"/>
              </a:rPr>
              <a:t>解释成本遵循与创新补偿的边界</a:t>
            </a:r>
            <a:endParaRPr sz="1050" b="0">
              <a:solidFill>
                <a:srgbClr val="5D6763"/>
              </a:solidFill>
              <a:latin typeface="Microsoft YaHei UI" panose="020B0503020204020204" charset="-122"/>
              <a:ea typeface="Microsoft YaHei UI" panose="020B0503020204020204" charset="-122"/>
              <a:cs typeface="Microsoft YaHei UI" panose="020B0503020204020204" charset="-122"/>
            </a:endParaRPr>
          </a:p>
        </p:txBody>
      </p:sp>
      <p:cxnSp>
        <p:nvCxnSpPr>
          <p:cNvPr id="46" name="直接箭头连接符 45"/>
          <p:cNvCxnSpPr>
            <a:stCxn id="38" idx="3"/>
            <a:endCxn id="42" idx="1"/>
          </p:cNvCxnSpPr>
          <p:nvPr/>
        </p:nvCxnSpPr>
        <p:spPr>
          <a:xfrm>
            <a:off x="9382125" y="2686050"/>
            <a:ext cx="428625" cy="0"/>
          </a:xfrm>
          <a:prstGeom prst="straightConnector1">
            <a:avLst/>
          </a:prstGeom>
          <a:ln w="20955">
            <a:solidFill>
              <a:srgbClr val="206040"/>
            </a:solidFill>
          </a:ln>
        </p:spPr>
      </p:cxnSp>
      <p:sp>
        <p:nvSpPr>
          <p:cNvPr id="47" name="圆角矩形 46"/>
          <p:cNvSpPr>
            <a:spLocks noGrp="1"/>
          </p:cNvSpPr>
          <p:nvPr/>
        </p:nvSpPr>
        <p:spPr>
          <a:xfrm>
            <a:off x="666750" y="5981700"/>
            <a:ext cx="9906000" cy="400050"/>
          </a:xfrm>
          <a:prstGeom prst="roundRect">
            <a:avLst>
              <a:gd name="adj" fmla="val 23810"/>
            </a:avLst>
          </a:prstGeom>
          <a:solidFill>
            <a:srgbClr val="FFF8DA"/>
          </a:solidFill>
          <a:ln w="11430">
            <a:solidFill>
              <a:srgbClr val="E9D47A"/>
            </a:solidFill>
          </a:ln>
        </p:spPr>
      </p:sp>
      <p:sp>
        <p:nvSpPr>
          <p:cNvPr id="48" name="矩形 47"/>
          <p:cNvSpPr>
            <a:spLocks noGrp="1"/>
          </p:cNvSpPr>
          <p:nvPr/>
        </p:nvSpPr>
        <p:spPr>
          <a:xfrm>
            <a:off x="876300" y="6048375"/>
            <a:ext cx="9477375" cy="266700"/>
          </a:xfrm>
          <a:prstGeom prst="rect">
            <a:avLst/>
          </a:prstGeom>
          <a:noFill/>
          <a:ln w="0">
            <a:solidFill>
              <a:srgbClr val="FFFFFF"/>
            </a:solidFill>
          </a:ln>
        </p:spPr>
        <p:txBody>
          <a:bodyPr lIns="76200" tIns="38100" rIns="76200" bIns="38100" anchor="ctr"/>
          <a:lstStyle/>
          <a:p>
            <a:pPr algn="l">
              <a:defRPr sz="1200" b="1">
                <a:solidFill>
                  <a:srgbClr val="206040"/>
                </a:solidFill>
                <a:latin typeface="Microsoft YaHei UI" panose="020B0503020204020204" charset="-122"/>
                <a:ea typeface="Microsoft YaHei UI" panose="020B0503020204020204" charset="-122"/>
                <a:cs typeface="Microsoft YaHei UI" panose="020B0503020204020204" charset="-122"/>
              </a:defRPr>
            </a:pPr>
            <a:r>
              <a:rPr sz="1200" b="1">
                <a:solidFill>
                  <a:srgbClr val="206040"/>
                </a:solidFill>
                <a:latin typeface="Microsoft YaHei UI" panose="020B0503020204020204" charset="-122"/>
                <a:ea typeface="Microsoft YaHei UI" panose="020B0503020204020204" charset="-122"/>
                <a:cs typeface="Microsoft YaHei UI" panose="020B0503020204020204" charset="-122"/>
              </a:rPr>
              <a:t>本稿是研究设计型答辩：重点呈现变量、机制与识别路径，而不是宣称已得到实证结论。</a:t>
            </a:r>
            <a:endParaRPr sz="1200" b="1">
              <a:solidFill>
                <a:srgbClr val="206040"/>
              </a:solidFill>
              <a:latin typeface="Microsoft YaHei UI" panose="020B0503020204020204" charset="-122"/>
              <a:ea typeface="Microsoft YaHei UI" panose="020B0503020204020204" charset="-122"/>
              <a:cs typeface="Microsoft YaHei UI" panose="020B050302020402020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a:spLocks noGrp="1"/>
          </p:cNvSpPr>
          <p:nvPr/>
        </p:nvSpPr>
        <p:spPr>
          <a:xfrm>
            <a:off x="0" y="0"/>
            <a:ext cx="12192000" cy="6858000"/>
          </a:xfrm>
          <a:prstGeom prst="rect">
            <a:avLst/>
          </a:prstGeom>
          <a:solidFill>
            <a:srgbClr val="F4F6F5"/>
          </a:solidFill>
          <a:ln w="0">
            <a:solidFill>
              <a:srgbClr val="FFFFFF"/>
            </a:solidFill>
          </a:ln>
        </p:spPr>
      </p:sp>
      <p:sp>
        <p:nvSpPr>
          <p:cNvPr id="3" name="矩形 2"/>
          <p:cNvSpPr>
            <a:spLocks noGrp="1"/>
          </p:cNvSpPr>
          <p:nvPr/>
        </p:nvSpPr>
        <p:spPr>
          <a:xfrm>
            <a:off x="0" y="0"/>
            <a:ext cx="12192000" cy="6858000"/>
          </a:xfrm>
          <a:prstGeom prst="rect">
            <a:avLst/>
          </a:prstGeom>
          <a:solidFill>
            <a:srgbClr val="F9FAF9"/>
          </a:solidFill>
          <a:ln w="0">
            <a:solidFill>
              <a:srgbClr val="FFFFFF"/>
            </a:solidFill>
          </a:ln>
        </p:spPr>
      </p:sp>
      <p:sp>
        <p:nvSpPr>
          <p:cNvPr id="4" name="矩形 3"/>
          <p:cNvSpPr>
            <a:spLocks noGrp="1"/>
          </p:cNvSpPr>
          <p:nvPr/>
        </p:nvSpPr>
        <p:spPr>
          <a:xfrm>
            <a:off x="8858250" y="0"/>
            <a:ext cx="3333750" cy="6858000"/>
          </a:xfrm>
          <a:prstGeom prst="rect">
            <a:avLst/>
          </a:prstGeom>
          <a:solidFill>
            <a:srgbClr val="F7F9F8"/>
          </a:solidFill>
          <a:ln w="0">
            <a:solidFill>
              <a:srgbClr val="FFFFFF"/>
            </a:solidFill>
          </a:ln>
        </p:spPr>
      </p:sp>
      <p:sp>
        <p:nvSpPr>
          <p:cNvPr id="5" name="矩形 4"/>
          <p:cNvSpPr>
            <a:spLocks noGrp="1"/>
          </p:cNvSpPr>
          <p:nvPr/>
        </p:nvSpPr>
        <p:spPr>
          <a:xfrm>
            <a:off x="0" y="6115050"/>
            <a:ext cx="12192000" cy="742950"/>
          </a:xfrm>
          <a:prstGeom prst="rect">
            <a:avLst/>
          </a:prstGeom>
          <a:solidFill>
            <a:srgbClr val="F8FAF9"/>
          </a:solidFill>
          <a:ln w="0">
            <a:solidFill>
              <a:srgbClr val="FFFFFF"/>
            </a:solidFill>
          </a:ln>
        </p:spPr>
      </p:sp>
      <p:sp>
        <p:nvSpPr>
          <p:cNvPr id="6" name="等腰三角形 5"/>
          <p:cNvSpPr>
            <a:spLocks noGrp="1"/>
          </p:cNvSpPr>
          <p:nvPr/>
        </p:nvSpPr>
        <p:spPr>
          <a:xfrm>
            <a:off x="1524000" y="904875"/>
            <a:ext cx="2476500" cy="1714500"/>
          </a:xfrm>
          <a:prstGeom prst="triangle">
            <a:avLst/>
          </a:prstGeom>
          <a:solidFill>
            <a:srgbClr val="FFFFFF"/>
          </a:solidFill>
          <a:ln w="0">
            <a:solidFill>
              <a:srgbClr val="FFFFFF"/>
            </a:solidFill>
          </a:ln>
        </p:spPr>
      </p:sp>
      <p:sp>
        <p:nvSpPr>
          <p:cNvPr id="7" name="等腰三角形 6"/>
          <p:cNvSpPr>
            <a:spLocks noGrp="1"/>
          </p:cNvSpPr>
          <p:nvPr/>
        </p:nvSpPr>
        <p:spPr>
          <a:xfrm>
            <a:off x="3857625" y="1762125"/>
            <a:ext cx="2476500" cy="1714500"/>
          </a:xfrm>
          <a:prstGeom prst="triangle">
            <a:avLst/>
          </a:prstGeom>
          <a:solidFill>
            <a:srgbClr val="F8FBFA"/>
          </a:solidFill>
          <a:ln w="0">
            <a:solidFill>
              <a:srgbClr val="FFFFFF"/>
            </a:solidFill>
          </a:ln>
        </p:spPr>
      </p:sp>
      <p:sp>
        <p:nvSpPr>
          <p:cNvPr id="8" name="等腰三角形 7"/>
          <p:cNvSpPr>
            <a:spLocks noGrp="1"/>
          </p:cNvSpPr>
          <p:nvPr/>
        </p:nvSpPr>
        <p:spPr>
          <a:xfrm>
            <a:off x="6191250" y="904875"/>
            <a:ext cx="2476500" cy="1714500"/>
          </a:xfrm>
          <a:prstGeom prst="triangle">
            <a:avLst/>
          </a:prstGeom>
          <a:solidFill>
            <a:srgbClr val="FFFFFF"/>
          </a:solidFill>
          <a:ln w="0">
            <a:solidFill>
              <a:srgbClr val="FFFFFF"/>
            </a:solidFill>
          </a:ln>
        </p:spPr>
      </p:sp>
      <p:sp>
        <p:nvSpPr>
          <p:cNvPr id="9" name="等腰三角形 8"/>
          <p:cNvSpPr>
            <a:spLocks noGrp="1"/>
          </p:cNvSpPr>
          <p:nvPr/>
        </p:nvSpPr>
        <p:spPr>
          <a:xfrm>
            <a:off x="8524875" y="1762125"/>
            <a:ext cx="2476500" cy="1714500"/>
          </a:xfrm>
          <a:prstGeom prst="triangle">
            <a:avLst/>
          </a:prstGeom>
          <a:solidFill>
            <a:srgbClr val="F8FBFA"/>
          </a:solidFill>
          <a:ln w="0">
            <a:solidFill>
              <a:srgbClr val="FFFFFF"/>
            </a:solidFill>
          </a:ln>
        </p:spPr>
      </p:sp>
      <p:sp>
        <p:nvSpPr>
          <p:cNvPr id="10" name="等腰三角形 9"/>
          <p:cNvSpPr>
            <a:spLocks noGrp="1"/>
          </p:cNvSpPr>
          <p:nvPr/>
        </p:nvSpPr>
        <p:spPr>
          <a:xfrm>
            <a:off x="10858500" y="904875"/>
            <a:ext cx="2476500" cy="1714500"/>
          </a:xfrm>
          <a:prstGeom prst="triangle">
            <a:avLst/>
          </a:prstGeom>
          <a:solidFill>
            <a:srgbClr val="FFFFFF"/>
          </a:solidFill>
          <a:ln w="0">
            <a:solidFill>
              <a:srgbClr val="FFFFFF"/>
            </a:solidFill>
          </a:ln>
        </p:spPr>
      </p:sp>
      <p:sp>
        <p:nvSpPr>
          <p:cNvPr id="11" name="等腰三角形 10"/>
          <p:cNvSpPr>
            <a:spLocks noGrp="1"/>
          </p:cNvSpPr>
          <p:nvPr/>
        </p:nvSpPr>
        <p:spPr>
          <a:xfrm rot="5400000">
            <a:off x="152400" y="266700"/>
            <a:ext cx="533400" cy="476250"/>
          </a:xfrm>
          <a:prstGeom prst="triangle">
            <a:avLst/>
          </a:prstGeom>
          <a:solidFill>
            <a:srgbClr val="206040"/>
          </a:solidFill>
          <a:ln w="0">
            <a:solidFill>
              <a:srgbClr val="FFFFFF"/>
            </a:solidFill>
          </a:ln>
        </p:spPr>
      </p:sp>
      <p:sp>
        <p:nvSpPr>
          <p:cNvPr id="12" name="等腰三角形 11"/>
          <p:cNvSpPr>
            <a:spLocks noGrp="1"/>
          </p:cNvSpPr>
          <p:nvPr/>
        </p:nvSpPr>
        <p:spPr>
          <a:xfrm rot="5400000">
            <a:off x="381000" y="304800"/>
            <a:ext cx="457200" cy="419100"/>
          </a:xfrm>
          <a:prstGeom prst="triangle">
            <a:avLst/>
          </a:prstGeom>
          <a:solidFill>
            <a:srgbClr val="80A090"/>
          </a:solidFill>
          <a:ln w="0">
            <a:solidFill>
              <a:srgbClr val="FFFFFF"/>
            </a:solidFill>
          </a:ln>
        </p:spPr>
      </p:sp>
      <p:sp>
        <p:nvSpPr>
          <p:cNvPr id="13" name="矩形 12"/>
          <p:cNvSpPr>
            <a:spLocks noGrp="1"/>
          </p:cNvSpPr>
          <p:nvPr/>
        </p:nvSpPr>
        <p:spPr>
          <a:xfrm>
            <a:off x="857250" y="228600"/>
            <a:ext cx="2857500" cy="457200"/>
          </a:xfrm>
          <a:prstGeom prst="rect">
            <a:avLst/>
          </a:prstGeom>
          <a:noFill/>
          <a:ln w="0">
            <a:solidFill>
              <a:srgbClr val="FFFFFF"/>
            </a:solidFill>
          </a:ln>
        </p:spPr>
        <p:txBody>
          <a:bodyPr lIns="76200" tIns="38100" rIns="76200" bIns="38100" anchor="ctr"/>
          <a:lstStyle/>
          <a:p>
            <a:pPr algn="l">
              <a:defRPr sz="2550" b="1">
                <a:solidFill>
                  <a:srgbClr val="206040"/>
                </a:solidFill>
                <a:latin typeface="黑体" panose="02010609060101010101" charset="-122"/>
                <a:ea typeface="黑体" panose="02010609060101010101" charset="-122"/>
                <a:cs typeface="黑体" panose="02010609060101010101" charset="-122"/>
              </a:defRPr>
            </a:pPr>
            <a:r>
              <a:rPr sz="2550" b="1">
                <a:solidFill>
                  <a:srgbClr val="206040"/>
                </a:solidFill>
                <a:latin typeface="黑体" panose="02010609060101010101" charset="-122"/>
                <a:ea typeface="黑体" panose="02010609060101010101" charset="-122"/>
                <a:cs typeface="黑体" panose="02010609060101010101" charset="-122"/>
              </a:rPr>
              <a:t>现实背景</a:t>
            </a:r>
            <a:endParaRPr sz="2550" b="1">
              <a:solidFill>
                <a:srgbClr val="206040"/>
              </a:solidFill>
              <a:latin typeface="黑体" panose="02010609060101010101" charset="-122"/>
              <a:ea typeface="黑体" panose="02010609060101010101" charset="-122"/>
              <a:cs typeface="黑体" panose="02010609060101010101" charset="-122"/>
            </a:endParaRPr>
          </a:p>
        </p:txBody>
      </p:sp>
      <p:sp>
        <p:nvSpPr>
          <p:cNvPr id="14" name="矩形 13"/>
          <p:cNvSpPr>
            <a:spLocks noGrp="1"/>
          </p:cNvSpPr>
          <p:nvPr/>
        </p:nvSpPr>
        <p:spPr>
          <a:xfrm>
            <a:off x="4000500" y="228600"/>
            <a:ext cx="1123950" cy="323850"/>
          </a:xfrm>
          <a:prstGeom prst="rect">
            <a:avLst/>
          </a:prstGeom>
          <a:noFill/>
          <a:ln w="0">
            <a:solidFill>
              <a:srgbClr val="FFFFFF"/>
            </a:solidFill>
          </a:ln>
        </p:spPr>
        <p:txBody>
          <a:bodyPr lIns="76200" tIns="38100" rIns="76200" bIns="38100" anchor="ctr"/>
          <a:lstStyle/>
          <a:p>
            <a:pPr algn="ctr">
              <a:defRPr sz="1500" b="1">
                <a:solidFill>
                  <a:srgbClr val="206040"/>
                </a:solidFill>
                <a:latin typeface="Microsoft YaHei UI" panose="020B0503020204020204" charset="-122"/>
                <a:ea typeface="Microsoft YaHei UI" panose="020B0503020204020204" charset="-122"/>
                <a:cs typeface="Microsoft YaHei UI" panose="020B0503020204020204" charset="-122"/>
              </a:defRPr>
            </a:pPr>
            <a:r>
              <a:rPr sz="1500" b="1">
                <a:solidFill>
                  <a:srgbClr val="206040"/>
                </a:solidFill>
                <a:latin typeface="Microsoft YaHei UI" panose="020B0503020204020204" charset="-122"/>
                <a:ea typeface="Microsoft YaHei UI" panose="020B0503020204020204" charset="-122"/>
                <a:cs typeface="Microsoft YaHei UI" panose="020B0503020204020204" charset="-122"/>
              </a:rPr>
              <a:t>现实问题</a:t>
            </a:r>
            <a:endParaRPr sz="1500" b="1">
              <a:solidFill>
                <a:srgbClr val="206040"/>
              </a:solidFill>
              <a:latin typeface="Microsoft YaHei UI" panose="020B0503020204020204" charset="-122"/>
              <a:ea typeface="Microsoft YaHei UI" panose="020B0503020204020204" charset="-122"/>
              <a:cs typeface="Microsoft YaHei UI" panose="020B0503020204020204" charset="-122"/>
            </a:endParaRPr>
          </a:p>
        </p:txBody>
      </p:sp>
      <p:sp>
        <p:nvSpPr>
          <p:cNvPr id="15" name="圆角矩形 14"/>
          <p:cNvSpPr>
            <a:spLocks noGrp="1"/>
          </p:cNvSpPr>
          <p:nvPr/>
        </p:nvSpPr>
        <p:spPr>
          <a:xfrm>
            <a:off x="4171950" y="657225"/>
            <a:ext cx="781050" cy="38100"/>
          </a:xfrm>
          <a:prstGeom prst="roundRect">
            <a:avLst>
              <a:gd name="adj" fmla="val 25000"/>
            </a:avLst>
          </a:prstGeom>
          <a:solidFill>
            <a:srgbClr val="206040"/>
          </a:solidFill>
          <a:ln w="0">
            <a:solidFill>
              <a:srgbClr val="FFFFFF"/>
            </a:solidFill>
          </a:ln>
        </p:spPr>
      </p:sp>
      <p:sp>
        <p:nvSpPr>
          <p:cNvPr id="16" name="矩形 15"/>
          <p:cNvSpPr>
            <a:spLocks noGrp="1"/>
          </p:cNvSpPr>
          <p:nvPr/>
        </p:nvSpPr>
        <p:spPr>
          <a:xfrm>
            <a:off x="5200650" y="295275"/>
            <a:ext cx="1123950" cy="323850"/>
          </a:xfrm>
          <a:prstGeom prst="rect">
            <a:avLst/>
          </a:prstGeom>
          <a:noFill/>
          <a:ln w="0">
            <a:solidFill>
              <a:srgbClr val="FFFFFF"/>
            </a:solidFill>
          </a:ln>
        </p:spPr>
        <p:txBody>
          <a:bodyPr lIns="76200" tIns="38100" rIns="76200" bIns="38100" anchor="ctr"/>
          <a:lstStyle/>
          <a:p>
            <a:pPr algn="ctr">
              <a:defRPr sz="1125" b="0">
                <a:solidFill>
                  <a:srgbClr val="161616"/>
                </a:solidFill>
                <a:latin typeface="Microsoft YaHei UI" panose="020B0503020204020204" charset="-122"/>
                <a:ea typeface="Microsoft YaHei UI" panose="020B0503020204020204" charset="-122"/>
                <a:cs typeface="Microsoft YaHei UI" panose="020B0503020204020204" charset="-122"/>
              </a:defRPr>
            </a:pPr>
            <a:r>
              <a:rPr sz="1125" b="0">
                <a:solidFill>
                  <a:srgbClr val="161616"/>
                </a:solidFill>
                <a:latin typeface="Microsoft YaHei UI" panose="020B0503020204020204" charset="-122"/>
                <a:ea typeface="Microsoft YaHei UI" panose="020B0503020204020204" charset="-122"/>
                <a:cs typeface="Microsoft YaHei UI" panose="020B0503020204020204" charset="-122"/>
              </a:rPr>
              <a:t>科学问题</a:t>
            </a:r>
            <a:endParaRPr sz="1125" b="0">
              <a:solidFill>
                <a:srgbClr val="161616"/>
              </a:solidFill>
              <a:latin typeface="Microsoft YaHei UI" panose="020B0503020204020204" charset="-122"/>
              <a:ea typeface="Microsoft YaHei UI" panose="020B0503020204020204" charset="-122"/>
              <a:cs typeface="Microsoft YaHei UI" panose="020B0503020204020204" charset="-122"/>
            </a:endParaRPr>
          </a:p>
        </p:txBody>
      </p:sp>
      <p:sp>
        <p:nvSpPr>
          <p:cNvPr id="17" name="矩形 16"/>
          <p:cNvSpPr>
            <a:spLocks noGrp="1"/>
          </p:cNvSpPr>
          <p:nvPr/>
        </p:nvSpPr>
        <p:spPr>
          <a:xfrm>
            <a:off x="6400800" y="295275"/>
            <a:ext cx="1123950" cy="323850"/>
          </a:xfrm>
          <a:prstGeom prst="rect">
            <a:avLst/>
          </a:prstGeom>
          <a:noFill/>
          <a:ln w="0">
            <a:solidFill>
              <a:srgbClr val="FFFFFF"/>
            </a:solidFill>
          </a:ln>
        </p:spPr>
        <p:txBody>
          <a:bodyPr lIns="76200" tIns="38100" rIns="76200" bIns="38100" anchor="ctr"/>
          <a:lstStyle/>
          <a:p>
            <a:pPr algn="ctr">
              <a:defRPr sz="1125" b="0">
                <a:solidFill>
                  <a:srgbClr val="161616"/>
                </a:solidFill>
                <a:latin typeface="Microsoft YaHei UI" panose="020B0503020204020204" charset="-122"/>
                <a:ea typeface="Microsoft YaHei UI" panose="020B0503020204020204" charset="-122"/>
                <a:cs typeface="Microsoft YaHei UI" panose="020B0503020204020204" charset="-122"/>
              </a:defRPr>
            </a:pPr>
            <a:r>
              <a:rPr sz="1125" b="0">
                <a:solidFill>
                  <a:srgbClr val="161616"/>
                </a:solidFill>
                <a:latin typeface="Microsoft YaHei UI" panose="020B0503020204020204" charset="-122"/>
                <a:ea typeface="Microsoft YaHei UI" panose="020B0503020204020204" charset="-122"/>
                <a:cs typeface="Microsoft YaHei UI" panose="020B0503020204020204" charset="-122"/>
              </a:rPr>
              <a:t>理论机制</a:t>
            </a:r>
            <a:endParaRPr sz="1125" b="0">
              <a:solidFill>
                <a:srgbClr val="161616"/>
              </a:solidFill>
              <a:latin typeface="Microsoft YaHei UI" panose="020B0503020204020204" charset="-122"/>
              <a:ea typeface="Microsoft YaHei UI" panose="020B0503020204020204" charset="-122"/>
              <a:cs typeface="Microsoft YaHei UI" panose="020B0503020204020204" charset="-122"/>
            </a:endParaRPr>
          </a:p>
        </p:txBody>
      </p:sp>
      <p:sp>
        <p:nvSpPr>
          <p:cNvPr id="18" name="矩形 17"/>
          <p:cNvSpPr>
            <a:spLocks noGrp="1"/>
          </p:cNvSpPr>
          <p:nvPr/>
        </p:nvSpPr>
        <p:spPr>
          <a:xfrm>
            <a:off x="7600950" y="295275"/>
            <a:ext cx="1123950" cy="323850"/>
          </a:xfrm>
          <a:prstGeom prst="rect">
            <a:avLst/>
          </a:prstGeom>
          <a:noFill/>
          <a:ln w="0">
            <a:solidFill>
              <a:srgbClr val="FFFFFF"/>
            </a:solidFill>
          </a:ln>
        </p:spPr>
        <p:txBody>
          <a:bodyPr lIns="76200" tIns="38100" rIns="76200" bIns="38100" anchor="ctr"/>
          <a:lstStyle/>
          <a:p>
            <a:pPr algn="ctr">
              <a:defRPr sz="1125" b="0">
                <a:solidFill>
                  <a:srgbClr val="161616"/>
                </a:solidFill>
                <a:latin typeface="Microsoft YaHei UI" panose="020B0503020204020204" charset="-122"/>
                <a:ea typeface="Microsoft YaHei UI" panose="020B0503020204020204" charset="-122"/>
                <a:cs typeface="Microsoft YaHei UI" panose="020B0503020204020204" charset="-122"/>
              </a:defRPr>
            </a:pPr>
            <a:r>
              <a:rPr sz="1125" b="0">
                <a:solidFill>
                  <a:srgbClr val="161616"/>
                </a:solidFill>
                <a:latin typeface="Microsoft YaHei UI" panose="020B0503020204020204" charset="-122"/>
                <a:ea typeface="Microsoft YaHei UI" panose="020B0503020204020204" charset="-122"/>
                <a:cs typeface="Microsoft YaHei UI" panose="020B0503020204020204" charset="-122"/>
              </a:rPr>
              <a:t>数据变量</a:t>
            </a:r>
            <a:endParaRPr sz="1125" b="0">
              <a:solidFill>
                <a:srgbClr val="161616"/>
              </a:solidFill>
              <a:latin typeface="Microsoft YaHei UI" panose="020B0503020204020204" charset="-122"/>
              <a:ea typeface="Microsoft YaHei UI" panose="020B0503020204020204" charset="-122"/>
              <a:cs typeface="Microsoft YaHei UI" panose="020B0503020204020204" charset="-122"/>
            </a:endParaRPr>
          </a:p>
        </p:txBody>
      </p:sp>
      <p:sp>
        <p:nvSpPr>
          <p:cNvPr id="19" name="矩形 18"/>
          <p:cNvSpPr>
            <a:spLocks noGrp="1"/>
          </p:cNvSpPr>
          <p:nvPr/>
        </p:nvSpPr>
        <p:spPr>
          <a:xfrm>
            <a:off x="8801100" y="295275"/>
            <a:ext cx="1123950" cy="323850"/>
          </a:xfrm>
          <a:prstGeom prst="rect">
            <a:avLst/>
          </a:prstGeom>
          <a:noFill/>
          <a:ln w="0">
            <a:solidFill>
              <a:srgbClr val="FFFFFF"/>
            </a:solidFill>
          </a:ln>
        </p:spPr>
        <p:txBody>
          <a:bodyPr lIns="76200" tIns="38100" rIns="76200" bIns="38100" anchor="ctr"/>
          <a:lstStyle/>
          <a:p>
            <a:pPr algn="ctr">
              <a:defRPr sz="1125" b="0">
                <a:solidFill>
                  <a:srgbClr val="161616"/>
                </a:solidFill>
                <a:latin typeface="Microsoft YaHei UI" panose="020B0503020204020204" charset="-122"/>
                <a:ea typeface="Microsoft YaHei UI" panose="020B0503020204020204" charset="-122"/>
                <a:cs typeface="Microsoft YaHei UI" panose="020B0503020204020204" charset="-122"/>
              </a:defRPr>
            </a:pPr>
            <a:r>
              <a:rPr sz="1125" b="0">
                <a:solidFill>
                  <a:srgbClr val="161616"/>
                </a:solidFill>
                <a:latin typeface="Microsoft YaHei UI" panose="020B0503020204020204" charset="-122"/>
                <a:ea typeface="Microsoft YaHei UI" panose="020B0503020204020204" charset="-122"/>
                <a:cs typeface="Microsoft YaHei UI" panose="020B0503020204020204" charset="-122"/>
              </a:rPr>
              <a:t>模型识别</a:t>
            </a:r>
            <a:endParaRPr sz="1125" b="0">
              <a:solidFill>
                <a:srgbClr val="161616"/>
              </a:solidFill>
              <a:latin typeface="Microsoft YaHei UI" panose="020B0503020204020204" charset="-122"/>
              <a:ea typeface="Microsoft YaHei UI" panose="020B0503020204020204" charset="-122"/>
              <a:cs typeface="Microsoft YaHei UI" panose="020B0503020204020204" charset="-122"/>
            </a:endParaRPr>
          </a:p>
        </p:txBody>
      </p:sp>
      <p:sp>
        <p:nvSpPr>
          <p:cNvPr id="20" name="矩形 19"/>
          <p:cNvSpPr>
            <a:spLocks noGrp="1"/>
          </p:cNvSpPr>
          <p:nvPr/>
        </p:nvSpPr>
        <p:spPr>
          <a:xfrm>
            <a:off x="10001250" y="295275"/>
            <a:ext cx="1123950" cy="323850"/>
          </a:xfrm>
          <a:prstGeom prst="rect">
            <a:avLst/>
          </a:prstGeom>
          <a:noFill/>
          <a:ln w="0">
            <a:solidFill>
              <a:srgbClr val="FFFFFF"/>
            </a:solidFill>
          </a:ln>
        </p:spPr>
        <p:txBody>
          <a:bodyPr lIns="76200" tIns="38100" rIns="76200" bIns="38100" anchor="ctr"/>
          <a:lstStyle/>
          <a:p>
            <a:pPr algn="ctr">
              <a:defRPr sz="1125" b="0">
                <a:solidFill>
                  <a:srgbClr val="161616"/>
                </a:solidFill>
                <a:latin typeface="Microsoft YaHei UI" panose="020B0503020204020204" charset="-122"/>
                <a:ea typeface="Microsoft YaHei UI" panose="020B0503020204020204" charset="-122"/>
                <a:cs typeface="Microsoft YaHei UI" panose="020B0503020204020204" charset="-122"/>
              </a:defRPr>
            </a:pPr>
            <a:r>
              <a:rPr sz="1125" b="0">
                <a:solidFill>
                  <a:srgbClr val="161616"/>
                </a:solidFill>
                <a:latin typeface="Microsoft YaHei UI" panose="020B0503020204020204" charset="-122"/>
                <a:ea typeface="Microsoft YaHei UI" panose="020B0503020204020204" charset="-122"/>
                <a:cs typeface="Microsoft YaHei UI" panose="020B0503020204020204" charset="-122"/>
              </a:rPr>
              <a:t>预期贡献</a:t>
            </a:r>
            <a:endParaRPr sz="1125" b="0">
              <a:solidFill>
                <a:srgbClr val="161616"/>
              </a:solidFill>
              <a:latin typeface="Microsoft YaHei UI" panose="020B0503020204020204" charset="-122"/>
              <a:ea typeface="Microsoft YaHei UI" panose="020B0503020204020204" charset="-122"/>
              <a:cs typeface="Microsoft YaHei UI" panose="020B0503020204020204" charset="-122"/>
            </a:endParaRPr>
          </a:p>
        </p:txBody>
      </p:sp>
      <p:sp>
        <p:nvSpPr>
          <p:cNvPr id="21" name="圆角矩形 20"/>
          <p:cNvSpPr>
            <a:spLocks noGrp="1"/>
          </p:cNvSpPr>
          <p:nvPr/>
        </p:nvSpPr>
        <p:spPr>
          <a:xfrm>
            <a:off x="3905250" y="742950"/>
            <a:ext cx="8001000" cy="9525"/>
          </a:xfrm>
          <a:prstGeom prst="roundRect">
            <a:avLst>
              <a:gd name="adj" fmla="val 50000"/>
            </a:avLst>
          </a:prstGeom>
          <a:solidFill>
            <a:srgbClr val="D7DFDA"/>
          </a:solidFill>
          <a:ln w="0">
            <a:solidFill>
              <a:srgbClr val="FFFFFF"/>
            </a:solidFill>
          </a:ln>
        </p:spPr>
      </p:sp>
      <p:sp>
        <p:nvSpPr>
          <p:cNvPr id="22" name="矩形 21"/>
          <p:cNvSpPr>
            <a:spLocks noGrp="1"/>
          </p:cNvSpPr>
          <p:nvPr/>
        </p:nvSpPr>
        <p:spPr>
          <a:xfrm>
            <a:off x="11334750" y="6286500"/>
            <a:ext cx="495300" cy="266700"/>
          </a:xfrm>
          <a:prstGeom prst="rect">
            <a:avLst/>
          </a:prstGeom>
          <a:noFill/>
          <a:ln w="0">
            <a:solidFill>
              <a:srgbClr val="FFFFFF"/>
            </a:solidFill>
          </a:ln>
        </p:spPr>
        <p:txBody>
          <a:bodyPr lIns="76200" tIns="38100" rIns="76200" bIns="38100" anchor="ctr"/>
          <a:lstStyle/>
          <a:p>
            <a:pPr algn="r">
              <a:defRPr sz="975" b="0">
                <a:solidFill>
                  <a:srgbClr val="80A090"/>
                </a:solidFill>
                <a:latin typeface="Microsoft YaHei UI" panose="020B0503020204020204" charset="-122"/>
                <a:ea typeface="Microsoft YaHei UI" panose="020B0503020204020204" charset="-122"/>
                <a:cs typeface="Microsoft YaHei UI" panose="020B0503020204020204" charset="-122"/>
              </a:defRPr>
            </a:pPr>
            <a:r>
              <a:rPr sz="975" b="0">
                <a:solidFill>
                  <a:srgbClr val="80A090"/>
                </a:solidFill>
                <a:latin typeface="Microsoft YaHei UI" panose="020B0503020204020204" charset="-122"/>
                <a:ea typeface="Microsoft YaHei UI" panose="020B0503020204020204" charset="-122"/>
                <a:cs typeface="Microsoft YaHei UI" panose="020B0503020204020204" charset="-122"/>
              </a:rPr>
              <a:t>03</a:t>
            </a:r>
            <a:endParaRPr sz="975" b="0">
              <a:solidFill>
                <a:srgbClr val="80A090"/>
              </a:solidFill>
              <a:latin typeface="Microsoft YaHei UI" panose="020B0503020204020204" charset="-122"/>
              <a:ea typeface="Microsoft YaHei UI" panose="020B0503020204020204" charset="-122"/>
              <a:cs typeface="Microsoft YaHei UI" panose="020B0503020204020204" charset="-122"/>
            </a:endParaRPr>
          </a:p>
        </p:txBody>
      </p:sp>
      <p:sp>
        <p:nvSpPr>
          <p:cNvPr id="23" name="圆角矩形 22"/>
          <p:cNvSpPr>
            <a:spLocks noGrp="1"/>
          </p:cNvSpPr>
          <p:nvPr/>
        </p:nvSpPr>
        <p:spPr>
          <a:xfrm>
            <a:off x="714375" y="1066800"/>
            <a:ext cx="1524000" cy="419100"/>
          </a:xfrm>
          <a:prstGeom prst="roundRect">
            <a:avLst>
              <a:gd name="adj" fmla="val 40909"/>
            </a:avLst>
          </a:prstGeom>
          <a:solidFill>
            <a:srgbClr val="206040"/>
          </a:solidFill>
          <a:ln w="0">
            <a:solidFill>
              <a:srgbClr val="FFFFFF"/>
            </a:solidFill>
          </a:ln>
        </p:spPr>
      </p:sp>
      <p:sp>
        <p:nvSpPr>
          <p:cNvPr id="24" name="矩形 23"/>
          <p:cNvSpPr>
            <a:spLocks noGrp="1"/>
          </p:cNvSpPr>
          <p:nvPr/>
        </p:nvSpPr>
        <p:spPr>
          <a:xfrm>
            <a:off x="714375" y="1066800"/>
            <a:ext cx="1524000" cy="419100"/>
          </a:xfrm>
          <a:prstGeom prst="rect">
            <a:avLst/>
          </a:prstGeom>
          <a:noFill/>
          <a:ln w="0">
            <a:solidFill>
              <a:srgbClr val="FFFFFF"/>
            </a:solidFill>
          </a:ln>
        </p:spPr>
        <p:txBody>
          <a:bodyPr lIns="76200" tIns="38100" rIns="76200" bIns="38100" anchor="ctr"/>
          <a:lstStyle/>
          <a:p>
            <a:pPr algn="ctr">
              <a:defRPr sz="1500" b="1">
                <a:solidFill>
                  <a:srgbClr val="FFFFFF"/>
                </a:solidFill>
                <a:latin typeface="Microsoft YaHei UI" panose="020B0503020204020204" charset="-122"/>
                <a:ea typeface="Microsoft YaHei UI" panose="020B0503020204020204" charset="-122"/>
                <a:cs typeface="Microsoft YaHei UI" panose="020B0503020204020204" charset="-122"/>
              </a:defRPr>
            </a:pPr>
            <a:r>
              <a:rPr sz="1500" b="1">
                <a:solidFill>
                  <a:srgbClr val="FFFFFF"/>
                </a:solidFill>
                <a:latin typeface="Microsoft YaHei UI" panose="020B0503020204020204" charset="-122"/>
                <a:ea typeface="Microsoft YaHei UI" panose="020B0503020204020204" charset="-122"/>
                <a:cs typeface="Microsoft YaHei UI" panose="020B0503020204020204" charset="-122"/>
              </a:rPr>
              <a:t>现实矛盾</a:t>
            </a:r>
            <a:endParaRPr sz="1500" b="1">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25" name="圆角矩形 24"/>
          <p:cNvSpPr>
            <a:spLocks noGrp="1"/>
          </p:cNvSpPr>
          <p:nvPr/>
        </p:nvSpPr>
        <p:spPr>
          <a:xfrm>
            <a:off x="714375" y="1714500"/>
            <a:ext cx="3143250" cy="1666875"/>
          </a:xfrm>
          <a:prstGeom prst="roundRect">
            <a:avLst>
              <a:gd name="adj" fmla="val 6857"/>
            </a:avLst>
          </a:prstGeom>
          <a:solidFill>
            <a:srgbClr val="FFFFFF"/>
          </a:solidFill>
          <a:ln w="11430">
            <a:solidFill>
              <a:srgbClr val="D7DFDA"/>
            </a:solidFill>
          </a:ln>
        </p:spPr>
      </p:sp>
      <p:sp>
        <p:nvSpPr>
          <p:cNvPr id="26" name="矩形 25"/>
          <p:cNvSpPr>
            <a:spLocks noGrp="1"/>
          </p:cNvSpPr>
          <p:nvPr/>
        </p:nvSpPr>
        <p:spPr>
          <a:xfrm>
            <a:off x="885825" y="1847850"/>
            <a:ext cx="2800350" cy="323850"/>
          </a:xfrm>
          <a:prstGeom prst="rect">
            <a:avLst/>
          </a:prstGeom>
          <a:noFill/>
          <a:ln w="0">
            <a:solidFill>
              <a:srgbClr val="FFFFFF"/>
            </a:solidFill>
          </a:ln>
        </p:spPr>
        <p:txBody>
          <a:bodyPr lIns="76200" tIns="38100" rIns="76200" bIns="38100" anchor="ctr"/>
          <a:lstStyle/>
          <a:p>
            <a:pPr algn="l">
              <a:defRPr sz="1500" b="1">
                <a:solidFill>
                  <a:srgbClr val="206040"/>
                </a:solidFill>
                <a:latin typeface="Microsoft YaHei UI" panose="020B0503020204020204" charset="-122"/>
                <a:ea typeface="Microsoft YaHei UI" panose="020B0503020204020204" charset="-122"/>
                <a:cs typeface="Microsoft YaHei UI" panose="020B0503020204020204" charset="-122"/>
              </a:defRPr>
            </a:pPr>
            <a:r>
              <a:rPr sz="1500" b="1">
                <a:solidFill>
                  <a:srgbClr val="206040"/>
                </a:solidFill>
                <a:latin typeface="Microsoft YaHei UI" panose="020B0503020204020204" charset="-122"/>
                <a:ea typeface="Microsoft YaHei UI" panose="020B0503020204020204" charset="-122"/>
                <a:cs typeface="Microsoft YaHei UI" panose="020B0503020204020204" charset="-122"/>
              </a:rPr>
              <a:t>短期压力</a:t>
            </a:r>
            <a:endParaRPr sz="1500" b="1">
              <a:solidFill>
                <a:srgbClr val="206040"/>
              </a:solidFill>
              <a:latin typeface="Microsoft YaHei UI" panose="020B0503020204020204" charset="-122"/>
              <a:ea typeface="Microsoft YaHei UI" panose="020B0503020204020204" charset="-122"/>
              <a:cs typeface="Microsoft YaHei UI" panose="020B0503020204020204" charset="-122"/>
            </a:endParaRPr>
          </a:p>
        </p:txBody>
      </p:sp>
      <p:sp>
        <p:nvSpPr>
          <p:cNvPr id="27" name="矩形 26"/>
          <p:cNvSpPr>
            <a:spLocks noGrp="1"/>
          </p:cNvSpPr>
          <p:nvPr/>
        </p:nvSpPr>
        <p:spPr>
          <a:xfrm>
            <a:off x="885825" y="2228850"/>
            <a:ext cx="2800350" cy="1019175"/>
          </a:xfrm>
          <a:prstGeom prst="rect">
            <a:avLst/>
          </a:prstGeom>
          <a:noFill/>
          <a:ln w="0">
            <a:solidFill>
              <a:srgbClr val="FFFFFF"/>
            </a:solidFill>
          </a:ln>
        </p:spPr>
        <p:txBody>
          <a:bodyPr lIns="76200" tIns="38100" rIns="76200" bIns="38100" anchor="t"/>
          <a:lstStyle/>
          <a:p>
            <a:pPr algn="l">
              <a:defRPr sz="1200" b="0">
                <a:solidFill>
                  <a:srgbClr val="111111"/>
                </a:solidFill>
                <a:latin typeface="Microsoft YaHei UI" panose="020B0503020204020204" charset="-122"/>
                <a:ea typeface="Microsoft YaHei UI" panose="020B0503020204020204" charset="-122"/>
                <a:cs typeface="Microsoft YaHei UI" panose="020B0503020204020204" charset="-122"/>
              </a:defRPr>
            </a:pPr>
            <a:r>
              <a:rPr sz="1200" b="0">
                <a:solidFill>
                  <a:srgbClr val="111111"/>
                </a:solidFill>
                <a:latin typeface="Microsoft YaHei UI" panose="020B0503020204020204" charset="-122"/>
                <a:ea typeface="Microsoft YaHei UI" panose="020B0503020204020204" charset="-122"/>
                <a:cs typeface="Microsoft YaHei UI" panose="020B0503020204020204" charset="-122"/>
              </a:rPr>
              <a:t>环保设备、税费、排污许可、碳核算与ESG披露使现金流和资本开支承压。</a:t>
            </a:r>
            <a:endParaRPr sz="1200"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28" name="圆角矩形 27"/>
          <p:cNvSpPr>
            <a:spLocks noGrp="1"/>
          </p:cNvSpPr>
          <p:nvPr/>
        </p:nvSpPr>
        <p:spPr>
          <a:xfrm>
            <a:off x="4524375" y="1714500"/>
            <a:ext cx="3143250" cy="1666875"/>
          </a:xfrm>
          <a:prstGeom prst="roundRect">
            <a:avLst>
              <a:gd name="adj" fmla="val 6857"/>
            </a:avLst>
          </a:prstGeom>
          <a:solidFill>
            <a:srgbClr val="FFFFFF"/>
          </a:solidFill>
          <a:ln w="11430">
            <a:solidFill>
              <a:srgbClr val="D7DFDA"/>
            </a:solidFill>
          </a:ln>
        </p:spPr>
      </p:sp>
      <p:sp>
        <p:nvSpPr>
          <p:cNvPr id="29" name="矩形 28"/>
          <p:cNvSpPr>
            <a:spLocks noGrp="1"/>
          </p:cNvSpPr>
          <p:nvPr/>
        </p:nvSpPr>
        <p:spPr>
          <a:xfrm>
            <a:off x="4695825" y="1847850"/>
            <a:ext cx="2800350" cy="323850"/>
          </a:xfrm>
          <a:prstGeom prst="rect">
            <a:avLst/>
          </a:prstGeom>
          <a:noFill/>
          <a:ln w="0">
            <a:solidFill>
              <a:srgbClr val="FFFFFF"/>
            </a:solidFill>
          </a:ln>
        </p:spPr>
        <p:txBody>
          <a:bodyPr lIns="76200" tIns="38100" rIns="76200" bIns="38100" anchor="ctr"/>
          <a:lstStyle/>
          <a:p>
            <a:pPr algn="l">
              <a:defRPr sz="1500" b="1">
                <a:solidFill>
                  <a:srgbClr val="206040"/>
                </a:solidFill>
                <a:latin typeface="Microsoft YaHei UI" panose="020B0503020204020204" charset="-122"/>
                <a:ea typeface="Microsoft YaHei UI" panose="020B0503020204020204" charset="-122"/>
                <a:cs typeface="Microsoft YaHei UI" panose="020B0503020204020204" charset="-122"/>
              </a:defRPr>
            </a:pPr>
            <a:r>
              <a:rPr sz="1500" b="1">
                <a:solidFill>
                  <a:srgbClr val="206040"/>
                </a:solidFill>
                <a:latin typeface="Microsoft YaHei UI" panose="020B0503020204020204" charset="-122"/>
                <a:ea typeface="Microsoft YaHei UI" panose="020B0503020204020204" charset="-122"/>
                <a:cs typeface="Microsoft YaHei UI" panose="020B0503020204020204" charset="-122"/>
              </a:rPr>
              <a:t>长期可能</a:t>
            </a:r>
            <a:endParaRPr sz="1500" b="1">
              <a:solidFill>
                <a:srgbClr val="206040"/>
              </a:solidFill>
              <a:latin typeface="Microsoft YaHei UI" panose="020B0503020204020204" charset="-122"/>
              <a:ea typeface="Microsoft YaHei UI" panose="020B0503020204020204" charset="-122"/>
              <a:cs typeface="Microsoft YaHei UI" panose="020B0503020204020204" charset="-122"/>
            </a:endParaRPr>
          </a:p>
        </p:txBody>
      </p:sp>
      <p:sp>
        <p:nvSpPr>
          <p:cNvPr id="30" name="矩形 29"/>
          <p:cNvSpPr>
            <a:spLocks noGrp="1"/>
          </p:cNvSpPr>
          <p:nvPr/>
        </p:nvSpPr>
        <p:spPr>
          <a:xfrm>
            <a:off x="4695825" y="2228850"/>
            <a:ext cx="2800350" cy="1019175"/>
          </a:xfrm>
          <a:prstGeom prst="rect">
            <a:avLst/>
          </a:prstGeom>
          <a:noFill/>
          <a:ln w="0">
            <a:solidFill>
              <a:srgbClr val="FFFFFF"/>
            </a:solidFill>
          </a:ln>
        </p:spPr>
        <p:txBody>
          <a:bodyPr lIns="76200" tIns="38100" rIns="76200" bIns="38100" anchor="t"/>
          <a:lstStyle/>
          <a:p>
            <a:pPr algn="l">
              <a:defRPr sz="1200" b="0">
                <a:solidFill>
                  <a:srgbClr val="111111"/>
                </a:solidFill>
                <a:latin typeface="Microsoft YaHei UI" panose="020B0503020204020204" charset="-122"/>
                <a:ea typeface="Microsoft YaHei UI" panose="020B0503020204020204" charset="-122"/>
                <a:cs typeface="Microsoft YaHei UI" panose="020B0503020204020204" charset="-122"/>
              </a:defRPr>
            </a:pPr>
            <a:r>
              <a:rPr sz="1200" b="0">
                <a:solidFill>
                  <a:srgbClr val="111111"/>
                </a:solidFill>
                <a:latin typeface="Microsoft YaHei UI" panose="020B0503020204020204" charset="-122"/>
                <a:ea typeface="Microsoft YaHei UI" panose="020B0503020204020204" charset="-122"/>
                <a:cs typeface="Microsoft YaHei UI" panose="020B0503020204020204" charset="-122"/>
              </a:rPr>
              <a:t>合理规制可推动流程优化、绿色研发与能源效率提升，形成创新补偿。</a:t>
            </a:r>
            <a:endParaRPr sz="1200"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31" name="圆角矩形 30"/>
          <p:cNvSpPr>
            <a:spLocks noGrp="1"/>
          </p:cNvSpPr>
          <p:nvPr/>
        </p:nvSpPr>
        <p:spPr>
          <a:xfrm>
            <a:off x="8334375" y="1714500"/>
            <a:ext cx="3143250" cy="1666875"/>
          </a:xfrm>
          <a:prstGeom prst="roundRect">
            <a:avLst>
              <a:gd name="adj" fmla="val 6857"/>
            </a:avLst>
          </a:prstGeom>
          <a:solidFill>
            <a:srgbClr val="FFFFFF"/>
          </a:solidFill>
          <a:ln w="11430">
            <a:solidFill>
              <a:srgbClr val="D7DFDA"/>
            </a:solidFill>
          </a:ln>
        </p:spPr>
      </p:sp>
      <p:sp>
        <p:nvSpPr>
          <p:cNvPr id="32" name="矩形 31"/>
          <p:cNvSpPr>
            <a:spLocks noGrp="1"/>
          </p:cNvSpPr>
          <p:nvPr/>
        </p:nvSpPr>
        <p:spPr>
          <a:xfrm>
            <a:off x="8505825" y="1847850"/>
            <a:ext cx="2800350" cy="323850"/>
          </a:xfrm>
          <a:prstGeom prst="rect">
            <a:avLst/>
          </a:prstGeom>
          <a:noFill/>
          <a:ln w="0">
            <a:solidFill>
              <a:srgbClr val="FFFFFF"/>
            </a:solidFill>
          </a:ln>
        </p:spPr>
        <p:txBody>
          <a:bodyPr lIns="76200" tIns="38100" rIns="76200" bIns="38100" anchor="ctr"/>
          <a:lstStyle/>
          <a:p>
            <a:pPr algn="l">
              <a:defRPr sz="1500" b="1">
                <a:solidFill>
                  <a:srgbClr val="206040"/>
                </a:solidFill>
                <a:latin typeface="Microsoft YaHei UI" panose="020B0503020204020204" charset="-122"/>
                <a:ea typeface="Microsoft YaHei UI" panose="020B0503020204020204" charset="-122"/>
                <a:cs typeface="Microsoft YaHei UI" panose="020B0503020204020204" charset="-122"/>
              </a:defRPr>
            </a:pPr>
            <a:r>
              <a:rPr sz="1500" b="1">
                <a:solidFill>
                  <a:srgbClr val="206040"/>
                </a:solidFill>
                <a:latin typeface="Microsoft YaHei UI" panose="020B0503020204020204" charset="-122"/>
                <a:ea typeface="Microsoft YaHei UI" panose="020B0503020204020204" charset="-122"/>
                <a:cs typeface="Microsoft YaHei UI" panose="020B0503020204020204" charset="-122"/>
              </a:rPr>
              <a:t>研究切口</a:t>
            </a:r>
            <a:endParaRPr sz="1500" b="1">
              <a:solidFill>
                <a:srgbClr val="206040"/>
              </a:solidFill>
              <a:latin typeface="Microsoft YaHei UI" panose="020B0503020204020204" charset="-122"/>
              <a:ea typeface="Microsoft YaHei UI" panose="020B0503020204020204" charset="-122"/>
              <a:cs typeface="Microsoft YaHei UI" panose="020B0503020204020204" charset="-122"/>
            </a:endParaRPr>
          </a:p>
        </p:txBody>
      </p:sp>
      <p:sp>
        <p:nvSpPr>
          <p:cNvPr id="33" name="矩形 32"/>
          <p:cNvSpPr>
            <a:spLocks noGrp="1"/>
          </p:cNvSpPr>
          <p:nvPr/>
        </p:nvSpPr>
        <p:spPr>
          <a:xfrm>
            <a:off x="8505825" y="2228850"/>
            <a:ext cx="2800350" cy="1019175"/>
          </a:xfrm>
          <a:prstGeom prst="rect">
            <a:avLst/>
          </a:prstGeom>
          <a:noFill/>
          <a:ln w="0">
            <a:solidFill>
              <a:srgbClr val="FFFFFF"/>
            </a:solidFill>
          </a:ln>
        </p:spPr>
        <p:txBody>
          <a:bodyPr lIns="76200" tIns="38100" rIns="76200" bIns="38100" anchor="t"/>
          <a:lstStyle/>
          <a:p>
            <a:pPr algn="l">
              <a:defRPr sz="1200" b="0">
                <a:solidFill>
                  <a:srgbClr val="111111"/>
                </a:solidFill>
                <a:latin typeface="Microsoft YaHei UI" panose="020B0503020204020204" charset="-122"/>
                <a:ea typeface="Microsoft YaHei UI" panose="020B0503020204020204" charset="-122"/>
                <a:cs typeface="Microsoft YaHei UI" panose="020B0503020204020204" charset="-122"/>
              </a:defRPr>
            </a:pPr>
            <a:r>
              <a:rPr sz="1200" b="0">
                <a:solidFill>
                  <a:srgbClr val="111111"/>
                </a:solidFill>
                <a:latin typeface="Microsoft YaHei UI" panose="020B0503020204020204" charset="-122"/>
                <a:ea typeface="Microsoft YaHei UI" panose="020B0503020204020204" charset="-122"/>
                <a:cs typeface="Microsoft YaHei UI" panose="020B0503020204020204" charset="-122"/>
              </a:rPr>
              <a:t>合规成本既可能是当期损失来源，也可能是长期绿色能力的前置投入。</a:t>
            </a:r>
            <a:endParaRPr sz="1200"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34" name="圆角矩形 33"/>
          <p:cNvSpPr>
            <a:spLocks noGrp="1"/>
          </p:cNvSpPr>
          <p:nvPr/>
        </p:nvSpPr>
        <p:spPr>
          <a:xfrm>
            <a:off x="1190625" y="3905250"/>
            <a:ext cx="8382000" cy="38100"/>
          </a:xfrm>
          <a:prstGeom prst="roundRect">
            <a:avLst>
              <a:gd name="adj" fmla="val 50000"/>
            </a:avLst>
          </a:prstGeom>
          <a:solidFill>
            <a:srgbClr val="206040"/>
          </a:solidFill>
          <a:ln w="0">
            <a:solidFill>
              <a:srgbClr val="FFFFFF"/>
            </a:solidFill>
          </a:ln>
        </p:spPr>
      </p:sp>
      <p:sp>
        <p:nvSpPr>
          <p:cNvPr id="35" name="圆角矩形 34"/>
          <p:cNvSpPr>
            <a:spLocks noGrp="1"/>
          </p:cNvSpPr>
          <p:nvPr/>
        </p:nvSpPr>
        <p:spPr>
          <a:xfrm>
            <a:off x="1104900" y="3790950"/>
            <a:ext cx="266700" cy="266700"/>
          </a:xfrm>
          <a:prstGeom prst="roundRect">
            <a:avLst>
              <a:gd name="adj" fmla="val 50000"/>
            </a:avLst>
          </a:prstGeom>
          <a:solidFill>
            <a:srgbClr val="FFC000"/>
          </a:solidFill>
          <a:ln w="0">
            <a:solidFill>
              <a:srgbClr val="FFFFFF"/>
            </a:solidFill>
          </a:ln>
        </p:spPr>
      </p:sp>
      <p:sp>
        <p:nvSpPr>
          <p:cNvPr id="36" name="圆角矩形 35"/>
          <p:cNvSpPr>
            <a:spLocks noGrp="1"/>
          </p:cNvSpPr>
          <p:nvPr/>
        </p:nvSpPr>
        <p:spPr>
          <a:xfrm>
            <a:off x="619125" y="4171950"/>
            <a:ext cx="1476375" cy="933450"/>
          </a:xfrm>
          <a:prstGeom prst="roundRect">
            <a:avLst>
              <a:gd name="adj" fmla="val 12245"/>
            </a:avLst>
          </a:prstGeom>
          <a:solidFill>
            <a:srgbClr val="FFFFFF"/>
          </a:solidFill>
          <a:ln w="11430">
            <a:solidFill>
              <a:srgbClr val="D7DFDA"/>
            </a:solidFill>
          </a:ln>
        </p:spPr>
      </p:sp>
      <p:sp>
        <p:nvSpPr>
          <p:cNvPr id="37" name="矩形 36"/>
          <p:cNvSpPr>
            <a:spLocks noGrp="1"/>
          </p:cNvSpPr>
          <p:nvPr/>
        </p:nvSpPr>
        <p:spPr>
          <a:xfrm>
            <a:off x="790575" y="4305300"/>
            <a:ext cx="1133475" cy="323850"/>
          </a:xfrm>
          <a:prstGeom prst="rect">
            <a:avLst/>
          </a:prstGeom>
          <a:noFill/>
          <a:ln w="0">
            <a:solidFill>
              <a:srgbClr val="FFFFFF"/>
            </a:solidFill>
          </a:ln>
        </p:spPr>
        <p:txBody>
          <a:bodyPr lIns="76200" tIns="38100" rIns="76200" bIns="38100" anchor="ctr"/>
          <a:lstStyle/>
          <a:p>
            <a:pPr algn="l">
              <a:defRPr sz="1350" b="1">
                <a:solidFill>
                  <a:srgbClr val="206040"/>
                </a:solidFill>
                <a:latin typeface="Microsoft YaHei UI" panose="020B0503020204020204" charset="-122"/>
                <a:ea typeface="Microsoft YaHei UI" panose="020B0503020204020204" charset="-122"/>
                <a:cs typeface="Microsoft YaHei UI" panose="020B0503020204020204" charset="-122"/>
              </a:defRPr>
            </a:pPr>
            <a:r>
              <a:rPr sz="1350" b="1">
                <a:solidFill>
                  <a:srgbClr val="206040"/>
                </a:solidFill>
                <a:latin typeface="Microsoft YaHei UI" panose="020B0503020204020204" charset="-122"/>
                <a:ea typeface="Microsoft YaHei UI" panose="020B0503020204020204" charset="-122"/>
                <a:cs typeface="Microsoft YaHei UI" panose="020B0503020204020204" charset="-122"/>
              </a:rPr>
              <a:t>双碳目标</a:t>
            </a:r>
            <a:endParaRPr sz="1350" b="1">
              <a:solidFill>
                <a:srgbClr val="206040"/>
              </a:solidFill>
              <a:latin typeface="Microsoft YaHei UI" panose="020B0503020204020204" charset="-122"/>
              <a:ea typeface="Microsoft YaHei UI" panose="020B0503020204020204" charset="-122"/>
              <a:cs typeface="Microsoft YaHei UI" panose="020B0503020204020204" charset="-122"/>
            </a:endParaRPr>
          </a:p>
        </p:txBody>
      </p:sp>
      <p:sp>
        <p:nvSpPr>
          <p:cNvPr id="38" name="矩形 37"/>
          <p:cNvSpPr>
            <a:spLocks noGrp="1"/>
          </p:cNvSpPr>
          <p:nvPr/>
        </p:nvSpPr>
        <p:spPr>
          <a:xfrm>
            <a:off x="790575" y="4686300"/>
            <a:ext cx="1133475" cy="285750"/>
          </a:xfrm>
          <a:prstGeom prst="rect">
            <a:avLst/>
          </a:prstGeom>
          <a:noFill/>
          <a:ln w="0">
            <a:solidFill>
              <a:srgbClr val="FFFFFF"/>
            </a:solidFill>
          </a:ln>
        </p:spPr>
        <p:txBody>
          <a:bodyPr lIns="76200" tIns="38100" rIns="76200" bIns="38100" anchor="t"/>
          <a:lstStyle/>
          <a:p>
            <a:pPr algn="l">
              <a:defRPr sz="1050" b="0">
                <a:solidFill>
                  <a:srgbClr val="111111"/>
                </a:solidFill>
                <a:latin typeface="Microsoft YaHei UI" panose="020B0503020204020204" charset="-122"/>
                <a:ea typeface="Microsoft YaHei UI" panose="020B0503020204020204" charset="-122"/>
                <a:cs typeface="Microsoft YaHei UI" panose="020B0503020204020204" charset="-122"/>
              </a:defRPr>
            </a:pPr>
            <a:r>
              <a:rPr sz="1050" b="0">
                <a:solidFill>
                  <a:srgbClr val="111111"/>
                </a:solidFill>
                <a:latin typeface="Microsoft YaHei UI" panose="020B0503020204020204" charset="-122"/>
                <a:ea typeface="Microsoft YaHei UI" panose="020B0503020204020204" charset="-122"/>
                <a:cs typeface="Microsoft YaHei UI" panose="020B0503020204020204" charset="-122"/>
              </a:rPr>
              <a:t>减污降碳进入硬约束</a:t>
            </a:r>
            <a:endParaRPr sz="1050"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39" name="圆角矩形 38"/>
          <p:cNvSpPr>
            <a:spLocks noGrp="1"/>
          </p:cNvSpPr>
          <p:nvPr/>
        </p:nvSpPr>
        <p:spPr>
          <a:xfrm>
            <a:off x="3867150" y="3790950"/>
            <a:ext cx="266700" cy="266700"/>
          </a:xfrm>
          <a:prstGeom prst="roundRect">
            <a:avLst>
              <a:gd name="adj" fmla="val 50000"/>
            </a:avLst>
          </a:prstGeom>
          <a:solidFill>
            <a:srgbClr val="FFC000"/>
          </a:solidFill>
          <a:ln w="0">
            <a:solidFill>
              <a:srgbClr val="FFFFFF"/>
            </a:solidFill>
          </a:ln>
        </p:spPr>
      </p:sp>
      <p:sp>
        <p:nvSpPr>
          <p:cNvPr id="40" name="圆角矩形 39"/>
          <p:cNvSpPr>
            <a:spLocks noGrp="1"/>
          </p:cNvSpPr>
          <p:nvPr/>
        </p:nvSpPr>
        <p:spPr>
          <a:xfrm>
            <a:off x="3381375" y="4171950"/>
            <a:ext cx="1476375" cy="933450"/>
          </a:xfrm>
          <a:prstGeom prst="roundRect">
            <a:avLst>
              <a:gd name="adj" fmla="val 12245"/>
            </a:avLst>
          </a:prstGeom>
          <a:solidFill>
            <a:srgbClr val="FFFFFF"/>
          </a:solidFill>
          <a:ln w="11430">
            <a:solidFill>
              <a:srgbClr val="D7DFDA"/>
            </a:solidFill>
          </a:ln>
        </p:spPr>
      </p:sp>
      <p:sp>
        <p:nvSpPr>
          <p:cNvPr id="41" name="矩形 40"/>
          <p:cNvSpPr>
            <a:spLocks noGrp="1"/>
          </p:cNvSpPr>
          <p:nvPr/>
        </p:nvSpPr>
        <p:spPr>
          <a:xfrm>
            <a:off x="3552825" y="4305300"/>
            <a:ext cx="1133475" cy="323850"/>
          </a:xfrm>
          <a:prstGeom prst="rect">
            <a:avLst/>
          </a:prstGeom>
          <a:noFill/>
          <a:ln w="0">
            <a:solidFill>
              <a:srgbClr val="FFFFFF"/>
            </a:solidFill>
          </a:ln>
        </p:spPr>
        <p:txBody>
          <a:bodyPr lIns="76200" tIns="38100" rIns="76200" bIns="38100" anchor="ctr"/>
          <a:lstStyle/>
          <a:p>
            <a:pPr algn="l">
              <a:defRPr sz="1350" b="1">
                <a:solidFill>
                  <a:srgbClr val="206040"/>
                </a:solidFill>
                <a:latin typeface="Microsoft YaHei UI" panose="020B0503020204020204" charset="-122"/>
                <a:ea typeface="Microsoft YaHei UI" panose="020B0503020204020204" charset="-122"/>
                <a:cs typeface="Microsoft YaHei UI" panose="020B0503020204020204" charset="-122"/>
              </a:defRPr>
            </a:pPr>
            <a:r>
              <a:rPr sz="1350" b="1">
                <a:solidFill>
                  <a:srgbClr val="206040"/>
                </a:solidFill>
                <a:latin typeface="Microsoft YaHei UI" panose="020B0503020204020204" charset="-122"/>
                <a:ea typeface="Microsoft YaHei UI" panose="020B0503020204020204" charset="-122"/>
                <a:cs typeface="Microsoft YaHei UI" panose="020B0503020204020204" charset="-122"/>
              </a:rPr>
              <a:t>环保税/排污许可</a:t>
            </a:r>
            <a:endParaRPr sz="1350" b="1">
              <a:solidFill>
                <a:srgbClr val="206040"/>
              </a:solidFill>
              <a:latin typeface="Microsoft YaHei UI" panose="020B0503020204020204" charset="-122"/>
              <a:ea typeface="Microsoft YaHei UI" panose="020B0503020204020204" charset="-122"/>
              <a:cs typeface="Microsoft YaHei UI" panose="020B0503020204020204" charset="-122"/>
            </a:endParaRPr>
          </a:p>
        </p:txBody>
      </p:sp>
      <p:sp>
        <p:nvSpPr>
          <p:cNvPr id="42" name="矩形 41"/>
          <p:cNvSpPr>
            <a:spLocks noGrp="1"/>
          </p:cNvSpPr>
          <p:nvPr/>
        </p:nvSpPr>
        <p:spPr>
          <a:xfrm>
            <a:off x="3552825" y="4686300"/>
            <a:ext cx="1133475" cy="285750"/>
          </a:xfrm>
          <a:prstGeom prst="rect">
            <a:avLst/>
          </a:prstGeom>
          <a:noFill/>
          <a:ln w="0">
            <a:solidFill>
              <a:srgbClr val="FFFFFF"/>
            </a:solidFill>
          </a:ln>
        </p:spPr>
        <p:txBody>
          <a:bodyPr lIns="76200" tIns="38100" rIns="76200" bIns="38100" anchor="t"/>
          <a:lstStyle/>
          <a:p>
            <a:pPr algn="l">
              <a:defRPr sz="1050" b="0">
                <a:solidFill>
                  <a:srgbClr val="111111"/>
                </a:solidFill>
                <a:latin typeface="Microsoft YaHei UI" panose="020B0503020204020204" charset="-122"/>
                <a:ea typeface="Microsoft YaHei UI" panose="020B0503020204020204" charset="-122"/>
                <a:cs typeface="Microsoft YaHei UI" panose="020B0503020204020204" charset="-122"/>
              </a:defRPr>
            </a:pPr>
            <a:r>
              <a:rPr sz="1050" b="0">
                <a:solidFill>
                  <a:srgbClr val="111111"/>
                </a:solidFill>
                <a:latin typeface="Microsoft YaHei UI" panose="020B0503020204020204" charset="-122"/>
                <a:ea typeface="Microsoft YaHei UI" panose="020B0503020204020204" charset="-122"/>
                <a:cs typeface="Microsoft YaHei UI" panose="020B0503020204020204" charset="-122"/>
              </a:rPr>
              <a:t>治理成本显性化</a:t>
            </a:r>
            <a:endParaRPr sz="1050"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43" name="圆角矩形 42"/>
          <p:cNvSpPr>
            <a:spLocks noGrp="1"/>
          </p:cNvSpPr>
          <p:nvPr/>
        </p:nvSpPr>
        <p:spPr>
          <a:xfrm>
            <a:off x="6629400" y="3790950"/>
            <a:ext cx="266700" cy="266700"/>
          </a:xfrm>
          <a:prstGeom prst="roundRect">
            <a:avLst>
              <a:gd name="adj" fmla="val 50000"/>
            </a:avLst>
          </a:prstGeom>
          <a:solidFill>
            <a:srgbClr val="FFC000"/>
          </a:solidFill>
          <a:ln w="0">
            <a:solidFill>
              <a:srgbClr val="FFFFFF"/>
            </a:solidFill>
          </a:ln>
        </p:spPr>
      </p:sp>
      <p:sp>
        <p:nvSpPr>
          <p:cNvPr id="44" name="圆角矩形 43"/>
          <p:cNvSpPr>
            <a:spLocks noGrp="1"/>
          </p:cNvSpPr>
          <p:nvPr/>
        </p:nvSpPr>
        <p:spPr>
          <a:xfrm>
            <a:off x="6143625" y="4171950"/>
            <a:ext cx="1476375" cy="933450"/>
          </a:xfrm>
          <a:prstGeom prst="roundRect">
            <a:avLst>
              <a:gd name="adj" fmla="val 12245"/>
            </a:avLst>
          </a:prstGeom>
          <a:solidFill>
            <a:srgbClr val="FFFFFF"/>
          </a:solidFill>
          <a:ln w="11430">
            <a:solidFill>
              <a:srgbClr val="D7DFDA"/>
            </a:solidFill>
          </a:ln>
        </p:spPr>
      </p:sp>
      <p:sp>
        <p:nvSpPr>
          <p:cNvPr id="45" name="矩形 44"/>
          <p:cNvSpPr>
            <a:spLocks noGrp="1"/>
          </p:cNvSpPr>
          <p:nvPr/>
        </p:nvSpPr>
        <p:spPr>
          <a:xfrm>
            <a:off x="6315075" y="4305300"/>
            <a:ext cx="1133475" cy="323850"/>
          </a:xfrm>
          <a:prstGeom prst="rect">
            <a:avLst/>
          </a:prstGeom>
          <a:noFill/>
          <a:ln w="0">
            <a:solidFill>
              <a:srgbClr val="FFFFFF"/>
            </a:solidFill>
          </a:ln>
        </p:spPr>
        <p:txBody>
          <a:bodyPr lIns="76200" tIns="38100" rIns="76200" bIns="38100" anchor="ctr"/>
          <a:lstStyle/>
          <a:p>
            <a:pPr algn="l">
              <a:defRPr sz="1350" b="1">
                <a:solidFill>
                  <a:srgbClr val="206040"/>
                </a:solidFill>
                <a:latin typeface="Microsoft YaHei UI" panose="020B0503020204020204" charset="-122"/>
                <a:ea typeface="Microsoft YaHei UI" panose="020B0503020204020204" charset="-122"/>
                <a:cs typeface="Microsoft YaHei UI" panose="020B0503020204020204" charset="-122"/>
              </a:defRPr>
            </a:pPr>
            <a:r>
              <a:rPr sz="1350" b="1">
                <a:solidFill>
                  <a:srgbClr val="206040"/>
                </a:solidFill>
                <a:latin typeface="Microsoft YaHei UI" panose="020B0503020204020204" charset="-122"/>
                <a:ea typeface="Microsoft YaHei UI" panose="020B0503020204020204" charset="-122"/>
                <a:cs typeface="Microsoft YaHei UI" panose="020B0503020204020204" charset="-122"/>
              </a:rPr>
              <a:t>碳交易/ESG</a:t>
            </a:r>
            <a:endParaRPr sz="1350" b="1">
              <a:solidFill>
                <a:srgbClr val="206040"/>
              </a:solidFill>
              <a:latin typeface="Microsoft YaHei UI" panose="020B0503020204020204" charset="-122"/>
              <a:ea typeface="Microsoft YaHei UI" panose="020B0503020204020204" charset="-122"/>
              <a:cs typeface="Microsoft YaHei UI" panose="020B0503020204020204" charset="-122"/>
            </a:endParaRPr>
          </a:p>
        </p:txBody>
      </p:sp>
      <p:sp>
        <p:nvSpPr>
          <p:cNvPr id="46" name="矩形 45"/>
          <p:cNvSpPr>
            <a:spLocks noGrp="1"/>
          </p:cNvSpPr>
          <p:nvPr/>
        </p:nvSpPr>
        <p:spPr>
          <a:xfrm>
            <a:off x="6315075" y="4686300"/>
            <a:ext cx="1133475" cy="285750"/>
          </a:xfrm>
          <a:prstGeom prst="rect">
            <a:avLst/>
          </a:prstGeom>
          <a:noFill/>
          <a:ln w="0">
            <a:solidFill>
              <a:srgbClr val="FFFFFF"/>
            </a:solidFill>
          </a:ln>
        </p:spPr>
        <p:txBody>
          <a:bodyPr lIns="76200" tIns="38100" rIns="76200" bIns="38100" anchor="t"/>
          <a:lstStyle/>
          <a:p>
            <a:pPr algn="l">
              <a:defRPr sz="1050" b="0">
                <a:solidFill>
                  <a:srgbClr val="111111"/>
                </a:solidFill>
                <a:latin typeface="Microsoft YaHei UI" panose="020B0503020204020204" charset="-122"/>
                <a:ea typeface="Microsoft YaHei UI" panose="020B0503020204020204" charset="-122"/>
                <a:cs typeface="Microsoft YaHei UI" panose="020B0503020204020204" charset="-122"/>
              </a:defRPr>
            </a:pPr>
            <a:r>
              <a:rPr sz="1050" b="0">
                <a:solidFill>
                  <a:srgbClr val="111111"/>
                </a:solidFill>
                <a:latin typeface="Microsoft YaHei UI" panose="020B0503020204020204" charset="-122"/>
                <a:ea typeface="Microsoft YaHei UI" panose="020B0503020204020204" charset="-122"/>
                <a:cs typeface="Microsoft YaHei UI" panose="020B0503020204020204" charset="-122"/>
              </a:rPr>
              <a:t>资本市场纳入绿色约束</a:t>
            </a:r>
            <a:endParaRPr sz="1050"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47" name="圆角矩形 46"/>
          <p:cNvSpPr>
            <a:spLocks noGrp="1"/>
          </p:cNvSpPr>
          <p:nvPr/>
        </p:nvSpPr>
        <p:spPr>
          <a:xfrm>
            <a:off x="9391650" y="3790950"/>
            <a:ext cx="266700" cy="266700"/>
          </a:xfrm>
          <a:prstGeom prst="roundRect">
            <a:avLst>
              <a:gd name="adj" fmla="val 50000"/>
            </a:avLst>
          </a:prstGeom>
          <a:solidFill>
            <a:srgbClr val="FFC000"/>
          </a:solidFill>
          <a:ln w="0">
            <a:solidFill>
              <a:srgbClr val="FFFFFF"/>
            </a:solidFill>
          </a:ln>
        </p:spPr>
      </p:sp>
      <p:sp>
        <p:nvSpPr>
          <p:cNvPr id="48" name="圆角矩形 47"/>
          <p:cNvSpPr>
            <a:spLocks noGrp="1"/>
          </p:cNvSpPr>
          <p:nvPr/>
        </p:nvSpPr>
        <p:spPr>
          <a:xfrm>
            <a:off x="8905875" y="4171950"/>
            <a:ext cx="1476375" cy="933450"/>
          </a:xfrm>
          <a:prstGeom prst="roundRect">
            <a:avLst>
              <a:gd name="adj" fmla="val 12245"/>
            </a:avLst>
          </a:prstGeom>
          <a:solidFill>
            <a:srgbClr val="FFFFFF"/>
          </a:solidFill>
          <a:ln w="11430">
            <a:solidFill>
              <a:srgbClr val="D7DFDA"/>
            </a:solidFill>
          </a:ln>
        </p:spPr>
      </p:sp>
      <p:sp>
        <p:nvSpPr>
          <p:cNvPr id="49" name="矩形 48"/>
          <p:cNvSpPr>
            <a:spLocks noGrp="1"/>
          </p:cNvSpPr>
          <p:nvPr/>
        </p:nvSpPr>
        <p:spPr>
          <a:xfrm>
            <a:off x="9077325" y="4305300"/>
            <a:ext cx="1133475" cy="323850"/>
          </a:xfrm>
          <a:prstGeom prst="rect">
            <a:avLst/>
          </a:prstGeom>
          <a:noFill/>
          <a:ln w="0">
            <a:solidFill>
              <a:srgbClr val="FFFFFF"/>
            </a:solidFill>
          </a:ln>
        </p:spPr>
        <p:txBody>
          <a:bodyPr lIns="76200" tIns="38100" rIns="76200" bIns="38100" anchor="ctr"/>
          <a:lstStyle/>
          <a:p>
            <a:pPr algn="l">
              <a:defRPr sz="1350" b="1">
                <a:solidFill>
                  <a:srgbClr val="206040"/>
                </a:solidFill>
                <a:latin typeface="Microsoft YaHei UI" panose="020B0503020204020204" charset="-122"/>
                <a:ea typeface="Microsoft YaHei UI" panose="020B0503020204020204" charset="-122"/>
                <a:cs typeface="Microsoft YaHei UI" panose="020B0503020204020204" charset="-122"/>
              </a:defRPr>
            </a:pPr>
            <a:r>
              <a:rPr sz="1350" b="1">
                <a:solidFill>
                  <a:srgbClr val="206040"/>
                </a:solidFill>
                <a:latin typeface="Microsoft YaHei UI" panose="020B0503020204020204" charset="-122"/>
                <a:ea typeface="Microsoft YaHei UI" panose="020B0503020204020204" charset="-122"/>
                <a:cs typeface="Microsoft YaHei UI" panose="020B0503020204020204" charset="-122"/>
              </a:rPr>
              <a:t>新质生产力</a:t>
            </a:r>
            <a:endParaRPr sz="1350" b="1">
              <a:solidFill>
                <a:srgbClr val="206040"/>
              </a:solidFill>
              <a:latin typeface="Microsoft YaHei UI" panose="020B0503020204020204" charset="-122"/>
              <a:ea typeface="Microsoft YaHei UI" panose="020B0503020204020204" charset="-122"/>
              <a:cs typeface="Microsoft YaHei UI" panose="020B0503020204020204" charset="-122"/>
            </a:endParaRPr>
          </a:p>
        </p:txBody>
      </p:sp>
      <p:sp>
        <p:nvSpPr>
          <p:cNvPr id="50" name="矩形 49"/>
          <p:cNvSpPr>
            <a:spLocks noGrp="1"/>
          </p:cNvSpPr>
          <p:nvPr/>
        </p:nvSpPr>
        <p:spPr>
          <a:xfrm>
            <a:off x="9077325" y="4686300"/>
            <a:ext cx="1133475" cy="285750"/>
          </a:xfrm>
          <a:prstGeom prst="rect">
            <a:avLst/>
          </a:prstGeom>
          <a:noFill/>
          <a:ln w="0">
            <a:solidFill>
              <a:srgbClr val="FFFFFF"/>
            </a:solidFill>
          </a:ln>
        </p:spPr>
        <p:txBody>
          <a:bodyPr lIns="76200" tIns="38100" rIns="76200" bIns="38100" anchor="t"/>
          <a:lstStyle/>
          <a:p>
            <a:pPr algn="l">
              <a:defRPr sz="1050" b="0">
                <a:solidFill>
                  <a:srgbClr val="111111"/>
                </a:solidFill>
                <a:latin typeface="Microsoft YaHei UI" panose="020B0503020204020204" charset="-122"/>
                <a:ea typeface="Microsoft YaHei UI" panose="020B0503020204020204" charset="-122"/>
                <a:cs typeface="Microsoft YaHei UI" panose="020B0503020204020204" charset="-122"/>
              </a:defRPr>
            </a:pPr>
            <a:r>
              <a:rPr sz="1050" b="0">
                <a:solidFill>
                  <a:srgbClr val="111111"/>
                </a:solidFill>
                <a:latin typeface="Microsoft YaHei UI" panose="020B0503020204020204" charset="-122"/>
                <a:ea typeface="Microsoft YaHei UI" panose="020B0503020204020204" charset="-122"/>
                <a:cs typeface="Microsoft YaHei UI" panose="020B0503020204020204" charset="-122"/>
              </a:rPr>
              <a:t>绿色效率成为竞争力</a:t>
            </a:r>
            <a:endParaRPr sz="1050"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51" name="圆角矩形 50"/>
          <p:cNvSpPr>
            <a:spLocks noGrp="1"/>
          </p:cNvSpPr>
          <p:nvPr/>
        </p:nvSpPr>
        <p:spPr>
          <a:xfrm>
            <a:off x="666750" y="5981700"/>
            <a:ext cx="9906000" cy="400050"/>
          </a:xfrm>
          <a:prstGeom prst="roundRect">
            <a:avLst>
              <a:gd name="adj" fmla="val 23810"/>
            </a:avLst>
          </a:prstGeom>
          <a:solidFill>
            <a:srgbClr val="FFF8DA"/>
          </a:solidFill>
          <a:ln w="11430">
            <a:solidFill>
              <a:srgbClr val="E9D47A"/>
            </a:solidFill>
          </a:ln>
        </p:spPr>
      </p:sp>
      <p:sp>
        <p:nvSpPr>
          <p:cNvPr id="52" name="矩形 51"/>
          <p:cNvSpPr>
            <a:spLocks noGrp="1"/>
          </p:cNvSpPr>
          <p:nvPr/>
        </p:nvSpPr>
        <p:spPr>
          <a:xfrm>
            <a:off x="876300" y="6048375"/>
            <a:ext cx="9477375" cy="266700"/>
          </a:xfrm>
          <a:prstGeom prst="rect">
            <a:avLst/>
          </a:prstGeom>
          <a:noFill/>
          <a:ln w="0">
            <a:solidFill>
              <a:srgbClr val="FFFFFF"/>
            </a:solidFill>
          </a:ln>
        </p:spPr>
        <p:txBody>
          <a:bodyPr lIns="76200" tIns="38100" rIns="76200" bIns="38100" anchor="ctr"/>
          <a:lstStyle/>
          <a:p>
            <a:pPr algn="l">
              <a:defRPr sz="1200" b="1">
                <a:solidFill>
                  <a:srgbClr val="206040"/>
                </a:solidFill>
                <a:latin typeface="Microsoft YaHei UI" panose="020B0503020204020204" charset="-122"/>
                <a:ea typeface="Microsoft YaHei UI" panose="020B0503020204020204" charset="-122"/>
                <a:cs typeface="Microsoft YaHei UI" panose="020B0503020204020204" charset="-122"/>
              </a:defRPr>
            </a:pPr>
            <a:r>
              <a:rPr sz="1200" b="1">
                <a:solidFill>
                  <a:srgbClr val="206040"/>
                </a:solidFill>
                <a:latin typeface="Microsoft YaHei UI" panose="020B0503020204020204" charset="-122"/>
                <a:ea typeface="Microsoft YaHei UI" panose="020B0503020204020204" charset="-122"/>
                <a:cs typeface="Microsoft YaHei UI" panose="020B0503020204020204" charset="-122"/>
              </a:rPr>
              <a:t>问题不是环境规制“好不好”，而是规制强度如何通过企业成本结构改变绿色生产率。</a:t>
            </a:r>
            <a:endParaRPr sz="1200" b="1">
              <a:solidFill>
                <a:srgbClr val="206040"/>
              </a:solidFill>
              <a:latin typeface="Microsoft YaHei UI" panose="020B0503020204020204" charset="-122"/>
              <a:ea typeface="Microsoft YaHei UI" panose="020B0503020204020204" charset="-122"/>
              <a:cs typeface="Microsoft YaHei UI" panose="020B050302020402020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a:spLocks noGrp="1"/>
          </p:cNvSpPr>
          <p:nvPr/>
        </p:nvSpPr>
        <p:spPr>
          <a:xfrm>
            <a:off x="0" y="0"/>
            <a:ext cx="12192000" cy="6858000"/>
          </a:xfrm>
          <a:prstGeom prst="rect">
            <a:avLst/>
          </a:prstGeom>
          <a:solidFill>
            <a:srgbClr val="F4F6F5"/>
          </a:solidFill>
          <a:ln w="0">
            <a:solidFill>
              <a:srgbClr val="FFFFFF"/>
            </a:solidFill>
          </a:ln>
        </p:spPr>
      </p:sp>
      <p:sp>
        <p:nvSpPr>
          <p:cNvPr id="3" name="矩形 2"/>
          <p:cNvSpPr>
            <a:spLocks noGrp="1"/>
          </p:cNvSpPr>
          <p:nvPr/>
        </p:nvSpPr>
        <p:spPr>
          <a:xfrm>
            <a:off x="0" y="0"/>
            <a:ext cx="12192000" cy="6858000"/>
          </a:xfrm>
          <a:prstGeom prst="rect">
            <a:avLst/>
          </a:prstGeom>
          <a:solidFill>
            <a:srgbClr val="F9FAF9"/>
          </a:solidFill>
          <a:ln w="0">
            <a:solidFill>
              <a:srgbClr val="FFFFFF"/>
            </a:solidFill>
          </a:ln>
        </p:spPr>
      </p:sp>
      <p:sp>
        <p:nvSpPr>
          <p:cNvPr id="4" name="矩形 3"/>
          <p:cNvSpPr>
            <a:spLocks noGrp="1"/>
          </p:cNvSpPr>
          <p:nvPr/>
        </p:nvSpPr>
        <p:spPr>
          <a:xfrm>
            <a:off x="8858250" y="0"/>
            <a:ext cx="3333750" cy="6858000"/>
          </a:xfrm>
          <a:prstGeom prst="rect">
            <a:avLst/>
          </a:prstGeom>
          <a:solidFill>
            <a:srgbClr val="F7F9F8"/>
          </a:solidFill>
          <a:ln w="0">
            <a:solidFill>
              <a:srgbClr val="FFFFFF"/>
            </a:solidFill>
          </a:ln>
        </p:spPr>
      </p:sp>
      <p:sp>
        <p:nvSpPr>
          <p:cNvPr id="5" name="矩形 4"/>
          <p:cNvSpPr>
            <a:spLocks noGrp="1"/>
          </p:cNvSpPr>
          <p:nvPr/>
        </p:nvSpPr>
        <p:spPr>
          <a:xfrm>
            <a:off x="0" y="6115050"/>
            <a:ext cx="12192000" cy="742950"/>
          </a:xfrm>
          <a:prstGeom prst="rect">
            <a:avLst/>
          </a:prstGeom>
          <a:solidFill>
            <a:srgbClr val="F8FAF9"/>
          </a:solidFill>
          <a:ln w="0">
            <a:solidFill>
              <a:srgbClr val="FFFFFF"/>
            </a:solidFill>
          </a:ln>
        </p:spPr>
      </p:sp>
      <p:sp>
        <p:nvSpPr>
          <p:cNvPr id="6" name="等腰三角形 5"/>
          <p:cNvSpPr>
            <a:spLocks noGrp="1"/>
          </p:cNvSpPr>
          <p:nvPr/>
        </p:nvSpPr>
        <p:spPr>
          <a:xfrm>
            <a:off x="1524000" y="904875"/>
            <a:ext cx="2476500" cy="1714500"/>
          </a:xfrm>
          <a:prstGeom prst="triangle">
            <a:avLst/>
          </a:prstGeom>
          <a:solidFill>
            <a:srgbClr val="FFFFFF"/>
          </a:solidFill>
          <a:ln w="0">
            <a:solidFill>
              <a:srgbClr val="FFFFFF"/>
            </a:solidFill>
          </a:ln>
        </p:spPr>
      </p:sp>
      <p:sp>
        <p:nvSpPr>
          <p:cNvPr id="7" name="等腰三角形 6"/>
          <p:cNvSpPr>
            <a:spLocks noGrp="1"/>
          </p:cNvSpPr>
          <p:nvPr/>
        </p:nvSpPr>
        <p:spPr>
          <a:xfrm>
            <a:off x="3857625" y="1762125"/>
            <a:ext cx="2476500" cy="1714500"/>
          </a:xfrm>
          <a:prstGeom prst="triangle">
            <a:avLst/>
          </a:prstGeom>
          <a:solidFill>
            <a:srgbClr val="F8FBFA"/>
          </a:solidFill>
          <a:ln w="0">
            <a:solidFill>
              <a:srgbClr val="FFFFFF"/>
            </a:solidFill>
          </a:ln>
        </p:spPr>
      </p:sp>
      <p:sp>
        <p:nvSpPr>
          <p:cNvPr id="8" name="等腰三角形 7"/>
          <p:cNvSpPr>
            <a:spLocks noGrp="1"/>
          </p:cNvSpPr>
          <p:nvPr/>
        </p:nvSpPr>
        <p:spPr>
          <a:xfrm>
            <a:off x="6191250" y="904875"/>
            <a:ext cx="2476500" cy="1714500"/>
          </a:xfrm>
          <a:prstGeom prst="triangle">
            <a:avLst/>
          </a:prstGeom>
          <a:solidFill>
            <a:srgbClr val="FFFFFF"/>
          </a:solidFill>
          <a:ln w="0">
            <a:solidFill>
              <a:srgbClr val="FFFFFF"/>
            </a:solidFill>
          </a:ln>
        </p:spPr>
      </p:sp>
      <p:sp>
        <p:nvSpPr>
          <p:cNvPr id="9" name="等腰三角形 8"/>
          <p:cNvSpPr>
            <a:spLocks noGrp="1"/>
          </p:cNvSpPr>
          <p:nvPr/>
        </p:nvSpPr>
        <p:spPr>
          <a:xfrm>
            <a:off x="8524875" y="1762125"/>
            <a:ext cx="2476500" cy="1714500"/>
          </a:xfrm>
          <a:prstGeom prst="triangle">
            <a:avLst/>
          </a:prstGeom>
          <a:solidFill>
            <a:srgbClr val="F8FBFA"/>
          </a:solidFill>
          <a:ln w="0">
            <a:solidFill>
              <a:srgbClr val="FFFFFF"/>
            </a:solidFill>
          </a:ln>
        </p:spPr>
      </p:sp>
      <p:sp>
        <p:nvSpPr>
          <p:cNvPr id="10" name="等腰三角形 9"/>
          <p:cNvSpPr>
            <a:spLocks noGrp="1"/>
          </p:cNvSpPr>
          <p:nvPr/>
        </p:nvSpPr>
        <p:spPr>
          <a:xfrm>
            <a:off x="10858500" y="904875"/>
            <a:ext cx="2476500" cy="1714500"/>
          </a:xfrm>
          <a:prstGeom prst="triangle">
            <a:avLst/>
          </a:prstGeom>
          <a:solidFill>
            <a:srgbClr val="FFFFFF"/>
          </a:solidFill>
          <a:ln w="0">
            <a:solidFill>
              <a:srgbClr val="FFFFFF"/>
            </a:solidFill>
          </a:ln>
        </p:spPr>
      </p:sp>
      <p:sp>
        <p:nvSpPr>
          <p:cNvPr id="11" name="等腰三角形 10"/>
          <p:cNvSpPr>
            <a:spLocks noGrp="1"/>
          </p:cNvSpPr>
          <p:nvPr/>
        </p:nvSpPr>
        <p:spPr>
          <a:xfrm rot="5400000">
            <a:off x="152400" y="266700"/>
            <a:ext cx="533400" cy="476250"/>
          </a:xfrm>
          <a:prstGeom prst="triangle">
            <a:avLst/>
          </a:prstGeom>
          <a:solidFill>
            <a:srgbClr val="206040"/>
          </a:solidFill>
          <a:ln w="0">
            <a:solidFill>
              <a:srgbClr val="FFFFFF"/>
            </a:solidFill>
          </a:ln>
        </p:spPr>
      </p:sp>
      <p:sp>
        <p:nvSpPr>
          <p:cNvPr id="12" name="等腰三角形 11"/>
          <p:cNvSpPr>
            <a:spLocks noGrp="1"/>
          </p:cNvSpPr>
          <p:nvPr/>
        </p:nvSpPr>
        <p:spPr>
          <a:xfrm rot="5400000">
            <a:off x="381000" y="304800"/>
            <a:ext cx="457200" cy="419100"/>
          </a:xfrm>
          <a:prstGeom prst="triangle">
            <a:avLst/>
          </a:prstGeom>
          <a:solidFill>
            <a:srgbClr val="80A090"/>
          </a:solidFill>
          <a:ln w="0">
            <a:solidFill>
              <a:srgbClr val="FFFFFF"/>
            </a:solidFill>
          </a:ln>
        </p:spPr>
      </p:sp>
      <p:sp>
        <p:nvSpPr>
          <p:cNvPr id="13" name="矩形 12"/>
          <p:cNvSpPr>
            <a:spLocks noGrp="1"/>
          </p:cNvSpPr>
          <p:nvPr/>
        </p:nvSpPr>
        <p:spPr>
          <a:xfrm>
            <a:off x="857250" y="228600"/>
            <a:ext cx="2857500" cy="457200"/>
          </a:xfrm>
          <a:prstGeom prst="rect">
            <a:avLst/>
          </a:prstGeom>
          <a:noFill/>
          <a:ln w="0">
            <a:solidFill>
              <a:srgbClr val="FFFFFF"/>
            </a:solidFill>
          </a:ln>
        </p:spPr>
        <p:txBody>
          <a:bodyPr lIns="76200" tIns="38100" rIns="76200" bIns="38100" anchor="ctr"/>
          <a:lstStyle/>
          <a:p>
            <a:pPr algn="l">
              <a:defRPr sz="2550" b="1">
                <a:solidFill>
                  <a:srgbClr val="206040"/>
                </a:solidFill>
                <a:latin typeface="黑体" panose="02010609060101010101" charset="-122"/>
                <a:ea typeface="黑体" panose="02010609060101010101" charset="-122"/>
                <a:cs typeface="黑体" panose="02010609060101010101" charset="-122"/>
              </a:defRPr>
            </a:pPr>
            <a:r>
              <a:rPr sz="2550" b="1">
                <a:solidFill>
                  <a:srgbClr val="206040"/>
                </a:solidFill>
                <a:latin typeface="黑体" panose="02010609060101010101" charset="-122"/>
                <a:ea typeface="黑体" panose="02010609060101010101" charset="-122"/>
                <a:cs typeface="黑体" panose="02010609060101010101" charset="-122"/>
              </a:rPr>
              <a:t>核心科学问题</a:t>
            </a:r>
            <a:endParaRPr sz="2550" b="1">
              <a:solidFill>
                <a:srgbClr val="206040"/>
              </a:solidFill>
              <a:latin typeface="黑体" panose="02010609060101010101" charset="-122"/>
              <a:ea typeface="黑体" panose="02010609060101010101" charset="-122"/>
              <a:cs typeface="黑体" panose="02010609060101010101" charset="-122"/>
            </a:endParaRPr>
          </a:p>
        </p:txBody>
      </p:sp>
      <p:sp>
        <p:nvSpPr>
          <p:cNvPr id="14" name="矩形 13"/>
          <p:cNvSpPr>
            <a:spLocks noGrp="1"/>
          </p:cNvSpPr>
          <p:nvPr/>
        </p:nvSpPr>
        <p:spPr>
          <a:xfrm>
            <a:off x="4000500" y="295275"/>
            <a:ext cx="1123950" cy="323850"/>
          </a:xfrm>
          <a:prstGeom prst="rect">
            <a:avLst/>
          </a:prstGeom>
          <a:noFill/>
          <a:ln w="0">
            <a:solidFill>
              <a:srgbClr val="FFFFFF"/>
            </a:solidFill>
          </a:ln>
        </p:spPr>
        <p:txBody>
          <a:bodyPr lIns="76200" tIns="38100" rIns="76200" bIns="38100" anchor="ctr"/>
          <a:lstStyle/>
          <a:p>
            <a:pPr algn="ctr">
              <a:defRPr sz="1125" b="0">
                <a:solidFill>
                  <a:srgbClr val="161616"/>
                </a:solidFill>
                <a:latin typeface="Microsoft YaHei UI" panose="020B0503020204020204" charset="-122"/>
                <a:ea typeface="Microsoft YaHei UI" panose="020B0503020204020204" charset="-122"/>
                <a:cs typeface="Microsoft YaHei UI" panose="020B0503020204020204" charset="-122"/>
              </a:defRPr>
            </a:pPr>
            <a:r>
              <a:rPr sz="1125" b="0">
                <a:solidFill>
                  <a:srgbClr val="161616"/>
                </a:solidFill>
                <a:latin typeface="Microsoft YaHei UI" panose="020B0503020204020204" charset="-122"/>
                <a:ea typeface="Microsoft YaHei UI" panose="020B0503020204020204" charset="-122"/>
                <a:cs typeface="Microsoft YaHei UI" panose="020B0503020204020204" charset="-122"/>
              </a:rPr>
              <a:t>现实问题</a:t>
            </a:r>
            <a:endParaRPr sz="1125" b="0">
              <a:solidFill>
                <a:srgbClr val="161616"/>
              </a:solidFill>
              <a:latin typeface="Microsoft YaHei UI" panose="020B0503020204020204" charset="-122"/>
              <a:ea typeface="Microsoft YaHei UI" panose="020B0503020204020204" charset="-122"/>
              <a:cs typeface="Microsoft YaHei UI" panose="020B0503020204020204" charset="-122"/>
            </a:endParaRPr>
          </a:p>
        </p:txBody>
      </p:sp>
      <p:sp>
        <p:nvSpPr>
          <p:cNvPr id="15" name="矩形 14"/>
          <p:cNvSpPr>
            <a:spLocks noGrp="1"/>
          </p:cNvSpPr>
          <p:nvPr/>
        </p:nvSpPr>
        <p:spPr>
          <a:xfrm>
            <a:off x="5200650" y="228600"/>
            <a:ext cx="1123950" cy="323850"/>
          </a:xfrm>
          <a:prstGeom prst="rect">
            <a:avLst/>
          </a:prstGeom>
          <a:noFill/>
          <a:ln w="0">
            <a:solidFill>
              <a:srgbClr val="FFFFFF"/>
            </a:solidFill>
          </a:ln>
        </p:spPr>
        <p:txBody>
          <a:bodyPr lIns="76200" tIns="38100" rIns="76200" bIns="38100" anchor="ctr"/>
          <a:lstStyle/>
          <a:p>
            <a:pPr algn="ctr">
              <a:defRPr sz="1500" b="1">
                <a:solidFill>
                  <a:srgbClr val="206040"/>
                </a:solidFill>
                <a:latin typeface="Microsoft YaHei UI" panose="020B0503020204020204" charset="-122"/>
                <a:ea typeface="Microsoft YaHei UI" panose="020B0503020204020204" charset="-122"/>
                <a:cs typeface="Microsoft YaHei UI" panose="020B0503020204020204" charset="-122"/>
              </a:defRPr>
            </a:pPr>
            <a:r>
              <a:rPr sz="1500" b="1">
                <a:solidFill>
                  <a:srgbClr val="206040"/>
                </a:solidFill>
                <a:latin typeface="Microsoft YaHei UI" panose="020B0503020204020204" charset="-122"/>
                <a:ea typeface="Microsoft YaHei UI" panose="020B0503020204020204" charset="-122"/>
                <a:cs typeface="Microsoft YaHei UI" panose="020B0503020204020204" charset="-122"/>
              </a:rPr>
              <a:t>科学问题</a:t>
            </a:r>
            <a:endParaRPr sz="1500" b="1">
              <a:solidFill>
                <a:srgbClr val="206040"/>
              </a:solidFill>
              <a:latin typeface="Microsoft YaHei UI" panose="020B0503020204020204" charset="-122"/>
              <a:ea typeface="Microsoft YaHei UI" panose="020B0503020204020204" charset="-122"/>
              <a:cs typeface="Microsoft YaHei UI" panose="020B0503020204020204" charset="-122"/>
            </a:endParaRPr>
          </a:p>
        </p:txBody>
      </p:sp>
      <p:sp>
        <p:nvSpPr>
          <p:cNvPr id="16" name="圆角矩形 15"/>
          <p:cNvSpPr>
            <a:spLocks noGrp="1"/>
          </p:cNvSpPr>
          <p:nvPr/>
        </p:nvSpPr>
        <p:spPr>
          <a:xfrm>
            <a:off x="5372100" y="657225"/>
            <a:ext cx="781050" cy="38100"/>
          </a:xfrm>
          <a:prstGeom prst="roundRect">
            <a:avLst>
              <a:gd name="adj" fmla="val 25000"/>
            </a:avLst>
          </a:prstGeom>
          <a:solidFill>
            <a:srgbClr val="206040"/>
          </a:solidFill>
          <a:ln w="0">
            <a:solidFill>
              <a:srgbClr val="FFFFFF"/>
            </a:solidFill>
          </a:ln>
        </p:spPr>
      </p:sp>
      <p:sp>
        <p:nvSpPr>
          <p:cNvPr id="17" name="矩形 16"/>
          <p:cNvSpPr>
            <a:spLocks noGrp="1"/>
          </p:cNvSpPr>
          <p:nvPr/>
        </p:nvSpPr>
        <p:spPr>
          <a:xfrm>
            <a:off x="6400800" y="295275"/>
            <a:ext cx="1123950" cy="323850"/>
          </a:xfrm>
          <a:prstGeom prst="rect">
            <a:avLst/>
          </a:prstGeom>
          <a:noFill/>
          <a:ln w="0">
            <a:solidFill>
              <a:srgbClr val="FFFFFF"/>
            </a:solidFill>
          </a:ln>
        </p:spPr>
        <p:txBody>
          <a:bodyPr lIns="76200" tIns="38100" rIns="76200" bIns="38100" anchor="ctr"/>
          <a:lstStyle/>
          <a:p>
            <a:pPr algn="ctr">
              <a:defRPr sz="1125" b="0">
                <a:solidFill>
                  <a:srgbClr val="161616"/>
                </a:solidFill>
                <a:latin typeface="Microsoft YaHei UI" panose="020B0503020204020204" charset="-122"/>
                <a:ea typeface="Microsoft YaHei UI" panose="020B0503020204020204" charset="-122"/>
                <a:cs typeface="Microsoft YaHei UI" panose="020B0503020204020204" charset="-122"/>
              </a:defRPr>
            </a:pPr>
            <a:r>
              <a:rPr sz="1125" b="0">
                <a:solidFill>
                  <a:srgbClr val="161616"/>
                </a:solidFill>
                <a:latin typeface="Microsoft YaHei UI" panose="020B0503020204020204" charset="-122"/>
                <a:ea typeface="Microsoft YaHei UI" panose="020B0503020204020204" charset="-122"/>
                <a:cs typeface="Microsoft YaHei UI" panose="020B0503020204020204" charset="-122"/>
              </a:rPr>
              <a:t>理论机制</a:t>
            </a:r>
            <a:endParaRPr sz="1125" b="0">
              <a:solidFill>
                <a:srgbClr val="161616"/>
              </a:solidFill>
              <a:latin typeface="Microsoft YaHei UI" panose="020B0503020204020204" charset="-122"/>
              <a:ea typeface="Microsoft YaHei UI" panose="020B0503020204020204" charset="-122"/>
              <a:cs typeface="Microsoft YaHei UI" panose="020B0503020204020204" charset="-122"/>
            </a:endParaRPr>
          </a:p>
        </p:txBody>
      </p:sp>
      <p:sp>
        <p:nvSpPr>
          <p:cNvPr id="18" name="矩形 17"/>
          <p:cNvSpPr>
            <a:spLocks noGrp="1"/>
          </p:cNvSpPr>
          <p:nvPr/>
        </p:nvSpPr>
        <p:spPr>
          <a:xfrm>
            <a:off x="7600950" y="295275"/>
            <a:ext cx="1123950" cy="323850"/>
          </a:xfrm>
          <a:prstGeom prst="rect">
            <a:avLst/>
          </a:prstGeom>
          <a:noFill/>
          <a:ln w="0">
            <a:solidFill>
              <a:srgbClr val="FFFFFF"/>
            </a:solidFill>
          </a:ln>
        </p:spPr>
        <p:txBody>
          <a:bodyPr lIns="76200" tIns="38100" rIns="76200" bIns="38100" anchor="ctr"/>
          <a:lstStyle/>
          <a:p>
            <a:pPr algn="ctr">
              <a:defRPr sz="1125" b="0">
                <a:solidFill>
                  <a:srgbClr val="161616"/>
                </a:solidFill>
                <a:latin typeface="Microsoft YaHei UI" panose="020B0503020204020204" charset="-122"/>
                <a:ea typeface="Microsoft YaHei UI" panose="020B0503020204020204" charset="-122"/>
                <a:cs typeface="Microsoft YaHei UI" panose="020B0503020204020204" charset="-122"/>
              </a:defRPr>
            </a:pPr>
            <a:r>
              <a:rPr sz="1125" b="0">
                <a:solidFill>
                  <a:srgbClr val="161616"/>
                </a:solidFill>
                <a:latin typeface="Microsoft YaHei UI" panose="020B0503020204020204" charset="-122"/>
                <a:ea typeface="Microsoft YaHei UI" panose="020B0503020204020204" charset="-122"/>
                <a:cs typeface="Microsoft YaHei UI" panose="020B0503020204020204" charset="-122"/>
              </a:rPr>
              <a:t>数据变量</a:t>
            </a:r>
            <a:endParaRPr sz="1125" b="0">
              <a:solidFill>
                <a:srgbClr val="161616"/>
              </a:solidFill>
              <a:latin typeface="Microsoft YaHei UI" panose="020B0503020204020204" charset="-122"/>
              <a:ea typeface="Microsoft YaHei UI" panose="020B0503020204020204" charset="-122"/>
              <a:cs typeface="Microsoft YaHei UI" panose="020B0503020204020204" charset="-122"/>
            </a:endParaRPr>
          </a:p>
        </p:txBody>
      </p:sp>
      <p:sp>
        <p:nvSpPr>
          <p:cNvPr id="19" name="矩形 18"/>
          <p:cNvSpPr>
            <a:spLocks noGrp="1"/>
          </p:cNvSpPr>
          <p:nvPr/>
        </p:nvSpPr>
        <p:spPr>
          <a:xfrm>
            <a:off x="8801100" y="295275"/>
            <a:ext cx="1123950" cy="323850"/>
          </a:xfrm>
          <a:prstGeom prst="rect">
            <a:avLst/>
          </a:prstGeom>
          <a:noFill/>
          <a:ln w="0">
            <a:solidFill>
              <a:srgbClr val="FFFFFF"/>
            </a:solidFill>
          </a:ln>
        </p:spPr>
        <p:txBody>
          <a:bodyPr lIns="76200" tIns="38100" rIns="76200" bIns="38100" anchor="ctr"/>
          <a:lstStyle/>
          <a:p>
            <a:pPr algn="ctr">
              <a:defRPr sz="1125" b="0">
                <a:solidFill>
                  <a:srgbClr val="161616"/>
                </a:solidFill>
                <a:latin typeface="Microsoft YaHei UI" panose="020B0503020204020204" charset="-122"/>
                <a:ea typeface="Microsoft YaHei UI" panose="020B0503020204020204" charset="-122"/>
                <a:cs typeface="Microsoft YaHei UI" panose="020B0503020204020204" charset="-122"/>
              </a:defRPr>
            </a:pPr>
            <a:r>
              <a:rPr sz="1125" b="0">
                <a:solidFill>
                  <a:srgbClr val="161616"/>
                </a:solidFill>
                <a:latin typeface="Microsoft YaHei UI" panose="020B0503020204020204" charset="-122"/>
                <a:ea typeface="Microsoft YaHei UI" panose="020B0503020204020204" charset="-122"/>
                <a:cs typeface="Microsoft YaHei UI" panose="020B0503020204020204" charset="-122"/>
              </a:rPr>
              <a:t>模型识别</a:t>
            </a:r>
            <a:endParaRPr sz="1125" b="0">
              <a:solidFill>
                <a:srgbClr val="161616"/>
              </a:solidFill>
              <a:latin typeface="Microsoft YaHei UI" panose="020B0503020204020204" charset="-122"/>
              <a:ea typeface="Microsoft YaHei UI" panose="020B0503020204020204" charset="-122"/>
              <a:cs typeface="Microsoft YaHei UI" panose="020B0503020204020204" charset="-122"/>
            </a:endParaRPr>
          </a:p>
        </p:txBody>
      </p:sp>
      <p:sp>
        <p:nvSpPr>
          <p:cNvPr id="20" name="矩形 19"/>
          <p:cNvSpPr>
            <a:spLocks noGrp="1"/>
          </p:cNvSpPr>
          <p:nvPr/>
        </p:nvSpPr>
        <p:spPr>
          <a:xfrm>
            <a:off x="10001250" y="295275"/>
            <a:ext cx="1123950" cy="323850"/>
          </a:xfrm>
          <a:prstGeom prst="rect">
            <a:avLst/>
          </a:prstGeom>
          <a:noFill/>
          <a:ln w="0">
            <a:solidFill>
              <a:srgbClr val="FFFFFF"/>
            </a:solidFill>
          </a:ln>
        </p:spPr>
        <p:txBody>
          <a:bodyPr lIns="76200" tIns="38100" rIns="76200" bIns="38100" anchor="ctr"/>
          <a:lstStyle/>
          <a:p>
            <a:pPr algn="ctr">
              <a:defRPr sz="1125" b="0">
                <a:solidFill>
                  <a:srgbClr val="161616"/>
                </a:solidFill>
                <a:latin typeface="Microsoft YaHei UI" panose="020B0503020204020204" charset="-122"/>
                <a:ea typeface="Microsoft YaHei UI" panose="020B0503020204020204" charset="-122"/>
                <a:cs typeface="Microsoft YaHei UI" panose="020B0503020204020204" charset="-122"/>
              </a:defRPr>
            </a:pPr>
            <a:r>
              <a:rPr sz="1125" b="0">
                <a:solidFill>
                  <a:srgbClr val="161616"/>
                </a:solidFill>
                <a:latin typeface="Microsoft YaHei UI" panose="020B0503020204020204" charset="-122"/>
                <a:ea typeface="Microsoft YaHei UI" panose="020B0503020204020204" charset="-122"/>
                <a:cs typeface="Microsoft YaHei UI" panose="020B0503020204020204" charset="-122"/>
              </a:rPr>
              <a:t>预期贡献</a:t>
            </a:r>
            <a:endParaRPr sz="1125" b="0">
              <a:solidFill>
                <a:srgbClr val="161616"/>
              </a:solidFill>
              <a:latin typeface="Microsoft YaHei UI" panose="020B0503020204020204" charset="-122"/>
              <a:ea typeface="Microsoft YaHei UI" panose="020B0503020204020204" charset="-122"/>
              <a:cs typeface="Microsoft YaHei UI" panose="020B0503020204020204" charset="-122"/>
            </a:endParaRPr>
          </a:p>
        </p:txBody>
      </p:sp>
      <p:sp>
        <p:nvSpPr>
          <p:cNvPr id="21" name="圆角矩形 20"/>
          <p:cNvSpPr>
            <a:spLocks noGrp="1"/>
          </p:cNvSpPr>
          <p:nvPr/>
        </p:nvSpPr>
        <p:spPr>
          <a:xfrm>
            <a:off x="3905250" y="742950"/>
            <a:ext cx="8001000" cy="9525"/>
          </a:xfrm>
          <a:prstGeom prst="roundRect">
            <a:avLst>
              <a:gd name="adj" fmla="val 50000"/>
            </a:avLst>
          </a:prstGeom>
          <a:solidFill>
            <a:srgbClr val="D7DFDA"/>
          </a:solidFill>
          <a:ln w="0">
            <a:solidFill>
              <a:srgbClr val="FFFFFF"/>
            </a:solidFill>
          </a:ln>
        </p:spPr>
      </p:sp>
      <p:sp>
        <p:nvSpPr>
          <p:cNvPr id="22" name="矩形 21"/>
          <p:cNvSpPr>
            <a:spLocks noGrp="1"/>
          </p:cNvSpPr>
          <p:nvPr/>
        </p:nvSpPr>
        <p:spPr>
          <a:xfrm>
            <a:off x="11334750" y="6286500"/>
            <a:ext cx="495300" cy="266700"/>
          </a:xfrm>
          <a:prstGeom prst="rect">
            <a:avLst/>
          </a:prstGeom>
          <a:noFill/>
          <a:ln w="0">
            <a:solidFill>
              <a:srgbClr val="FFFFFF"/>
            </a:solidFill>
          </a:ln>
        </p:spPr>
        <p:txBody>
          <a:bodyPr lIns="76200" tIns="38100" rIns="76200" bIns="38100" anchor="ctr"/>
          <a:lstStyle/>
          <a:p>
            <a:pPr algn="r">
              <a:defRPr sz="975" b="0">
                <a:solidFill>
                  <a:srgbClr val="80A090"/>
                </a:solidFill>
                <a:latin typeface="Microsoft YaHei UI" panose="020B0503020204020204" charset="-122"/>
                <a:ea typeface="Microsoft YaHei UI" panose="020B0503020204020204" charset="-122"/>
                <a:cs typeface="Microsoft YaHei UI" panose="020B0503020204020204" charset="-122"/>
              </a:defRPr>
            </a:pPr>
            <a:r>
              <a:rPr sz="975" b="0">
                <a:solidFill>
                  <a:srgbClr val="80A090"/>
                </a:solidFill>
                <a:latin typeface="Microsoft YaHei UI" panose="020B0503020204020204" charset="-122"/>
                <a:ea typeface="Microsoft YaHei UI" panose="020B0503020204020204" charset="-122"/>
                <a:cs typeface="Microsoft YaHei UI" panose="020B0503020204020204" charset="-122"/>
              </a:rPr>
              <a:t>04</a:t>
            </a:r>
            <a:endParaRPr sz="975" b="0">
              <a:solidFill>
                <a:srgbClr val="80A090"/>
              </a:solidFill>
              <a:latin typeface="Microsoft YaHei UI" panose="020B0503020204020204" charset="-122"/>
              <a:ea typeface="Microsoft YaHei UI" panose="020B0503020204020204" charset="-122"/>
              <a:cs typeface="Microsoft YaHei UI" panose="020B0503020204020204" charset="-122"/>
            </a:endParaRPr>
          </a:p>
        </p:txBody>
      </p:sp>
      <p:sp>
        <p:nvSpPr>
          <p:cNvPr id="23" name="矩形 22"/>
          <p:cNvSpPr>
            <a:spLocks noGrp="1"/>
          </p:cNvSpPr>
          <p:nvPr/>
        </p:nvSpPr>
        <p:spPr>
          <a:xfrm>
            <a:off x="781050" y="1066800"/>
            <a:ext cx="1714500" cy="361950"/>
          </a:xfrm>
          <a:prstGeom prst="rect">
            <a:avLst/>
          </a:prstGeom>
          <a:noFill/>
          <a:ln w="0">
            <a:solidFill>
              <a:srgbClr val="FFFFFF"/>
            </a:solidFill>
          </a:ln>
        </p:spPr>
        <p:txBody>
          <a:bodyPr lIns="76200" tIns="38100" rIns="76200" bIns="38100" anchor="ctr"/>
          <a:lstStyle/>
          <a:p>
            <a:pPr algn="l">
              <a:defRPr sz="1875" b="1">
                <a:solidFill>
                  <a:srgbClr val="206040"/>
                </a:solidFill>
                <a:latin typeface="Microsoft YaHei UI" panose="020B0503020204020204" charset="-122"/>
                <a:ea typeface="Microsoft YaHei UI" panose="020B0503020204020204" charset="-122"/>
                <a:cs typeface="Microsoft YaHei UI" panose="020B0503020204020204" charset="-122"/>
              </a:defRPr>
            </a:pPr>
            <a:r>
              <a:rPr sz="1875" b="1">
                <a:solidFill>
                  <a:srgbClr val="206040"/>
                </a:solidFill>
                <a:latin typeface="Microsoft YaHei UI" panose="020B0503020204020204" charset="-122"/>
                <a:ea typeface="Microsoft YaHei UI" panose="020B0503020204020204" charset="-122"/>
                <a:cs typeface="Microsoft YaHei UI" panose="020B0503020204020204" charset="-122"/>
              </a:rPr>
              <a:t>核心问题</a:t>
            </a:r>
            <a:endParaRPr sz="1875" b="1">
              <a:solidFill>
                <a:srgbClr val="206040"/>
              </a:solidFill>
              <a:latin typeface="Microsoft YaHei UI" panose="020B0503020204020204" charset="-122"/>
              <a:ea typeface="Microsoft YaHei UI" panose="020B0503020204020204" charset="-122"/>
              <a:cs typeface="Microsoft YaHei UI" panose="020B0503020204020204" charset="-122"/>
            </a:endParaRPr>
          </a:p>
        </p:txBody>
      </p:sp>
      <p:sp>
        <p:nvSpPr>
          <p:cNvPr id="24" name="圆角矩形 23"/>
          <p:cNvSpPr>
            <a:spLocks noGrp="1"/>
          </p:cNvSpPr>
          <p:nvPr/>
        </p:nvSpPr>
        <p:spPr>
          <a:xfrm>
            <a:off x="762000" y="1600200"/>
            <a:ext cx="4953000" cy="1314450"/>
          </a:xfrm>
          <a:prstGeom prst="roundRect">
            <a:avLst>
              <a:gd name="adj" fmla="val 8696"/>
            </a:avLst>
          </a:prstGeom>
          <a:solidFill>
            <a:srgbClr val="FFFFFF"/>
          </a:solidFill>
          <a:ln w="11430">
            <a:solidFill>
              <a:srgbClr val="D7DFDA"/>
            </a:solidFill>
          </a:ln>
        </p:spPr>
      </p:sp>
      <p:sp>
        <p:nvSpPr>
          <p:cNvPr id="25" name="矩形 24"/>
          <p:cNvSpPr>
            <a:spLocks noGrp="1"/>
          </p:cNvSpPr>
          <p:nvPr/>
        </p:nvSpPr>
        <p:spPr>
          <a:xfrm>
            <a:off x="933450" y="1733550"/>
            <a:ext cx="4610100" cy="323850"/>
          </a:xfrm>
          <a:prstGeom prst="rect">
            <a:avLst/>
          </a:prstGeom>
          <a:noFill/>
          <a:ln w="0">
            <a:solidFill>
              <a:srgbClr val="FFFFFF"/>
            </a:solidFill>
          </a:ln>
        </p:spPr>
        <p:txBody>
          <a:bodyPr lIns="76200" tIns="38100" rIns="76200" bIns="38100" anchor="ctr"/>
          <a:lstStyle/>
          <a:p>
            <a:pPr algn="l">
              <a:defRPr sz="1500" b="1">
                <a:solidFill>
                  <a:srgbClr val="206040"/>
                </a:solidFill>
                <a:latin typeface="Microsoft YaHei UI" panose="020B0503020204020204" charset="-122"/>
                <a:ea typeface="Microsoft YaHei UI" panose="020B0503020204020204" charset="-122"/>
                <a:cs typeface="Microsoft YaHei UI" panose="020B0503020204020204" charset="-122"/>
              </a:defRPr>
            </a:pPr>
            <a:r>
              <a:rPr sz="1500" b="1">
                <a:solidFill>
                  <a:srgbClr val="206040"/>
                </a:solidFill>
                <a:latin typeface="Microsoft YaHei UI" panose="020B0503020204020204" charset="-122"/>
                <a:ea typeface="Microsoft YaHei UI" panose="020B0503020204020204" charset="-122"/>
                <a:cs typeface="Microsoft YaHei UI" panose="020B0503020204020204" charset="-122"/>
              </a:rPr>
              <a:t>一句话凝练</a:t>
            </a:r>
            <a:endParaRPr sz="1500" b="1">
              <a:solidFill>
                <a:srgbClr val="206040"/>
              </a:solidFill>
              <a:latin typeface="Microsoft YaHei UI" panose="020B0503020204020204" charset="-122"/>
              <a:ea typeface="Microsoft YaHei UI" panose="020B0503020204020204" charset="-122"/>
              <a:cs typeface="Microsoft YaHei UI" panose="020B0503020204020204" charset="-122"/>
            </a:endParaRPr>
          </a:p>
        </p:txBody>
      </p:sp>
      <p:sp>
        <p:nvSpPr>
          <p:cNvPr id="26" name="矩形 25"/>
          <p:cNvSpPr>
            <a:spLocks noGrp="1"/>
          </p:cNvSpPr>
          <p:nvPr/>
        </p:nvSpPr>
        <p:spPr>
          <a:xfrm>
            <a:off x="933450" y="2114550"/>
            <a:ext cx="4610100" cy="666750"/>
          </a:xfrm>
          <a:prstGeom prst="rect">
            <a:avLst/>
          </a:prstGeom>
          <a:noFill/>
          <a:ln w="0">
            <a:solidFill>
              <a:srgbClr val="FFFFFF"/>
            </a:solidFill>
          </a:ln>
        </p:spPr>
        <p:txBody>
          <a:bodyPr lIns="76200" tIns="38100" rIns="76200" bIns="38100" anchor="t"/>
          <a:lstStyle/>
          <a:p>
            <a:pPr algn="l">
              <a:defRPr sz="1350" b="0">
                <a:solidFill>
                  <a:srgbClr val="111111"/>
                </a:solidFill>
                <a:latin typeface="Microsoft YaHei UI" panose="020B0503020204020204" charset="-122"/>
                <a:ea typeface="Microsoft YaHei UI" panose="020B0503020204020204" charset="-122"/>
                <a:cs typeface="Microsoft YaHei UI" panose="020B0503020204020204" charset="-122"/>
              </a:defRPr>
            </a:pPr>
            <a:r>
              <a:rPr sz="1350" b="0">
                <a:solidFill>
                  <a:srgbClr val="111111"/>
                </a:solidFill>
                <a:latin typeface="Microsoft YaHei UI" panose="020B0503020204020204" charset="-122"/>
                <a:ea typeface="Microsoft YaHei UI" panose="020B0503020204020204" charset="-122"/>
                <a:cs typeface="Microsoft YaHei UI" panose="020B0503020204020204" charset="-122"/>
              </a:rPr>
              <a:t>在2011-2024年中国A股上市公司样本中，城市环境规制强度是否以及如何通过企业合规成本影响企业绿色全要素生产率？</a:t>
            </a:r>
            <a:endParaRPr sz="1350"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27" name="圆角矩形 26"/>
          <p:cNvSpPr>
            <a:spLocks noGrp="1"/>
          </p:cNvSpPr>
          <p:nvPr/>
        </p:nvSpPr>
        <p:spPr>
          <a:xfrm>
            <a:off x="1143000" y="3762375"/>
            <a:ext cx="1571625" cy="742950"/>
          </a:xfrm>
          <a:prstGeom prst="roundRect">
            <a:avLst>
              <a:gd name="adj" fmla="val 15385"/>
            </a:avLst>
          </a:prstGeom>
          <a:solidFill>
            <a:srgbClr val="206040"/>
          </a:solidFill>
          <a:ln w="11430">
            <a:solidFill>
              <a:srgbClr val="206040"/>
            </a:solidFill>
          </a:ln>
        </p:spPr>
      </p:sp>
      <p:sp>
        <p:nvSpPr>
          <p:cNvPr id="28" name="矩形 27"/>
          <p:cNvSpPr>
            <a:spLocks noGrp="1"/>
          </p:cNvSpPr>
          <p:nvPr/>
        </p:nvSpPr>
        <p:spPr>
          <a:xfrm>
            <a:off x="1143000" y="3762375"/>
            <a:ext cx="1571625" cy="742950"/>
          </a:xfrm>
          <a:prstGeom prst="rect">
            <a:avLst/>
          </a:prstGeom>
          <a:noFill/>
          <a:ln w="0">
            <a:solidFill>
              <a:srgbClr val="FFFFFF"/>
            </a:solidFill>
          </a:ln>
        </p:spPr>
        <p:txBody>
          <a:bodyPr lIns="76200" tIns="38100" rIns="76200" bIns="38100" anchor="ctr"/>
          <a:lstStyle/>
          <a:p>
            <a:pPr algn="ctr">
              <a:defRPr sz="1350" b="1">
                <a:solidFill>
                  <a:srgbClr val="FFFFFF"/>
                </a:solidFill>
                <a:latin typeface="Microsoft YaHei UI" panose="020B0503020204020204" charset="-122"/>
                <a:ea typeface="Microsoft YaHei UI" panose="020B0503020204020204" charset="-122"/>
                <a:cs typeface="Microsoft YaHei UI" panose="020B0503020204020204" charset="-122"/>
              </a:defRPr>
            </a:pPr>
            <a:r>
              <a:rPr sz="1350" b="1">
                <a:solidFill>
                  <a:srgbClr val="FFFFFF"/>
                </a:solidFill>
                <a:latin typeface="Microsoft YaHei UI" panose="020B0503020204020204" charset="-122"/>
                <a:ea typeface="Microsoft YaHei UI" panose="020B0503020204020204" charset="-122"/>
                <a:cs typeface="Microsoft YaHei UI" panose="020B0503020204020204" charset="-122"/>
              </a:rPr>
              <a:t>ER</a:t>
            </a:r>
            <a:endParaRPr sz="1350" b="1">
              <a:solidFill>
                <a:srgbClr val="FFFFFF"/>
              </a:solidFill>
              <a:latin typeface="Microsoft YaHei UI" panose="020B0503020204020204" charset="-122"/>
              <a:ea typeface="Microsoft YaHei UI" panose="020B0503020204020204" charset="-122"/>
              <a:cs typeface="Microsoft YaHei UI" panose="020B0503020204020204" charset="-122"/>
            </a:endParaRPr>
          </a:p>
          <a:p>
            <a:pPr algn="ctr">
              <a:defRPr sz="1350" b="1">
                <a:solidFill>
                  <a:srgbClr val="FFFFFF"/>
                </a:solidFill>
                <a:latin typeface="Microsoft YaHei UI" panose="020B0503020204020204" charset="-122"/>
                <a:ea typeface="Microsoft YaHei UI" panose="020B0503020204020204" charset="-122"/>
                <a:cs typeface="Microsoft YaHei UI" panose="020B0503020204020204" charset="-122"/>
              </a:defRPr>
            </a:pPr>
            <a:r>
              <a:rPr sz="1350" b="1">
                <a:solidFill>
                  <a:srgbClr val="FFFFFF"/>
                </a:solidFill>
                <a:latin typeface="Microsoft YaHei UI" panose="020B0503020204020204" charset="-122"/>
                <a:ea typeface="Microsoft YaHei UI" panose="020B0503020204020204" charset="-122"/>
                <a:cs typeface="Microsoft YaHei UI" panose="020B0503020204020204" charset="-122"/>
              </a:rPr>
              <a:t>环境规制强度</a:t>
            </a:r>
            <a:endParaRPr sz="1350" b="1">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29" name="圆角矩形 28"/>
          <p:cNvSpPr>
            <a:spLocks noGrp="1"/>
          </p:cNvSpPr>
          <p:nvPr/>
        </p:nvSpPr>
        <p:spPr>
          <a:xfrm>
            <a:off x="3857625" y="3762375"/>
            <a:ext cx="2000250" cy="742950"/>
          </a:xfrm>
          <a:prstGeom prst="roundRect">
            <a:avLst>
              <a:gd name="adj" fmla="val 15385"/>
            </a:avLst>
          </a:prstGeom>
          <a:solidFill>
            <a:srgbClr val="FFFFFF"/>
          </a:solidFill>
          <a:ln w="11430">
            <a:solidFill>
              <a:srgbClr val="206040"/>
            </a:solidFill>
          </a:ln>
        </p:spPr>
      </p:sp>
      <p:sp>
        <p:nvSpPr>
          <p:cNvPr id="30" name="矩形 29"/>
          <p:cNvSpPr>
            <a:spLocks noGrp="1"/>
          </p:cNvSpPr>
          <p:nvPr/>
        </p:nvSpPr>
        <p:spPr>
          <a:xfrm>
            <a:off x="3857625" y="3762375"/>
            <a:ext cx="2000250" cy="742950"/>
          </a:xfrm>
          <a:prstGeom prst="rect">
            <a:avLst/>
          </a:prstGeom>
          <a:noFill/>
          <a:ln w="0">
            <a:solidFill>
              <a:srgbClr val="FFFFFF"/>
            </a:solidFill>
          </a:ln>
        </p:spPr>
        <p:txBody>
          <a:bodyPr lIns="76200" tIns="38100" rIns="76200" bIns="38100" anchor="ctr"/>
          <a:lstStyle/>
          <a:p>
            <a:pPr algn="ctr">
              <a:defRPr sz="1350" b="1">
                <a:solidFill>
                  <a:srgbClr val="206040"/>
                </a:solidFill>
                <a:latin typeface="Microsoft YaHei UI" panose="020B0503020204020204" charset="-122"/>
                <a:ea typeface="Microsoft YaHei UI" panose="020B0503020204020204" charset="-122"/>
                <a:cs typeface="Microsoft YaHei UI" panose="020B0503020204020204" charset="-122"/>
              </a:defRPr>
            </a:pPr>
            <a:r>
              <a:rPr sz="1350" b="1">
                <a:solidFill>
                  <a:srgbClr val="206040"/>
                </a:solidFill>
                <a:latin typeface="Microsoft YaHei UI" panose="020B0503020204020204" charset="-122"/>
                <a:ea typeface="Microsoft YaHei UI" panose="020B0503020204020204" charset="-122"/>
                <a:cs typeface="Microsoft YaHei UI" panose="020B0503020204020204" charset="-122"/>
              </a:rPr>
              <a:t>ComplianceCost</a:t>
            </a:r>
            <a:endParaRPr sz="1350" b="1">
              <a:solidFill>
                <a:srgbClr val="206040"/>
              </a:solidFill>
              <a:latin typeface="Microsoft YaHei UI" panose="020B0503020204020204" charset="-122"/>
              <a:ea typeface="Microsoft YaHei UI" panose="020B0503020204020204" charset="-122"/>
              <a:cs typeface="Microsoft YaHei UI" panose="020B0503020204020204" charset="-122"/>
            </a:endParaRPr>
          </a:p>
          <a:p>
            <a:pPr algn="ctr">
              <a:defRPr sz="1350" b="1">
                <a:solidFill>
                  <a:srgbClr val="206040"/>
                </a:solidFill>
                <a:latin typeface="Microsoft YaHei UI" panose="020B0503020204020204" charset="-122"/>
                <a:ea typeface="Microsoft YaHei UI" panose="020B0503020204020204" charset="-122"/>
                <a:cs typeface="Microsoft YaHei UI" panose="020B0503020204020204" charset="-122"/>
              </a:defRPr>
            </a:pPr>
            <a:r>
              <a:rPr sz="1350" b="1">
                <a:solidFill>
                  <a:srgbClr val="206040"/>
                </a:solidFill>
                <a:latin typeface="Microsoft YaHei UI" panose="020B0503020204020204" charset="-122"/>
                <a:ea typeface="Microsoft YaHei UI" panose="020B0503020204020204" charset="-122"/>
                <a:cs typeface="Microsoft YaHei UI" panose="020B0503020204020204" charset="-122"/>
              </a:rPr>
              <a:t>企业合规成本</a:t>
            </a:r>
            <a:endParaRPr sz="1350" b="1">
              <a:solidFill>
                <a:srgbClr val="206040"/>
              </a:solidFill>
              <a:latin typeface="Microsoft YaHei UI" panose="020B0503020204020204" charset="-122"/>
              <a:ea typeface="Microsoft YaHei UI" panose="020B0503020204020204" charset="-122"/>
              <a:cs typeface="Microsoft YaHei UI" panose="020B0503020204020204" charset="-122"/>
            </a:endParaRPr>
          </a:p>
        </p:txBody>
      </p:sp>
      <p:sp>
        <p:nvSpPr>
          <p:cNvPr id="31" name="圆角矩形 30"/>
          <p:cNvSpPr>
            <a:spLocks noGrp="1"/>
          </p:cNvSpPr>
          <p:nvPr/>
        </p:nvSpPr>
        <p:spPr>
          <a:xfrm>
            <a:off x="7143750" y="3762375"/>
            <a:ext cx="2000250" cy="742950"/>
          </a:xfrm>
          <a:prstGeom prst="roundRect">
            <a:avLst>
              <a:gd name="adj" fmla="val 15385"/>
            </a:avLst>
          </a:prstGeom>
          <a:solidFill>
            <a:srgbClr val="FFFFFF"/>
          </a:solidFill>
          <a:ln w="11430">
            <a:solidFill>
              <a:srgbClr val="206040"/>
            </a:solidFill>
          </a:ln>
        </p:spPr>
      </p:sp>
      <p:sp>
        <p:nvSpPr>
          <p:cNvPr id="32" name="矩形 31"/>
          <p:cNvSpPr>
            <a:spLocks noGrp="1"/>
          </p:cNvSpPr>
          <p:nvPr/>
        </p:nvSpPr>
        <p:spPr>
          <a:xfrm>
            <a:off x="7143750" y="3762375"/>
            <a:ext cx="2000250" cy="742950"/>
          </a:xfrm>
          <a:prstGeom prst="rect">
            <a:avLst/>
          </a:prstGeom>
          <a:noFill/>
          <a:ln w="0">
            <a:solidFill>
              <a:srgbClr val="FFFFFF"/>
            </a:solidFill>
          </a:ln>
        </p:spPr>
        <p:txBody>
          <a:bodyPr lIns="76200" tIns="38100" rIns="76200" bIns="38100" anchor="ctr"/>
          <a:lstStyle/>
          <a:p>
            <a:pPr algn="ctr">
              <a:defRPr sz="1350" b="1">
                <a:solidFill>
                  <a:srgbClr val="206040"/>
                </a:solidFill>
                <a:latin typeface="Microsoft YaHei UI" panose="020B0503020204020204" charset="-122"/>
                <a:ea typeface="Microsoft YaHei UI" panose="020B0503020204020204" charset="-122"/>
                <a:cs typeface="Microsoft YaHei UI" panose="020B0503020204020204" charset="-122"/>
              </a:defRPr>
            </a:pPr>
            <a:r>
              <a:rPr sz="1350" b="1">
                <a:solidFill>
                  <a:srgbClr val="206040"/>
                </a:solidFill>
                <a:latin typeface="Microsoft YaHei UI" panose="020B0503020204020204" charset="-122"/>
                <a:ea typeface="Microsoft YaHei UI" panose="020B0503020204020204" charset="-122"/>
                <a:cs typeface="Microsoft YaHei UI" panose="020B0503020204020204" charset="-122"/>
              </a:rPr>
              <a:t>GTFP</a:t>
            </a:r>
            <a:endParaRPr sz="1350" b="1">
              <a:solidFill>
                <a:srgbClr val="206040"/>
              </a:solidFill>
              <a:latin typeface="Microsoft YaHei UI" panose="020B0503020204020204" charset="-122"/>
              <a:ea typeface="Microsoft YaHei UI" panose="020B0503020204020204" charset="-122"/>
              <a:cs typeface="Microsoft YaHei UI" panose="020B0503020204020204" charset="-122"/>
            </a:endParaRPr>
          </a:p>
          <a:p>
            <a:pPr algn="ctr">
              <a:defRPr sz="1350" b="1">
                <a:solidFill>
                  <a:srgbClr val="206040"/>
                </a:solidFill>
                <a:latin typeface="Microsoft YaHei UI" panose="020B0503020204020204" charset="-122"/>
                <a:ea typeface="Microsoft YaHei UI" panose="020B0503020204020204" charset="-122"/>
                <a:cs typeface="Microsoft YaHei UI" panose="020B0503020204020204" charset="-122"/>
              </a:defRPr>
            </a:pPr>
            <a:r>
              <a:rPr sz="1350" b="1">
                <a:solidFill>
                  <a:srgbClr val="206040"/>
                </a:solidFill>
                <a:latin typeface="Microsoft YaHei UI" panose="020B0503020204020204" charset="-122"/>
                <a:ea typeface="Microsoft YaHei UI" panose="020B0503020204020204" charset="-122"/>
                <a:cs typeface="Microsoft YaHei UI" panose="020B0503020204020204" charset="-122"/>
              </a:rPr>
              <a:t>绿色全要素生产率</a:t>
            </a:r>
            <a:endParaRPr sz="1350" b="1">
              <a:solidFill>
                <a:srgbClr val="206040"/>
              </a:solidFill>
              <a:latin typeface="Microsoft YaHei UI" panose="020B0503020204020204" charset="-122"/>
              <a:ea typeface="Microsoft YaHei UI" panose="020B0503020204020204" charset="-122"/>
              <a:cs typeface="Microsoft YaHei UI" panose="020B0503020204020204" charset="-122"/>
            </a:endParaRPr>
          </a:p>
        </p:txBody>
      </p:sp>
      <p:sp>
        <p:nvSpPr>
          <p:cNvPr id="33" name="圆角矩形 32"/>
          <p:cNvSpPr>
            <a:spLocks noGrp="1"/>
          </p:cNvSpPr>
          <p:nvPr/>
        </p:nvSpPr>
        <p:spPr>
          <a:xfrm>
            <a:off x="4648200" y="5095875"/>
            <a:ext cx="1476375" cy="590550"/>
          </a:xfrm>
          <a:prstGeom prst="roundRect">
            <a:avLst>
              <a:gd name="adj" fmla="val 19355"/>
            </a:avLst>
          </a:prstGeom>
          <a:solidFill>
            <a:srgbClr val="FFF6D0"/>
          </a:solidFill>
          <a:ln w="11430">
            <a:solidFill>
              <a:srgbClr val="206040"/>
            </a:solidFill>
          </a:ln>
        </p:spPr>
      </p:sp>
      <p:sp>
        <p:nvSpPr>
          <p:cNvPr id="34" name="矩形 33"/>
          <p:cNvSpPr>
            <a:spLocks noGrp="1"/>
          </p:cNvSpPr>
          <p:nvPr/>
        </p:nvSpPr>
        <p:spPr>
          <a:xfrm>
            <a:off x="4648200" y="5095875"/>
            <a:ext cx="1476375" cy="590550"/>
          </a:xfrm>
          <a:prstGeom prst="rect">
            <a:avLst/>
          </a:prstGeom>
          <a:noFill/>
          <a:ln w="0">
            <a:solidFill>
              <a:srgbClr val="FFFFFF"/>
            </a:solidFill>
          </a:ln>
        </p:spPr>
        <p:txBody>
          <a:bodyPr lIns="76200" tIns="38100" rIns="76200" bIns="38100" anchor="ctr"/>
          <a:lstStyle/>
          <a:p>
            <a:pPr algn="ctr">
              <a:defRPr sz="1350" b="1">
                <a:solidFill>
                  <a:srgbClr val="206040"/>
                </a:solidFill>
                <a:latin typeface="Microsoft YaHei UI" panose="020B0503020204020204" charset="-122"/>
                <a:ea typeface="Microsoft YaHei UI" panose="020B0503020204020204" charset="-122"/>
                <a:cs typeface="Microsoft YaHei UI" panose="020B0503020204020204" charset="-122"/>
              </a:defRPr>
            </a:pPr>
            <a:r>
              <a:rPr sz="1350" b="1">
                <a:solidFill>
                  <a:srgbClr val="206040"/>
                </a:solidFill>
                <a:latin typeface="Microsoft YaHei UI" panose="020B0503020204020204" charset="-122"/>
                <a:ea typeface="Microsoft YaHei UI" panose="020B0503020204020204" charset="-122"/>
                <a:cs typeface="Microsoft YaHei UI" panose="020B0503020204020204" charset="-122"/>
              </a:rPr>
              <a:t>SOE</a:t>
            </a:r>
            <a:endParaRPr sz="1350" b="1">
              <a:solidFill>
                <a:srgbClr val="206040"/>
              </a:solidFill>
              <a:latin typeface="Microsoft YaHei UI" panose="020B0503020204020204" charset="-122"/>
              <a:ea typeface="Microsoft YaHei UI" panose="020B0503020204020204" charset="-122"/>
              <a:cs typeface="Microsoft YaHei UI" panose="020B0503020204020204" charset="-122"/>
            </a:endParaRPr>
          </a:p>
          <a:p>
            <a:pPr algn="ctr">
              <a:defRPr sz="1350" b="1">
                <a:solidFill>
                  <a:srgbClr val="206040"/>
                </a:solidFill>
                <a:latin typeface="Microsoft YaHei UI" panose="020B0503020204020204" charset="-122"/>
                <a:ea typeface="Microsoft YaHei UI" panose="020B0503020204020204" charset="-122"/>
                <a:cs typeface="Microsoft YaHei UI" panose="020B0503020204020204" charset="-122"/>
              </a:defRPr>
            </a:pPr>
            <a:r>
              <a:rPr sz="1350" b="1">
                <a:solidFill>
                  <a:srgbClr val="206040"/>
                </a:solidFill>
                <a:latin typeface="Microsoft YaHei UI" panose="020B0503020204020204" charset="-122"/>
                <a:ea typeface="Microsoft YaHei UI" panose="020B0503020204020204" charset="-122"/>
                <a:cs typeface="Microsoft YaHei UI" panose="020B0503020204020204" charset="-122"/>
              </a:rPr>
              <a:t>产权性质</a:t>
            </a:r>
            <a:endParaRPr sz="1350" b="1">
              <a:solidFill>
                <a:srgbClr val="206040"/>
              </a:solidFill>
              <a:latin typeface="Microsoft YaHei UI" panose="020B0503020204020204" charset="-122"/>
              <a:ea typeface="Microsoft YaHei UI" panose="020B0503020204020204" charset="-122"/>
              <a:cs typeface="Microsoft YaHei UI" panose="020B0503020204020204" charset="-122"/>
            </a:endParaRPr>
          </a:p>
        </p:txBody>
      </p:sp>
      <p:cxnSp>
        <p:nvCxnSpPr>
          <p:cNvPr id="35" name="直接箭头连接符 34"/>
          <p:cNvCxnSpPr>
            <a:stCxn id="26" idx="3"/>
            <a:endCxn id="28" idx="1"/>
          </p:cNvCxnSpPr>
          <p:nvPr/>
        </p:nvCxnSpPr>
        <p:spPr>
          <a:xfrm>
            <a:off x="2714625" y="4133850"/>
            <a:ext cx="1143000" cy="0"/>
          </a:xfrm>
          <a:prstGeom prst="straightConnector1">
            <a:avLst/>
          </a:prstGeom>
          <a:ln w="20955">
            <a:solidFill>
              <a:srgbClr val="206040"/>
            </a:solidFill>
          </a:ln>
        </p:spPr>
      </p:cxnSp>
      <p:cxnSp>
        <p:nvCxnSpPr>
          <p:cNvPr id="37" name="直接箭头连接符 36"/>
          <p:cNvCxnSpPr>
            <a:stCxn id="28" idx="3"/>
            <a:endCxn id="30" idx="1"/>
          </p:cNvCxnSpPr>
          <p:nvPr/>
        </p:nvCxnSpPr>
        <p:spPr>
          <a:xfrm>
            <a:off x="5857875" y="4133850"/>
            <a:ext cx="1285875" cy="0"/>
          </a:xfrm>
          <a:prstGeom prst="straightConnector1">
            <a:avLst/>
          </a:prstGeom>
          <a:ln w="20955">
            <a:solidFill>
              <a:srgbClr val="206040"/>
            </a:solidFill>
          </a:ln>
        </p:spPr>
      </p:cxnSp>
      <p:cxnSp>
        <p:nvCxnSpPr>
          <p:cNvPr id="39" name="直接箭头连接符 38"/>
          <p:cNvCxnSpPr>
            <a:stCxn id="32" idx="0"/>
            <a:endCxn id="28" idx="2"/>
          </p:cNvCxnSpPr>
          <p:nvPr/>
        </p:nvCxnSpPr>
        <p:spPr>
          <a:xfrm flipH="1" flipV="1">
            <a:off x="4857750" y="4505325"/>
            <a:ext cx="528638" cy="590550"/>
          </a:xfrm>
          <a:prstGeom prst="straightConnector1">
            <a:avLst/>
          </a:prstGeom>
          <a:ln w="20955">
            <a:solidFill>
              <a:srgbClr val="206040"/>
            </a:solidFill>
          </a:ln>
        </p:spPr>
      </p:cxnSp>
      <p:cxnSp>
        <p:nvCxnSpPr>
          <p:cNvPr id="41" name="直接箭头连接符 40"/>
          <p:cNvCxnSpPr>
            <a:stCxn id="32" idx="3"/>
            <a:endCxn id="30" idx="1"/>
          </p:cNvCxnSpPr>
          <p:nvPr/>
        </p:nvCxnSpPr>
        <p:spPr>
          <a:xfrm flipV="1">
            <a:off x="6124575" y="4133850"/>
            <a:ext cx="1019175" cy="1257300"/>
          </a:xfrm>
          <a:prstGeom prst="straightConnector1">
            <a:avLst/>
          </a:prstGeom>
          <a:ln w="20955">
            <a:solidFill>
              <a:srgbClr val="206040"/>
            </a:solidFill>
          </a:ln>
        </p:spPr>
      </p:cxnSp>
      <p:sp>
        <p:nvSpPr>
          <p:cNvPr id="43" name="圆角矩形 42"/>
          <p:cNvSpPr>
            <a:spLocks noGrp="1"/>
          </p:cNvSpPr>
          <p:nvPr/>
        </p:nvSpPr>
        <p:spPr>
          <a:xfrm>
            <a:off x="6858000" y="1524000"/>
            <a:ext cx="4095750" cy="1428750"/>
          </a:xfrm>
          <a:prstGeom prst="roundRect">
            <a:avLst>
              <a:gd name="adj" fmla="val 8000"/>
            </a:avLst>
          </a:prstGeom>
          <a:solidFill>
            <a:srgbClr val="FFFFFF"/>
          </a:solidFill>
          <a:ln w="11430">
            <a:solidFill>
              <a:srgbClr val="D7DFDA"/>
            </a:solidFill>
          </a:ln>
        </p:spPr>
      </p:sp>
      <p:sp>
        <p:nvSpPr>
          <p:cNvPr id="44" name="矩形 43"/>
          <p:cNvSpPr>
            <a:spLocks noGrp="1"/>
          </p:cNvSpPr>
          <p:nvPr/>
        </p:nvSpPr>
        <p:spPr>
          <a:xfrm>
            <a:off x="7029450" y="1657350"/>
            <a:ext cx="3752850" cy="323850"/>
          </a:xfrm>
          <a:prstGeom prst="rect">
            <a:avLst/>
          </a:prstGeom>
          <a:noFill/>
          <a:ln w="0">
            <a:solidFill>
              <a:srgbClr val="FFFFFF"/>
            </a:solidFill>
          </a:ln>
        </p:spPr>
        <p:txBody>
          <a:bodyPr lIns="76200" tIns="38100" rIns="76200" bIns="38100" anchor="ctr"/>
          <a:lstStyle/>
          <a:p>
            <a:pPr algn="l">
              <a:defRPr sz="1500" b="1">
                <a:solidFill>
                  <a:srgbClr val="206040"/>
                </a:solidFill>
                <a:latin typeface="Microsoft YaHei UI" panose="020B0503020204020204" charset="-122"/>
                <a:ea typeface="Microsoft YaHei UI" panose="020B0503020204020204" charset="-122"/>
                <a:cs typeface="Microsoft YaHei UI" panose="020B0503020204020204" charset="-122"/>
              </a:defRPr>
            </a:pPr>
            <a:r>
              <a:rPr sz="1500" b="1">
                <a:solidFill>
                  <a:srgbClr val="206040"/>
                </a:solidFill>
                <a:latin typeface="Microsoft YaHei UI" panose="020B0503020204020204" charset="-122"/>
                <a:ea typeface="Microsoft YaHei UI" panose="020B0503020204020204" charset="-122"/>
                <a:cs typeface="Microsoft YaHei UI" panose="020B0503020204020204" charset="-122"/>
              </a:rPr>
              <a:t>两种可能机制</a:t>
            </a:r>
            <a:endParaRPr sz="1500" b="1">
              <a:solidFill>
                <a:srgbClr val="206040"/>
              </a:solidFill>
              <a:latin typeface="Microsoft YaHei UI" panose="020B0503020204020204" charset="-122"/>
              <a:ea typeface="Microsoft YaHei UI" panose="020B0503020204020204" charset="-122"/>
              <a:cs typeface="Microsoft YaHei UI" panose="020B0503020204020204" charset="-122"/>
            </a:endParaRPr>
          </a:p>
        </p:txBody>
      </p:sp>
      <p:sp>
        <p:nvSpPr>
          <p:cNvPr id="45" name="矩形 44"/>
          <p:cNvSpPr>
            <a:spLocks noGrp="1"/>
          </p:cNvSpPr>
          <p:nvPr/>
        </p:nvSpPr>
        <p:spPr>
          <a:xfrm>
            <a:off x="7029450" y="2038350"/>
            <a:ext cx="3752850" cy="781050"/>
          </a:xfrm>
          <a:prstGeom prst="rect">
            <a:avLst/>
          </a:prstGeom>
          <a:noFill/>
          <a:ln w="0">
            <a:solidFill>
              <a:srgbClr val="FFFFFF"/>
            </a:solidFill>
          </a:ln>
        </p:spPr>
        <p:txBody>
          <a:bodyPr lIns="76200" tIns="38100" rIns="76200" bIns="38100" anchor="t"/>
          <a:lstStyle/>
          <a:p>
            <a:pPr algn="l">
              <a:defRPr sz="1275" b="0">
                <a:solidFill>
                  <a:srgbClr val="111111"/>
                </a:solidFill>
                <a:latin typeface="Microsoft YaHei UI" panose="020B0503020204020204" charset="-122"/>
                <a:ea typeface="Microsoft YaHei UI" panose="020B0503020204020204" charset="-122"/>
                <a:cs typeface="Microsoft YaHei UI" panose="020B0503020204020204" charset="-122"/>
              </a:defRPr>
            </a:pPr>
            <a:r>
              <a:rPr sz="1275" b="0">
                <a:solidFill>
                  <a:srgbClr val="111111"/>
                </a:solidFill>
                <a:latin typeface="Microsoft YaHei UI" panose="020B0503020204020204" charset="-122"/>
                <a:ea typeface="Microsoft YaHei UI" panose="020B0503020204020204" charset="-122"/>
                <a:cs typeface="Microsoft YaHei UI" panose="020B0503020204020204" charset="-122"/>
              </a:rPr>
              <a:t>成本遵循效应：现金流占用、投资挤出</a:t>
            </a:r>
            <a:endParaRPr sz="1275" b="0">
              <a:solidFill>
                <a:srgbClr val="111111"/>
              </a:solidFill>
              <a:latin typeface="Microsoft YaHei UI" panose="020B0503020204020204" charset="-122"/>
              <a:ea typeface="Microsoft YaHei UI" panose="020B0503020204020204" charset="-122"/>
              <a:cs typeface="Microsoft YaHei UI" panose="020B0503020204020204" charset="-122"/>
            </a:endParaRPr>
          </a:p>
          <a:p>
            <a:pPr algn="l">
              <a:defRPr sz="1275" b="0">
                <a:solidFill>
                  <a:srgbClr val="111111"/>
                </a:solidFill>
                <a:latin typeface="Microsoft YaHei UI" panose="020B0503020204020204" charset="-122"/>
                <a:ea typeface="Microsoft YaHei UI" panose="020B0503020204020204" charset="-122"/>
                <a:cs typeface="Microsoft YaHei UI" panose="020B0503020204020204" charset="-122"/>
              </a:defRPr>
            </a:pPr>
            <a:r>
              <a:rPr sz="1275" b="0">
                <a:solidFill>
                  <a:srgbClr val="111111"/>
                </a:solidFill>
                <a:latin typeface="Microsoft YaHei UI" panose="020B0503020204020204" charset="-122"/>
                <a:ea typeface="Microsoft YaHei UI" panose="020B0503020204020204" charset="-122"/>
                <a:cs typeface="Microsoft YaHei UI" panose="020B0503020204020204" charset="-122"/>
              </a:rPr>
              <a:t>创新补偿效应：绿色设备、工艺优化、技术进步</a:t>
            </a:r>
            <a:endParaRPr sz="1275"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46" name="圆角矩形 45"/>
          <p:cNvSpPr>
            <a:spLocks noGrp="1"/>
          </p:cNvSpPr>
          <p:nvPr/>
        </p:nvSpPr>
        <p:spPr>
          <a:xfrm>
            <a:off x="666750" y="5981700"/>
            <a:ext cx="9906000" cy="400050"/>
          </a:xfrm>
          <a:prstGeom prst="roundRect">
            <a:avLst>
              <a:gd name="adj" fmla="val 23810"/>
            </a:avLst>
          </a:prstGeom>
          <a:solidFill>
            <a:srgbClr val="FFF8DA"/>
          </a:solidFill>
          <a:ln w="11430">
            <a:solidFill>
              <a:srgbClr val="E9D47A"/>
            </a:solidFill>
          </a:ln>
        </p:spPr>
      </p:sp>
      <p:sp>
        <p:nvSpPr>
          <p:cNvPr id="47" name="矩形 46"/>
          <p:cNvSpPr>
            <a:spLocks noGrp="1"/>
          </p:cNvSpPr>
          <p:nvPr/>
        </p:nvSpPr>
        <p:spPr>
          <a:xfrm>
            <a:off x="876300" y="6048375"/>
            <a:ext cx="9477375" cy="266700"/>
          </a:xfrm>
          <a:prstGeom prst="rect">
            <a:avLst/>
          </a:prstGeom>
          <a:noFill/>
          <a:ln w="0">
            <a:solidFill>
              <a:srgbClr val="FFFFFF"/>
            </a:solidFill>
          </a:ln>
        </p:spPr>
        <p:txBody>
          <a:bodyPr lIns="76200" tIns="38100" rIns="76200" bIns="38100" anchor="ctr"/>
          <a:lstStyle/>
          <a:p>
            <a:pPr algn="l">
              <a:defRPr sz="1200" b="1">
                <a:solidFill>
                  <a:srgbClr val="206040"/>
                </a:solidFill>
                <a:latin typeface="Microsoft YaHei UI" panose="020B0503020204020204" charset="-122"/>
                <a:ea typeface="Microsoft YaHei UI" panose="020B0503020204020204" charset="-122"/>
                <a:cs typeface="Microsoft YaHei UI" panose="020B0503020204020204" charset="-122"/>
              </a:defRPr>
            </a:pPr>
            <a:r>
              <a:rPr sz="1200" b="1">
                <a:solidFill>
                  <a:srgbClr val="206040"/>
                </a:solidFill>
                <a:latin typeface="Microsoft YaHei UI" panose="020B0503020204020204" charset="-122"/>
                <a:ea typeface="Microsoft YaHei UI" panose="020B0503020204020204" charset="-122"/>
                <a:cs typeface="Microsoft YaHei UI" panose="020B0503020204020204" charset="-122"/>
              </a:rPr>
              <a:t>研究对象是机制路径，而非只估计环境规制对GTFP的平均影响。</a:t>
            </a:r>
            <a:endParaRPr sz="1200" b="1">
              <a:solidFill>
                <a:srgbClr val="206040"/>
              </a:solidFill>
              <a:latin typeface="Microsoft YaHei UI" panose="020B0503020204020204" charset="-122"/>
              <a:ea typeface="Microsoft YaHei UI" panose="020B0503020204020204" charset="-122"/>
              <a:cs typeface="Microsoft YaHei UI" panose="020B050302020402020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a:spLocks noGrp="1"/>
          </p:cNvSpPr>
          <p:nvPr/>
        </p:nvSpPr>
        <p:spPr>
          <a:xfrm>
            <a:off x="0" y="0"/>
            <a:ext cx="12192000" cy="6858000"/>
          </a:xfrm>
          <a:prstGeom prst="rect">
            <a:avLst/>
          </a:prstGeom>
          <a:solidFill>
            <a:srgbClr val="F4F6F5"/>
          </a:solidFill>
          <a:ln w="0">
            <a:solidFill>
              <a:srgbClr val="FFFFFF"/>
            </a:solidFill>
          </a:ln>
        </p:spPr>
      </p:sp>
      <p:sp>
        <p:nvSpPr>
          <p:cNvPr id="3" name="矩形 2"/>
          <p:cNvSpPr>
            <a:spLocks noGrp="1"/>
          </p:cNvSpPr>
          <p:nvPr/>
        </p:nvSpPr>
        <p:spPr>
          <a:xfrm>
            <a:off x="0" y="0"/>
            <a:ext cx="12192000" cy="6858000"/>
          </a:xfrm>
          <a:prstGeom prst="rect">
            <a:avLst/>
          </a:prstGeom>
          <a:solidFill>
            <a:srgbClr val="F9FAF9"/>
          </a:solidFill>
          <a:ln w="0">
            <a:solidFill>
              <a:srgbClr val="FFFFFF"/>
            </a:solidFill>
          </a:ln>
        </p:spPr>
      </p:sp>
      <p:sp>
        <p:nvSpPr>
          <p:cNvPr id="4" name="矩形 3"/>
          <p:cNvSpPr>
            <a:spLocks noGrp="1"/>
          </p:cNvSpPr>
          <p:nvPr/>
        </p:nvSpPr>
        <p:spPr>
          <a:xfrm>
            <a:off x="8858250" y="0"/>
            <a:ext cx="3333750" cy="6858000"/>
          </a:xfrm>
          <a:prstGeom prst="rect">
            <a:avLst/>
          </a:prstGeom>
          <a:solidFill>
            <a:srgbClr val="F7F9F8"/>
          </a:solidFill>
          <a:ln w="0">
            <a:solidFill>
              <a:srgbClr val="FFFFFF"/>
            </a:solidFill>
          </a:ln>
        </p:spPr>
      </p:sp>
      <p:sp>
        <p:nvSpPr>
          <p:cNvPr id="5" name="矩形 4"/>
          <p:cNvSpPr>
            <a:spLocks noGrp="1"/>
          </p:cNvSpPr>
          <p:nvPr/>
        </p:nvSpPr>
        <p:spPr>
          <a:xfrm>
            <a:off x="0" y="6115050"/>
            <a:ext cx="12192000" cy="742950"/>
          </a:xfrm>
          <a:prstGeom prst="rect">
            <a:avLst/>
          </a:prstGeom>
          <a:solidFill>
            <a:srgbClr val="F8FAF9"/>
          </a:solidFill>
          <a:ln w="0">
            <a:solidFill>
              <a:srgbClr val="FFFFFF"/>
            </a:solidFill>
          </a:ln>
        </p:spPr>
      </p:sp>
      <p:sp>
        <p:nvSpPr>
          <p:cNvPr id="6" name="等腰三角形 5"/>
          <p:cNvSpPr>
            <a:spLocks noGrp="1"/>
          </p:cNvSpPr>
          <p:nvPr/>
        </p:nvSpPr>
        <p:spPr>
          <a:xfrm>
            <a:off x="1524000" y="904875"/>
            <a:ext cx="2476500" cy="1714500"/>
          </a:xfrm>
          <a:prstGeom prst="triangle">
            <a:avLst/>
          </a:prstGeom>
          <a:solidFill>
            <a:srgbClr val="FFFFFF"/>
          </a:solidFill>
          <a:ln w="0">
            <a:solidFill>
              <a:srgbClr val="FFFFFF"/>
            </a:solidFill>
          </a:ln>
        </p:spPr>
      </p:sp>
      <p:sp>
        <p:nvSpPr>
          <p:cNvPr id="7" name="等腰三角形 6"/>
          <p:cNvSpPr>
            <a:spLocks noGrp="1"/>
          </p:cNvSpPr>
          <p:nvPr/>
        </p:nvSpPr>
        <p:spPr>
          <a:xfrm>
            <a:off x="3857625" y="1762125"/>
            <a:ext cx="2476500" cy="1714500"/>
          </a:xfrm>
          <a:prstGeom prst="triangle">
            <a:avLst/>
          </a:prstGeom>
          <a:solidFill>
            <a:srgbClr val="F8FBFA"/>
          </a:solidFill>
          <a:ln w="0">
            <a:solidFill>
              <a:srgbClr val="FFFFFF"/>
            </a:solidFill>
          </a:ln>
        </p:spPr>
      </p:sp>
      <p:sp>
        <p:nvSpPr>
          <p:cNvPr id="8" name="等腰三角形 7"/>
          <p:cNvSpPr>
            <a:spLocks noGrp="1"/>
          </p:cNvSpPr>
          <p:nvPr/>
        </p:nvSpPr>
        <p:spPr>
          <a:xfrm>
            <a:off x="6191250" y="904875"/>
            <a:ext cx="2476500" cy="1714500"/>
          </a:xfrm>
          <a:prstGeom prst="triangle">
            <a:avLst/>
          </a:prstGeom>
          <a:solidFill>
            <a:srgbClr val="FFFFFF"/>
          </a:solidFill>
          <a:ln w="0">
            <a:solidFill>
              <a:srgbClr val="FFFFFF"/>
            </a:solidFill>
          </a:ln>
        </p:spPr>
      </p:sp>
      <p:sp>
        <p:nvSpPr>
          <p:cNvPr id="9" name="等腰三角形 8"/>
          <p:cNvSpPr>
            <a:spLocks noGrp="1"/>
          </p:cNvSpPr>
          <p:nvPr/>
        </p:nvSpPr>
        <p:spPr>
          <a:xfrm>
            <a:off x="8524875" y="1762125"/>
            <a:ext cx="2476500" cy="1714500"/>
          </a:xfrm>
          <a:prstGeom prst="triangle">
            <a:avLst/>
          </a:prstGeom>
          <a:solidFill>
            <a:srgbClr val="F8FBFA"/>
          </a:solidFill>
          <a:ln w="0">
            <a:solidFill>
              <a:srgbClr val="FFFFFF"/>
            </a:solidFill>
          </a:ln>
        </p:spPr>
      </p:sp>
      <p:sp>
        <p:nvSpPr>
          <p:cNvPr id="10" name="等腰三角形 9"/>
          <p:cNvSpPr>
            <a:spLocks noGrp="1"/>
          </p:cNvSpPr>
          <p:nvPr/>
        </p:nvSpPr>
        <p:spPr>
          <a:xfrm>
            <a:off x="10858500" y="904875"/>
            <a:ext cx="2476500" cy="1714500"/>
          </a:xfrm>
          <a:prstGeom prst="triangle">
            <a:avLst/>
          </a:prstGeom>
          <a:solidFill>
            <a:srgbClr val="FFFFFF"/>
          </a:solidFill>
          <a:ln w="0">
            <a:solidFill>
              <a:srgbClr val="FFFFFF"/>
            </a:solidFill>
          </a:ln>
        </p:spPr>
      </p:sp>
      <p:sp>
        <p:nvSpPr>
          <p:cNvPr id="11" name="等腰三角形 10"/>
          <p:cNvSpPr>
            <a:spLocks noGrp="1"/>
          </p:cNvSpPr>
          <p:nvPr/>
        </p:nvSpPr>
        <p:spPr>
          <a:xfrm rot="5400000">
            <a:off x="152400" y="266700"/>
            <a:ext cx="533400" cy="476250"/>
          </a:xfrm>
          <a:prstGeom prst="triangle">
            <a:avLst/>
          </a:prstGeom>
          <a:solidFill>
            <a:srgbClr val="206040"/>
          </a:solidFill>
          <a:ln w="0">
            <a:solidFill>
              <a:srgbClr val="FFFFFF"/>
            </a:solidFill>
          </a:ln>
        </p:spPr>
      </p:sp>
      <p:sp>
        <p:nvSpPr>
          <p:cNvPr id="12" name="等腰三角形 11"/>
          <p:cNvSpPr>
            <a:spLocks noGrp="1"/>
          </p:cNvSpPr>
          <p:nvPr/>
        </p:nvSpPr>
        <p:spPr>
          <a:xfrm rot="5400000">
            <a:off x="381000" y="304800"/>
            <a:ext cx="457200" cy="419100"/>
          </a:xfrm>
          <a:prstGeom prst="triangle">
            <a:avLst/>
          </a:prstGeom>
          <a:solidFill>
            <a:srgbClr val="80A090"/>
          </a:solidFill>
          <a:ln w="0">
            <a:solidFill>
              <a:srgbClr val="FFFFFF"/>
            </a:solidFill>
          </a:ln>
        </p:spPr>
      </p:sp>
      <p:sp>
        <p:nvSpPr>
          <p:cNvPr id="13" name="矩形 12"/>
          <p:cNvSpPr>
            <a:spLocks noGrp="1"/>
          </p:cNvSpPr>
          <p:nvPr/>
        </p:nvSpPr>
        <p:spPr>
          <a:xfrm>
            <a:off x="857250" y="228600"/>
            <a:ext cx="2857500" cy="457200"/>
          </a:xfrm>
          <a:prstGeom prst="rect">
            <a:avLst/>
          </a:prstGeom>
          <a:noFill/>
          <a:ln w="0">
            <a:solidFill>
              <a:srgbClr val="FFFFFF"/>
            </a:solidFill>
          </a:ln>
        </p:spPr>
        <p:txBody>
          <a:bodyPr lIns="76200" tIns="38100" rIns="76200" bIns="38100" anchor="ctr"/>
          <a:lstStyle/>
          <a:p>
            <a:pPr algn="l">
              <a:defRPr sz="2550" b="1">
                <a:solidFill>
                  <a:srgbClr val="206040"/>
                </a:solidFill>
                <a:latin typeface="黑体" panose="02010609060101010101" charset="-122"/>
                <a:ea typeface="黑体" panose="02010609060101010101" charset="-122"/>
                <a:cs typeface="黑体" panose="02010609060101010101" charset="-122"/>
              </a:defRPr>
            </a:pPr>
            <a:r>
              <a:rPr sz="2550" b="1">
                <a:solidFill>
                  <a:srgbClr val="206040"/>
                </a:solidFill>
                <a:latin typeface="黑体" panose="02010609060101010101" charset="-122"/>
                <a:ea typeface="黑体" panose="02010609060101010101" charset="-122"/>
                <a:cs typeface="黑体" panose="02010609060101010101" charset="-122"/>
              </a:rPr>
              <a:t>变量定义</a:t>
            </a:r>
            <a:endParaRPr sz="2550" b="1">
              <a:solidFill>
                <a:srgbClr val="206040"/>
              </a:solidFill>
              <a:latin typeface="黑体" panose="02010609060101010101" charset="-122"/>
              <a:ea typeface="黑体" panose="02010609060101010101" charset="-122"/>
              <a:cs typeface="黑体" panose="02010609060101010101" charset="-122"/>
            </a:endParaRPr>
          </a:p>
        </p:txBody>
      </p:sp>
      <p:sp>
        <p:nvSpPr>
          <p:cNvPr id="14" name="矩形 13"/>
          <p:cNvSpPr>
            <a:spLocks noGrp="1"/>
          </p:cNvSpPr>
          <p:nvPr/>
        </p:nvSpPr>
        <p:spPr>
          <a:xfrm>
            <a:off x="4000500" y="295275"/>
            <a:ext cx="1123950" cy="323850"/>
          </a:xfrm>
          <a:prstGeom prst="rect">
            <a:avLst/>
          </a:prstGeom>
          <a:noFill/>
          <a:ln w="0">
            <a:solidFill>
              <a:srgbClr val="FFFFFF"/>
            </a:solidFill>
          </a:ln>
        </p:spPr>
        <p:txBody>
          <a:bodyPr lIns="76200" tIns="38100" rIns="76200" bIns="38100" anchor="ctr"/>
          <a:lstStyle/>
          <a:p>
            <a:pPr algn="ctr">
              <a:defRPr sz="1125" b="0">
                <a:solidFill>
                  <a:srgbClr val="161616"/>
                </a:solidFill>
                <a:latin typeface="Microsoft YaHei UI" panose="020B0503020204020204" charset="-122"/>
                <a:ea typeface="Microsoft YaHei UI" panose="020B0503020204020204" charset="-122"/>
                <a:cs typeface="Microsoft YaHei UI" panose="020B0503020204020204" charset="-122"/>
              </a:defRPr>
            </a:pPr>
            <a:r>
              <a:rPr sz="1125" b="0">
                <a:solidFill>
                  <a:srgbClr val="161616"/>
                </a:solidFill>
                <a:latin typeface="Microsoft YaHei UI" panose="020B0503020204020204" charset="-122"/>
                <a:ea typeface="Microsoft YaHei UI" panose="020B0503020204020204" charset="-122"/>
                <a:cs typeface="Microsoft YaHei UI" panose="020B0503020204020204" charset="-122"/>
              </a:rPr>
              <a:t>现实问题</a:t>
            </a:r>
            <a:endParaRPr sz="1125" b="0">
              <a:solidFill>
                <a:srgbClr val="161616"/>
              </a:solidFill>
              <a:latin typeface="Microsoft YaHei UI" panose="020B0503020204020204" charset="-122"/>
              <a:ea typeface="Microsoft YaHei UI" panose="020B0503020204020204" charset="-122"/>
              <a:cs typeface="Microsoft YaHei UI" panose="020B0503020204020204" charset="-122"/>
            </a:endParaRPr>
          </a:p>
        </p:txBody>
      </p:sp>
      <p:sp>
        <p:nvSpPr>
          <p:cNvPr id="15" name="矩形 14"/>
          <p:cNvSpPr>
            <a:spLocks noGrp="1"/>
          </p:cNvSpPr>
          <p:nvPr/>
        </p:nvSpPr>
        <p:spPr>
          <a:xfrm>
            <a:off x="5200650" y="228600"/>
            <a:ext cx="1123950" cy="323850"/>
          </a:xfrm>
          <a:prstGeom prst="rect">
            <a:avLst/>
          </a:prstGeom>
          <a:noFill/>
          <a:ln w="0">
            <a:solidFill>
              <a:srgbClr val="FFFFFF"/>
            </a:solidFill>
          </a:ln>
        </p:spPr>
        <p:txBody>
          <a:bodyPr lIns="76200" tIns="38100" rIns="76200" bIns="38100" anchor="ctr"/>
          <a:lstStyle/>
          <a:p>
            <a:pPr algn="ctr">
              <a:defRPr sz="1500" b="1">
                <a:solidFill>
                  <a:srgbClr val="206040"/>
                </a:solidFill>
                <a:latin typeface="Microsoft YaHei UI" panose="020B0503020204020204" charset="-122"/>
                <a:ea typeface="Microsoft YaHei UI" panose="020B0503020204020204" charset="-122"/>
                <a:cs typeface="Microsoft YaHei UI" panose="020B0503020204020204" charset="-122"/>
              </a:defRPr>
            </a:pPr>
            <a:r>
              <a:rPr sz="1500" b="1">
                <a:solidFill>
                  <a:srgbClr val="206040"/>
                </a:solidFill>
                <a:latin typeface="Microsoft YaHei UI" panose="020B0503020204020204" charset="-122"/>
                <a:ea typeface="Microsoft YaHei UI" panose="020B0503020204020204" charset="-122"/>
                <a:cs typeface="Microsoft YaHei UI" panose="020B0503020204020204" charset="-122"/>
              </a:rPr>
              <a:t>科学问题</a:t>
            </a:r>
            <a:endParaRPr sz="1500" b="1">
              <a:solidFill>
                <a:srgbClr val="206040"/>
              </a:solidFill>
              <a:latin typeface="Microsoft YaHei UI" panose="020B0503020204020204" charset="-122"/>
              <a:ea typeface="Microsoft YaHei UI" panose="020B0503020204020204" charset="-122"/>
              <a:cs typeface="Microsoft YaHei UI" panose="020B0503020204020204" charset="-122"/>
            </a:endParaRPr>
          </a:p>
        </p:txBody>
      </p:sp>
      <p:sp>
        <p:nvSpPr>
          <p:cNvPr id="16" name="圆角矩形 15"/>
          <p:cNvSpPr>
            <a:spLocks noGrp="1"/>
          </p:cNvSpPr>
          <p:nvPr/>
        </p:nvSpPr>
        <p:spPr>
          <a:xfrm>
            <a:off x="5372100" y="657225"/>
            <a:ext cx="781050" cy="38100"/>
          </a:xfrm>
          <a:prstGeom prst="roundRect">
            <a:avLst>
              <a:gd name="adj" fmla="val 25000"/>
            </a:avLst>
          </a:prstGeom>
          <a:solidFill>
            <a:srgbClr val="206040"/>
          </a:solidFill>
          <a:ln w="0">
            <a:solidFill>
              <a:srgbClr val="FFFFFF"/>
            </a:solidFill>
          </a:ln>
        </p:spPr>
      </p:sp>
      <p:sp>
        <p:nvSpPr>
          <p:cNvPr id="17" name="矩形 16"/>
          <p:cNvSpPr>
            <a:spLocks noGrp="1"/>
          </p:cNvSpPr>
          <p:nvPr/>
        </p:nvSpPr>
        <p:spPr>
          <a:xfrm>
            <a:off x="6400800" y="295275"/>
            <a:ext cx="1123950" cy="323850"/>
          </a:xfrm>
          <a:prstGeom prst="rect">
            <a:avLst/>
          </a:prstGeom>
          <a:noFill/>
          <a:ln w="0">
            <a:solidFill>
              <a:srgbClr val="FFFFFF"/>
            </a:solidFill>
          </a:ln>
        </p:spPr>
        <p:txBody>
          <a:bodyPr lIns="76200" tIns="38100" rIns="76200" bIns="38100" anchor="ctr"/>
          <a:lstStyle/>
          <a:p>
            <a:pPr algn="ctr">
              <a:defRPr sz="1125" b="0">
                <a:solidFill>
                  <a:srgbClr val="161616"/>
                </a:solidFill>
                <a:latin typeface="Microsoft YaHei UI" panose="020B0503020204020204" charset="-122"/>
                <a:ea typeface="Microsoft YaHei UI" panose="020B0503020204020204" charset="-122"/>
                <a:cs typeface="Microsoft YaHei UI" panose="020B0503020204020204" charset="-122"/>
              </a:defRPr>
            </a:pPr>
            <a:r>
              <a:rPr sz="1125" b="0">
                <a:solidFill>
                  <a:srgbClr val="161616"/>
                </a:solidFill>
                <a:latin typeface="Microsoft YaHei UI" panose="020B0503020204020204" charset="-122"/>
                <a:ea typeface="Microsoft YaHei UI" panose="020B0503020204020204" charset="-122"/>
                <a:cs typeface="Microsoft YaHei UI" panose="020B0503020204020204" charset="-122"/>
              </a:rPr>
              <a:t>理论机制</a:t>
            </a:r>
            <a:endParaRPr sz="1125" b="0">
              <a:solidFill>
                <a:srgbClr val="161616"/>
              </a:solidFill>
              <a:latin typeface="Microsoft YaHei UI" panose="020B0503020204020204" charset="-122"/>
              <a:ea typeface="Microsoft YaHei UI" panose="020B0503020204020204" charset="-122"/>
              <a:cs typeface="Microsoft YaHei UI" panose="020B0503020204020204" charset="-122"/>
            </a:endParaRPr>
          </a:p>
        </p:txBody>
      </p:sp>
      <p:sp>
        <p:nvSpPr>
          <p:cNvPr id="18" name="矩形 17"/>
          <p:cNvSpPr>
            <a:spLocks noGrp="1"/>
          </p:cNvSpPr>
          <p:nvPr/>
        </p:nvSpPr>
        <p:spPr>
          <a:xfrm>
            <a:off x="7600950" y="295275"/>
            <a:ext cx="1123950" cy="323850"/>
          </a:xfrm>
          <a:prstGeom prst="rect">
            <a:avLst/>
          </a:prstGeom>
          <a:noFill/>
          <a:ln w="0">
            <a:solidFill>
              <a:srgbClr val="FFFFFF"/>
            </a:solidFill>
          </a:ln>
        </p:spPr>
        <p:txBody>
          <a:bodyPr lIns="76200" tIns="38100" rIns="76200" bIns="38100" anchor="ctr"/>
          <a:lstStyle/>
          <a:p>
            <a:pPr algn="ctr">
              <a:defRPr sz="1125" b="0">
                <a:solidFill>
                  <a:srgbClr val="161616"/>
                </a:solidFill>
                <a:latin typeface="Microsoft YaHei UI" panose="020B0503020204020204" charset="-122"/>
                <a:ea typeface="Microsoft YaHei UI" panose="020B0503020204020204" charset="-122"/>
                <a:cs typeface="Microsoft YaHei UI" panose="020B0503020204020204" charset="-122"/>
              </a:defRPr>
            </a:pPr>
            <a:r>
              <a:rPr sz="1125" b="0">
                <a:solidFill>
                  <a:srgbClr val="161616"/>
                </a:solidFill>
                <a:latin typeface="Microsoft YaHei UI" panose="020B0503020204020204" charset="-122"/>
                <a:ea typeface="Microsoft YaHei UI" panose="020B0503020204020204" charset="-122"/>
                <a:cs typeface="Microsoft YaHei UI" panose="020B0503020204020204" charset="-122"/>
              </a:rPr>
              <a:t>数据变量</a:t>
            </a:r>
            <a:endParaRPr sz="1125" b="0">
              <a:solidFill>
                <a:srgbClr val="161616"/>
              </a:solidFill>
              <a:latin typeface="Microsoft YaHei UI" panose="020B0503020204020204" charset="-122"/>
              <a:ea typeface="Microsoft YaHei UI" panose="020B0503020204020204" charset="-122"/>
              <a:cs typeface="Microsoft YaHei UI" panose="020B0503020204020204" charset="-122"/>
            </a:endParaRPr>
          </a:p>
        </p:txBody>
      </p:sp>
      <p:sp>
        <p:nvSpPr>
          <p:cNvPr id="19" name="矩形 18"/>
          <p:cNvSpPr>
            <a:spLocks noGrp="1"/>
          </p:cNvSpPr>
          <p:nvPr/>
        </p:nvSpPr>
        <p:spPr>
          <a:xfrm>
            <a:off x="8801100" y="295275"/>
            <a:ext cx="1123950" cy="323850"/>
          </a:xfrm>
          <a:prstGeom prst="rect">
            <a:avLst/>
          </a:prstGeom>
          <a:noFill/>
          <a:ln w="0">
            <a:solidFill>
              <a:srgbClr val="FFFFFF"/>
            </a:solidFill>
          </a:ln>
        </p:spPr>
        <p:txBody>
          <a:bodyPr lIns="76200" tIns="38100" rIns="76200" bIns="38100" anchor="ctr"/>
          <a:lstStyle/>
          <a:p>
            <a:pPr algn="ctr">
              <a:defRPr sz="1125" b="0">
                <a:solidFill>
                  <a:srgbClr val="161616"/>
                </a:solidFill>
                <a:latin typeface="Microsoft YaHei UI" panose="020B0503020204020204" charset="-122"/>
                <a:ea typeface="Microsoft YaHei UI" panose="020B0503020204020204" charset="-122"/>
                <a:cs typeface="Microsoft YaHei UI" panose="020B0503020204020204" charset="-122"/>
              </a:defRPr>
            </a:pPr>
            <a:r>
              <a:rPr sz="1125" b="0">
                <a:solidFill>
                  <a:srgbClr val="161616"/>
                </a:solidFill>
                <a:latin typeface="Microsoft YaHei UI" panose="020B0503020204020204" charset="-122"/>
                <a:ea typeface="Microsoft YaHei UI" panose="020B0503020204020204" charset="-122"/>
                <a:cs typeface="Microsoft YaHei UI" panose="020B0503020204020204" charset="-122"/>
              </a:rPr>
              <a:t>模型识别</a:t>
            </a:r>
            <a:endParaRPr sz="1125" b="0">
              <a:solidFill>
                <a:srgbClr val="161616"/>
              </a:solidFill>
              <a:latin typeface="Microsoft YaHei UI" panose="020B0503020204020204" charset="-122"/>
              <a:ea typeface="Microsoft YaHei UI" panose="020B0503020204020204" charset="-122"/>
              <a:cs typeface="Microsoft YaHei UI" panose="020B0503020204020204" charset="-122"/>
            </a:endParaRPr>
          </a:p>
        </p:txBody>
      </p:sp>
      <p:sp>
        <p:nvSpPr>
          <p:cNvPr id="20" name="矩形 19"/>
          <p:cNvSpPr>
            <a:spLocks noGrp="1"/>
          </p:cNvSpPr>
          <p:nvPr/>
        </p:nvSpPr>
        <p:spPr>
          <a:xfrm>
            <a:off x="10001250" y="295275"/>
            <a:ext cx="1123950" cy="323850"/>
          </a:xfrm>
          <a:prstGeom prst="rect">
            <a:avLst/>
          </a:prstGeom>
          <a:noFill/>
          <a:ln w="0">
            <a:solidFill>
              <a:srgbClr val="FFFFFF"/>
            </a:solidFill>
          </a:ln>
        </p:spPr>
        <p:txBody>
          <a:bodyPr lIns="76200" tIns="38100" rIns="76200" bIns="38100" anchor="ctr"/>
          <a:lstStyle/>
          <a:p>
            <a:pPr algn="ctr">
              <a:defRPr sz="1125" b="0">
                <a:solidFill>
                  <a:srgbClr val="161616"/>
                </a:solidFill>
                <a:latin typeface="Microsoft YaHei UI" panose="020B0503020204020204" charset="-122"/>
                <a:ea typeface="Microsoft YaHei UI" panose="020B0503020204020204" charset="-122"/>
                <a:cs typeface="Microsoft YaHei UI" panose="020B0503020204020204" charset="-122"/>
              </a:defRPr>
            </a:pPr>
            <a:r>
              <a:rPr sz="1125" b="0">
                <a:solidFill>
                  <a:srgbClr val="161616"/>
                </a:solidFill>
                <a:latin typeface="Microsoft YaHei UI" panose="020B0503020204020204" charset="-122"/>
                <a:ea typeface="Microsoft YaHei UI" panose="020B0503020204020204" charset="-122"/>
                <a:cs typeface="Microsoft YaHei UI" panose="020B0503020204020204" charset="-122"/>
              </a:rPr>
              <a:t>预期贡献</a:t>
            </a:r>
            <a:endParaRPr sz="1125" b="0">
              <a:solidFill>
                <a:srgbClr val="161616"/>
              </a:solidFill>
              <a:latin typeface="Microsoft YaHei UI" panose="020B0503020204020204" charset="-122"/>
              <a:ea typeface="Microsoft YaHei UI" panose="020B0503020204020204" charset="-122"/>
              <a:cs typeface="Microsoft YaHei UI" panose="020B0503020204020204" charset="-122"/>
            </a:endParaRPr>
          </a:p>
        </p:txBody>
      </p:sp>
      <p:sp>
        <p:nvSpPr>
          <p:cNvPr id="21" name="圆角矩形 20"/>
          <p:cNvSpPr>
            <a:spLocks noGrp="1"/>
          </p:cNvSpPr>
          <p:nvPr/>
        </p:nvSpPr>
        <p:spPr>
          <a:xfrm>
            <a:off x="3905250" y="742950"/>
            <a:ext cx="8001000" cy="9525"/>
          </a:xfrm>
          <a:prstGeom prst="roundRect">
            <a:avLst>
              <a:gd name="adj" fmla="val 50000"/>
            </a:avLst>
          </a:prstGeom>
          <a:solidFill>
            <a:srgbClr val="D7DFDA"/>
          </a:solidFill>
          <a:ln w="0">
            <a:solidFill>
              <a:srgbClr val="FFFFFF"/>
            </a:solidFill>
          </a:ln>
        </p:spPr>
      </p:sp>
      <p:sp>
        <p:nvSpPr>
          <p:cNvPr id="22" name="矩形 21"/>
          <p:cNvSpPr>
            <a:spLocks noGrp="1"/>
          </p:cNvSpPr>
          <p:nvPr/>
        </p:nvSpPr>
        <p:spPr>
          <a:xfrm>
            <a:off x="11334750" y="6286500"/>
            <a:ext cx="495300" cy="266700"/>
          </a:xfrm>
          <a:prstGeom prst="rect">
            <a:avLst/>
          </a:prstGeom>
          <a:noFill/>
          <a:ln w="0">
            <a:solidFill>
              <a:srgbClr val="FFFFFF"/>
            </a:solidFill>
          </a:ln>
        </p:spPr>
        <p:txBody>
          <a:bodyPr lIns="76200" tIns="38100" rIns="76200" bIns="38100" anchor="ctr"/>
          <a:lstStyle/>
          <a:p>
            <a:pPr algn="r">
              <a:defRPr sz="975" b="0">
                <a:solidFill>
                  <a:srgbClr val="80A090"/>
                </a:solidFill>
                <a:latin typeface="Microsoft YaHei UI" panose="020B0503020204020204" charset="-122"/>
                <a:ea typeface="Microsoft YaHei UI" panose="020B0503020204020204" charset="-122"/>
                <a:cs typeface="Microsoft YaHei UI" panose="020B0503020204020204" charset="-122"/>
              </a:defRPr>
            </a:pPr>
            <a:r>
              <a:rPr sz="975" b="0">
                <a:solidFill>
                  <a:srgbClr val="80A090"/>
                </a:solidFill>
                <a:latin typeface="Microsoft YaHei UI" panose="020B0503020204020204" charset="-122"/>
                <a:ea typeface="Microsoft YaHei UI" panose="020B0503020204020204" charset="-122"/>
                <a:cs typeface="Microsoft YaHei UI" panose="020B0503020204020204" charset="-122"/>
              </a:rPr>
              <a:t>05</a:t>
            </a:r>
            <a:endParaRPr sz="975" b="0">
              <a:solidFill>
                <a:srgbClr val="80A090"/>
              </a:solidFill>
              <a:latin typeface="Microsoft YaHei UI" panose="020B0503020204020204" charset="-122"/>
              <a:ea typeface="Microsoft YaHei UI" panose="020B0503020204020204" charset="-122"/>
              <a:cs typeface="Microsoft YaHei UI" panose="020B0503020204020204" charset="-122"/>
            </a:endParaRPr>
          </a:p>
        </p:txBody>
      </p:sp>
      <p:sp>
        <p:nvSpPr>
          <p:cNvPr id="23" name="矩形 22"/>
          <p:cNvSpPr>
            <a:spLocks noGrp="1"/>
          </p:cNvSpPr>
          <p:nvPr/>
        </p:nvSpPr>
        <p:spPr>
          <a:xfrm>
            <a:off x="533400" y="1123950"/>
            <a:ext cx="2228850" cy="647700"/>
          </a:xfrm>
          <a:prstGeom prst="rect">
            <a:avLst/>
          </a:prstGeom>
          <a:solidFill>
            <a:srgbClr val="206040"/>
          </a:solidFill>
          <a:ln w="11430">
            <a:solidFill>
              <a:srgbClr val="C9D5CE"/>
            </a:solidFill>
          </a:ln>
        </p:spPr>
      </p:sp>
      <p:sp>
        <p:nvSpPr>
          <p:cNvPr id="24" name="矩形 23"/>
          <p:cNvSpPr>
            <a:spLocks noGrp="1"/>
          </p:cNvSpPr>
          <p:nvPr/>
        </p:nvSpPr>
        <p:spPr>
          <a:xfrm>
            <a:off x="561975" y="1143000"/>
            <a:ext cx="2171700" cy="609600"/>
          </a:xfrm>
          <a:prstGeom prst="rect">
            <a:avLst/>
          </a:prstGeom>
          <a:noFill/>
          <a:ln w="0">
            <a:solidFill>
              <a:srgbClr val="FFFFFF"/>
            </a:solidFill>
          </a:ln>
        </p:spPr>
        <p:txBody>
          <a:bodyPr lIns="76200" tIns="38100" rIns="76200" bIns="38100" anchor="ctr"/>
          <a:lstStyle/>
          <a:p>
            <a:pPr algn="ctr">
              <a:defRPr sz="975" b="1">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1">
                <a:solidFill>
                  <a:srgbClr val="FFFFFF"/>
                </a:solidFill>
                <a:latin typeface="Microsoft YaHei UI" panose="020B0503020204020204" charset="-122"/>
                <a:ea typeface="Microsoft YaHei UI" panose="020B0503020204020204" charset="-122"/>
                <a:cs typeface="Microsoft YaHei UI" panose="020B0503020204020204" charset="-122"/>
              </a:rPr>
              <a:t>变量类型</a:t>
            </a:r>
            <a:endParaRPr sz="975" b="1">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25" name="矩形 24"/>
          <p:cNvSpPr>
            <a:spLocks noGrp="1"/>
          </p:cNvSpPr>
          <p:nvPr/>
        </p:nvSpPr>
        <p:spPr>
          <a:xfrm>
            <a:off x="2762250" y="1123950"/>
            <a:ext cx="2228850" cy="647700"/>
          </a:xfrm>
          <a:prstGeom prst="rect">
            <a:avLst/>
          </a:prstGeom>
          <a:solidFill>
            <a:srgbClr val="206040"/>
          </a:solidFill>
          <a:ln w="11430">
            <a:solidFill>
              <a:srgbClr val="C9D5CE"/>
            </a:solidFill>
          </a:ln>
        </p:spPr>
      </p:sp>
      <p:sp>
        <p:nvSpPr>
          <p:cNvPr id="26" name="矩形 25"/>
          <p:cNvSpPr>
            <a:spLocks noGrp="1"/>
          </p:cNvSpPr>
          <p:nvPr/>
        </p:nvSpPr>
        <p:spPr>
          <a:xfrm>
            <a:off x="2790825" y="1143000"/>
            <a:ext cx="2171700" cy="609600"/>
          </a:xfrm>
          <a:prstGeom prst="rect">
            <a:avLst/>
          </a:prstGeom>
          <a:noFill/>
          <a:ln w="0">
            <a:solidFill>
              <a:srgbClr val="FFFFFF"/>
            </a:solidFill>
          </a:ln>
        </p:spPr>
        <p:txBody>
          <a:bodyPr lIns="76200" tIns="38100" rIns="76200" bIns="38100" anchor="ctr"/>
          <a:lstStyle/>
          <a:p>
            <a:pPr algn="ctr">
              <a:defRPr sz="975" b="1">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1">
                <a:solidFill>
                  <a:srgbClr val="FFFFFF"/>
                </a:solidFill>
                <a:latin typeface="Microsoft YaHei UI" panose="020B0503020204020204" charset="-122"/>
                <a:ea typeface="Microsoft YaHei UI" panose="020B0503020204020204" charset="-122"/>
                <a:cs typeface="Microsoft YaHei UI" panose="020B0503020204020204" charset="-122"/>
              </a:rPr>
              <a:t>变量名称</a:t>
            </a:r>
            <a:endParaRPr sz="975" b="1">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27" name="矩形 26"/>
          <p:cNvSpPr>
            <a:spLocks noGrp="1"/>
          </p:cNvSpPr>
          <p:nvPr/>
        </p:nvSpPr>
        <p:spPr>
          <a:xfrm>
            <a:off x="4981575" y="1123950"/>
            <a:ext cx="2228850" cy="647700"/>
          </a:xfrm>
          <a:prstGeom prst="rect">
            <a:avLst/>
          </a:prstGeom>
          <a:solidFill>
            <a:srgbClr val="206040"/>
          </a:solidFill>
          <a:ln w="11430">
            <a:solidFill>
              <a:srgbClr val="C9D5CE"/>
            </a:solidFill>
          </a:ln>
        </p:spPr>
      </p:sp>
      <p:sp>
        <p:nvSpPr>
          <p:cNvPr id="28" name="矩形 27"/>
          <p:cNvSpPr>
            <a:spLocks noGrp="1"/>
          </p:cNvSpPr>
          <p:nvPr/>
        </p:nvSpPr>
        <p:spPr>
          <a:xfrm>
            <a:off x="5010150" y="1143000"/>
            <a:ext cx="2171700" cy="609600"/>
          </a:xfrm>
          <a:prstGeom prst="rect">
            <a:avLst/>
          </a:prstGeom>
          <a:noFill/>
          <a:ln w="0">
            <a:solidFill>
              <a:srgbClr val="FFFFFF"/>
            </a:solidFill>
          </a:ln>
        </p:spPr>
        <p:txBody>
          <a:bodyPr lIns="76200" tIns="38100" rIns="76200" bIns="38100" anchor="ctr"/>
          <a:lstStyle/>
          <a:p>
            <a:pPr algn="ctr">
              <a:defRPr sz="975" b="1">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1">
                <a:solidFill>
                  <a:srgbClr val="FFFFFF"/>
                </a:solidFill>
                <a:latin typeface="Microsoft YaHei UI" panose="020B0503020204020204" charset="-122"/>
                <a:ea typeface="Microsoft YaHei UI" panose="020B0503020204020204" charset="-122"/>
                <a:cs typeface="Microsoft YaHei UI" panose="020B0503020204020204" charset="-122"/>
              </a:rPr>
              <a:t>符号</a:t>
            </a:r>
            <a:endParaRPr sz="975" b="1">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29" name="矩形 28"/>
          <p:cNvSpPr>
            <a:spLocks noGrp="1"/>
          </p:cNvSpPr>
          <p:nvPr/>
        </p:nvSpPr>
        <p:spPr>
          <a:xfrm>
            <a:off x="7210425" y="1123950"/>
            <a:ext cx="2228850" cy="647700"/>
          </a:xfrm>
          <a:prstGeom prst="rect">
            <a:avLst/>
          </a:prstGeom>
          <a:solidFill>
            <a:srgbClr val="206040"/>
          </a:solidFill>
          <a:ln w="11430">
            <a:solidFill>
              <a:srgbClr val="C9D5CE"/>
            </a:solidFill>
          </a:ln>
        </p:spPr>
      </p:sp>
      <p:sp>
        <p:nvSpPr>
          <p:cNvPr id="30" name="矩形 29"/>
          <p:cNvSpPr>
            <a:spLocks noGrp="1"/>
          </p:cNvSpPr>
          <p:nvPr/>
        </p:nvSpPr>
        <p:spPr>
          <a:xfrm>
            <a:off x="7239000" y="1143000"/>
            <a:ext cx="2171700" cy="609600"/>
          </a:xfrm>
          <a:prstGeom prst="rect">
            <a:avLst/>
          </a:prstGeom>
          <a:noFill/>
          <a:ln w="0">
            <a:solidFill>
              <a:srgbClr val="FFFFFF"/>
            </a:solidFill>
          </a:ln>
        </p:spPr>
        <p:txBody>
          <a:bodyPr lIns="76200" tIns="38100" rIns="76200" bIns="38100" anchor="ctr"/>
          <a:lstStyle/>
          <a:p>
            <a:pPr algn="ctr">
              <a:defRPr sz="975" b="1">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1">
                <a:solidFill>
                  <a:srgbClr val="FFFFFF"/>
                </a:solidFill>
                <a:latin typeface="Microsoft YaHei UI" panose="020B0503020204020204" charset="-122"/>
                <a:ea typeface="Microsoft YaHei UI" panose="020B0503020204020204" charset="-122"/>
                <a:cs typeface="Microsoft YaHei UI" panose="020B0503020204020204" charset="-122"/>
              </a:rPr>
              <a:t>测度方式</a:t>
            </a:r>
            <a:endParaRPr sz="975" b="1">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31" name="矩形 30"/>
          <p:cNvSpPr>
            <a:spLocks noGrp="1"/>
          </p:cNvSpPr>
          <p:nvPr/>
        </p:nvSpPr>
        <p:spPr>
          <a:xfrm>
            <a:off x="9429750" y="1123950"/>
            <a:ext cx="2228850" cy="647700"/>
          </a:xfrm>
          <a:prstGeom prst="rect">
            <a:avLst/>
          </a:prstGeom>
          <a:solidFill>
            <a:srgbClr val="206040"/>
          </a:solidFill>
          <a:ln w="11430">
            <a:solidFill>
              <a:srgbClr val="C9D5CE"/>
            </a:solidFill>
          </a:ln>
        </p:spPr>
      </p:sp>
      <p:sp>
        <p:nvSpPr>
          <p:cNvPr id="32" name="矩形 31"/>
          <p:cNvSpPr>
            <a:spLocks noGrp="1"/>
          </p:cNvSpPr>
          <p:nvPr/>
        </p:nvSpPr>
        <p:spPr>
          <a:xfrm>
            <a:off x="9458325" y="1143000"/>
            <a:ext cx="2171700" cy="609600"/>
          </a:xfrm>
          <a:prstGeom prst="rect">
            <a:avLst/>
          </a:prstGeom>
          <a:noFill/>
          <a:ln w="0">
            <a:solidFill>
              <a:srgbClr val="FFFFFF"/>
            </a:solidFill>
          </a:ln>
        </p:spPr>
        <p:txBody>
          <a:bodyPr lIns="76200" tIns="38100" rIns="76200" bIns="38100" anchor="ctr"/>
          <a:lstStyle/>
          <a:p>
            <a:pPr algn="ctr">
              <a:defRPr sz="975" b="1">
                <a:solidFill>
                  <a:srgbClr val="FFFFFF"/>
                </a:solidFill>
                <a:latin typeface="Microsoft YaHei UI" panose="020B0503020204020204" charset="-122"/>
                <a:ea typeface="Microsoft YaHei UI" panose="020B0503020204020204" charset="-122"/>
                <a:cs typeface="Microsoft YaHei UI" panose="020B0503020204020204" charset="-122"/>
              </a:defRPr>
            </a:pPr>
            <a:r>
              <a:rPr sz="975" b="1">
                <a:solidFill>
                  <a:srgbClr val="FFFFFF"/>
                </a:solidFill>
                <a:latin typeface="Microsoft YaHei UI" panose="020B0503020204020204" charset="-122"/>
                <a:ea typeface="Microsoft YaHei UI" panose="020B0503020204020204" charset="-122"/>
                <a:cs typeface="Microsoft YaHei UI" panose="020B0503020204020204" charset="-122"/>
              </a:rPr>
              <a:t>作用</a:t>
            </a:r>
            <a:endParaRPr sz="975" b="1">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33" name="矩形 32"/>
          <p:cNvSpPr>
            <a:spLocks noGrp="1"/>
          </p:cNvSpPr>
          <p:nvPr/>
        </p:nvSpPr>
        <p:spPr>
          <a:xfrm>
            <a:off x="533400" y="1771650"/>
            <a:ext cx="2228850" cy="647700"/>
          </a:xfrm>
          <a:prstGeom prst="rect">
            <a:avLst/>
          </a:prstGeom>
          <a:solidFill>
            <a:srgbClr val="FFFFFF"/>
          </a:solidFill>
          <a:ln w="11430">
            <a:solidFill>
              <a:srgbClr val="C9D5CE"/>
            </a:solidFill>
          </a:ln>
        </p:spPr>
      </p:sp>
      <p:sp>
        <p:nvSpPr>
          <p:cNvPr id="34" name="矩形 33"/>
          <p:cNvSpPr>
            <a:spLocks noGrp="1"/>
          </p:cNvSpPr>
          <p:nvPr/>
        </p:nvSpPr>
        <p:spPr>
          <a:xfrm>
            <a:off x="561975" y="1790700"/>
            <a:ext cx="2171700" cy="609600"/>
          </a:xfrm>
          <a:prstGeom prst="rect">
            <a:avLst/>
          </a:prstGeom>
          <a:noFill/>
          <a:ln w="0">
            <a:solidFill>
              <a:srgbClr val="FFFFFF"/>
            </a:solidFill>
          </a:ln>
        </p:spPr>
        <p:txBody>
          <a:bodyPr lIns="76200" tIns="38100" rIns="76200" bIns="38100" anchor="ctr"/>
          <a:lstStyle/>
          <a:p>
            <a:pPr algn="ctr">
              <a:defRPr sz="825" b="0">
                <a:solidFill>
                  <a:srgbClr val="111111"/>
                </a:solidFill>
                <a:latin typeface="Microsoft YaHei UI" panose="020B0503020204020204" charset="-122"/>
                <a:ea typeface="Microsoft YaHei UI" panose="020B0503020204020204" charset="-122"/>
                <a:cs typeface="Microsoft YaHei UI" panose="020B0503020204020204" charset="-122"/>
              </a:defRPr>
            </a:pPr>
            <a:r>
              <a:rPr sz="825" b="0">
                <a:solidFill>
                  <a:srgbClr val="111111"/>
                </a:solidFill>
                <a:latin typeface="Microsoft YaHei UI" panose="020B0503020204020204" charset="-122"/>
                <a:ea typeface="Microsoft YaHei UI" panose="020B0503020204020204" charset="-122"/>
                <a:cs typeface="Microsoft YaHei UI" panose="020B0503020204020204" charset="-122"/>
              </a:rPr>
              <a:t>被解释</a:t>
            </a:r>
            <a:endParaRPr sz="825"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35" name="矩形 34"/>
          <p:cNvSpPr>
            <a:spLocks noGrp="1"/>
          </p:cNvSpPr>
          <p:nvPr/>
        </p:nvSpPr>
        <p:spPr>
          <a:xfrm>
            <a:off x="2762250" y="1771650"/>
            <a:ext cx="2228850" cy="647700"/>
          </a:xfrm>
          <a:prstGeom prst="rect">
            <a:avLst/>
          </a:prstGeom>
          <a:solidFill>
            <a:srgbClr val="FFFFFF"/>
          </a:solidFill>
          <a:ln w="11430">
            <a:solidFill>
              <a:srgbClr val="C9D5CE"/>
            </a:solidFill>
          </a:ln>
        </p:spPr>
      </p:sp>
      <p:sp>
        <p:nvSpPr>
          <p:cNvPr id="36" name="矩形 35"/>
          <p:cNvSpPr>
            <a:spLocks noGrp="1"/>
          </p:cNvSpPr>
          <p:nvPr/>
        </p:nvSpPr>
        <p:spPr>
          <a:xfrm>
            <a:off x="2790825" y="1790700"/>
            <a:ext cx="2171700" cy="609600"/>
          </a:xfrm>
          <a:prstGeom prst="rect">
            <a:avLst/>
          </a:prstGeom>
          <a:noFill/>
          <a:ln w="0">
            <a:solidFill>
              <a:srgbClr val="FFFFFF"/>
            </a:solidFill>
          </a:ln>
        </p:spPr>
        <p:txBody>
          <a:bodyPr lIns="76200" tIns="38100" rIns="76200" bIns="38100" anchor="ctr"/>
          <a:lstStyle/>
          <a:p>
            <a:pPr algn="ctr">
              <a:defRPr sz="825" b="0">
                <a:solidFill>
                  <a:srgbClr val="111111"/>
                </a:solidFill>
                <a:latin typeface="Microsoft YaHei UI" panose="020B0503020204020204" charset="-122"/>
                <a:ea typeface="Microsoft YaHei UI" panose="020B0503020204020204" charset="-122"/>
                <a:cs typeface="Microsoft YaHei UI" panose="020B0503020204020204" charset="-122"/>
              </a:defRPr>
            </a:pPr>
            <a:r>
              <a:rPr sz="825" b="0">
                <a:solidFill>
                  <a:srgbClr val="111111"/>
                </a:solidFill>
                <a:latin typeface="Microsoft YaHei UI" panose="020B0503020204020204" charset="-122"/>
                <a:ea typeface="Microsoft YaHei UI" panose="020B0503020204020204" charset="-122"/>
                <a:cs typeface="Microsoft YaHei UI" panose="020B0503020204020204" charset="-122"/>
              </a:rPr>
              <a:t>绿色全要素生产率</a:t>
            </a:r>
            <a:endParaRPr sz="825"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37" name="矩形 36"/>
          <p:cNvSpPr>
            <a:spLocks noGrp="1"/>
          </p:cNvSpPr>
          <p:nvPr/>
        </p:nvSpPr>
        <p:spPr>
          <a:xfrm>
            <a:off x="4981575" y="1771650"/>
            <a:ext cx="2228850" cy="647700"/>
          </a:xfrm>
          <a:prstGeom prst="rect">
            <a:avLst/>
          </a:prstGeom>
          <a:solidFill>
            <a:srgbClr val="FFFFFF"/>
          </a:solidFill>
          <a:ln w="11430">
            <a:solidFill>
              <a:srgbClr val="C9D5CE"/>
            </a:solidFill>
          </a:ln>
        </p:spPr>
      </p:sp>
      <p:sp>
        <p:nvSpPr>
          <p:cNvPr id="38" name="矩形 37"/>
          <p:cNvSpPr>
            <a:spLocks noGrp="1"/>
          </p:cNvSpPr>
          <p:nvPr/>
        </p:nvSpPr>
        <p:spPr>
          <a:xfrm>
            <a:off x="5010150" y="1790700"/>
            <a:ext cx="2171700" cy="609600"/>
          </a:xfrm>
          <a:prstGeom prst="rect">
            <a:avLst/>
          </a:prstGeom>
          <a:noFill/>
          <a:ln w="0">
            <a:solidFill>
              <a:srgbClr val="FFFFFF"/>
            </a:solidFill>
          </a:ln>
        </p:spPr>
        <p:txBody>
          <a:bodyPr lIns="76200" tIns="38100" rIns="76200" bIns="38100" anchor="ctr"/>
          <a:lstStyle/>
          <a:p>
            <a:pPr algn="ctr">
              <a:defRPr sz="825" b="0">
                <a:solidFill>
                  <a:srgbClr val="111111"/>
                </a:solidFill>
                <a:latin typeface="Microsoft YaHei UI" panose="020B0503020204020204" charset="-122"/>
                <a:ea typeface="Microsoft YaHei UI" panose="020B0503020204020204" charset="-122"/>
                <a:cs typeface="Microsoft YaHei UI" panose="020B0503020204020204" charset="-122"/>
              </a:defRPr>
            </a:pPr>
            <a:r>
              <a:rPr sz="825" b="0">
                <a:solidFill>
                  <a:srgbClr val="111111"/>
                </a:solidFill>
                <a:latin typeface="Microsoft YaHei UI" panose="020B0503020204020204" charset="-122"/>
                <a:ea typeface="Microsoft YaHei UI" panose="020B0503020204020204" charset="-122"/>
                <a:cs typeface="Microsoft YaHei UI" panose="020B0503020204020204" charset="-122"/>
              </a:rPr>
              <a:t>GTFP</a:t>
            </a:r>
            <a:endParaRPr sz="825"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39" name="矩形 38"/>
          <p:cNvSpPr>
            <a:spLocks noGrp="1"/>
          </p:cNvSpPr>
          <p:nvPr/>
        </p:nvSpPr>
        <p:spPr>
          <a:xfrm>
            <a:off x="7210425" y="1771650"/>
            <a:ext cx="2228850" cy="647700"/>
          </a:xfrm>
          <a:prstGeom prst="rect">
            <a:avLst/>
          </a:prstGeom>
          <a:solidFill>
            <a:srgbClr val="FFFFFF"/>
          </a:solidFill>
          <a:ln w="11430">
            <a:solidFill>
              <a:srgbClr val="C9D5CE"/>
            </a:solidFill>
          </a:ln>
        </p:spPr>
      </p:sp>
      <p:sp>
        <p:nvSpPr>
          <p:cNvPr id="40" name="矩形 39"/>
          <p:cNvSpPr>
            <a:spLocks noGrp="1"/>
          </p:cNvSpPr>
          <p:nvPr/>
        </p:nvSpPr>
        <p:spPr>
          <a:xfrm>
            <a:off x="7239000" y="1790700"/>
            <a:ext cx="2171700" cy="609600"/>
          </a:xfrm>
          <a:prstGeom prst="rect">
            <a:avLst/>
          </a:prstGeom>
          <a:noFill/>
          <a:ln w="0">
            <a:solidFill>
              <a:srgbClr val="FFFFFF"/>
            </a:solidFill>
          </a:ln>
        </p:spPr>
        <p:txBody>
          <a:bodyPr lIns="76200" tIns="38100" rIns="76200" bIns="38100" anchor="ctr"/>
          <a:lstStyle/>
          <a:p>
            <a:pPr algn="ctr">
              <a:defRPr sz="825" b="0">
                <a:solidFill>
                  <a:srgbClr val="111111"/>
                </a:solidFill>
                <a:latin typeface="Microsoft YaHei UI" panose="020B0503020204020204" charset="-122"/>
                <a:ea typeface="Microsoft YaHei UI" panose="020B0503020204020204" charset="-122"/>
                <a:cs typeface="Microsoft YaHei UI" panose="020B0503020204020204" charset="-122"/>
              </a:defRPr>
            </a:pPr>
            <a:r>
              <a:rPr sz="825" b="0">
                <a:solidFill>
                  <a:srgbClr val="111111"/>
                </a:solidFill>
                <a:latin typeface="Microsoft YaHei UI" panose="020B0503020204020204" charset="-122"/>
                <a:ea typeface="Microsoft YaHei UI" panose="020B0503020204020204" charset="-122"/>
                <a:cs typeface="Microsoft YaHei UI" panose="020B0503020204020204" charset="-122"/>
              </a:rPr>
              <a:t>超效率SBM + GML；替代为Luenberger</a:t>
            </a:r>
            <a:endParaRPr sz="825"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41" name="矩形 40"/>
          <p:cNvSpPr>
            <a:spLocks noGrp="1"/>
          </p:cNvSpPr>
          <p:nvPr/>
        </p:nvSpPr>
        <p:spPr>
          <a:xfrm>
            <a:off x="9429750" y="1771650"/>
            <a:ext cx="2228850" cy="647700"/>
          </a:xfrm>
          <a:prstGeom prst="rect">
            <a:avLst/>
          </a:prstGeom>
          <a:solidFill>
            <a:srgbClr val="FFFFFF"/>
          </a:solidFill>
          <a:ln w="11430">
            <a:solidFill>
              <a:srgbClr val="C9D5CE"/>
            </a:solidFill>
          </a:ln>
        </p:spPr>
      </p:sp>
      <p:sp>
        <p:nvSpPr>
          <p:cNvPr id="42" name="矩形 41"/>
          <p:cNvSpPr>
            <a:spLocks noGrp="1"/>
          </p:cNvSpPr>
          <p:nvPr/>
        </p:nvSpPr>
        <p:spPr>
          <a:xfrm>
            <a:off x="9458325" y="1790700"/>
            <a:ext cx="2171700" cy="609600"/>
          </a:xfrm>
          <a:prstGeom prst="rect">
            <a:avLst/>
          </a:prstGeom>
          <a:noFill/>
          <a:ln w="0">
            <a:solidFill>
              <a:srgbClr val="FFFFFF"/>
            </a:solidFill>
          </a:ln>
        </p:spPr>
        <p:txBody>
          <a:bodyPr lIns="76200" tIns="38100" rIns="76200" bIns="38100" anchor="ctr"/>
          <a:lstStyle/>
          <a:p>
            <a:pPr algn="ctr">
              <a:defRPr sz="825" b="0">
                <a:solidFill>
                  <a:srgbClr val="111111"/>
                </a:solidFill>
                <a:latin typeface="Microsoft YaHei UI" panose="020B0503020204020204" charset="-122"/>
                <a:ea typeface="Microsoft YaHei UI" panose="020B0503020204020204" charset="-122"/>
                <a:cs typeface="Microsoft YaHei UI" panose="020B0503020204020204" charset="-122"/>
              </a:defRPr>
            </a:pPr>
            <a:r>
              <a:rPr sz="825" b="0">
                <a:solidFill>
                  <a:srgbClr val="111111"/>
                </a:solidFill>
                <a:latin typeface="Microsoft YaHei UI" panose="020B0503020204020204" charset="-122"/>
                <a:ea typeface="Microsoft YaHei UI" panose="020B0503020204020204" charset="-122"/>
                <a:cs typeface="Microsoft YaHei UI" panose="020B0503020204020204" charset="-122"/>
              </a:rPr>
              <a:t>效率结果</a:t>
            </a:r>
            <a:endParaRPr sz="825"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43" name="矩形 42"/>
          <p:cNvSpPr>
            <a:spLocks noGrp="1"/>
          </p:cNvSpPr>
          <p:nvPr/>
        </p:nvSpPr>
        <p:spPr>
          <a:xfrm>
            <a:off x="533400" y="2428875"/>
            <a:ext cx="2228850" cy="647700"/>
          </a:xfrm>
          <a:prstGeom prst="rect">
            <a:avLst/>
          </a:prstGeom>
          <a:solidFill>
            <a:srgbClr val="F7FAF8"/>
          </a:solidFill>
          <a:ln w="11430">
            <a:solidFill>
              <a:srgbClr val="C9D5CE"/>
            </a:solidFill>
          </a:ln>
        </p:spPr>
      </p:sp>
      <p:sp>
        <p:nvSpPr>
          <p:cNvPr id="44" name="矩形 43"/>
          <p:cNvSpPr>
            <a:spLocks noGrp="1"/>
          </p:cNvSpPr>
          <p:nvPr/>
        </p:nvSpPr>
        <p:spPr>
          <a:xfrm>
            <a:off x="561975" y="2447925"/>
            <a:ext cx="2171700" cy="609600"/>
          </a:xfrm>
          <a:prstGeom prst="rect">
            <a:avLst/>
          </a:prstGeom>
          <a:noFill/>
          <a:ln w="0">
            <a:solidFill>
              <a:srgbClr val="FFFFFF"/>
            </a:solidFill>
          </a:ln>
        </p:spPr>
        <p:txBody>
          <a:bodyPr lIns="76200" tIns="38100" rIns="76200" bIns="38100" anchor="ctr"/>
          <a:lstStyle/>
          <a:p>
            <a:pPr algn="ctr">
              <a:defRPr sz="825" b="0">
                <a:solidFill>
                  <a:srgbClr val="111111"/>
                </a:solidFill>
                <a:latin typeface="Microsoft YaHei UI" panose="020B0503020204020204" charset="-122"/>
                <a:ea typeface="Microsoft YaHei UI" panose="020B0503020204020204" charset="-122"/>
                <a:cs typeface="Microsoft YaHei UI" panose="020B0503020204020204" charset="-122"/>
              </a:defRPr>
            </a:pPr>
            <a:r>
              <a:rPr sz="825" b="0">
                <a:solidFill>
                  <a:srgbClr val="111111"/>
                </a:solidFill>
                <a:latin typeface="Microsoft YaHei UI" panose="020B0503020204020204" charset="-122"/>
                <a:ea typeface="Microsoft YaHei UI" panose="020B0503020204020204" charset="-122"/>
                <a:cs typeface="Microsoft YaHei UI" panose="020B0503020204020204" charset="-122"/>
              </a:rPr>
              <a:t>解释</a:t>
            </a:r>
            <a:endParaRPr sz="825"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45" name="矩形 44"/>
          <p:cNvSpPr>
            <a:spLocks noGrp="1"/>
          </p:cNvSpPr>
          <p:nvPr/>
        </p:nvSpPr>
        <p:spPr>
          <a:xfrm>
            <a:off x="2762250" y="2428875"/>
            <a:ext cx="2228850" cy="647700"/>
          </a:xfrm>
          <a:prstGeom prst="rect">
            <a:avLst/>
          </a:prstGeom>
          <a:solidFill>
            <a:srgbClr val="F7FAF8"/>
          </a:solidFill>
          <a:ln w="11430">
            <a:solidFill>
              <a:srgbClr val="C9D5CE"/>
            </a:solidFill>
          </a:ln>
        </p:spPr>
      </p:sp>
      <p:sp>
        <p:nvSpPr>
          <p:cNvPr id="46" name="矩形 45"/>
          <p:cNvSpPr>
            <a:spLocks noGrp="1"/>
          </p:cNvSpPr>
          <p:nvPr/>
        </p:nvSpPr>
        <p:spPr>
          <a:xfrm>
            <a:off x="2790825" y="2447925"/>
            <a:ext cx="2171700" cy="609600"/>
          </a:xfrm>
          <a:prstGeom prst="rect">
            <a:avLst/>
          </a:prstGeom>
          <a:noFill/>
          <a:ln w="0">
            <a:solidFill>
              <a:srgbClr val="FFFFFF"/>
            </a:solidFill>
          </a:ln>
        </p:spPr>
        <p:txBody>
          <a:bodyPr lIns="76200" tIns="38100" rIns="76200" bIns="38100" anchor="ctr"/>
          <a:lstStyle/>
          <a:p>
            <a:pPr algn="ctr">
              <a:defRPr sz="825" b="0">
                <a:solidFill>
                  <a:srgbClr val="111111"/>
                </a:solidFill>
                <a:latin typeface="Microsoft YaHei UI" panose="020B0503020204020204" charset="-122"/>
                <a:ea typeface="Microsoft YaHei UI" panose="020B0503020204020204" charset="-122"/>
                <a:cs typeface="Microsoft YaHei UI" panose="020B0503020204020204" charset="-122"/>
              </a:defRPr>
            </a:pPr>
            <a:r>
              <a:rPr sz="825" b="0">
                <a:solidFill>
                  <a:srgbClr val="111111"/>
                </a:solidFill>
                <a:latin typeface="Microsoft YaHei UI" panose="020B0503020204020204" charset="-122"/>
                <a:ea typeface="Microsoft YaHei UI" panose="020B0503020204020204" charset="-122"/>
                <a:cs typeface="Microsoft YaHei UI" panose="020B0503020204020204" charset="-122"/>
              </a:rPr>
              <a:t>环境规制强度</a:t>
            </a:r>
            <a:endParaRPr sz="825"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47" name="矩形 46"/>
          <p:cNvSpPr>
            <a:spLocks noGrp="1"/>
          </p:cNvSpPr>
          <p:nvPr/>
        </p:nvSpPr>
        <p:spPr>
          <a:xfrm>
            <a:off x="4981575" y="2428875"/>
            <a:ext cx="2228850" cy="647700"/>
          </a:xfrm>
          <a:prstGeom prst="rect">
            <a:avLst/>
          </a:prstGeom>
          <a:solidFill>
            <a:srgbClr val="F7FAF8"/>
          </a:solidFill>
          <a:ln w="11430">
            <a:solidFill>
              <a:srgbClr val="C9D5CE"/>
            </a:solidFill>
          </a:ln>
        </p:spPr>
      </p:sp>
      <p:sp>
        <p:nvSpPr>
          <p:cNvPr id="48" name="矩形 47"/>
          <p:cNvSpPr>
            <a:spLocks noGrp="1"/>
          </p:cNvSpPr>
          <p:nvPr/>
        </p:nvSpPr>
        <p:spPr>
          <a:xfrm>
            <a:off x="5010150" y="2447925"/>
            <a:ext cx="2171700" cy="609600"/>
          </a:xfrm>
          <a:prstGeom prst="rect">
            <a:avLst/>
          </a:prstGeom>
          <a:noFill/>
          <a:ln w="0">
            <a:solidFill>
              <a:srgbClr val="FFFFFF"/>
            </a:solidFill>
          </a:ln>
        </p:spPr>
        <p:txBody>
          <a:bodyPr lIns="76200" tIns="38100" rIns="76200" bIns="38100" anchor="ctr"/>
          <a:lstStyle/>
          <a:p>
            <a:pPr algn="ctr">
              <a:defRPr sz="825" b="0">
                <a:solidFill>
                  <a:srgbClr val="111111"/>
                </a:solidFill>
                <a:latin typeface="Microsoft YaHei UI" panose="020B0503020204020204" charset="-122"/>
                <a:ea typeface="Microsoft YaHei UI" panose="020B0503020204020204" charset="-122"/>
                <a:cs typeface="Microsoft YaHei UI" panose="020B0503020204020204" charset="-122"/>
              </a:defRPr>
            </a:pPr>
            <a:r>
              <a:rPr sz="825" b="0">
                <a:solidFill>
                  <a:srgbClr val="111111"/>
                </a:solidFill>
                <a:latin typeface="Microsoft YaHei UI" panose="020B0503020204020204" charset="-122"/>
                <a:ea typeface="Microsoft YaHei UI" panose="020B0503020204020204" charset="-122"/>
                <a:cs typeface="Microsoft YaHei UI" panose="020B0503020204020204" charset="-122"/>
              </a:rPr>
              <a:t>ER</a:t>
            </a:r>
            <a:endParaRPr sz="825"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49" name="矩形 48"/>
          <p:cNvSpPr>
            <a:spLocks noGrp="1"/>
          </p:cNvSpPr>
          <p:nvPr/>
        </p:nvSpPr>
        <p:spPr>
          <a:xfrm>
            <a:off x="7210425" y="2428875"/>
            <a:ext cx="2228850" cy="647700"/>
          </a:xfrm>
          <a:prstGeom prst="rect">
            <a:avLst/>
          </a:prstGeom>
          <a:solidFill>
            <a:srgbClr val="F7FAF8"/>
          </a:solidFill>
          <a:ln w="11430">
            <a:solidFill>
              <a:srgbClr val="C9D5CE"/>
            </a:solidFill>
          </a:ln>
        </p:spPr>
      </p:sp>
      <p:sp>
        <p:nvSpPr>
          <p:cNvPr id="50" name="矩形 49"/>
          <p:cNvSpPr>
            <a:spLocks noGrp="1"/>
          </p:cNvSpPr>
          <p:nvPr/>
        </p:nvSpPr>
        <p:spPr>
          <a:xfrm>
            <a:off x="7239000" y="2447925"/>
            <a:ext cx="2171700" cy="609600"/>
          </a:xfrm>
          <a:prstGeom prst="rect">
            <a:avLst/>
          </a:prstGeom>
          <a:noFill/>
          <a:ln w="0">
            <a:solidFill>
              <a:srgbClr val="FFFFFF"/>
            </a:solidFill>
          </a:ln>
        </p:spPr>
        <p:txBody>
          <a:bodyPr lIns="76200" tIns="38100" rIns="76200" bIns="38100" anchor="ctr"/>
          <a:lstStyle/>
          <a:p>
            <a:pPr algn="ctr">
              <a:defRPr sz="825" b="0">
                <a:solidFill>
                  <a:srgbClr val="111111"/>
                </a:solidFill>
                <a:latin typeface="Microsoft YaHei UI" panose="020B0503020204020204" charset="-122"/>
                <a:ea typeface="Microsoft YaHei UI" panose="020B0503020204020204" charset="-122"/>
                <a:cs typeface="Microsoft YaHei UI" panose="020B0503020204020204" charset="-122"/>
              </a:defRPr>
            </a:pPr>
            <a:r>
              <a:rPr sz="825" b="0">
                <a:solidFill>
                  <a:srgbClr val="111111"/>
                </a:solidFill>
                <a:latin typeface="Microsoft YaHei UI" panose="020B0503020204020204" charset="-122"/>
                <a:ea typeface="Microsoft YaHei UI" panose="020B0503020204020204" charset="-122"/>
                <a:cs typeface="Microsoft YaHei UI" panose="020B0503020204020204" charset="-122"/>
              </a:rPr>
              <a:t>政府工作报告环保词频；替代为处罚/财政支出</a:t>
            </a:r>
            <a:endParaRPr sz="825"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51" name="矩形 50"/>
          <p:cNvSpPr>
            <a:spLocks noGrp="1"/>
          </p:cNvSpPr>
          <p:nvPr/>
        </p:nvSpPr>
        <p:spPr>
          <a:xfrm>
            <a:off x="9429750" y="2428875"/>
            <a:ext cx="2228850" cy="647700"/>
          </a:xfrm>
          <a:prstGeom prst="rect">
            <a:avLst/>
          </a:prstGeom>
          <a:solidFill>
            <a:srgbClr val="F7FAF8"/>
          </a:solidFill>
          <a:ln w="11430">
            <a:solidFill>
              <a:srgbClr val="C9D5CE"/>
            </a:solidFill>
          </a:ln>
        </p:spPr>
      </p:sp>
      <p:sp>
        <p:nvSpPr>
          <p:cNvPr id="52" name="矩形 51"/>
          <p:cNvSpPr>
            <a:spLocks noGrp="1"/>
          </p:cNvSpPr>
          <p:nvPr/>
        </p:nvSpPr>
        <p:spPr>
          <a:xfrm>
            <a:off x="9458325" y="2447925"/>
            <a:ext cx="2171700" cy="609600"/>
          </a:xfrm>
          <a:prstGeom prst="rect">
            <a:avLst/>
          </a:prstGeom>
          <a:noFill/>
          <a:ln w="0">
            <a:solidFill>
              <a:srgbClr val="FFFFFF"/>
            </a:solidFill>
          </a:ln>
        </p:spPr>
        <p:txBody>
          <a:bodyPr lIns="76200" tIns="38100" rIns="76200" bIns="38100" anchor="ctr"/>
          <a:lstStyle/>
          <a:p>
            <a:pPr algn="ctr">
              <a:defRPr sz="825" b="0">
                <a:solidFill>
                  <a:srgbClr val="111111"/>
                </a:solidFill>
                <a:latin typeface="Microsoft YaHei UI" panose="020B0503020204020204" charset="-122"/>
                <a:ea typeface="Microsoft YaHei UI" panose="020B0503020204020204" charset="-122"/>
                <a:cs typeface="Microsoft YaHei UI" panose="020B0503020204020204" charset="-122"/>
              </a:defRPr>
            </a:pPr>
            <a:r>
              <a:rPr sz="825" b="0">
                <a:solidFill>
                  <a:srgbClr val="111111"/>
                </a:solidFill>
                <a:latin typeface="Microsoft YaHei UI" panose="020B0503020204020204" charset="-122"/>
                <a:ea typeface="Microsoft YaHei UI" panose="020B0503020204020204" charset="-122"/>
                <a:cs typeface="Microsoft YaHei UI" panose="020B0503020204020204" charset="-122"/>
              </a:rPr>
              <a:t>非线性影响</a:t>
            </a:r>
            <a:endParaRPr sz="825"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53" name="矩形 52"/>
          <p:cNvSpPr>
            <a:spLocks noGrp="1"/>
          </p:cNvSpPr>
          <p:nvPr/>
        </p:nvSpPr>
        <p:spPr>
          <a:xfrm>
            <a:off x="533400" y="3076575"/>
            <a:ext cx="2228850" cy="647700"/>
          </a:xfrm>
          <a:prstGeom prst="rect">
            <a:avLst/>
          </a:prstGeom>
          <a:solidFill>
            <a:srgbClr val="FFFFFF"/>
          </a:solidFill>
          <a:ln w="11430">
            <a:solidFill>
              <a:srgbClr val="C9D5CE"/>
            </a:solidFill>
          </a:ln>
        </p:spPr>
      </p:sp>
      <p:sp>
        <p:nvSpPr>
          <p:cNvPr id="54" name="矩形 53"/>
          <p:cNvSpPr>
            <a:spLocks noGrp="1"/>
          </p:cNvSpPr>
          <p:nvPr/>
        </p:nvSpPr>
        <p:spPr>
          <a:xfrm>
            <a:off x="561975" y="3095625"/>
            <a:ext cx="2171700" cy="609600"/>
          </a:xfrm>
          <a:prstGeom prst="rect">
            <a:avLst/>
          </a:prstGeom>
          <a:noFill/>
          <a:ln w="0">
            <a:solidFill>
              <a:srgbClr val="FFFFFF"/>
            </a:solidFill>
          </a:ln>
        </p:spPr>
        <p:txBody>
          <a:bodyPr lIns="76200" tIns="38100" rIns="76200" bIns="38100" anchor="ctr"/>
          <a:lstStyle/>
          <a:p>
            <a:pPr algn="ctr">
              <a:defRPr sz="825" b="0">
                <a:solidFill>
                  <a:srgbClr val="111111"/>
                </a:solidFill>
                <a:latin typeface="Microsoft YaHei UI" panose="020B0503020204020204" charset="-122"/>
                <a:ea typeface="Microsoft YaHei UI" panose="020B0503020204020204" charset="-122"/>
                <a:cs typeface="Microsoft YaHei UI" panose="020B0503020204020204" charset="-122"/>
              </a:defRPr>
            </a:pPr>
            <a:r>
              <a:rPr sz="825" b="0">
                <a:solidFill>
                  <a:srgbClr val="111111"/>
                </a:solidFill>
                <a:latin typeface="Microsoft YaHei UI" panose="020B0503020204020204" charset="-122"/>
                <a:ea typeface="Microsoft YaHei UI" panose="020B0503020204020204" charset="-122"/>
                <a:cs typeface="Microsoft YaHei UI" panose="020B0503020204020204" charset="-122"/>
              </a:rPr>
              <a:t>中介</a:t>
            </a:r>
            <a:endParaRPr sz="825"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55" name="矩形 54"/>
          <p:cNvSpPr>
            <a:spLocks noGrp="1"/>
          </p:cNvSpPr>
          <p:nvPr/>
        </p:nvSpPr>
        <p:spPr>
          <a:xfrm>
            <a:off x="2762250" y="3076575"/>
            <a:ext cx="2228850" cy="647700"/>
          </a:xfrm>
          <a:prstGeom prst="rect">
            <a:avLst/>
          </a:prstGeom>
          <a:solidFill>
            <a:srgbClr val="FFFFFF"/>
          </a:solidFill>
          <a:ln w="11430">
            <a:solidFill>
              <a:srgbClr val="C9D5CE"/>
            </a:solidFill>
          </a:ln>
        </p:spPr>
      </p:sp>
      <p:sp>
        <p:nvSpPr>
          <p:cNvPr id="56" name="矩形 55"/>
          <p:cNvSpPr>
            <a:spLocks noGrp="1"/>
          </p:cNvSpPr>
          <p:nvPr/>
        </p:nvSpPr>
        <p:spPr>
          <a:xfrm>
            <a:off x="2790825" y="3095625"/>
            <a:ext cx="2171700" cy="609600"/>
          </a:xfrm>
          <a:prstGeom prst="rect">
            <a:avLst/>
          </a:prstGeom>
          <a:noFill/>
          <a:ln w="0">
            <a:solidFill>
              <a:srgbClr val="FFFFFF"/>
            </a:solidFill>
          </a:ln>
        </p:spPr>
        <p:txBody>
          <a:bodyPr lIns="76200" tIns="38100" rIns="76200" bIns="38100" anchor="ctr"/>
          <a:lstStyle/>
          <a:p>
            <a:pPr algn="ctr">
              <a:defRPr sz="825" b="0">
                <a:solidFill>
                  <a:srgbClr val="111111"/>
                </a:solidFill>
                <a:latin typeface="Microsoft YaHei UI" panose="020B0503020204020204" charset="-122"/>
                <a:ea typeface="Microsoft YaHei UI" panose="020B0503020204020204" charset="-122"/>
                <a:cs typeface="Microsoft YaHei UI" panose="020B0503020204020204" charset="-122"/>
              </a:defRPr>
            </a:pPr>
            <a:r>
              <a:rPr sz="825" b="0">
                <a:solidFill>
                  <a:srgbClr val="111111"/>
                </a:solidFill>
                <a:latin typeface="Microsoft YaHei UI" panose="020B0503020204020204" charset="-122"/>
                <a:ea typeface="Microsoft YaHei UI" panose="020B0503020204020204" charset="-122"/>
                <a:cs typeface="Microsoft YaHei UI" panose="020B0503020204020204" charset="-122"/>
              </a:rPr>
              <a:t>企业合规成本</a:t>
            </a:r>
            <a:endParaRPr sz="825"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57" name="矩形 56"/>
          <p:cNvSpPr>
            <a:spLocks noGrp="1"/>
          </p:cNvSpPr>
          <p:nvPr/>
        </p:nvSpPr>
        <p:spPr>
          <a:xfrm>
            <a:off x="4981575" y="3076575"/>
            <a:ext cx="2228850" cy="647700"/>
          </a:xfrm>
          <a:prstGeom prst="rect">
            <a:avLst/>
          </a:prstGeom>
          <a:solidFill>
            <a:srgbClr val="FFFFFF"/>
          </a:solidFill>
          <a:ln w="11430">
            <a:solidFill>
              <a:srgbClr val="C9D5CE"/>
            </a:solidFill>
          </a:ln>
        </p:spPr>
      </p:sp>
      <p:sp>
        <p:nvSpPr>
          <p:cNvPr id="58" name="矩形 57"/>
          <p:cNvSpPr>
            <a:spLocks noGrp="1"/>
          </p:cNvSpPr>
          <p:nvPr/>
        </p:nvSpPr>
        <p:spPr>
          <a:xfrm>
            <a:off x="5010150" y="3095625"/>
            <a:ext cx="2171700" cy="609600"/>
          </a:xfrm>
          <a:prstGeom prst="rect">
            <a:avLst/>
          </a:prstGeom>
          <a:noFill/>
          <a:ln w="0">
            <a:solidFill>
              <a:srgbClr val="FFFFFF"/>
            </a:solidFill>
          </a:ln>
        </p:spPr>
        <p:txBody>
          <a:bodyPr lIns="76200" tIns="38100" rIns="76200" bIns="38100" anchor="ctr"/>
          <a:lstStyle/>
          <a:p>
            <a:pPr algn="ctr">
              <a:defRPr sz="825" b="0">
                <a:solidFill>
                  <a:srgbClr val="111111"/>
                </a:solidFill>
                <a:latin typeface="Microsoft YaHei UI" panose="020B0503020204020204" charset="-122"/>
                <a:ea typeface="Microsoft YaHei UI" panose="020B0503020204020204" charset="-122"/>
                <a:cs typeface="Microsoft YaHei UI" panose="020B0503020204020204" charset="-122"/>
              </a:defRPr>
            </a:pPr>
            <a:r>
              <a:rPr sz="825" b="0">
                <a:solidFill>
                  <a:srgbClr val="111111"/>
                </a:solidFill>
                <a:latin typeface="Microsoft YaHei UI" panose="020B0503020204020204" charset="-122"/>
                <a:ea typeface="Microsoft YaHei UI" panose="020B0503020204020204" charset="-122"/>
                <a:cs typeface="Microsoft YaHei UI" panose="020B0503020204020204" charset="-122"/>
              </a:rPr>
              <a:t>ComplianceCost</a:t>
            </a:r>
            <a:endParaRPr sz="825"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59" name="矩形 58"/>
          <p:cNvSpPr>
            <a:spLocks noGrp="1"/>
          </p:cNvSpPr>
          <p:nvPr/>
        </p:nvSpPr>
        <p:spPr>
          <a:xfrm>
            <a:off x="7210425" y="3076575"/>
            <a:ext cx="2228850" cy="647700"/>
          </a:xfrm>
          <a:prstGeom prst="rect">
            <a:avLst/>
          </a:prstGeom>
          <a:solidFill>
            <a:srgbClr val="FFFFFF"/>
          </a:solidFill>
          <a:ln w="11430">
            <a:solidFill>
              <a:srgbClr val="C9D5CE"/>
            </a:solidFill>
          </a:ln>
        </p:spPr>
      </p:sp>
      <p:sp>
        <p:nvSpPr>
          <p:cNvPr id="60" name="矩形 59"/>
          <p:cNvSpPr>
            <a:spLocks noGrp="1"/>
          </p:cNvSpPr>
          <p:nvPr/>
        </p:nvSpPr>
        <p:spPr>
          <a:xfrm>
            <a:off x="7239000" y="3095625"/>
            <a:ext cx="2171700" cy="609600"/>
          </a:xfrm>
          <a:prstGeom prst="rect">
            <a:avLst/>
          </a:prstGeom>
          <a:noFill/>
          <a:ln w="0">
            <a:solidFill>
              <a:srgbClr val="FFFFFF"/>
            </a:solidFill>
          </a:ln>
        </p:spPr>
        <p:txBody>
          <a:bodyPr lIns="76200" tIns="38100" rIns="76200" bIns="38100" anchor="ctr"/>
          <a:lstStyle/>
          <a:p>
            <a:pPr algn="ctr">
              <a:defRPr sz="825" b="0">
                <a:solidFill>
                  <a:srgbClr val="111111"/>
                </a:solidFill>
                <a:latin typeface="Microsoft YaHei UI" panose="020B0503020204020204" charset="-122"/>
                <a:ea typeface="Microsoft YaHei UI" panose="020B0503020204020204" charset="-122"/>
                <a:cs typeface="Microsoft YaHei UI" panose="020B0503020204020204" charset="-122"/>
              </a:defRPr>
            </a:pPr>
            <a:r>
              <a:rPr sz="825" b="0">
                <a:solidFill>
                  <a:srgbClr val="111111"/>
                </a:solidFill>
                <a:latin typeface="Microsoft YaHei UI" panose="020B0503020204020204" charset="-122"/>
                <a:ea typeface="Microsoft YaHei UI" panose="020B0503020204020204" charset="-122"/>
                <a:cs typeface="Microsoft YaHei UI" panose="020B0503020204020204" charset="-122"/>
              </a:rPr>
              <a:t>环保投资、税费、监测认证、碳核算、ESG披露</a:t>
            </a:r>
            <a:endParaRPr sz="825"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61" name="矩形 60"/>
          <p:cNvSpPr>
            <a:spLocks noGrp="1"/>
          </p:cNvSpPr>
          <p:nvPr/>
        </p:nvSpPr>
        <p:spPr>
          <a:xfrm>
            <a:off x="9429750" y="3076575"/>
            <a:ext cx="2228850" cy="647700"/>
          </a:xfrm>
          <a:prstGeom prst="rect">
            <a:avLst/>
          </a:prstGeom>
          <a:solidFill>
            <a:srgbClr val="FFFFFF"/>
          </a:solidFill>
          <a:ln w="11430">
            <a:solidFill>
              <a:srgbClr val="C9D5CE"/>
            </a:solidFill>
          </a:ln>
        </p:spPr>
      </p:sp>
      <p:sp>
        <p:nvSpPr>
          <p:cNvPr id="62" name="矩形 61"/>
          <p:cNvSpPr>
            <a:spLocks noGrp="1"/>
          </p:cNvSpPr>
          <p:nvPr/>
        </p:nvSpPr>
        <p:spPr>
          <a:xfrm>
            <a:off x="9458325" y="3095625"/>
            <a:ext cx="2171700" cy="609600"/>
          </a:xfrm>
          <a:prstGeom prst="rect">
            <a:avLst/>
          </a:prstGeom>
          <a:noFill/>
          <a:ln w="0">
            <a:solidFill>
              <a:srgbClr val="FFFFFF"/>
            </a:solidFill>
          </a:ln>
        </p:spPr>
        <p:txBody>
          <a:bodyPr lIns="76200" tIns="38100" rIns="76200" bIns="38100" anchor="ctr"/>
          <a:lstStyle/>
          <a:p>
            <a:pPr algn="ctr">
              <a:defRPr sz="825" b="0">
                <a:solidFill>
                  <a:srgbClr val="111111"/>
                </a:solidFill>
                <a:latin typeface="Microsoft YaHei UI" panose="020B0503020204020204" charset="-122"/>
                <a:ea typeface="Microsoft YaHei UI" panose="020B0503020204020204" charset="-122"/>
                <a:cs typeface="Microsoft YaHei UI" panose="020B0503020204020204" charset="-122"/>
              </a:defRPr>
            </a:pPr>
            <a:r>
              <a:rPr sz="825" b="0">
                <a:solidFill>
                  <a:srgbClr val="111111"/>
                </a:solidFill>
                <a:latin typeface="Microsoft YaHei UI" panose="020B0503020204020204" charset="-122"/>
                <a:ea typeface="Microsoft YaHei UI" panose="020B0503020204020204" charset="-122"/>
                <a:cs typeface="Microsoft YaHei UI" panose="020B0503020204020204" charset="-122"/>
              </a:rPr>
              <a:t>传导机制</a:t>
            </a:r>
            <a:endParaRPr sz="825"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63" name="矩形 62"/>
          <p:cNvSpPr>
            <a:spLocks noGrp="1"/>
          </p:cNvSpPr>
          <p:nvPr/>
        </p:nvSpPr>
        <p:spPr>
          <a:xfrm>
            <a:off x="533400" y="3724275"/>
            <a:ext cx="2228850" cy="647700"/>
          </a:xfrm>
          <a:prstGeom prst="rect">
            <a:avLst/>
          </a:prstGeom>
          <a:solidFill>
            <a:srgbClr val="F7FAF8"/>
          </a:solidFill>
          <a:ln w="11430">
            <a:solidFill>
              <a:srgbClr val="C9D5CE"/>
            </a:solidFill>
          </a:ln>
        </p:spPr>
      </p:sp>
      <p:sp>
        <p:nvSpPr>
          <p:cNvPr id="64" name="矩形 63"/>
          <p:cNvSpPr>
            <a:spLocks noGrp="1"/>
          </p:cNvSpPr>
          <p:nvPr/>
        </p:nvSpPr>
        <p:spPr>
          <a:xfrm>
            <a:off x="561975" y="3743325"/>
            <a:ext cx="2171700" cy="609600"/>
          </a:xfrm>
          <a:prstGeom prst="rect">
            <a:avLst/>
          </a:prstGeom>
          <a:noFill/>
          <a:ln w="0">
            <a:solidFill>
              <a:srgbClr val="FFFFFF"/>
            </a:solidFill>
          </a:ln>
        </p:spPr>
        <p:txBody>
          <a:bodyPr lIns="76200" tIns="38100" rIns="76200" bIns="38100" anchor="ctr"/>
          <a:lstStyle/>
          <a:p>
            <a:pPr algn="ctr">
              <a:defRPr sz="825" b="0">
                <a:solidFill>
                  <a:srgbClr val="111111"/>
                </a:solidFill>
                <a:latin typeface="Microsoft YaHei UI" panose="020B0503020204020204" charset="-122"/>
                <a:ea typeface="Microsoft YaHei UI" panose="020B0503020204020204" charset="-122"/>
                <a:cs typeface="Microsoft YaHei UI" panose="020B0503020204020204" charset="-122"/>
              </a:defRPr>
            </a:pPr>
            <a:r>
              <a:rPr sz="825" b="0">
                <a:solidFill>
                  <a:srgbClr val="111111"/>
                </a:solidFill>
                <a:latin typeface="Microsoft YaHei UI" panose="020B0503020204020204" charset="-122"/>
                <a:ea typeface="Microsoft YaHei UI" panose="020B0503020204020204" charset="-122"/>
                <a:cs typeface="Microsoft YaHei UI" panose="020B0503020204020204" charset="-122"/>
              </a:rPr>
              <a:t>调节</a:t>
            </a:r>
            <a:endParaRPr sz="825"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65" name="矩形 64"/>
          <p:cNvSpPr>
            <a:spLocks noGrp="1"/>
          </p:cNvSpPr>
          <p:nvPr/>
        </p:nvSpPr>
        <p:spPr>
          <a:xfrm>
            <a:off x="2762250" y="3724275"/>
            <a:ext cx="2228850" cy="647700"/>
          </a:xfrm>
          <a:prstGeom prst="rect">
            <a:avLst/>
          </a:prstGeom>
          <a:solidFill>
            <a:srgbClr val="F7FAF8"/>
          </a:solidFill>
          <a:ln w="11430">
            <a:solidFill>
              <a:srgbClr val="C9D5CE"/>
            </a:solidFill>
          </a:ln>
        </p:spPr>
      </p:sp>
      <p:sp>
        <p:nvSpPr>
          <p:cNvPr id="66" name="矩形 65"/>
          <p:cNvSpPr>
            <a:spLocks noGrp="1"/>
          </p:cNvSpPr>
          <p:nvPr/>
        </p:nvSpPr>
        <p:spPr>
          <a:xfrm>
            <a:off x="2790825" y="3743325"/>
            <a:ext cx="2171700" cy="609600"/>
          </a:xfrm>
          <a:prstGeom prst="rect">
            <a:avLst/>
          </a:prstGeom>
          <a:noFill/>
          <a:ln w="0">
            <a:solidFill>
              <a:srgbClr val="FFFFFF"/>
            </a:solidFill>
          </a:ln>
        </p:spPr>
        <p:txBody>
          <a:bodyPr lIns="76200" tIns="38100" rIns="76200" bIns="38100" anchor="ctr"/>
          <a:lstStyle/>
          <a:p>
            <a:pPr algn="ctr">
              <a:defRPr sz="825" b="0">
                <a:solidFill>
                  <a:srgbClr val="111111"/>
                </a:solidFill>
                <a:latin typeface="Microsoft YaHei UI" panose="020B0503020204020204" charset="-122"/>
                <a:ea typeface="Microsoft YaHei UI" panose="020B0503020204020204" charset="-122"/>
                <a:cs typeface="Microsoft YaHei UI" panose="020B0503020204020204" charset="-122"/>
              </a:defRPr>
            </a:pPr>
            <a:r>
              <a:rPr sz="825" b="0">
                <a:solidFill>
                  <a:srgbClr val="111111"/>
                </a:solidFill>
                <a:latin typeface="Microsoft YaHei UI" panose="020B0503020204020204" charset="-122"/>
                <a:ea typeface="Microsoft YaHei UI" panose="020B0503020204020204" charset="-122"/>
                <a:cs typeface="Microsoft YaHei UI" panose="020B0503020204020204" charset="-122"/>
              </a:rPr>
              <a:t>产权性质</a:t>
            </a:r>
            <a:endParaRPr sz="825"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67" name="矩形 66"/>
          <p:cNvSpPr>
            <a:spLocks noGrp="1"/>
          </p:cNvSpPr>
          <p:nvPr/>
        </p:nvSpPr>
        <p:spPr>
          <a:xfrm>
            <a:off x="4981575" y="3724275"/>
            <a:ext cx="2228850" cy="647700"/>
          </a:xfrm>
          <a:prstGeom prst="rect">
            <a:avLst/>
          </a:prstGeom>
          <a:solidFill>
            <a:srgbClr val="F7FAF8"/>
          </a:solidFill>
          <a:ln w="11430">
            <a:solidFill>
              <a:srgbClr val="C9D5CE"/>
            </a:solidFill>
          </a:ln>
        </p:spPr>
      </p:sp>
      <p:sp>
        <p:nvSpPr>
          <p:cNvPr id="68" name="矩形 67"/>
          <p:cNvSpPr>
            <a:spLocks noGrp="1"/>
          </p:cNvSpPr>
          <p:nvPr/>
        </p:nvSpPr>
        <p:spPr>
          <a:xfrm>
            <a:off x="5010150" y="3743325"/>
            <a:ext cx="2171700" cy="609600"/>
          </a:xfrm>
          <a:prstGeom prst="rect">
            <a:avLst/>
          </a:prstGeom>
          <a:noFill/>
          <a:ln w="0">
            <a:solidFill>
              <a:srgbClr val="FFFFFF"/>
            </a:solidFill>
          </a:ln>
        </p:spPr>
        <p:txBody>
          <a:bodyPr lIns="76200" tIns="38100" rIns="76200" bIns="38100" anchor="ctr"/>
          <a:lstStyle/>
          <a:p>
            <a:pPr algn="ctr">
              <a:defRPr sz="825" b="0">
                <a:solidFill>
                  <a:srgbClr val="111111"/>
                </a:solidFill>
                <a:latin typeface="Microsoft YaHei UI" panose="020B0503020204020204" charset="-122"/>
                <a:ea typeface="Microsoft YaHei UI" panose="020B0503020204020204" charset="-122"/>
                <a:cs typeface="Microsoft YaHei UI" panose="020B0503020204020204" charset="-122"/>
              </a:defRPr>
            </a:pPr>
            <a:r>
              <a:rPr sz="825" b="0">
                <a:solidFill>
                  <a:srgbClr val="111111"/>
                </a:solidFill>
                <a:latin typeface="Microsoft YaHei UI" panose="020B0503020204020204" charset="-122"/>
                <a:ea typeface="Microsoft YaHei UI" panose="020B0503020204020204" charset="-122"/>
                <a:cs typeface="Microsoft YaHei UI" panose="020B0503020204020204" charset="-122"/>
              </a:rPr>
              <a:t>SOE</a:t>
            </a:r>
            <a:endParaRPr sz="825"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69" name="矩形 68"/>
          <p:cNvSpPr>
            <a:spLocks noGrp="1"/>
          </p:cNvSpPr>
          <p:nvPr/>
        </p:nvSpPr>
        <p:spPr>
          <a:xfrm>
            <a:off x="7210425" y="3724275"/>
            <a:ext cx="2228850" cy="647700"/>
          </a:xfrm>
          <a:prstGeom prst="rect">
            <a:avLst/>
          </a:prstGeom>
          <a:solidFill>
            <a:srgbClr val="F7FAF8"/>
          </a:solidFill>
          <a:ln w="11430">
            <a:solidFill>
              <a:srgbClr val="C9D5CE"/>
            </a:solidFill>
          </a:ln>
        </p:spPr>
      </p:sp>
      <p:sp>
        <p:nvSpPr>
          <p:cNvPr id="70" name="矩形 69"/>
          <p:cNvSpPr>
            <a:spLocks noGrp="1"/>
          </p:cNvSpPr>
          <p:nvPr/>
        </p:nvSpPr>
        <p:spPr>
          <a:xfrm>
            <a:off x="7239000" y="3743325"/>
            <a:ext cx="2171700" cy="609600"/>
          </a:xfrm>
          <a:prstGeom prst="rect">
            <a:avLst/>
          </a:prstGeom>
          <a:noFill/>
          <a:ln w="0">
            <a:solidFill>
              <a:srgbClr val="FFFFFF"/>
            </a:solidFill>
          </a:ln>
        </p:spPr>
        <p:txBody>
          <a:bodyPr lIns="76200" tIns="38100" rIns="76200" bIns="38100" anchor="ctr"/>
          <a:lstStyle/>
          <a:p>
            <a:pPr algn="ctr">
              <a:defRPr sz="825" b="0">
                <a:solidFill>
                  <a:srgbClr val="111111"/>
                </a:solidFill>
                <a:latin typeface="Microsoft YaHei UI" panose="020B0503020204020204" charset="-122"/>
                <a:ea typeface="Microsoft YaHei UI" panose="020B0503020204020204" charset="-122"/>
                <a:cs typeface="Microsoft YaHei UI" panose="020B0503020204020204" charset="-122"/>
              </a:defRPr>
            </a:pPr>
            <a:r>
              <a:rPr sz="825" b="0">
                <a:solidFill>
                  <a:srgbClr val="111111"/>
                </a:solidFill>
                <a:latin typeface="Microsoft YaHei UI" panose="020B0503020204020204" charset="-122"/>
                <a:ea typeface="Microsoft YaHei UI" panose="020B0503020204020204" charset="-122"/>
                <a:cs typeface="Microsoft YaHei UI" panose="020B0503020204020204" charset="-122"/>
              </a:rPr>
              <a:t>国有企业=1，非国有企业=0</a:t>
            </a:r>
            <a:endParaRPr sz="825"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71" name="矩形 70"/>
          <p:cNvSpPr>
            <a:spLocks noGrp="1"/>
          </p:cNvSpPr>
          <p:nvPr/>
        </p:nvSpPr>
        <p:spPr>
          <a:xfrm>
            <a:off x="9429750" y="3724275"/>
            <a:ext cx="2228850" cy="647700"/>
          </a:xfrm>
          <a:prstGeom prst="rect">
            <a:avLst/>
          </a:prstGeom>
          <a:solidFill>
            <a:srgbClr val="F7FAF8"/>
          </a:solidFill>
          <a:ln w="11430">
            <a:solidFill>
              <a:srgbClr val="C9D5CE"/>
            </a:solidFill>
          </a:ln>
        </p:spPr>
      </p:sp>
      <p:sp>
        <p:nvSpPr>
          <p:cNvPr id="72" name="矩形 71"/>
          <p:cNvSpPr>
            <a:spLocks noGrp="1"/>
          </p:cNvSpPr>
          <p:nvPr/>
        </p:nvSpPr>
        <p:spPr>
          <a:xfrm>
            <a:off x="9458325" y="3743325"/>
            <a:ext cx="2171700" cy="609600"/>
          </a:xfrm>
          <a:prstGeom prst="rect">
            <a:avLst/>
          </a:prstGeom>
          <a:noFill/>
          <a:ln w="0">
            <a:solidFill>
              <a:srgbClr val="FFFFFF"/>
            </a:solidFill>
          </a:ln>
        </p:spPr>
        <p:txBody>
          <a:bodyPr lIns="76200" tIns="38100" rIns="76200" bIns="38100" anchor="ctr"/>
          <a:lstStyle/>
          <a:p>
            <a:pPr algn="ctr">
              <a:defRPr sz="825" b="0">
                <a:solidFill>
                  <a:srgbClr val="111111"/>
                </a:solidFill>
                <a:latin typeface="Microsoft YaHei UI" panose="020B0503020204020204" charset="-122"/>
                <a:ea typeface="Microsoft YaHei UI" panose="020B0503020204020204" charset="-122"/>
                <a:cs typeface="Microsoft YaHei UI" panose="020B0503020204020204" charset="-122"/>
              </a:defRPr>
            </a:pPr>
            <a:r>
              <a:rPr sz="825" b="0">
                <a:solidFill>
                  <a:srgbClr val="111111"/>
                </a:solidFill>
                <a:latin typeface="Microsoft YaHei UI" panose="020B0503020204020204" charset="-122"/>
                <a:ea typeface="Microsoft YaHei UI" panose="020B0503020204020204" charset="-122"/>
                <a:cs typeface="Microsoft YaHei UI" panose="020B0503020204020204" charset="-122"/>
              </a:rPr>
              <a:t>异质性</a:t>
            </a:r>
            <a:endParaRPr sz="825"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73" name="矩形 72"/>
          <p:cNvSpPr>
            <a:spLocks noGrp="1"/>
          </p:cNvSpPr>
          <p:nvPr/>
        </p:nvSpPr>
        <p:spPr>
          <a:xfrm>
            <a:off x="533400" y="4381500"/>
            <a:ext cx="2228850" cy="647700"/>
          </a:xfrm>
          <a:prstGeom prst="rect">
            <a:avLst/>
          </a:prstGeom>
          <a:solidFill>
            <a:srgbClr val="FFFFFF"/>
          </a:solidFill>
          <a:ln w="11430">
            <a:solidFill>
              <a:srgbClr val="C9D5CE"/>
            </a:solidFill>
          </a:ln>
        </p:spPr>
      </p:sp>
      <p:sp>
        <p:nvSpPr>
          <p:cNvPr id="74" name="矩形 73"/>
          <p:cNvSpPr>
            <a:spLocks noGrp="1"/>
          </p:cNvSpPr>
          <p:nvPr/>
        </p:nvSpPr>
        <p:spPr>
          <a:xfrm>
            <a:off x="561975" y="4400550"/>
            <a:ext cx="2171700" cy="609600"/>
          </a:xfrm>
          <a:prstGeom prst="rect">
            <a:avLst/>
          </a:prstGeom>
          <a:noFill/>
          <a:ln w="0">
            <a:solidFill>
              <a:srgbClr val="FFFFFF"/>
            </a:solidFill>
          </a:ln>
        </p:spPr>
        <p:txBody>
          <a:bodyPr lIns="76200" tIns="38100" rIns="76200" bIns="38100" anchor="ctr"/>
          <a:lstStyle/>
          <a:p>
            <a:pPr algn="ctr">
              <a:defRPr sz="825" b="0">
                <a:solidFill>
                  <a:srgbClr val="111111"/>
                </a:solidFill>
                <a:latin typeface="Microsoft YaHei UI" panose="020B0503020204020204" charset="-122"/>
                <a:ea typeface="Microsoft YaHei UI" panose="020B0503020204020204" charset="-122"/>
                <a:cs typeface="Microsoft YaHei UI" panose="020B0503020204020204" charset="-122"/>
              </a:defRPr>
            </a:pPr>
            <a:r>
              <a:rPr sz="825" b="0">
                <a:solidFill>
                  <a:srgbClr val="111111"/>
                </a:solidFill>
                <a:latin typeface="Microsoft YaHei UI" panose="020B0503020204020204" charset="-122"/>
                <a:ea typeface="Microsoft YaHei UI" panose="020B0503020204020204" charset="-122"/>
                <a:cs typeface="Microsoft YaHei UI" panose="020B0503020204020204" charset="-122"/>
              </a:rPr>
              <a:t>控制</a:t>
            </a:r>
            <a:endParaRPr sz="825"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75" name="矩形 74"/>
          <p:cNvSpPr>
            <a:spLocks noGrp="1"/>
          </p:cNvSpPr>
          <p:nvPr/>
        </p:nvSpPr>
        <p:spPr>
          <a:xfrm>
            <a:off x="2762250" y="4381500"/>
            <a:ext cx="2228850" cy="647700"/>
          </a:xfrm>
          <a:prstGeom prst="rect">
            <a:avLst/>
          </a:prstGeom>
          <a:solidFill>
            <a:srgbClr val="FFFFFF"/>
          </a:solidFill>
          <a:ln w="11430">
            <a:solidFill>
              <a:srgbClr val="C9D5CE"/>
            </a:solidFill>
          </a:ln>
        </p:spPr>
      </p:sp>
      <p:sp>
        <p:nvSpPr>
          <p:cNvPr id="76" name="矩形 75"/>
          <p:cNvSpPr>
            <a:spLocks noGrp="1"/>
          </p:cNvSpPr>
          <p:nvPr/>
        </p:nvSpPr>
        <p:spPr>
          <a:xfrm>
            <a:off x="2790825" y="4400550"/>
            <a:ext cx="2171700" cy="609600"/>
          </a:xfrm>
          <a:prstGeom prst="rect">
            <a:avLst/>
          </a:prstGeom>
          <a:noFill/>
          <a:ln w="0">
            <a:solidFill>
              <a:srgbClr val="FFFFFF"/>
            </a:solidFill>
          </a:ln>
        </p:spPr>
        <p:txBody>
          <a:bodyPr lIns="76200" tIns="38100" rIns="76200" bIns="38100" anchor="ctr"/>
          <a:lstStyle/>
          <a:p>
            <a:pPr algn="ctr">
              <a:defRPr sz="825" b="0">
                <a:solidFill>
                  <a:srgbClr val="111111"/>
                </a:solidFill>
                <a:latin typeface="Microsoft YaHei UI" panose="020B0503020204020204" charset="-122"/>
                <a:ea typeface="Microsoft YaHei UI" panose="020B0503020204020204" charset="-122"/>
                <a:cs typeface="Microsoft YaHei UI" panose="020B0503020204020204" charset="-122"/>
              </a:defRPr>
            </a:pPr>
            <a:r>
              <a:rPr sz="825" b="0">
                <a:solidFill>
                  <a:srgbClr val="111111"/>
                </a:solidFill>
                <a:latin typeface="Microsoft YaHei UI" panose="020B0503020204020204" charset="-122"/>
                <a:ea typeface="Microsoft YaHei UI" panose="020B0503020204020204" charset="-122"/>
                <a:cs typeface="Microsoft YaHei UI" panose="020B0503020204020204" charset="-122"/>
              </a:rPr>
              <a:t>企业与城市特征</a:t>
            </a:r>
            <a:endParaRPr sz="825"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77" name="矩形 76"/>
          <p:cNvSpPr>
            <a:spLocks noGrp="1"/>
          </p:cNvSpPr>
          <p:nvPr/>
        </p:nvSpPr>
        <p:spPr>
          <a:xfrm>
            <a:off x="4981575" y="4381500"/>
            <a:ext cx="2228850" cy="647700"/>
          </a:xfrm>
          <a:prstGeom prst="rect">
            <a:avLst/>
          </a:prstGeom>
          <a:solidFill>
            <a:srgbClr val="FFFFFF"/>
          </a:solidFill>
          <a:ln w="11430">
            <a:solidFill>
              <a:srgbClr val="C9D5CE"/>
            </a:solidFill>
          </a:ln>
        </p:spPr>
      </p:sp>
      <p:sp>
        <p:nvSpPr>
          <p:cNvPr id="78" name="矩形 77"/>
          <p:cNvSpPr>
            <a:spLocks noGrp="1"/>
          </p:cNvSpPr>
          <p:nvPr/>
        </p:nvSpPr>
        <p:spPr>
          <a:xfrm>
            <a:off x="5010150" y="4400550"/>
            <a:ext cx="2171700" cy="609600"/>
          </a:xfrm>
          <a:prstGeom prst="rect">
            <a:avLst/>
          </a:prstGeom>
          <a:noFill/>
          <a:ln w="0">
            <a:solidFill>
              <a:srgbClr val="FFFFFF"/>
            </a:solidFill>
          </a:ln>
        </p:spPr>
        <p:txBody>
          <a:bodyPr lIns="76200" tIns="38100" rIns="76200" bIns="38100" anchor="ctr"/>
          <a:lstStyle/>
          <a:p>
            <a:pPr algn="ctr">
              <a:defRPr sz="825" b="0">
                <a:solidFill>
                  <a:srgbClr val="111111"/>
                </a:solidFill>
                <a:latin typeface="Microsoft YaHei UI" panose="020B0503020204020204" charset="-122"/>
                <a:ea typeface="Microsoft YaHei UI" panose="020B0503020204020204" charset="-122"/>
                <a:cs typeface="Microsoft YaHei UI" panose="020B0503020204020204" charset="-122"/>
              </a:defRPr>
            </a:pPr>
            <a:r>
              <a:rPr sz="825" b="0">
                <a:solidFill>
                  <a:srgbClr val="111111"/>
                </a:solidFill>
                <a:latin typeface="Microsoft YaHei UI" panose="020B0503020204020204" charset="-122"/>
                <a:ea typeface="Microsoft YaHei UI" panose="020B0503020204020204" charset="-122"/>
                <a:cs typeface="Microsoft YaHei UI" panose="020B0503020204020204" charset="-122"/>
              </a:rPr>
              <a:t>X</a:t>
            </a:r>
            <a:endParaRPr sz="825"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79" name="矩形 78"/>
          <p:cNvSpPr>
            <a:spLocks noGrp="1"/>
          </p:cNvSpPr>
          <p:nvPr/>
        </p:nvSpPr>
        <p:spPr>
          <a:xfrm>
            <a:off x="7210425" y="4381500"/>
            <a:ext cx="2228850" cy="647700"/>
          </a:xfrm>
          <a:prstGeom prst="rect">
            <a:avLst/>
          </a:prstGeom>
          <a:solidFill>
            <a:srgbClr val="FFFFFF"/>
          </a:solidFill>
          <a:ln w="11430">
            <a:solidFill>
              <a:srgbClr val="C9D5CE"/>
            </a:solidFill>
          </a:ln>
        </p:spPr>
      </p:sp>
      <p:sp>
        <p:nvSpPr>
          <p:cNvPr id="80" name="矩形 79"/>
          <p:cNvSpPr>
            <a:spLocks noGrp="1"/>
          </p:cNvSpPr>
          <p:nvPr/>
        </p:nvSpPr>
        <p:spPr>
          <a:xfrm>
            <a:off x="7239000" y="4400550"/>
            <a:ext cx="2171700" cy="609600"/>
          </a:xfrm>
          <a:prstGeom prst="rect">
            <a:avLst/>
          </a:prstGeom>
          <a:noFill/>
          <a:ln w="0">
            <a:solidFill>
              <a:srgbClr val="FFFFFF"/>
            </a:solidFill>
          </a:ln>
        </p:spPr>
        <p:txBody>
          <a:bodyPr lIns="76200" tIns="38100" rIns="76200" bIns="38100" anchor="ctr"/>
          <a:lstStyle/>
          <a:p>
            <a:pPr algn="ctr">
              <a:defRPr sz="825" b="0">
                <a:solidFill>
                  <a:srgbClr val="111111"/>
                </a:solidFill>
                <a:latin typeface="Microsoft YaHei UI" panose="020B0503020204020204" charset="-122"/>
                <a:ea typeface="Microsoft YaHei UI" panose="020B0503020204020204" charset="-122"/>
                <a:cs typeface="Microsoft YaHei UI" panose="020B0503020204020204" charset="-122"/>
              </a:defRPr>
            </a:pPr>
            <a:r>
              <a:rPr sz="825" b="0">
                <a:solidFill>
                  <a:srgbClr val="111111"/>
                </a:solidFill>
                <a:latin typeface="Microsoft YaHei UI" panose="020B0503020204020204" charset="-122"/>
                <a:ea typeface="Microsoft YaHei UI" panose="020B0503020204020204" charset="-122"/>
                <a:cs typeface="Microsoft YaHei UI" panose="020B0503020204020204" charset="-122"/>
              </a:rPr>
              <a:t>规模、负债、现金流、ROA、研发、GDP等</a:t>
            </a:r>
            <a:endParaRPr sz="825"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81" name="矩形 80"/>
          <p:cNvSpPr>
            <a:spLocks noGrp="1"/>
          </p:cNvSpPr>
          <p:nvPr/>
        </p:nvSpPr>
        <p:spPr>
          <a:xfrm>
            <a:off x="9429750" y="4381500"/>
            <a:ext cx="2228850" cy="647700"/>
          </a:xfrm>
          <a:prstGeom prst="rect">
            <a:avLst/>
          </a:prstGeom>
          <a:solidFill>
            <a:srgbClr val="FFFFFF"/>
          </a:solidFill>
          <a:ln w="11430">
            <a:solidFill>
              <a:srgbClr val="C9D5CE"/>
            </a:solidFill>
          </a:ln>
        </p:spPr>
      </p:sp>
      <p:sp>
        <p:nvSpPr>
          <p:cNvPr id="82" name="矩形 81"/>
          <p:cNvSpPr>
            <a:spLocks noGrp="1"/>
          </p:cNvSpPr>
          <p:nvPr/>
        </p:nvSpPr>
        <p:spPr>
          <a:xfrm>
            <a:off x="9458325" y="4400550"/>
            <a:ext cx="2171700" cy="609600"/>
          </a:xfrm>
          <a:prstGeom prst="rect">
            <a:avLst/>
          </a:prstGeom>
          <a:noFill/>
          <a:ln w="0">
            <a:solidFill>
              <a:srgbClr val="FFFFFF"/>
            </a:solidFill>
          </a:ln>
        </p:spPr>
        <p:txBody>
          <a:bodyPr lIns="76200" tIns="38100" rIns="76200" bIns="38100" anchor="ctr"/>
          <a:lstStyle/>
          <a:p>
            <a:pPr algn="ctr">
              <a:defRPr sz="825" b="0">
                <a:solidFill>
                  <a:srgbClr val="111111"/>
                </a:solidFill>
                <a:latin typeface="Microsoft YaHei UI" panose="020B0503020204020204" charset="-122"/>
                <a:ea typeface="Microsoft YaHei UI" panose="020B0503020204020204" charset="-122"/>
                <a:cs typeface="Microsoft YaHei UI" panose="020B0503020204020204" charset="-122"/>
              </a:defRPr>
            </a:pPr>
            <a:r>
              <a:rPr sz="825" b="0">
                <a:solidFill>
                  <a:srgbClr val="111111"/>
                </a:solidFill>
                <a:latin typeface="Microsoft YaHei UI" panose="020B0503020204020204" charset="-122"/>
                <a:ea typeface="Microsoft YaHei UI" panose="020B0503020204020204" charset="-122"/>
                <a:cs typeface="Microsoft YaHei UI" panose="020B0503020204020204" charset="-122"/>
              </a:rPr>
              <a:t>控制混杂</a:t>
            </a:r>
            <a:endParaRPr sz="825"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83" name="圆角矩形 82"/>
          <p:cNvSpPr>
            <a:spLocks noGrp="1"/>
          </p:cNvSpPr>
          <p:nvPr/>
        </p:nvSpPr>
        <p:spPr>
          <a:xfrm>
            <a:off x="762000" y="5162550"/>
            <a:ext cx="4762500" cy="876300"/>
          </a:xfrm>
          <a:prstGeom prst="roundRect">
            <a:avLst>
              <a:gd name="adj" fmla="val 13043"/>
            </a:avLst>
          </a:prstGeom>
          <a:solidFill>
            <a:srgbClr val="FFFFFF"/>
          </a:solidFill>
          <a:ln w="11430">
            <a:solidFill>
              <a:srgbClr val="D7DFDA"/>
            </a:solidFill>
          </a:ln>
        </p:spPr>
      </p:sp>
      <p:sp>
        <p:nvSpPr>
          <p:cNvPr id="84" name="矩形 83"/>
          <p:cNvSpPr>
            <a:spLocks noGrp="1"/>
          </p:cNvSpPr>
          <p:nvPr/>
        </p:nvSpPr>
        <p:spPr>
          <a:xfrm>
            <a:off x="933450" y="5295900"/>
            <a:ext cx="4419600" cy="323850"/>
          </a:xfrm>
          <a:prstGeom prst="rect">
            <a:avLst/>
          </a:prstGeom>
          <a:noFill/>
          <a:ln w="0">
            <a:solidFill>
              <a:srgbClr val="FFFFFF"/>
            </a:solidFill>
          </a:ln>
        </p:spPr>
        <p:txBody>
          <a:bodyPr lIns="76200" tIns="38100" rIns="76200" bIns="38100" anchor="ctr"/>
          <a:lstStyle/>
          <a:p>
            <a:pPr algn="l">
              <a:defRPr sz="1125" b="1">
                <a:solidFill>
                  <a:srgbClr val="206040"/>
                </a:solidFill>
                <a:latin typeface="Microsoft YaHei UI" panose="020B0503020204020204" charset="-122"/>
                <a:ea typeface="Microsoft YaHei UI" panose="020B0503020204020204" charset="-122"/>
                <a:cs typeface="Microsoft YaHei UI" panose="020B0503020204020204" charset="-122"/>
              </a:defRPr>
            </a:pPr>
            <a:r>
              <a:rPr sz="1125" b="1">
                <a:solidFill>
                  <a:srgbClr val="206040"/>
                </a:solidFill>
                <a:latin typeface="Microsoft YaHei UI" panose="020B0503020204020204" charset="-122"/>
                <a:ea typeface="Microsoft YaHei UI" panose="020B0503020204020204" charset="-122"/>
                <a:cs typeface="Microsoft YaHei UI" panose="020B0503020204020204" charset="-122"/>
              </a:rPr>
              <a:t>变量逻辑</a:t>
            </a:r>
            <a:endParaRPr sz="1125" b="1">
              <a:solidFill>
                <a:srgbClr val="206040"/>
              </a:solidFill>
              <a:latin typeface="Microsoft YaHei UI" panose="020B0503020204020204" charset="-122"/>
              <a:ea typeface="Microsoft YaHei UI" panose="020B0503020204020204" charset="-122"/>
              <a:cs typeface="Microsoft YaHei UI" panose="020B0503020204020204" charset="-122"/>
            </a:endParaRPr>
          </a:p>
        </p:txBody>
      </p:sp>
      <p:sp>
        <p:nvSpPr>
          <p:cNvPr id="85" name="矩形 84"/>
          <p:cNvSpPr>
            <a:spLocks noGrp="1"/>
          </p:cNvSpPr>
          <p:nvPr/>
        </p:nvSpPr>
        <p:spPr>
          <a:xfrm>
            <a:off x="933450" y="5676900"/>
            <a:ext cx="4419600" cy="228600"/>
          </a:xfrm>
          <a:prstGeom prst="rect">
            <a:avLst/>
          </a:prstGeom>
          <a:noFill/>
          <a:ln w="0">
            <a:solidFill>
              <a:srgbClr val="FFFFFF"/>
            </a:solidFill>
          </a:ln>
        </p:spPr>
        <p:txBody>
          <a:bodyPr lIns="76200" tIns="38100" rIns="76200" bIns="38100" anchor="t"/>
          <a:lstStyle/>
          <a:p>
            <a:pPr algn="l">
              <a:defRPr sz="975" b="0">
                <a:solidFill>
                  <a:srgbClr val="111111"/>
                </a:solidFill>
                <a:latin typeface="Microsoft YaHei UI" panose="020B0503020204020204" charset="-122"/>
                <a:ea typeface="Microsoft YaHei UI" panose="020B0503020204020204" charset="-122"/>
                <a:cs typeface="Microsoft YaHei UI" panose="020B0503020204020204" charset="-122"/>
              </a:defRPr>
            </a:pPr>
            <a:r>
              <a:rPr sz="975" b="0">
                <a:solidFill>
                  <a:srgbClr val="111111"/>
                </a:solidFill>
                <a:latin typeface="Microsoft YaHei UI" panose="020B0503020204020204" charset="-122"/>
                <a:ea typeface="Microsoft YaHei UI" panose="020B0503020204020204" charset="-122"/>
                <a:cs typeface="Microsoft YaHei UI" panose="020B0503020204020204" charset="-122"/>
              </a:rPr>
              <a:t>ER 是外部规制压力，ComplianceCost 是企业财务传导，GTFP 是资源环境约束下的效率结果。</a:t>
            </a:r>
            <a:endParaRPr sz="975"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86" name="圆角矩形 85"/>
          <p:cNvSpPr>
            <a:spLocks noGrp="1"/>
          </p:cNvSpPr>
          <p:nvPr/>
        </p:nvSpPr>
        <p:spPr>
          <a:xfrm>
            <a:off x="6048375" y="5162550"/>
            <a:ext cx="4762500" cy="876300"/>
          </a:xfrm>
          <a:prstGeom prst="roundRect">
            <a:avLst>
              <a:gd name="adj" fmla="val 13043"/>
            </a:avLst>
          </a:prstGeom>
          <a:solidFill>
            <a:srgbClr val="FFFFFF"/>
          </a:solidFill>
          <a:ln w="11430">
            <a:solidFill>
              <a:srgbClr val="D7DFDA"/>
            </a:solidFill>
          </a:ln>
        </p:spPr>
      </p:sp>
      <p:sp>
        <p:nvSpPr>
          <p:cNvPr id="87" name="矩形 86"/>
          <p:cNvSpPr>
            <a:spLocks noGrp="1"/>
          </p:cNvSpPr>
          <p:nvPr/>
        </p:nvSpPr>
        <p:spPr>
          <a:xfrm>
            <a:off x="6219825" y="5295900"/>
            <a:ext cx="4419600" cy="323850"/>
          </a:xfrm>
          <a:prstGeom prst="rect">
            <a:avLst/>
          </a:prstGeom>
          <a:noFill/>
          <a:ln w="0">
            <a:solidFill>
              <a:srgbClr val="FFFFFF"/>
            </a:solidFill>
          </a:ln>
        </p:spPr>
        <p:txBody>
          <a:bodyPr lIns="76200" tIns="38100" rIns="76200" bIns="38100" anchor="ctr"/>
          <a:lstStyle/>
          <a:p>
            <a:pPr algn="l">
              <a:defRPr sz="1125" b="1">
                <a:solidFill>
                  <a:srgbClr val="206040"/>
                </a:solidFill>
                <a:latin typeface="Microsoft YaHei UI" panose="020B0503020204020204" charset="-122"/>
                <a:ea typeface="Microsoft YaHei UI" panose="020B0503020204020204" charset="-122"/>
                <a:cs typeface="Microsoft YaHei UI" panose="020B0503020204020204" charset="-122"/>
              </a:defRPr>
            </a:pPr>
            <a:r>
              <a:rPr sz="1125" b="1">
                <a:solidFill>
                  <a:srgbClr val="206040"/>
                </a:solidFill>
                <a:latin typeface="Microsoft YaHei UI" panose="020B0503020204020204" charset="-122"/>
                <a:ea typeface="Microsoft YaHei UI" panose="020B0503020204020204" charset="-122"/>
                <a:cs typeface="Microsoft YaHei UI" panose="020B0503020204020204" charset="-122"/>
              </a:rPr>
              <a:t>识别提示</a:t>
            </a:r>
            <a:endParaRPr sz="1125" b="1">
              <a:solidFill>
                <a:srgbClr val="206040"/>
              </a:solidFill>
              <a:latin typeface="Microsoft YaHei UI" panose="020B0503020204020204" charset="-122"/>
              <a:ea typeface="Microsoft YaHei UI" panose="020B0503020204020204" charset="-122"/>
              <a:cs typeface="Microsoft YaHei UI" panose="020B0503020204020204" charset="-122"/>
            </a:endParaRPr>
          </a:p>
        </p:txBody>
      </p:sp>
      <p:sp>
        <p:nvSpPr>
          <p:cNvPr id="88" name="矩形 87"/>
          <p:cNvSpPr>
            <a:spLocks noGrp="1"/>
          </p:cNvSpPr>
          <p:nvPr/>
        </p:nvSpPr>
        <p:spPr>
          <a:xfrm>
            <a:off x="6219825" y="5676900"/>
            <a:ext cx="4419600" cy="228600"/>
          </a:xfrm>
          <a:prstGeom prst="rect">
            <a:avLst/>
          </a:prstGeom>
          <a:noFill/>
          <a:ln w="0">
            <a:solidFill>
              <a:srgbClr val="FFFFFF"/>
            </a:solidFill>
          </a:ln>
        </p:spPr>
        <p:txBody>
          <a:bodyPr lIns="76200" tIns="38100" rIns="76200" bIns="38100" anchor="t"/>
          <a:lstStyle/>
          <a:p>
            <a:pPr algn="l">
              <a:defRPr sz="975" b="0">
                <a:solidFill>
                  <a:srgbClr val="111111"/>
                </a:solidFill>
                <a:latin typeface="Microsoft YaHei UI" panose="020B0503020204020204" charset="-122"/>
                <a:ea typeface="Microsoft YaHei UI" panose="020B0503020204020204" charset="-122"/>
                <a:cs typeface="Microsoft YaHei UI" panose="020B0503020204020204" charset="-122"/>
              </a:defRPr>
            </a:pPr>
            <a:r>
              <a:rPr sz="975" b="0">
                <a:solidFill>
                  <a:srgbClr val="111111"/>
                </a:solidFill>
                <a:latin typeface="Microsoft YaHei UI" panose="020B0503020204020204" charset="-122"/>
                <a:ea typeface="Microsoft YaHei UI" panose="020B0503020204020204" charset="-122"/>
                <a:cs typeface="Microsoft YaHei UI" panose="020B0503020204020204" charset="-122"/>
              </a:rPr>
              <a:t>SOE 不只是分类变量，而是检验政策响应能力、融资便利性与长期投资能力差异的入口。</a:t>
            </a:r>
            <a:endParaRPr sz="975"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a:spLocks noGrp="1"/>
          </p:cNvSpPr>
          <p:nvPr/>
        </p:nvSpPr>
        <p:spPr>
          <a:xfrm>
            <a:off x="0" y="0"/>
            <a:ext cx="12192000" cy="6858000"/>
          </a:xfrm>
          <a:prstGeom prst="rect">
            <a:avLst/>
          </a:prstGeom>
          <a:solidFill>
            <a:srgbClr val="F4F6F5"/>
          </a:solidFill>
          <a:ln w="0">
            <a:solidFill>
              <a:srgbClr val="FFFFFF"/>
            </a:solidFill>
          </a:ln>
        </p:spPr>
      </p:sp>
      <p:sp>
        <p:nvSpPr>
          <p:cNvPr id="3" name="矩形 2"/>
          <p:cNvSpPr>
            <a:spLocks noGrp="1"/>
          </p:cNvSpPr>
          <p:nvPr/>
        </p:nvSpPr>
        <p:spPr>
          <a:xfrm>
            <a:off x="0" y="0"/>
            <a:ext cx="12192000" cy="6858000"/>
          </a:xfrm>
          <a:prstGeom prst="rect">
            <a:avLst/>
          </a:prstGeom>
          <a:solidFill>
            <a:srgbClr val="F9FAF9"/>
          </a:solidFill>
          <a:ln w="0">
            <a:solidFill>
              <a:srgbClr val="FFFFFF"/>
            </a:solidFill>
          </a:ln>
        </p:spPr>
      </p:sp>
      <p:sp>
        <p:nvSpPr>
          <p:cNvPr id="4" name="矩形 3"/>
          <p:cNvSpPr>
            <a:spLocks noGrp="1"/>
          </p:cNvSpPr>
          <p:nvPr/>
        </p:nvSpPr>
        <p:spPr>
          <a:xfrm>
            <a:off x="8858250" y="0"/>
            <a:ext cx="3333750" cy="6858000"/>
          </a:xfrm>
          <a:prstGeom prst="rect">
            <a:avLst/>
          </a:prstGeom>
          <a:solidFill>
            <a:srgbClr val="F7F9F8"/>
          </a:solidFill>
          <a:ln w="0">
            <a:solidFill>
              <a:srgbClr val="FFFFFF"/>
            </a:solidFill>
          </a:ln>
        </p:spPr>
      </p:sp>
      <p:sp>
        <p:nvSpPr>
          <p:cNvPr id="5" name="矩形 4"/>
          <p:cNvSpPr>
            <a:spLocks noGrp="1"/>
          </p:cNvSpPr>
          <p:nvPr/>
        </p:nvSpPr>
        <p:spPr>
          <a:xfrm>
            <a:off x="0" y="6115050"/>
            <a:ext cx="12192000" cy="742950"/>
          </a:xfrm>
          <a:prstGeom prst="rect">
            <a:avLst/>
          </a:prstGeom>
          <a:solidFill>
            <a:srgbClr val="F8FAF9"/>
          </a:solidFill>
          <a:ln w="0">
            <a:solidFill>
              <a:srgbClr val="FFFFFF"/>
            </a:solidFill>
          </a:ln>
        </p:spPr>
      </p:sp>
      <p:sp>
        <p:nvSpPr>
          <p:cNvPr id="6" name="等腰三角形 5"/>
          <p:cNvSpPr>
            <a:spLocks noGrp="1"/>
          </p:cNvSpPr>
          <p:nvPr/>
        </p:nvSpPr>
        <p:spPr>
          <a:xfrm>
            <a:off x="1524000" y="904875"/>
            <a:ext cx="2476500" cy="1714500"/>
          </a:xfrm>
          <a:prstGeom prst="triangle">
            <a:avLst/>
          </a:prstGeom>
          <a:solidFill>
            <a:srgbClr val="FFFFFF"/>
          </a:solidFill>
          <a:ln w="0">
            <a:solidFill>
              <a:srgbClr val="FFFFFF"/>
            </a:solidFill>
          </a:ln>
        </p:spPr>
      </p:sp>
      <p:sp>
        <p:nvSpPr>
          <p:cNvPr id="7" name="等腰三角形 6"/>
          <p:cNvSpPr>
            <a:spLocks noGrp="1"/>
          </p:cNvSpPr>
          <p:nvPr/>
        </p:nvSpPr>
        <p:spPr>
          <a:xfrm>
            <a:off x="3857625" y="1762125"/>
            <a:ext cx="2476500" cy="1714500"/>
          </a:xfrm>
          <a:prstGeom prst="triangle">
            <a:avLst/>
          </a:prstGeom>
          <a:solidFill>
            <a:srgbClr val="F8FBFA"/>
          </a:solidFill>
          <a:ln w="0">
            <a:solidFill>
              <a:srgbClr val="FFFFFF"/>
            </a:solidFill>
          </a:ln>
        </p:spPr>
      </p:sp>
      <p:sp>
        <p:nvSpPr>
          <p:cNvPr id="8" name="等腰三角形 7"/>
          <p:cNvSpPr>
            <a:spLocks noGrp="1"/>
          </p:cNvSpPr>
          <p:nvPr/>
        </p:nvSpPr>
        <p:spPr>
          <a:xfrm>
            <a:off x="6191250" y="904875"/>
            <a:ext cx="2476500" cy="1714500"/>
          </a:xfrm>
          <a:prstGeom prst="triangle">
            <a:avLst/>
          </a:prstGeom>
          <a:solidFill>
            <a:srgbClr val="FFFFFF"/>
          </a:solidFill>
          <a:ln w="0">
            <a:solidFill>
              <a:srgbClr val="FFFFFF"/>
            </a:solidFill>
          </a:ln>
        </p:spPr>
      </p:sp>
      <p:sp>
        <p:nvSpPr>
          <p:cNvPr id="9" name="等腰三角形 8"/>
          <p:cNvSpPr>
            <a:spLocks noGrp="1"/>
          </p:cNvSpPr>
          <p:nvPr/>
        </p:nvSpPr>
        <p:spPr>
          <a:xfrm>
            <a:off x="8524875" y="1762125"/>
            <a:ext cx="2476500" cy="1714500"/>
          </a:xfrm>
          <a:prstGeom prst="triangle">
            <a:avLst/>
          </a:prstGeom>
          <a:solidFill>
            <a:srgbClr val="F8FBFA"/>
          </a:solidFill>
          <a:ln w="0">
            <a:solidFill>
              <a:srgbClr val="FFFFFF"/>
            </a:solidFill>
          </a:ln>
        </p:spPr>
      </p:sp>
      <p:sp>
        <p:nvSpPr>
          <p:cNvPr id="10" name="等腰三角形 9"/>
          <p:cNvSpPr>
            <a:spLocks noGrp="1"/>
          </p:cNvSpPr>
          <p:nvPr/>
        </p:nvSpPr>
        <p:spPr>
          <a:xfrm>
            <a:off x="10858500" y="904875"/>
            <a:ext cx="2476500" cy="1714500"/>
          </a:xfrm>
          <a:prstGeom prst="triangle">
            <a:avLst/>
          </a:prstGeom>
          <a:solidFill>
            <a:srgbClr val="FFFFFF"/>
          </a:solidFill>
          <a:ln w="0">
            <a:solidFill>
              <a:srgbClr val="FFFFFF"/>
            </a:solidFill>
          </a:ln>
        </p:spPr>
      </p:sp>
      <p:sp>
        <p:nvSpPr>
          <p:cNvPr id="11" name="等腰三角形 10"/>
          <p:cNvSpPr>
            <a:spLocks noGrp="1"/>
          </p:cNvSpPr>
          <p:nvPr/>
        </p:nvSpPr>
        <p:spPr>
          <a:xfrm rot="5400000">
            <a:off x="152400" y="266700"/>
            <a:ext cx="533400" cy="476250"/>
          </a:xfrm>
          <a:prstGeom prst="triangle">
            <a:avLst/>
          </a:prstGeom>
          <a:solidFill>
            <a:srgbClr val="206040"/>
          </a:solidFill>
          <a:ln w="0">
            <a:solidFill>
              <a:srgbClr val="FFFFFF"/>
            </a:solidFill>
          </a:ln>
        </p:spPr>
      </p:sp>
      <p:sp>
        <p:nvSpPr>
          <p:cNvPr id="12" name="等腰三角形 11"/>
          <p:cNvSpPr>
            <a:spLocks noGrp="1"/>
          </p:cNvSpPr>
          <p:nvPr/>
        </p:nvSpPr>
        <p:spPr>
          <a:xfrm rot="5400000">
            <a:off x="381000" y="304800"/>
            <a:ext cx="457200" cy="419100"/>
          </a:xfrm>
          <a:prstGeom prst="triangle">
            <a:avLst/>
          </a:prstGeom>
          <a:solidFill>
            <a:srgbClr val="80A090"/>
          </a:solidFill>
          <a:ln w="0">
            <a:solidFill>
              <a:srgbClr val="FFFFFF"/>
            </a:solidFill>
          </a:ln>
        </p:spPr>
      </p:sp>
      <p:sp>
        <p:nvSpPr>
          <p:cNvPr id="13" name="矩形 12"/>
          <p:cNvSpPr>
            <a:spLocks noGrp="1"/>
          </p:cNvSpPr>
          <p:nvPr/>
        </p:nvSpPr>
        <p:spPr>
          <a:xfrm>
            <a:off x="857250" y="228600"/>
            <a:ext cx="2857500" cy="457200"/>
          </a:xfrm>
          <a:prstGeom prst="rect">
            <a:avLst/>
          </a:prstGeom>
          <a:noFill/>
          <a:ln w="0">
            <a:solidFill>
              <a:srgbClr val="FFFFFF"/>
            </a:solidFill>
          </a:ln>
        </p:spPr>
        <p:txBody>
          <a:bodyPr lIns="76200" tIns="38100" rIns="76200" bIns="38100" anchor="ctr"/>
          <a:lstStyle/>
          <a:p>
            <a:pPr algn="l">
              <a:defRPr sz="2550" b="1">
                <a:solidFill>
                  <a:srgbClr val="206040"/>
                </a:solidFill>
                <a:latin typeface="黑体" panose="02010609060101010101" charset="-122"/>
                <a:ea typeface="黑体" panose="02010609060101010101" charset="-122"/>
                <a:cs typeface="黑体" panose="02010609060101010101" charset="-122"/>
              </a:defRPr>
            </a:pPr>
            <a:r>
              <a:rPr sz="2550" b="1">
                <a:solidFill>
                  <a:srgbClr val="206040"/>
                </a:solidFill>
                <a:latin typeface="黑体" panose="02010609060101010101" charset="-122"/>
                <a:ea typeface="黑体" panose="02010609060101010101" charset="-122"/>
                <a:cs typeface="黑体" panose="02010609060101010101" charset="-122"/>
              </a:rPr>
              <a:t>理论基础</a:t>
            </a:r>
            <a:endParaRPr sz="2550" b="1">
              <a:solidFill>
                <a:srgbClr val="206040"/>
              </a:solidFill>
              <a:latin typeface="黑体" panose="02010609060101010101" charset="-122"/>
              <a:ea typeface="黑体" panose="02010609060101010101" charset="-122"/>
              <a:cs typeface="黑体" panose="02010609060101010101" charset="-122"/>
            </a:endParaRPr>
          </a:p>
        </p:txBody>
      </p:sp>
      <p:sp>
        <p:nvSpPr>
          <p:cNvPr id="14" name="矩形 13"/>
          <p:cNvSpPr>
            <a:spLocks noGrp="1"/>
          </p:cNvSpPr>
          <p:nvPr/>
        </p:nvSpPr>
        <p:spPr>
          <a:xfrm>
            <a:off x="4000500" y="295275"/>
            <a:ext cx="1123950" cy="323850"/>
          </a:xfrm>
          <a:prstGeom prst="rect">
            <a:avLst/>
          </a:prstGeom>
          <a:noFill/>
          <a:ln w="0">
            <a:solidFill>
              <a:srgbClr val="FFFFFF"/>
            </a:solidFill>
          </a:ln>
        </p:spPr>
        <p:txBody>
          <a:bodyPr lIns="76200" tIns="38100" rIns="76200" bIns="38100" anchor="ctr"/>
          <a:lstStyle/>
          <a:p>
            <a:pPr algn="ctr">
              <a:defRPr sz="1125" b="0">
                <a:solidFill>
                  <a:srgbClr val="161616"/>
                </a:solidFill>
                <a:latin typeface="Microsoft YaHei UI" panose="020B0503020204020204" charset="-122"/>
                <a:ea typeface="Microsoft YaHei UI" panose="020B0503020204020204" charset="-122"/>
                <a:cs typeface="Microsoft YaHei UI" panose="020B0503020204020204" charset="-122"/>
              </a:defRPr>
            </a:pPr>
            <a:r>
              <a:rPr sz="1125" b="0">
                <a:solidFill>
                  <a:srgbClr val="161616"/>
                </a:solidFill>
                <a:latin typeface="Microsoft YaHei UI" panose="020B0503020204020204" charset="-122"/>
                <a:ea typeface="Microsoft YaHei UI" panose="020B0503020204020204" charset="-122"/>
                <a:cs typeface="Microsoft YaHei UI" panose="020B0503020204020204" charset="-122"/>
              </a:rPr>
              <a:t>现实问题</a:t>
            </a:r>
            <a:endParaRPr sz="1125" b="0">
              <a:solidFill>
                <a:srgbClr val="161616"/>
              </a:solidFill>
              <a:latin typeface="Microsoft YaHei UI" panose="020B0503020204020204" charset="-122"/>
              <a:ea typeface="Microsoft YaHei UI" panose="020B0503020204020204" charset="-122"/>
              <a:cs typeface="Microsoft YaHei UI" panose="020B0503020204020204" charset="-122"/>
            </a:endParaRPr>
          </a:p>
        </p:txBody>
      </p:sp>
      <p:sp>
        <p:nvSpPr>
          <p:cNvPr id="15" name="矩形 14"/>
          <p:cNvSpPr>
            <a:spLocks noGrp="1"/>
          </p:cNvSpPr>
          <p:nvPr/>
        </p:nvSpPr>
        <p:spPr>
          <a:xfrm>
            <a:off x="5200650" y="295275"/>
            <a:ext cx="1123950" cy="323850"/>
          </a:xfrm>
          <a:prstGeom prst="rect">
            <a:avLst/>
          </a:prstGeom>
          <a:noFill/>
          <a:ln w="0">
            <a:solidFill>
              <a:srgbClr val="FFFFFF"/>
            </a:solidFill>
          </a:ln>
        </p:spPr>
        <p:txBody>
          <a:bodyPr lIns="76200" tIns="38100" rIns="76200" bIns="38100" anchor="ctr"/>
          <a:lstStyle/>
          <a:p>
            <a:pPr algn="ctr">
              <a:defRPr sz="1125" b="0">
                <a:solidFill>
                  <a:srgbClr val="161616"/>
                </a:solidFill>
                <a:latin typeface="Microsoft YaHei UI" panose="020B0503020204020204" charset="-122"/>
                <a:ea typeface="Microsoft YaHei UI" panose="020B0503020204020204" charset="-122"/>
                <a:cs typeface="Microsoft YaHei UI" panose="020B0503020204020204" charset="-122"/>
              </a:defRPr>
            </a:pPr>
            <a:r>
              <a:rPr sz="1125" b="0">
                <a:solidFill>
                  <a:srgbClr val="161616"/>
                </a:solidFill>
                <a:latin typeface="Microsoft YaHei UI" panose="020B0503020204020204" charset="-122"/>
                <a:ea typeface="Microsoft YaHei UI" panose="020B0503020204020204" charset="-122"/>
                <a:cs typeface="Microsoft YaHei UI" panose="020B0503020204020204" charset="-122"/>
              </a:rPr>
              <a:t>科学问题</a:t>
            </a:r>
            <a:endParaRPr sz="1125" b="0">
              <a:solidFill>
                <a:srgbClr val="161616"/>
              </a:solidFill>
              <a:latin typeface="Microsoft YaHei UI" panose="020B0503020204020204" charset="-122"/>
              <a:ea typeface="Microsoft YaHei UI" panose="020B0503020204020204" charset="-122"/>
              <a:cs typeface="Microsoft YaHei UI" panose="020B0503020204020204" charset="-122"/>
            </a:endParaRPr>
          </a:p>
        </p:txBody>
      </p:sp>
      <p:sp>
        <p:nvSpPr>
          <p:cNvPr id="16" name="矩形 15"/>
          <p:cNvSpPr>
            <a:spLocks noGrp="1"/>
          </p:cNvSpPr>
          <p:nvPr/>
        </p:nvSpPr>
        <p:spPr>
          <a:xfrm>
            <a:off x="6400800" y="228600"/>
            <a:ext cx="1123950" cy="323850"/>
          </a:xfrm>
          <a:prstGeom prst="rect">
            <a:avLst/>
          </a:prstGeom>
          <a:noFill/>
          <a:ln w="0">
            <a:solidFill>
              <a:srgbClr val="FFFFFF"/>
            </a:solidFill>
          </a:ln>
        </p:spPr>
        <p:txBody>
          <a:bodyPr lIns="76200" tIns="38100" rIns="76200" bIns="38100" anchor="ctr"/>
          <a:lstStyle/>
          <a:p>
            <a:pPr algn="ctr">
              <a:defRPr sz="1500" b="1">
                <a:solidFill>
                  <a:srgbClr val="206040"/>
                </a:solidFill>
                <a:latin typeface="Microsoft YaHei UI" panose="020B0503020204020204" charset="-122"/>
                <a:ea typeface="Microsoft YaHei UI" panose="020B0503020204020204" charset="-122"/>
                <a:cs typeface="Microsoft YaHei UI" panose="020B0503020204020204" charset="-122"/>
              </a:defRPr>
            </a:pPr>
            <a:r>
              <a:rPr sz="1500" b="1">
                <a:solidFill>
                  <a:srgbClr val="206040"/>
                </a:solidFill>
                <a:latin typeface="Microsoft YaHei UI" panose="020B0503020204020204" charset="-122"/>
                <a:ea typeface="Microsoft YaHei UI" panose="020B0503020204020204" charset="-122"/>
                <a:cs typeface="Microsoft YaHei UI" panose="020B0503020204020204" charset="-122"/>
              </a:rPr>
              <a:t>理论机制</a:t>
            </a:r>
            <a:endParaRPr sz="1500" b="1">
              <a:solidFill>
                <a:srgbClr val="206040"/>
              </a:solidFill>
              <a:latin typeface="Microsoft YaHei UI" panose="020B0503020204020204" charset="-122"/>
              <a:ea typeface="Microsoft YaHei UI" panose="020B0503020204020204" charset="-122"/>
              <a:cs typeface="Microsoft YaHei UI" panose="020B0503020204020204" charset="-122"/>
            </a:endParaRPr>
          </a:p>
        </p:txBody>
      </p:sp>
      <p:sp>
        <p:nvSpPr>
          <p:cNvPr id="17" name="圆角矩形 16"/>
          <p:cNvSpPr>
            <a:spLocks noGrp="1"/>
          </p:cNvSpPr>
          <p:nvPr/>
        </p:nvSpPr>
        <p:spPr>
          <a:xfrm>
            <a:off x="6572250" y="657225"/>
            <a:ext cx="781050" cy="38100"/>
          </a:xfrm>
          <a:prstGeom prst="roundRect">
            <a:avLst>
              <a:gd name="adj" fmla="val 25000"/>
            </a:avLst>
          </a:prstGeom>
          <a:solidFill>
            <a:srgbClr val="206040"/>
          </a:solidFill>
          <a:ln w="0">
            <a:solidFill>
              <a:srgbClr val="FFFFFF"/>
            </a:solidFill>
          </a:ln>
        </p:spPr>
      </p:sp>
      <p:sp>
        <p:nvSpPr>
          <p:cNvPr id="18" name="矩形 17"/>
          <p:cNvSpPr>
            <a:spLocks noGrp="1"/>
          </p:cNvSpPr>
          <p:nvPr/>
        </p:nvSpPr>
        <p:spPr>
          <a:xfrm>
            <a:off x="7600950" y="295275"/>
            <a:ext cx="1123950" cy="323850"/>
          </a:xfrm>
          <a:prstGeom prst="rect">
            <a:avLst/>
          </a:prstGeom>
          <a:noFill/>
          <a:ln w="0">
            <a:solidFill>
              <a:srgbClr val="FFFFFF"/>
            </a:solidFill>
          </a:ln>
        </p:spPr>
        <p:txBody>
          <a:bodyPr lIns="76200" tIns="38100" rIns="76200" bIns="38100" anchor="ctr"/>
          <a:lstStyle/>
          <a:p>
            <a:pPr algn="ctr">
              <a:defRPr sz="1125" b="0">
                <a:solidFill>
                  <a:srgbClr val="161616"/>
                </a:solidFill>
                <a:latin typeface="Microsoft YaHei UI" panose="020B0503020204020204" charset="-122"/>
                <a:ea typeface="Microsoft YaHei UI" panose="020B0503020204020204" charset="-122"/>
                <a:cs typeface="Microsoft YaHei UI" panose="020B0503020204020204" charset="-122"/>
              </a:defRPr>
            </a:pPr>
            <a:r>
              <a:rPr sz="1125" b="0">
                <a:solidFill>
                  <a:srgbClr val="161616"/>
                </a:solidFill>
                <a:latin typeface="Microsoft YaHei UI" panose="020B0503020204020204" charset="-122"/>
                <a:ea typeface="Microsoft YaHei UI" panose="020B0503020204020204" charset="-122"/>
                <a:cs typeface="Microsoft YaHei UI" panose="020B0503020204020204" charset="-122"/>
              </a:rPr>
              <a:t>数据变量</a:t>
            </a:r>
            <a:endParaRPr sz="1125" b="0">
              <a:solidFill>
                <a:srgbClr val="161616"/>
              </a:solidFill>
              <a:latin typeface="Microsoft YaHei UI" panose="020B0503020204020204" charset="-122"/>
              <a:ea typeface="Microsoft YaHei UI" panose="020B0503020204020204" charset="-122"/>
              <a:cs typeface="Microsoft YaHei UI" panose="020B0503020204020204" charset="-122"/>
            </a:endParaRPr>
          </a:p>
        </p:txBody>
      </p:sp>
      <p:sp>
        <p:nvSpPr>
          <p:cNvPr id="19" name="矩形 18"/>
          <p:cNvSpPr>
            <a:spLocks noGrp="1"/>
          </p:cNvSpPr>
          <p:nvPr/>
        </p:nvSpPr>
        <p:spPr>
          <a:xfrm>
            <a:off x="8801100" y="295275"/>
            <a:ext cx="1123950" cy="323850"/>
          </a:xfrm>
          <a:prstGeom prst="rect">
            <a:avLst/>
          </a:prstGeom>
          <a:noFill/>
          <a:ln w="0">
            <a:solidFill>
              <a:srgbClr val="FFFFFF"/>
            </a:solidFill>
          </a:ln>
        </p:spPr>
        <p:txBody>
          <a:bodyPr lIns="76200" tIns="38100" rIns="76200" bIns="38100" anchor="ctr"/>
          <a:lstStyle/>
          <a:p>
            <a:pPr algn="ctr">
              <a:defRPr sz="1125" b="0">
                <a:solidFill>
                  <a:srgbClr val="161616"/>
                </a:solidFill>
                <a:latin typeface="Microsoft YaHei UI" panose="020B0503020204020204" charset="-122"/>
                <a:ea typeface="Microsoft YaHei UI" panose="020B0503020204020204" charset="-122"/>
                <a:cs typeface="Microsoft YaHei UI" panose="020B0503020204020204" charset="-122"/>
              </a:defRPr>
            </a:pPr>
            <a:r>
              <a:rPr sz="1125" b="0">
                <a:solidFill>
                  <a:srgbClr val="161616"/>
                </a:solidFill>
                <a:latin typeface="Microsoft YaHei UI" panose="020B0503020204020204" charset="-122"/>
                <a:ea typeface="Microsoft YaHei UI" panose="020B0503020204020204" charset="-122"/>
                <a:cs typeface="Microsoft YaHei UI" panose="020B0503020204020204" charset="-122"/>
              </a:rPr>
              <a:t>模型识别</a:t>
            </a:r>
            <a:endParaRPr sz="1125" b="0">
              <a:solidFill>
                <a:srgbClr val="161616"/>
              </a:solidFill>
              <a:latin typeface="Microsoft YaHei UI" panose="020B0503020204020204" charset="-122"/>
              <a:ea typeface="Microsoft YaHei UI" panose="020B0503020204020204" charset="-122"/>
              <a:cs typeface="Microsoft YaHei UI" panose="020B0503020204020204" charset="-122"/>
            </a:endParaRPr>
          </a:p>
        </p:txBody>
      </p:sp>
      <p:sp>
        <p:nvSpPr>
          <p:cNvPr id="20" name="矩形 19"/>
          <p:cNvSpPr>
            <a:spLocks noGrp="1"/>
          </p:cNvSpPr>
          <p:nvPr/>
        </p:nvSpPr>
        <p:spPr>
          <a:xfrm>
            <a:off x="10001250" y="295275"/>
            <a:ext cx="1123950" cy="323850"/>
          </a:xfrm>
          <a:prstGeom prst="rect">
            <a:avLst/>
          </a:prstGeom>
          <a:noFill/>
          <a:ln w="0">
            <a:solidFill>
              <a:srgbClr val="FFFFFF"/>
            </a:solidFill>
          </a:ln>
        </p:spPr>
        <p:txBody>
          <a:bodyPr lIns="76200" tIns="38100" rIns="76200" bIns="38100" anchor="ctr"/>
          <a:lstStyle/>
          <a:p>
            <a:pPr algn="ctr">
              <a:defRPr sz="1125" b="0">
                <a:solidFill>
                  <a:srgbClr val="161616"/>
                </a:solidFill>
                <a:latin typeface="Microsoft YaHei UI" panose="020B0503020204020204" charset="-122"/>
                <a:ea typeface="Microsoft YaHei UI" panose="020B0503020204020204" charset="-122"/>
                <a:cs typeface="Microsoft YaHei UI" panose="020B0503020204020204" charset="-122"/>
              </a:defRPr>
            </a:pPr>
            <a:r>
              <a:rPr sz="1125" b="0">
                <a:solidFill>
                  <a:srgbClr val="161616"/>
                </a:solidFill>
                <a:latin typeface="Microsoft YaHei UI" panose="020B0503020204020204" charset="-122"/>
                <a:ea typeface="Microsoft YaHei UI" panose="020B0503020204020204" charset="-122"/>
                <a:cs typeface="Microsoft YaHei UI" panose="020B0503020204020204" charset="-122"/>
              </a:rPr>
              <a:t>预期贡献</a:t>
            </a:r>
            <a:endParaRPr sz="1125" b="0">
              <a:solidFill>
                <a:srgbClr val="161616"/>
              </a:solidFill>
              <a:latin typeface="Microsoft YaHei UI" panose="020B0503020204020204" charset="-122"/>
              <a:ea typeface="Microsoft YaHei UI" panose="020B0503020204020204" charset="-122"/>
              <a:cs typeface="Microsoft YaHei UI" panose="020B0503020204020204" charset="-122"/>
            </a:endParaRPr>
          </a:p>
        </p:txBody>
      </p:sp>
      <p:sp>
        <p:nvSpPr>
          <p:cNvPr id="21" name="圆角矩形 20"/>
          <p:cNvSpPr>
            <a:spLocks noGrp="1"/>
          </p:cNvSpPr>
          <p:nvPr/>
        </p:nvSpPr>
        <p:spPr>
          <a:xfrm>
            <a:off x="3905250" y="742950"/>
            <a:ext cx="8001000" cy="9525"/>
          </a:xfrm>
          <a:prstGeom prst="roundRect">
            <a:avLst>
              <a:gd name="adj" fmla="val 50000"/>
            </a:avLst>
          </a:prstGeom>
          <a:solidFill>
            <a:srgbClr val="D7DFDA"/>
          </a:solidFill>
          <a:ln w="0">
            <a:solidFill>
              <a:srgbClr val="FFFFFF"/>
            </a:solidFill>
          </a:ln>
        </p:spPr>
      </p:sp>
      <p:sp>
        <p:nvSpPr>
          <p:cNvPr id="22" name="矩形 21"/>
          <p:cNvSpPr>
            <a:spLocks noGrp="1"/>
          </p:cNvSpPr>
          <p:nvPr/>
        </p:nvSpPr>
        <p:spPr>
          <a:xfrm>
            <a:off x="11334750" y="6286500"/>
            <a:ext cx="495300" cy="266700"/>
          </a:xfrm>
          <a:prstGeom prst="rect">
            <a:avLst/>
          </a:prstGeom>
          <a:noFill/>
          <a:ln w="0">
            <a:solidFill>
              <a:srgbClr val="FFFFFF"/>
            </a:solidFill>
          </a:ln>
        </p:spPr>
        <p:txBody>
          <a:bodyPr lIns="76200" tIns="38100" rIns="76200" bIns="38100" anchor="ctr"/>
          <a:lstStyle/>
          <a:p>
            <a:pPr algn="r">
              <a:defRPr sz="975" b="0">
                <a:solidFill>
                  <a:srgbClr val="80A090"/>
                </a:solidFill>
                <a:latin typeface="Microsoft YaHei UI" panose="020B0503020204020204" charset="-122"/>
                <a:ea typeface="Microsoft YaHei UI" panose="020B0503020204020204" charset="-122"/>
                <a:cs typeface="Microsoft YaHei UI" panose="020B0503020204020204" charset="-122"/>
              </a:defRPr>
            </a:pPr>
            <a:r>
              <a:rPr sz="975" b="0">
                <a:solidFill>
                  <a:srgbClr val="80A090"/>
                </a:solidFill>
                <a:latin typeface="Microsoft YaHei UI" panose="020B0503020204020204" charset="-122"/>
                <a:ea typeface="Microsoft YaHei UI" panose="020B0503020204020204" charset="-122"/>
                <a:cs typeface="Microsoft YaHei UI" panose="020B0503020204020204" charset="-122"/>
              </a:rPr>
              <a:t>06</a:t>
            </a:r>
            <a:endParaRPr sz="975" b="0">
              <a:solidFill>
                <a:srgbClr val="80A090"/>
              </a:solidFill>
              <a:latin typeface="Microsoft YaHei UI" panose="020B0503020204020204" charset="-122"/>
              <a:ea typeface="Microsoft YaHei UI" panose="020B0503020204020204" charset="-122"/>
              <a:cs typeface="Microsoft YaHei UI" panose="020B0503020204020204" charset="-122"/>
            </a:endParaRPr>
          </a:p>
        </p:txBody>
      </p:sp>
      <p:sp>
        <p:nvSpPr>
          <p:cNvPr id="23" name="圆角矩形 22"/>
          <p:cNvSpPr>
            <a:spLocks noGrp="1"/>
          </p:cNvSpPr>
          <p:nvPr/>
        </p:nvSpPr>
        <p:spPr>
          <a:xfrm>
            <a:off x="857250" y="1619250"/>
            <a:ext cx="3048000" cy="2428875"/>
          </a:xfrm>
          <a:prstGeom prst="roundRect">
            <a:avLst>
              <a:gd name="adj" fmla="val 4706"/>
            </a:avLst>
          </a:prstGeom>
          <a:solidFill>
            <a:srgbClr val="FFFFFF"/>
          </a:solidFill>
          <a:ln w="11430">
            <a:solidFill>
              <a:srgbClr val="D7DFDA"/>
            </a:solidFill>
          </a:ln>
        </p:spPr>
      </p:sp>
      <p:sp>
        <p:nvSpPr>
          <p:cNvPr id="24" name="矩形 23"/>
          <p:cNvSpPr>
            <a:spLocks noGrp="1"/>
          </p:cNvSpPr>
          <p:nvPr/>
        </p:nvSpPr>
        <p:spPr>
          <a:xfrm>
            <a:off x="1028700" y="1752600"/>
            <a:ext cx="2705100" cy="323850"/>
          </a:xfrm>
          <a:prstGeom prst="rect">
            <a:avLst/>
          </a:prstGeom>
          <a:noFill/>
          <a:ln w="0">
            <a:solidFill>
              <a:srgbClr val="FFFFFF"/>
            </a:solidFill>
          </a:ln>
        </p:spPr>
        <p:txBody>
          <a:bodyPr lIns="76200" tIns="38100" rIns="76200" bIns="38100" anchor="ctr"/>
          <a:lstStyle/>
          <a:p>
            <a:pPr algn="l">
              <a:defRPr sz="1800" b="1">
                <a:solidFill>
                  <a:srgbClr val="206040"/>
                </a:solidFill>
                <a:latin typeface="Microsoft YaHei UI" panose="020B0503020204020204" charset="-122"/>
                <a:ea typeface="Microsoft YaHei UI" panose="020B0503020204020204" charset="-122"/>
                <a:cs typeface="Microsoft YaHei UI" panose="020B0503020204020204" charset="-122"/>
              </a:defRPr>
            </a:pPr>
            <a:r>
              <a:rPr sz="1800" b="1">
                <a:solidFill>
                  <a:srgbClr val="206040"/>
                </a:solidFill>
                <a:latin typeface="Microsoft YaHei UI" panose="020B0503020204020204" charset="-122"/>
                <a:ea typeface="Microsoft YaHei UI" panose="020B0503020204020204" charset="-122"/>
                <a:cs typeface="Microsoft YaHei UI" panose="020B0503020204020204" charset="-122"/>
              </a:rPr>
              <a:t>外部性理论</a:t>
            </a:r>
            <a:endParaRPr sz="1800" b="1">
              <a:solidFill>
                <a:srgbClr val="206040"/>
              </a:solidFill>
              <a:latin typeface="Microsoft YaHei UI" panose="020B0503020204020204" charset="-122"/>
              <a:ea typeface="Microsoft YaHei UI" panose="020B0503020204020204" charset="-122"/>
              <a:cs typeface="Microsoft YaHei UI" panose="020B0503020204020204" charset="-122"/>
            </a:endParaRPr>
          </a:p>
        </p:txBody>
      </p:sp>
      <p:sp>
        <p:nvSpPr>
          <p:cNvPr id="25" name="矩形 24"/>
          <p:cNvSpPr>
            <a:spLocks noGrp="1"/>
          </p:cNvSpPr>
          <p:nvPr/>
        </p:nvSpPr>
        <p:spPr>
          <a:xfrm>
            <a:off x="1028700" y="2133600"/>
            <a:ext cx="2705100" cy="1781175"/>
          </a:xfrm>
          <a:prstGeom prst="rect">
            <a:avLst/>
          </a:prstGeom>
          <a:noFill/>
          <a:ln w="0">
            <a:solidFill>
              <a:srgbClr val="FFFFFF"/>
            </a:solidFill>
          </a:ln>
        </p:spPr>
        <p:txBody>
          <a:bodyPr lIns="76200" tIns="38100" rIns="76200" bIns="38100" anchor="t"/>
          <a:lstStyle/>
          <a:p>
            <a:pPr algn="l">
              <a:defRPr sz="1350" b="0">
                <a:solidFill>
                  <a:srgbClr val="111111"/>
                </a:solidFill>
                <a:latin typeface="Microsoft YaHei UI" panose="020B0503020204020204" charset="-122"/>
                <a:ea typeface="Microsoft YaHei UI" panose="020B0503020204020204" charset="-122"/>
                <a:cs typeface="Microsoft YaHei UI" panose="020B0503020204020204" charset="-122"/>
              </a:defRPr>
            </a:pPr>
            <a:r>
              <a:rPr sz="1350" b="0">
                <a:solidFill>
                  <a:srgbClr val="111111"/>
                </a:solidFill>
                <a:latin typeface="Microsoft YaHei UI" panose="020B0503020204020204" charset="-122"/>
                <a:ea typeface="Microsoft YaHei UI" panose="020B0503020204020204" charset="-122"/>
                <a:cs typeface="Microsoft YaHei UI" panose="020B0503020204020204" charset="-122"/>
              </a:rPr>
              <a:t>污染排放具有负外部性，规制将社会成本内部化，解释政策必要性。</a:t>
            </a:r>
            <a:endParaRPr sz="1350"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26" name="圆角矩形 25"/>
          <p:cNvSpPr>
            <a:spLocks noGrp="1"/>
          </p:cNvSpPr>
          <p:nvPr/>
        </p:nvSpPr>
        <p:spPr>
          <a:xfrm>
            <a:off x="1524000" y="4429125"/>
            <a:ext cx="1714500" cy="361950"/>
          </a:xfrm>
          <a:prstGeom prst="roundRect">
            <a:avLst>
              <a:gd name="adj" fmla="val 50000"/>
            </a:avLst>
          </a:prstGeom>
          <a:solidFill>
            <a:srgbClr val="206040"/>
          </a:solidFill>
          <a:ln w="0">
            <a:solidFill>
              <a:srgbClr val="FFFFFF"/>
            </a:solidFill>
          </a:ln>
        </p:spPr>
      </p:sp>
      <p:sp>
        <p:nvSpPr>
          <p:cNvPr id="27" name="矩形 26"/>
          <p:cNvSpPr>
            <a:spLocks noGrp="1"/>
          </p:cNvSpPr>
          <p:nvPr/>
        </p:nvSpPr>
        <p:spPr>
          <a:xfrm>
            <a:off x="1524000" y="4429125"/>
            <a:ext cx="1714500" cy="361950"/>
          </a:xfrm>
          <a:prstGeom prst="rect">
            <a:avLst/>
          </a:prstGeom>
          <a:noFill/>
          <a:ln w="0">
            <a:solidFill>
              <a:srgbClr val="FFFFFF"/>
            </a:solidFill>
          </a:ln>
        </p:spPr>
        <p:txBody>
          <a:bodyPr lIns="76200" tIns="38100" rIns="76200" bIns="38100" anchor="ctr"/>
          <a:lstStyle/>
          <a:p>
            <a:pPr algn="ctr">
              <a:defRPr sz="1200" b="1">
                <a:solidFill>
                  <a:srgbClr val="FFFFFF"/>
                </a:solidFill>
                <a:latin typeface="Microsoft YaHei UI" panose="020B0503020204020204" charset="-122"/>
                <a:ea typeface="Microsoft YaHei UI" panose="020B0503020204020204" charset="-122"/>
                <a:cs typeface="Microsoft YaHei UI" panose="020B0503020204020204" charset="-122"/>
              </a:defRPr>
            </a:pPr>
            <a:r>
              <a:rPr sz="1200" b="1">
                <a:solidFill>
                  <a:srgbClr val="FFFFFF"/>
                </a:solidFill>
                <a:latin typeface="Microsoft YaHei UI" panose="020B0503020204020204" charset="-122"/>
                <a:ea typeface="Microsoft YaHei UI" panose="020B0503020204020204" charset="-122"/>
                <a:cs typeface="Microsoft YaHei UI" panose="020B0503020204020204" charset="-122"/>
              </a:rPr>
              <a:t>规范基础</a:t>
            </a:r>
            <a:endParaRPr sz="1200" b="1">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28" name="圆角矩形 27"/>
          <p:cNvSpPr>
            <a:spLocks noGrp="1"/>
          </p:cNvSpPr>
          <p:nvPr/>
        </p:nvSpPr>
        <p:spPr>
          <a:xfrm>
            <a:off x="4476750" y="1619250"/>
            <a:ext cx="3048000" cy="2428875"/>
          </a:xfrm>
          <a:prstGeom prst="roundRect">
            <a:avLst>
              <a:gd name="adj" fmla="val 4706"/>
            </a:avLst>
          </a:prstGeom>
          <a:solidFill>
            <a:srgbClr val="FFFFFF"/>
          </a:solidFill>
          <a:ln w="11430">
            <a:solidFill>
              <a:srgbClr val="D7DFDA"/>
            </a:solidFill>
          </a:ln>
        </p:spPr>
      </p:sp>
      <p:sp>
        <p:nvSpPr>
          <p:cNvPr id="29" name="矩形 28"/>
          <p:cNvSpPr>
            <a:spLocks noGrp="1"/>
          </p:cNvSpPr>
          <p:nvPr/>
        </p:nvSpPr>
        <p:spPr>
          <a:xfrm>
            <a:off x="4648200" y="1752600"/>
            <a:ext cx="2705100" cy="323850"/>
          </a:xfrm>
          <a:prstGeom prst="rect">
            <a:avLst/>
          </a:prstGeom>
          <a:noFill/>
          <a:ln w="0">
            <a:solidFill>
              <a:srgbClr val="FFFFFF"/>
            </a:solidFill>
          </a:ln>
        </p:spPr>
        <p:txBody>
          <a:bodyPr lIns="76200" tIns="38100" rIns="76200" bIns="38100" anchor="ctr"/>
          <a:lstStyle/>
          <a:p>
            <a:pPr algn="l">
              <a:defRPr sz="1800" b="1">
                <a:solidFill>
                  <a:srgbClr val="206040"/>
                </a:solidFill>
                <a:latin typeface="Microsoft YaHei UI" panose="020B0503020204020204" charset="-122"/>
                <a:ea typeface="Microsoft YaHei UI" panose="020B0503020204020204" charset="-122"/>
                <a:cs typeface="Microsoft YaHei UI" panose="020B0503020204020204" charset="-122"/>
              </a:defRPr>
            </a:pPr>
            <a:r>
              <a:rPr sz="1800" b="1">
                <a:solidFill>
                  <a:srgbClr val="206040"/>
                </a:solidFill>
                <a:latin typeface="Microsoft YaHei UI" panose="020B0503020204020204" charset="-122"/>
                <a:ea typeface="Microsoft YaHei UI" panose="020B0503020204020204" charset="-122"/>
                <a:cs typeface="Microsoft YaHei UI" panose="020B0503020204020204" charset="-122"/>
              </a:rPr>
              <a:t>波特假说</a:t>
            </a:r>
            <a:endParaRPr sz="1800" b="1">
              <a:solidFill>
                <a:srgbClr val="206040"/>
              </a:solidFill>
              <a:latin typeface="Microsoft YaHei UI" panose="020B0503020204020204" charset="-122"/>
              <a:ea typeface="Microsoft YaHei UI" panose="020B0503020204020204" charset="-122"/>
              <a:cs typeface="Microsoft YaHei UI" panose="020B0503020204020204" charset="-122"/>
            </a:endParaRPr>
          </a:p>
        </p:txBody>
      </p:sp>
      <p:sp>
        <p:nvSpPr>
          <p:cNvPr id="30" name="矩形 29"/>
          <p:cNvSpPr>
            <a:spLocks noGrp="1"/>
          </p:cNvSpPr>
          <p:nvPr/>
        </p:nvSpPr>
        <p:spPr>
          <a:xfrm>
            <a:off x="4648200" y="2133600"/>
            <a:ext cx="2705100" cy="1781175"/>
          </a:xfrm>
          <a:prstGeom prst="rect">
            <a:avLst/>
          </a:prstGeom>
          <a:noFill/>
          <a:ln w="0">
            <a:solidFill>
              <a:srgbClr val="FFFFFF"/>
            </a:solidFill>
          </a:ln>
        </p:spPr>
        <p:txBody>
          <a:bodyPr lIns="76200" tIns="38100" rIns="76200" bIns="38100" anchor="t"/>
          <a:lstStyle/>
          <a:p>
            <a:pPr algn="l">
              <a:defRPr sz="1350" b="0">
                <a:solidFill>
                  <a:srgbClr val="111111"/>
                </a:solidFill>
                <a:latin typeface="Microsoft YaHei UI" panose="020B0503020204020204" charset="-122"/>
                <a:ea typeface="Microsoft YaHei UI" panose="020B0503020204020204" charset="-122"/>
                <a:cs typeface="Microsoft YaHei UI" panose="020B0503020204020204" charset="-122"/>
              </a:defRPr>
            </a:pPr>
            <a:r>
              <a:rPr sz="1350" b="0">
                <a:solidFill>
                  <a:srgbClr val="111111"/>
                </a:solidFill>
                <a:latin typeface="Microsoft YaHei UI" panose="020B0503020204020204" charset="-122"/>
                <a:ea typeface="Microsoft YaHei UI" panose="020B0503020204020204" charset="-122"/>
                <a:cs typeface="Microsoft YaHei UI" panose="020B0503020204020204" charset="-122"/>
              </a:rPr>
              <a:t>合理且有效的规制可能倒逼企业发现浪费、改进流程和开发清洁技术。</a:t>
            </a:r>
            <a:endParaRPr sz="1350"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31" name="圆角矩形 30"/>
          <p:cNvSpPr>
            <a:spLocks noGrp="1"/>
          </p:cNvSpPr>
          <p:nvPr/>
        </p:nvSpPr>
        <p:spPr>
          <a:xfrm>
            <a:off x="5143500" y="4429125"/>
            <a:ext cx="1714500" cy="361950"/>
          </a:xfrm>
          <a:prstGeom prst="roundRect">
            <a:avLst>
              <a:gd name="adj" fmla="val 50000"/>
            </a:avLst>
          </a:prstGeom>
          <a:solidFill>
            <a:srgbClr val="FFC000"/>
          </a:solidFill>
          <a:ln w="0">
            <a:solidFill>
              <a:srgbClr val="FFFFFF"/>
            </a:solidFill>
          </a:ln>
        </p:spPr>
      </p:sp>
      <p:sp>
        <p:nvSpPr>
          <p:cNvPr id="32" name="矩形 31"/>
          <p:cNvSpPr>
            <a:spLocks noGrp="1"/>
          </p:cNvSpPr>
          <p:nvPr/>
        </p:nvSpPr>
        <p:spPr>
          <a:xfrm>
            <a:off x="5143500" y="4429125"/>
            <a:ext cx="1714500" cy="361950"/>
          </a:xfrm>
          <a:prstGeom prst="rect">
            <a:avLst/>
          </a:prstGeom>
          <a:noFill/>
          <a:ln w="0">
            <a:solidFill>
              <a:srgbClr val="FFFFFF"/>
            </a:solidFill>
          </a:ln>
        </p:spPr>
        <p:txBody>
          <a:bodyPr lIns="76200" tIns="38100" rIns="76200" bIns="38100" anchor="ctr"/>
          <a:lstStyle/>
          <a:p>
            <a:pPr algn="ctr">
              <a:defRPr sz="1200" b="1">
                <a:solidFill>
                  <a:srgbClr val="111111"/>
                </a:solidFill>
                <a:latin typeface="Microsoft YaHei UI" panose="020B0503020204020204" charset="-122"/>
                <a:ea typeface="Microsoft YaHei UI" panose="020B0503020204020204" charset="-122"/>
                <a:cs typeface="Microsoft YaHei UI" panose="020B0503020204020204" charset="-122"/>
              </a:defRPr>
            </a:pPr>
            <a:r>
              <a:rPr sz="1200" b="1">
                <a:solidFill>
                  <a:srgbClr val="111111"/>
                </a:solidFill>
                <a:latin typeface="Microsoft YaHei UI" panose="020B0503020204020204" charset="-122"/>
                <a:ea typeface="Microsoft YaHei UI" panose="020B0503020204020204" charset="-122"/>
                <a:cs typeface="Microsoft YaHei UI" panose="020B0503020204020204" charset="-122"/>
              </a:rPr>
              <a:t>动态补偿</a:t>
            </a:r>
            <a:endParaRPr sz="1200" b="1">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33" name="圆角矩形 32"/>
          <p:cNvSpPr>
            <a:spLocks noGrp="1"/>
          </p:cNvSpPr>
          <p:nvPr/>
        </p:nvSpPr>
        <p:spPr>
          <a:xfrm>
            <a:off x="8096250" y="1619250"/>
            <a:ext cx="3048000" cy="2428875"/>
          </a:xfrm>
          <a:prstGeom prst="roundRect">
            <a:avLst>
              <a:gd name="adj" fmla="val 4706"/>
            </a:avLst>
          </a:prstGeom>
          <a:solidFill>
            <a:srgbClr val="FFFFFF"/>
          </a:solidFill>
          <a:ln w="11430">
            <a:solidFill>
              <a:srgbClr val="D7DFDA"/>
            </a:solidFill>
          </a:ln>
        </p:spPr>
      </p:sp>
      <p:sp>
        <p:nvSpPr>
          <p:cNvPr id="34" name="矩形 33"/>
          <p:cNvSpPr>
            <a:spLocks noGrp="1"/>
          </p:cNvSpPr>
          <p:nvPr/>
        </p:nvSpPr>
        <p:spPr>
          <a:xfrm>
            <a:off x="8267700" y="1752600"/>
            <a:ext cx="2705100" cy="323850"/>
          </a:xfrm>
          <a:prstGeom prst="rect">
            <a:avLst/>
          </a:prstGeom>
          <a:noFill/>
          <a:ln w="0">
            <a:solidFill>
              <a:srgbClr val="FFFFFF"/>
            </a:solidFill>
          </a:ln>
        </p:spPr>
        <p:txBody>
          <a:bodyPr lIns="76200" tIns="38100" rIns="76200" bIns="38100" anchor="ctr"/>
          <a:lstStyle/>
          <a:p>
            <a:pPr algn="l">
              <a:defRPr sz="1800" b="1">
                <a:solidFill>
                  <a:srgbClr val="206040"/>
                </a:solidFill>
                <a:latin typeface="Microsoft YaHei UI" panose="020B0503020204020204" charset="-122"/>
                <a:ea typeface="Microsoft YaHei UI" panose="020B0503020204020204" charset="-122"/>
                <a:cs typeface="Microsoft YaHei UI" panose="020B0503020204020204" charset="-122"/>
              </a:defRPr>
            </a:pPr>
            <a:r>
              <a:rPr sz="1800" b="1">
                <a:solidFill>
                  <a:srgbClr val="206040"/>
                </a:solidFill>
                <a:latin typeface="Microsoft YaHei UI" panose="020B0503020204020204" charset="-122"/>
                <a:ea typeface="Microsoft YaHei UI" panose="020B0503020204020204" charset="-122"/>
                <a:cs typeface="Microsoft YaHei UI" panose="020B0503020204020204" charset="-122"/>
              </a:rPr>
              <a:t>资源基础观</a:t>
            </a:r>
            <a:endParaRPr sz="1800" b="1">
              <a:solidFill>
                <a:srgbClr val="206040"/>
              </a:solidFill>
              <a:latin typeface="Microsoft YaHei UI" panose="020B0503020204020204" charset="-122"/>
              <a:ea typeface="Microsoft YaHei UI" panose="020B0503020204020204" charset="-122"/>
              <a:cs typeface="Microsoft YaHei UI" panose="020B0503020204020204" charset="-122"/>
            </a:endParaRPr>
          </a:p>
        </p:txBody>
      </p:sp>
      <p:sp>
        <p:nvSpPr>
          <p:cNvPr id="35" name="矩形 34"/>
          <p:cNvSpPr>
            <a:spLocks noGrp="1"/>
          </p:cNvSpPr>
          <p:nvPr/>
        </p:nvSpPr>
        <p:spPr>
          <a:xfrm>
            <a:off x="8267700" y="2133600"/>
            <a:ext cx="2705100" cy="1781175"/>
          </a:xfrm>
          <a:prstGeom prst="rect">
            <a:avLst/>
          </a:prstGeom>
          <a:noFill/>
          <a:ln w="0">
            <a:solidFill>
              <a:srgbClr val="FFFFFF"/>
            </a:solidFill>
          </a:ln>
        </p:spPr>
        <p:txBody>
          <a:bodyPr lIns="76200" tIns="38100" rIns="76200" bIns="38100" anchor="t"/>
          <a:lstStyle/>
          <a:p>
            <a:pPr algn="l">
              <a:defRPr sz="1350" b="0">
                <a:solidFill>
                  <a:srgbClr val="111111"/>
                </a:solidFill>
                <a:latin typeface="Microsoft YaHei UI" panose="020B0503020204020204" charset="-122"/>
                <a:ea typeface="Microsoft YaHei UI" panose="020B0503020204020204" charset="-122"/>
                <a:cs typeface="Microsoft YaHei UI" panose="020B0503020204020204" charset="-122"/>
              </a:defRPr>
            </a:pPr>
            <a:r>
              <a:rPr sz="1350" b="0">
                <a:solidFill>
                  <a:srgbClr val="111111"/>
                </a:solidFill>
                <a:latin typeface="Microsoft YaHei UI" panose="020B0503020204020204" charset="-122"/>
                <a:ea typeface="Microsoft YaHei UI" panose="020B0503020204020204" charset="-122"/>
                <a:cs typeface="Microsoft YaHei UI" panose="020B0503020204020204" charset="-122"/>
              </a:rPr>
              <a:t>企业能否把压力转为绿色能力，取决于研发、财务资源和管理体系。</a:t>
            </a:r>
            <a:endParaRPr sz="1350"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36" name="圆角矩形 35"/>
          <p:cNvSpPr>
            <a:spLocks noGrp="1"/>
          </p:cNvSpPr>
          <p:nvPr/>
        </p:nvSpPr>
        <p:spPr>
          <a:xfrm>
            <a:off x="8763000" y="4429125"/>
            <a:ext cx="1714500" cy="361950"/>
          </a:xfrm>
          <a:prstGeom prst="roundRect">
            <a:avLst>
              <a:gd name="adj" fmla="val 50000"/>
            </a:avLst>
          </a:prstGeom>
          <a:solidFill>
            <a:srgbClr val="206040"/>
          </a:solidFill>
          <a:ln w="0">
            <a:solidFill>
              <a:srgbClr val="FFFFFF"/>
            </a:solidFill>
          </a:ln>
        </p:spPr>
      </p:sp>
      <p:sp>
        <p:nvSpPr>
          <p:cNvPr id="37" name="矩形 36"/>
          <p:cNvSpPr>
            <a:spLocks noGrp="1"/>
          </p:cNvSpPr>
          <p:nvPr/>
        </p:nvSpPr>
        <p:spPr>
          <a:xfrm>
            <a:off x="8763000" y="4429125"/>
            <a:ext cx="1714500" cy="361950"/>
          </a:xfrm>
          <a:prstGeom prst="rect">
            <a:avLst/>
          </a:prstGeom>
          <a:noFill/>
          <a:ln w="0">
            <a:solidFill>
              <a:srgbClr val="FFFFFF"/>
            </a:solidFill>
          </a:ln>
        </p:spPr>
        <p:txBody>
          <a:bodyPr lIns="76200" tIns="38100" rIns="76200" bIns="38100" anchor="ctr"/>
          <a:lstStyle/>
          <a:p>
            <a:pPr algn="ctr">
              <a:defRPr sz="1200" b="1">
                <a:solidFill>
                  <a:srgbClr val="FFFFFF"/>
                </a:solidFill>
                <a:latin typeface="Microsoft YaHei UI" panose="020B0503020204020204" charset="-122"/>
                <a:ea typeface="Microsoft YaHei UI" panose="020B0503020204020204" charset="-122"/>
                <a:cs typeface="Microsoft YaHei UI" panose="020B0503020204020204" charset="-122"/>
              </a:defRPr>
            </a:pPr>
            <a:r>
              <a:rPr sz="1200" b="1">
                <a:solidFill>
                  <a:srgbClr val="FFFFFF"/>
                </a:solidFill>
                <a:latin typeface="Microsoft YaHei UI" panose="020B0503020204020204" charset="-122"/>
                <a:ea typeface="Microsoft YaHei UI" panose="020B0503020204020204" charset="-122"/>
                <a:cs typeface="Microsoft YaHei UI" panose="020B0503020204020204" charset="-122"/>
              </a:rPr>
              <a:t>能力边界</a:t>
            </a:r>
            <a:endParaRPr sz="1200" b="1">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38" name="圆角矩形 37"/>
          <p:cNvSpPr>
            <a:spLocks noGrp="1"/>
          </p:cNvSpPr>
          <p:nvPr/>
        </p:nvSpPr>
        <p:spPr>
          <a:xfrm>
            <a:off x="666750" y="5981700"/>
            <a:ext cx="9906000" cy="400050"/>
          </a:xfrm>
          <a:prstGeom prst="roundRect">
            <a:avLst>
              <a:gd name="adj" fmla="val 23810"/>
            </a:avLst>
          </a:prstGeom>
          <a:solidFill>
            <a:srgbClr val="FFF8DA"/>
          </a:solidFill>
          <a:ln w="11430">
            <a:solidFill>
              <a:srgbClr val="E9D47A"/>
            </a:solidFill>
          </a:ln>
        </p:spPr>
      </p:sp>
      <p:sp>
        <p:nvSpPr>
          <p:cNvPr id="39" name="矩形 38"/>
          <p:cNvSpPr>
            <a:spLocks noGrp="1"/>
          </p:cNvSpPr>
          <p:nvPr/>
        </p:nvSpPr>
        <p:spPr>
          <a:xfrm>
            <a:off x="876300" y="6048375"/>
            <a:ext cx="9477375" cy="266700"/>
          </a:xfrm>
          <a:prstGeom prst="rect">
            <a:avLst/>
          </a:prstGeom>
          <a:noFill/>
          <a:ln w="0">
            <a:solidFill>
              <a:srgbClr val="FFFFFF"/>
            </a:solidFill>
          </a:ln>
        </p:spPr>
        <p:txBody>
          <a:bodyPr lIns="76200" tIns="38100" rIns="76200" bIns="38100" anchor="ctr"/>
          <a:lstStyle/>
          <a:p>
            <a:pPr algn="l">
              <a:defRPr sz="1200" b="1">
                <a:solidFill>
                  <a:srgbClr val="206040"/>
                </a:solidFill>
                <a:latin typeface="Microsoft YaHei UI" panose="020B0503020204020204" charset="-122"/>
                <a:ea typeface="Microsoft YaHei UI" panose="020B0503020204020204" charset="-122"/>
                <a:cs typeface="Microsoft YaHei UI" panose="020B0503020204020204" charset="-122"/>
              </a:defRPr>
            </a:pPr>
            <a:r>
              <a:rPr sz="1200" b="1">
                <a:solidFill>
                  <a:srgbClr val="206040"/>
                </a:solidFill>
                <a:latin typeface="Microsoft YaHei UI" panose="020B0503020204020204" charset="-122"/>
                <a:ea typeface="Microsoft YaHei UI" panose="020B0503020204020204" charset="-122"/>
                <a:cs typeface="Microsoft YaHei UI" panose="020B0503020204020204" charset="-122"/>
              </a:rPr>
              <a:t>三种理论共同指向：同一规制压力在不同企业中可能呈现成本挤出或效率补偿。</a:t>
            </a:r>
            <a:endParaRPr sz="1200" b="1">
              <a:solidFill>
                <a:srgbClr val="206040"/>
              </a:solidFill>
              <a:latin typeface="Microsoft YaHei UI" panose="020B0503020204020204" charset="-122"/>
              <a:ea typeface="Microsoft YaHei UI" panose="020B0503020204020204" charset="-122"/>
              <a:cs typeface="Microsoft YaHei UI" panose="020B050302020402020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a:spLocks noGrp="1"/>
          </p:cNvSpPr>
          <p:nvPr/>
        </p:nvSpPr>
        <p:spPr>
          <a:xfrm>
            <a:off x="0" y="0"/>
            <a:ext cx="12192000" cy="6858000"/>
          </a:xfrm>
          <a:prstGeom prst="rect">
            <a:avLst/>
          </a:prstGeom>
          <a:solidFill>
            <a:srgbClr val="F4F6F5"/>
          </a:solidFill>
          <a:ln w="0">
            <a:solidFill>
              <a:srgbClr val="FFFFFF"/>
            </a:solidFill>
          </a:ln>
        </p:spPr>
      </p:sp>
      <p:sp>
        <p:nvSpPr>
          <p:cNvPr id="3" name="矩形 2"/>
          <p:cNvSpPr>
            <a:spLocks noGrp="1"/>
          </p:cNvSpPr>
          <p:nvPr/>
        </p:nvSpPr>
        <p:spPr>
          <a:xfrm>
            <a:off x="0" y="0"/>
            <a:ext cx="12192000" cy="6858000"/>
          </a:xfrm>
          <a:prstGeom prst="rect">
            <a:avLst/>
          </a:prstGeom>
          <a:solidFill>
            <a:srgbClr val="F9FAF9"/>
          </a:solidFill>
          <a:ln w="0">
            <a:solidFill>
              <a:srgbClr val="FFFFFF"/>
            </a:solidFill>
          </a:ln>
        </p:spPr>
      </p:sp>
      <p:sp>
        <p:nvSpPr>
          <p:cNvPr id="4" name="矩形 3"/>
          <p:cNvSpPr>
            <a:spLocks noGrp="1"/>
          </p:cNvSpPr>
          <p:nvPr/>
        </p:nvSpPr>
        <p:spPr>
          <a:xfrm>
            <a:off x="8858250" y="0"/>
            <a:ext cx="3333750" cy="6858000"/>
          </a:xfrm>
          <a:prstGeom prst="rect">
            <a:avLst/>
          </a:prstGeom>
          <a:solidFill>
            <a:srgbClr val="F7F9F8"/>
          </a:solidFill>
          <a:ln w="0">
            <a:solidFill>
              <a:srgbClr val="FFFFFF"/>
            </a:solidFill>
          </a:ln>
        </p:spPr>
      </p:sp>
      <p:sp>
        <p:nvSpPr>
          <p:cNvPr id="5" name="矩形 4"/>
          <p:cNvSpPr>
            <a:spLocks noGrp="1"/>
          </p:cNvSpPr>
          <p:nvPr/>
        </p:nvSpPr>
        <p:spPr>
          <a:xfrm>
            <a:off x="0" y="6115050"/>
            <a:ext cx="12192000" cy="742950"/>
          </a:xfrm>
          <a:prstGeom prst="rect">
            <a:avLst/>
          </a:prstGeom>
          <a:solidFill>
            <a:srgbClr val="F8FAF9"/>
          </a:solidFill>
          <a:ln w="0">
            <a:solidFill>
              <a:srgbClr val="FFFFFF"/>
            </a:solidFill>
          </a:ln>
        </p:spPr>
      </p:sp>
      <p:sp>
        <p:nvSpPr>
          <p:cNvPr id="6" name="等腰三角形 5"/>
          <p:cNvSpPr>
            <a:spLocks noGrp="1"/>
          </p:cNvSpPr>
          <p:nvPr/>
        </p:nvSpPr>
        <p:spPr>
          <a:xfrm>
            <a:off x="1524000" y="904875"/>
            <a:ext cx="2476500" cy="1714500"/>
          </a:xfrm>
          <a:prstGeom prst="triangle">
            <a:avLst/>
          </a:prstGeom>
          <a:solidFill>
            <a:srgbClr val="FFFFFF"/>
          </a:solidFill>
          <a:ln w="0">
            <a:solidFill>
              <a:srgbClr val="FFFFFF"/>
            </a:solidFill>
          </a:ln>
        </p:spPr>
      </p:sp>
      <p:sp>
        <p:nvSpPr>
          <p:cNvPr id="7" name="等腰三角形 6"/>
          <p:cNvSpPr>
            <a:spLocks noGrp="1"/>
          </p:cNvSpPr>
          <p:nvPr/>
        </p:nvSpPr>
        <p:spPr>
          <a:xfrm>
            <a:off x="3857625" y="1762125"/>
            <a:ext cx="2476500" cy="1714500"/>
          </a:xfrm>
          <a:prstGeom prst="triangle">
            <a:avLst/>
          </a:prstGeom>
          <a:solidFill>
            <a:srgbClr val="F8FBFA"/>
          </a:solidFill>
          <a:ln w="0">
            <a:solidFill>
              <a:srgbClr val="FFFFFF"/>
            </a:solidFill>
          </a:ln>
        </p:spPr>
      </p:sp>
      <p:sp>
        <p:nvSpPr>
          <p:cNvPr id="8" name="等腰三角形 7"/>
          <p:cNvSpPr>
            <a:spLocks noGrp="1"/>
          </p:cNvSpPr>
          <p:nvPr/>
        </p:nvSpPr>
        <p:spPr>
          <a:xfrm>
            <a:off x="6191250" y="904875"/>
            <a:ext cx="2476500" cy="1714500"/>
          </a:xfrm>
          <a:prstGeom prst="triangle">
            <a:avLst/>
          </a:prstGeom>
          <a:solidFill>
            <a:srgbClr val="FFFFFF"/>
          </a:solidFill>
          <a:ln w="0">
            <a:solidFill>
              <a:srgbClr val="FFFFFF"/>
            </a:solidFill>
          </a:ln>
        </p:spPr>
      </p:sp>
      <p:sp>
        <p:nvSpPr>
          <p:cNvPr id="9" name="等腰三角形 8"/>
          <p:cNvSpPr>
            <a:spLocks noGrp="1"/>
          </p:cNvSpPr>
          <p:nvPr/>
        </p:nvSpPr>
        <p:spPr>
          <a:xfrm>
            <a:off x="8524875" y="1762125"/>
            <a:ext cx="2476500" cy="1714500"/>
          </a:xfrm>
          <a:prstGeom prst="triangle">
            <a:avLst/>
          </a:prstGeom>
          <a:solidFill>
            <a:srgbClr val="F8FBFA"/>
          </a:solidFill>
          <a:ln w="0">
            <a:solidFill>
              <a:srgbClr val="FFFFFF"/>
            </a:solidFill>
          </a:ln>
        </p:spPr>
      </p:sp>
      <p:sp>
        <p:nvSpPr>
          <p:cNvPr id="10" name="等腰三角形 9"/>
          <p:cNvSpPr>
            <a:spLocks noGrp="1"/>
          </p:cNvSpPr>
          <p:nvPr/>
        </p:nvSpPr>
        <p:spPr>
          <a:xfrm>
            <a:off x="10858500" y="904875"/>
            <a:ext cx="2476500" cy="1714500"/>
          </a:xfrm>
          <a:prstGeom prst="triangle">
            <a:avLst/>
          </a:prstGeom>
          <a:solidFill>
            <a:srgbClr val="FFFFFF"/>
          </a:solidFill>
          <a:ln w="0">
            <a:solidFill>
              <a:srgbClr val="FFFFFF"/>
            </a:solidFill>
          </a:ln>
        </p:spPr>
      </p:sp>
      <p:sp>
        <p:nvSpPr>
          <p:cNvPr id="11" name="等腰三角形 10"/>
          <p:cNvSpPr>
            <a:spLocks noGrp="1"/>
          </p:cNvSpPr>
          <p:nvPr/>
        </p:nvSpPr>
        <p:spPr>
          <a:xfrm rot="5400000">
            <a:off x="152400" y="266700"/>
            <a:ext cx="533400" cy="476250"/>
          </a:xfrm>
          <a:prstGeom prst="triangle">
            <a:avLst/>
          </a:prstGeom>
          <a:solidFill>
            <a:srgbClr val="206040"/>
          </a:solidFill>
          <a:ln w="0">
            <a:solidFill>
              <a:srgbClr val="FFFFFF"/>
            </a:solidFill>
          </a:ln>
        </p:spPr>
      </p:sp>
      <p:sp>
        <p:nvSpPr>
          <p:cNvPr id="12" name="等腰三角形 11"/>
          <p:cNvSpPr>
            <a:spLocks noGrp="1"/>
          </p:cNvSpPr>
          <p:nvPr/>
        </p:nvSpPr>
        <p:spPr>
          <a:xfrm rot="5400000">
            <a:off x="381000" y="304800"/>
            <a:ext cx="457200" cy="419100"/>
          </a:xfrm>
          <a:prstGeom prst="triangle">
            <a:avLst/>
          </a:prstGeom>
          <a:solidFill>
            <a:srgbClr val="80A090"/>
          </a:solidFill>
          <a:ln w="0">
            <a:solidFill>
              <a:srgbClr val="FFFFFF"/>
            </a:solidFill>
          </a:ln>
        </p:spPr>
      </p:sp>
      <p:sp>
        <p:nvSpPr>
          <p:cNvPr id="13" name="矩形 12"/>
          <p:cNvSpPr>
            <a:spLocks noGrp="1"/>
          </p:cNvSpPr>
          <p:nvPr/>
        </p:nvSpPr>
        <p:spPr>
          <a:xfrm>
            <a:off x="857250" y="228600"/>
            <a:ext cx="2857500" cy="457200"/>
          </a:xfrm>
          <a:prstGeom prst="rect">
            <a:avLst/>
          </a:prstGeom>
          <a:noFill/>
          <a:ln w="0">
            <a:solidFill>
              <a:srgbClr val="FFFFFF"/>
            </a:solidFill>
          </a:ln>
        </p:spPr>
        <p:txBody>
          <a:bodyPr lIns="76200" tIns="38100" rIns="76200" bIns="38100" anchor="ctr"/>
          <a:lstStyle/>
          <a:p>
            <a:pPr algn="l">
              <a:defRPr sz="2550" b="1">
                <a:solidFill>
                  <a:srgbClr val="206040"/>
                </a:solidFill>
                <a:latin typeface="黑体" panose="02010609060101010101" charset="-122"/>
                <a:ea typeface="黑体" panose="02010609060101010101" charset="-122"/>
                <a:cs typeface="黑体" panose="02010609060101010101" charset="-122"/>
              </a:defRPr>
            </a:pPr>
            <a:r>
              <a:rPr sz="2550" b="1">
                <a:solidFill>
                  <a:srgbClr val="206040"/>
                </a:solidFill>
                <a:latin typeface="黑体" panose="02010609060101010101" charset="-122"/>
                <a:ea typeface="黑体" panose="02010609060101010101" charset="-122"/>
                <a:cs typeface="黑体" panose="02010609060101010101" charset="-122"/>
              </a:rPr>
              <a:t>概念框架</a:t>
            </a:r>
            <a:endParaRPr sz="2550" b="1">
              <a:solidFill>
                <a:srgbClr val="206040"/>
              </a:solidFill>
              <a:latin typeface="黑体" panose="02010609060101010101" charset="-122"/>
              <a:ea typeface="黑体" panose="02010609060101010101" charset="-122"/>
              <a:cs typeface="黑体" panose="02010609060101010101" charset="-122"/>
            </a:endParaRPr>
          </a:p>
        </p:txBody>
      </p:sp>
      <p:sp>
        <p:nvSpPr>
          <p:cNvPr id="14" name="矩形 13"/>
          <p:cNvSpPr>
            <a:spLocks noGrp="1"/>
          </p:cNvSpPr>
          <p:nvPr/>
        </p:nvSpPr>
        <p:spPr>
          <a:xfrm>
            <a:off x="4000500" y="295275"/>
            <a:ext cx="1123950" cy="323850"/>
          </a:xfrm>
          <a:prstGeom prst="rect">
            <a:avLst/>
          </a:prstGeom>
          <a:noFill/>
          <a:ln w="0">
            <a:solidFill>
              <a:srgbClr val="FFFFFF"/>
            </a:solidFill>
          </a:ln>
        </p:spPr>
        <p:txBody>
          <a:bodyPr lIns="76200" tIns="38100" rIns="76200" bIns="38100" anchor="ctr"/>
          <a:lstStyle/>
          <a:p>
            <a:pPr algn="ctr">
              <a:defRPr sz="1125" b="0">
                <a:solidFill>
                  <a:srgbClr val="161616"/>
                </a:solidFill>
                <a:latin typeface="Microsoft YaHei UI" panose="020B0503020204020204" charset="-122"/>
                <a:ea typeface="Microsoft YaHei UI" panose="020B0503020204020204" charset="-122"/>
                <a:cs typeface="Microsoft YaHei UI" panose="020B0503020204020204" charset="-122"/>
              </a:defRPr>
            </a:pPr>
            <a:r>
              <a:rPr sz="1125" b="0">
                <a:solidFill>
                  <a:srgbClr val="161616"/>
                </a:solidFill>
                <a:latin typeface="Microsoft YaHei UI" panose="020B0503020204020204" charset="-122"/>
                <a:ea typeface="Microsoft YaHei UI" panose="020B0503020204020204" charset="-122"/>
                <a:cs typeface="Microsoft YaHei UI" panose="020B0503020204020204" charset="-122"/>
              </a:rPr>
              <a:t>现实问题</a:t>
            </a:r>
            <a:endParaRPr sz="1125" b="0">
              <a:solidFill>
                <a:srgbClr val="161616"/>
              </a:solidFill>
              <a:latin typeface="Microsoft YaHei UI" panose="020B0503020204020204" charset="-122"/>
              <a:ea typeface="Microsoft YaHei UI" panose="020B0503020204020204" charset="-122"/>
              <a:cs typeface="Microsoft YaHei UI" panose="020B0503020204020204" charset="-122"/>
            </a:endParaRPr>
          </a:p>
        </p:txBody>
      </p:sp>
      <p:sp>
        <p:nvSpPr>
          <p:cNvPr id="15" name="矩形 14"/>
          <p:cNvSpPr>
            <a:spLocks noGrp="1"/>
          </p:cNvSpPr>
          <p:nvPr/>
        </p:nvSpPr>
        <p:spPr>
          <a:xfrm>
            <a:off x="5200650" y="295275"/>
            <a:ext cx="1123950" cy="323850"/>
          </a:xfrm>
          <a:prstGeom prst="rect">
            <a:avLst/>
          </a:prstGeom>
          <a:noFill/>
          <a:ln w="0">
            <a:solidFill>
              <a:srgbClr val="FFFFFF"/>
            </a:solidFill>
          </a:ln>
        </p:spPr>
        <p:txBody>
          <a:bodyPr lIns="76200" tIns="38100" rIns="76200" bIns="38100" anchor="ctr"/>
          <a:lstStyle/>
          <a:p>
            <a:pPr algn="ctr">
              <a:defRPr sz="1125" b="0">
                <a:solidFill>
                  <a:srgbClr val="161616"/>
                </a:solidFill>
                <a:latin typeface="Microsoft YaHei UI" panose="020B0503020204020204" charset="-122"/>
                <a:ea typeface="Microsoft YaHei UI" panose="020B0503020204020204" charset="-122"/>
                <a:cs typeface="Microsoft YaHei UI" panose="020B0503020204020204" charset="-122"/>
              </a:defRPr>
            </a:pPr>
            <a:r>
              <a:rPr sz="1125" b="0">
                <a:solidFill>
                  <a:srgbClr val="161616"/>
                </a:solidFill>
                <a:latin typeface="Microsoft YaHei UI" panose="020B0503020204020204" charset="-122"/>
                <a:ea typeface="Microsoft YaHei UI" panose="020B0503020204020204" charset="-122"/>
                <a:cs typeface="Microsoft YaHei UI" panose="020B0503020204020204" charset="-122"/>
              </a:rPr>
              <a:t>科学问题</a:t>
            </a:r>
            <a:endParaRPr sz="1125" b="0">
              <a:solidFill>
                <a:srgbClr val="161616"/>
              </a:solidFill>
              <a:latin typeface="Microsoft YaHei UI" panose="020B0503020204020204" charset="-122"/>
              <a:ea typeface="Microsoft YaHei UI" panose="020B0503020204020204" charset="-122"/>
              <a:cs typeface="Microsoft YaHei UI" panose="020B0503020204020204" charset="-122"/>
            </a:endParaRPr>
          </a:p>
        </p:txBody>
      </p:sp>
      <p:sp>
        <p:nvSpPr>
          <p:cNvPr id="16" name="矩形 15"/>
          <p:cNvSpPr>
            <a:spLocks noGrp="1"/>
          </p:cNvSpPr>
          <p:nvPr/>
        </p:nvSpPr>
        <p:spPr>
          <a:xfrm>
            <a:off x="6400800" y="228600"/>
            <a:ext cx="1123950" cy="323850"/>
          </a:xfrm>
          <a:prstGeom prst="rect">
            <a:avLst/>
          </a:prstGeom>
          <a:noFill/>
          <a:ln w="0">
            <a:solidFill>
              <a:srgbClr val="FFFFFF"/>
            </a:solidFill>
          </a:ln>
        </p:spPr>
        <p:txBody>
          <a:bodyPr lIns="76200" tIns="38100" rIns="76200" bIns="38100" anchor="ctr"/>
          <a:lstStyle/>
          <a:p>
            <a:pPr algn="ctr">
              <a:defRPr sz="1500" b="1">
                <a:solidFill>
                  <a:srgbClr val="206040"/>
                </a:solidFill>
                <a:latin typeface="Microsoft YaHei UI" panose="020B0503020204020204" charset="-122"/>
                <a:ea typeface="Microsoft YaHei UI" panose="020B0503020204020204" charset="-122"/>
                <a:cs typeface="Microsoft YaHei UI" panose="020B0503020204020204" charset="-122"/>
              </a:defRPr>
            </a:pPr>
            <a:r>
              <a:rPr sz="1500" b="1">
                <a:solidFill>
                  <a:srgbClr val="206040"/>
                </a:solidFill>
                <a:latin typeface="Microsoft YaHei UI" panose="020B0503020204020204" charset="-122"/>
                <a:ea typeface="Microsoft YaHei UI" panose="020B0503020204020204" charset="-122"/>
                <a:cs typeface="Microsoft YaHei UI" panose="020B0503020204020204" charset="-122"/>
              </a:rPr>
              <a:t>理论机制</a:t>
            </a:r>
            <a:endParaRPr sz="1500" b="1">
              <a:solidFill>
                <a:srgbClr val="206040"/>
              </a:solidFill>
              <a:latin typeface="Microsoft YaHei UI" panose="020B0503020204020204" charset="-122"/>
              <a:ea typeface="Microsoft YaHei UI" panose="020B0503020204020204" charset="-122"/>
              <a:cs typeface="Microsoft YaHei UI" panose="020B0503020204020204" charset="-122"/>
            </a:endParaRPr>
          </a:p>
        </p:txBody>
      </p:sp>
      <p:sp>
        <p:nvSpPr>
          <p:cNvPr id="17" name="圆角矩形 16"/>
          <p:cNvSpPr>
            <a:spLocks noGrp="1"/>
          </p:cNvSpPr>
          <p:nvPr/>
        </p:nvSpPr>
        <p:spPr>
          <a:xfrm>
            <a:off x="6572250" y="657225"/>
            <a:ext cx="781050" cy="38100"/>
          </a:xfrm>
          <a:prstGeom prst="roundRect">
            <a:avLst>
              <a:gd name="adj" fmla="val 25000"/>
            </a:avLst>
          </a:prstGeom>
          <a:solidFill>
            <a:srgbClr val="206040"/>
          </a:solidFill>
          <a:ln w="0">
            <a:solidFill>
              <a:srgbClr val="FFFFFF"/>
            </a:solidFill>
          </a:ln>
        </p:spPr>
      </p:sp>
      <p:sp>
        <p:nvSpPr>
          <p:cNvPr id="18" name="矩形 17"/>
          <p:cNvSpPr>
            <a:spLocks noGrp="1"/>
          </p:cNvSpPr>
          <p:nvPr/>
        </p:nvSpPr>
        <p:spPr>
          <a:xfrm>
            <a:off x="7600950" y="295275"/>
            <a:ext cx="1123950" cy="323850"/>
          </a:xfrm>
          <a:prstGeom prst="rect">
            <a:avLst/>
          </a:prstGeom>
          <a:noFill/>
          <a:ln w="0">
            <a:solidFill>
              <a:srgbClr val="FFFFFF"/>
            </a:solidFill>
          </a:ln>
        </p:spPr>
        <p:txBody>
          <a:bodyPr lIns="76200" tIns="38100" rIns="76200" bIns="38100" anchor="ctr"/>
          <a:lstStyle/>
          <a:p>
            <a:pPr algn="ctr">
              <a:defRPr sz="1125" b="0">
                <a:solidFill>
                  <a:srgbClr val="161616"/>
                </a:solidFill>
                <a:latin typeface="Microsoft YaHei UI" panose="020B0503020204020204" charset="-122"/>
                <a:ea typeface="Microsoft YaHei UI" panose="020B0503020204020204" charset="-122"/>
                <a:cs typeface="Microsoft YaHei UI" panose="020B0503020204020204" charset="-122"/>
              </a:defRPr>
            </a:pPr>
            <a:r>
              <a:rPr sz="1125" b="0">
                <a:solidFill>
                  <a:srgbClr val="161616"/>
                </a:solidFill>
                <a:latin typeface="Microsoft YaHei UI" panose="020B0503020204020204" charset="-122"/>
                <a:ea typeface="Microsoft YaHei UI" panose="020B0503020204020204" charset="-122"/>
                <a:cs typeface="Microsoft YaHei UI" panose="020B0503020204020204" charset="-122"/>
              </a:rPr>
              <a:t>数据变量</a:t>
            </a:r>
            <a:endParaRPr sz="1125" b="0">
              <a:solidFill>
                <a:srgbClr val="161616"/>
              </a:solidFill>
              <a:latin typeface="Microsoft YaHei UI" panose="020B0503020204020204" charset="-122"/>
              <a:ea typeface="Microsoft YaHei UI" panose="020B0503020204020204" charset="-122"/>
              <a:cs typeface="Microsoft YaHei UI" panose="020B0503020204020204" charset="-122"/>
            </a:endParaRPr>
          </a:p>
        </p:txBody>
      </p:sp>
      <p:sp>
        <p:nvSpPr>
          <p:cNvPr id="19" name="矩形 18"/>
          <p:cNvSpPr>
            <a:spLocks noGrp="1"/>
          </p:cNvSpPr>
          <p:nvPr/>
        </p:nvSpPr>
        <p:spPr>
          <a:xfrm>
            <a:off x="8801100" y="295275"/>
            <a:ext cx="1123950" cy="323850"/>
          </a:xfrm>
          <a:prstGeom prst="rect">
            <a:avLst/>
          </a:prstGeom>
          <a:noFill/>
          <a:ln w="0">
            <a:solidFill>
              <a:srgbClr val="FFFFFF"/>
            </a:solidFill>
          </a:ln>
        </p:spPr>
        <p:txBody>
          <a:bodyPr lIns="76200" tIns="38100" rIns="76200" bIns="38100" anchor="ctr"/>
          <a:lstStyle/>
          <a:p>
            <a:pPr algn="ctr">
              <a:defRPr sz="1125" b="0">
                <a:solidFill>
                  <a:srgbClr val="161616"/>
                </a:solidFill>
                <a:latin typeface="Microsoft YaHei UI" panose="020B0503020204020204" charset="-122"/>
                <a:ea typeface="Microsoft YaHei UI" panose="020B0503020204020204" charset="-122"/>
                <a:cs typeface="Microsoft YaHei UI" panose="020B0503020204020204" charset="-122"/>
              </a:defRPr>
            </a:pPr>
            <a:r>
              <a:rPr sz="1125" b="0">
                <a:solidFill>
                  <a:srgbClr val="161616"/>
                </a:solidFill>
                <a:latin typeface="Microsoft YaHei UI" panose="020B0503020204020204" charset="-122"/>
                <a:ea typeface="Microsoft YaHei UI" panose="020B0503020204020204" charset="-122"/>
                <a:cs typeface="Microsoft YaHei UI" panose="020B0503020204020204" charset="-122"/>
              </a:rPr>
              <a:t>模型识别</a:t>
            </a:r>
            <a:endParaRPr sz="1125" b="0">
              <a:solidFill>
                <a:srgbClr val="161616"/>
              </a:solidFill>
              <a:latin typeface="Microsoft YaHei UI" panose="020B0503020204020204" charset="-122"/>
              <a:ea typeface="Microsoft YaHei UI" panose="020B0503020204020204" charset="-122"/>
              <a:cs typeface="Microsoft YaHei UI" panose="020B0503020204020204" charset="-122"/>
            </a:endParaRPr>
          </a:p>
        </p:txBody>
      </p:sp>
      <p:sp>
        <p:nvSpPr>
          <p:cNvPr id="20" name="矩形 19"/>
          <p:cNvSpPr>
            <a:spLocks noGrp="1"/>
          </p:cNvSpPr>
          <p:nvPr/>
        </p:nvSpPr>
        <p:spPr>
          <a:xfrm>
            <a:off x="10001250" y="295275"/>
            <a:ext cx="1123950" cy="323850"/>
          </a:xfrm>
          <a:prstGeom prst="rect">
            <a:avLst/>
          </a:prstGeom>
          <a:noFill/>
          <a:ln w="0">
            <a:solidFill>
              <a:srgbClr val="FFFFFF"/>
            </a:solidFill>
          </a:ln>
        </p:spPr>
        <p:txBody>
          <a:bodyPr lIns="76200" tIns="38100" rIns="76200" bIns="38100" anchor="ctr"/>
          <a:lstStyle/>
          <a:p>
            <a:pPr algn="ctr">
              <a:defRPr sz="1125" b="0">
                <a:solidFill>
                  <a:srgbClr val="161616"/>
                </a:solidFill>
                <a:latin typeface="Microsoft YaHei UI" panose="020B0503020204020204" charset="-122"/>
                <a:ea typeface="Microsoft YaHei UI" panose="020B0503020204020204" charset="-122"/>
                <a:cs typeface="Microsoft YaHei UI" panose="020B0503020204020204" charset="-122"/>
              </a:defRPr>
            </a:pPr>
            <a:r>
              <a:rPr sz="1125" b="0">
                <a:solidFill>
                  <a:srgbClr val="161616"/>
                </a:solidFill>
                <a:latin typeface="Microsoft YaHei UI" panose="020B0503020204020204" charset="-122"/>
                <a:ea typeface="Microsoft YaHei UI" panose="020B0503020204020204" charset="-122"/>
                <a:cs typeface="Microsoft YaHei UI" panose="020B0503020204020204" charset="-122"/>
              </a:rPr>
              <a:t>预期贡献</a:t>
            </a:r>
            <a:endParaRPr sz="1125" b="0">
              <a:solidFill>
                <a:srgbClr val="161616"/>
              </a:solidFill>
              <a:latin typeface="Microsoft YaHei UI" panose="020B0503020204020204" charset="-122"/>
              <a:ea typeface="Microsoft YaHei UI" panose="020B0503020204020204" charset="-122"/>
              <a:cs typeface="Microsoft YaHei UI" panose="020B0503020204020204" charset="-122"/>
            </a:endParaRPr>
          </a:p>
        </p:txBody>
      </p:sp>
      <p:sp>
        <p:nvSpPr>
          <p:cNvPr id="21" name="圆角矩形 20"/>
          <p:cNvSpPr>
            <a:spLocks noGrp="1"/>
          </p:cNvSpPr>
          <p:nvPr/>
        </p:nvSpPr>
        <p:spPr>
          <a:xfrm>
            <a:off x="3905250" y="742950"/>
            <a:ext cx="8001000" cy="9525"/>
          </a:xfrm>
          <a:prstGeom prst="roundRect">
            <a:avLst>
              <a:gd name="adj" fmla="val 50000"/>
            </a:avLst>
          </a:prstGeom>
          <a:solidFill>
            <a:srgbClr val="D7DFDA"/>
          </a:solidFill>
          <a:ln w="0">
            <a:solidFill>
              <a:srgbClr val="FFFFFF"/>
            </a:solidFill>
          </a:ln>
        </p:spPr>
      </p:sp>
      <p:sp>
        <p:nvSpPr>
          <p:cNvPr id="22" name="矩形 21"/>
          <p:cNvSpPr>
            <a:spLocks noGrp="1"/>
          </p:cNvSpPr>
          <p:nvPr/>
        </p:nvSpPr>
        <p:spPr>
          <a:xfrm>
            <a:off x="11334750" y="6286500"/>
            <a:ext cx="495300" cy="266700"/>
          </a:xfrm>
          <a:prstGeom prst="rect">
            <a:avLst/>
          </a:prstGeom>
          <a:noFill/>
          <a:ln w="0">
            <a:solidFill>
              <a:srgbClr val="FFFFFF"/>
            </a:solidFill>
          </a:ln>
        </p:spPr>
        <p:txBody>
          <a:bodyPr lIns="76200" tIns="38100" rIns="76200" bIns="38100" anchor="ctr"/>
          <a:lstStyle/>
          <a:p>
            <a:pPr algn="r">
              <a:defRPr sz="975" b="0">
                <a:solidFill>
                  <a:srgbClr val="80A090"/>
                </a:solidFill>
                <a:latin typeface="Microsoft YaHei UI" panose="020B0503020204020204" charset="-122"/>
                <a:ea typeface="Microsoft YaHei UI" panose="020B0503020204020204" charset="-122"/>
                <a:cs typeface="Microsoft YaHei UI" panose="020B0503020204020204" charset="-122"/>
              </a:defRPr>
            </a:pPr>
            <a:r>
              <a:rPr sz="975" b="0">
                <a:solidFill>
                  <a:srgbClr val="80A090"/>
                </a:solidFill>
                <a:latin typeface="Microsoft YaHei UI" panose="020B0503020204020204" charset="-122"/>
                <a:ea typeface="Microsoft YaHei UI" panose="020B0503020204020204" charset="-122"/>
                <a:cs typeface="Microsoft YaHei UI" panose="020B0503020204020204" charset="-122"/>
              </a:rPr>
              <a:t>07</a:t>
            </a:r>
            <a:endParaRPr sz="975" b="0">
              <a:solidFill>
                <a:srgbClr val="80A090"/>
              </a:solidFill>
              <a:latin typeface="Microsoft YaHei UI" panose="020B0503020204020204" charset="-122"/>
              <a:ea typeface="Microsoft YaHei UI" panose="020B0503020204020204" charset="-122"/>
              <a:cs typeface="Microsoft YaHei UI" panose="020B0503020204020204" charset="-122"/>
            </a:endParaRPr>
          </a:p>
        </p:txBody>
      </p:sp>
      <p:sp>
        <p:nvSpPr>
          <p:cNvPr id="23" name="圆角矩形 22"/>
          <p:cNvSpPr>
            <a:spLocks noGrp="1"/>
          </p:cNvSpPr>
          <p:nvPr/>
        </p:nvSpPr>
        <p:spPr>
          <a:xfrm>
            <a:off x="714375" y="2190750"/>
            <a:ext cx="1762125" cy="685800"/>
          </a:xfrm>
          <a:prstGeom prst="roundRect">
            <a:avLst>
              <a:gd name="adj" fmla="val 16667"/>
            </a:avLst>
          </a:prstGeom>
          <a:solidFill>
            <a:srgbClr val="206040"/>
          </a:solidFill>
          <a:ln w="11430">
            <a:solidFill>
              <a:srgbClr val="206040"/>
            </a:solidFill>
          </a:ln>
        </p:spPr>
      </p:sp>
      <p:sp>
        <p:nvSpPr>
          <p:cNvPr id="24" name="矩形 23"/>
          <p:cNvSpPr>
            <a:spLocks noGrp="1"/>
          </p:cNvSpPr>
          <p:nvPr/>
        </p:nvSpPr>
        <p:spPr>
          <a:xfrm>
            <a:off x="714375" y="2190750"/>
            <a:ext cx="1762125" cy="685800"/>
          </a:xfrm>
          <a:prstGeom prst="rect">
            <a:avLst/>
          </a:prstGeom>
          <a:noFill/>
          <a:ln w="0">
            <a:solidFill>
              <a:srgbClr val="FFFFFF"/>
            </a:solidFill>
          </a:ln>
        </p:spPr>
        <p:txBody>
          <a:bodyPr lIns="76200" tIns="38100" rIns="76200" bIns="38100" anchor="ctr"/>
          <a:lstStyle/>
          <a:p>
            <a:pPr algn="ctr">
              <a:defRPr sz="1350" b="1">
                <a:solidFill>
                  <a:srgbClr val="FFFFFF"/>
                </a:solidFill>
                <a:latin typeface="Microsoft YaHei UI" panose="020B0503020204020204" charset="-122"/>
                <a:ea typeface="Microsoft YaHei UI" panose="020B0503020204020204" charset="-122"/>
                <a:cs typeface="Microsoft YaHei UI" panose="020B0503020204020204" charset="-122"/>
              </a:defRPr>
            </a:pPr>
            <a:r>
              <a:rPr sz="1350" b="1">
                <a:solidFill>
                  <a:srgbClr val="FFFFFF"/>
                </a:solidFill>
                <a:latin typeface="Microsoft YaHei UI" panose="020B0503020204020204" charset="-122"/>
                <a:ea typeface="Microsoft YaHei UI" panose="020B0503020204020204" charset="-122"/>
                <a:cs typeface="Microsoft YaHei UI" panose="020B0503020204020204" charset="-122"/>
              </a:rPr>
              <a:t>环境规制强度上升</a:t>
            </a:r>
            <a:endParaRPr sz="1350" b="1">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25" name="圆角矩形 24"/>
          <p:cNvSpPr>
            <a:spLocks noGrp="1"/>
          </p:cNvSpPr>
          <p:nvPr/>
        </p:nvSpPr>
        <p:spPr>
          <a:xfrm>
            <a:off x="3048000" y="2190750"/>
            <a:ext cx="1809750" cy="685800"/>
          </a:xfrm>
          <a:prstGeom prst="roundRect">
            <a:avLst>
              <a:gd name="adj" fmla="val 16667"/>
            </a:avLst>
          </a:prstGeom>
          <a:solidFill>
            <a:srgbClr val="FFFFFF"/>
          </a:solidFill>
          <a:ln w="11430">
            <a:solidFill>
              <a:srgbClr val="206040"/>
            </a:solidFill>
          </a:ln>
        </p:spPr>
      </p:sp>
      <p:sp>
        <p:nvSpPr>
          <p:cNvPr id="26" name="矩形 25"/>
          <p:cNvSpPr>
            <a:spLocks noGrp="1"/>
          </p:cNvSpPr>
          <p:nvPr/>
        </p:nvSpPr>
        <p:spPr>
          <a:xfrm>
            <a:off x="3048000" y="2190750"/>
            <a:ext cx="1809750" cy="685800"/>
          </a:xfrm>
          <a:prstGeom prst="rect">
            <a:avLst/>
          </a:prstGeom>
          <a:noFill/>
          <a:ln w="0">
            <a:solidFill>
              <a:srgbClr val="FFFFFF"/>
            </a:solidFill>
          </a:ln>
        </p:spPr>
        <p:txBody>
          <a:bodyPr lIns="76200" tIns="38100" rIns="76200" bIns="38100" anchor="ctr"/>
          <a:lstStyle/>
          <a:p>
            <a:pPr algn="ctr">
              <a:defRPr sz="1350" b="1">
                <a:solidFill>
                  <a:srgbClr val="206040"/>
                </a:solidFill>
                <a:latin typeface="Microsoft YaHei UI" panose="020B0503020204020204" charset="-122"/>
                <a:ea typeface="Microsoft YaHei UI" panose="020B0503020204020204" charset="-122"/>
                <a:cs typeface="Microsoft YaHei UI" panose="020B0503020204020204" charset="-122"/>
              </a:defRPr>
            </a:pPr>
            <a:r>
              <a:rPr sz="1350" b="1">
                <a:solidFill>
                  <a:srgbClr val="206040"/>
                </a:solidFill>
                <a:latin typeface="Microsoft YaHei UI" panose="020B0503020204020204" charset="-122"/>
                <a:ea typeface="Microsoft YaHei UI" panose="020B0503020204020204" charset="-122"/>
                <a:cs typeface="Microsoft YaHei UI" panose="020B0503020204020204" charset="-122"/>
              </a:rPr>
              <a:t>企业合规成本上升</a:t>
            </a:r>
            <a:endParaRPr sz="1350" b="1">
              <a:solidFill>
                <a:srgbClr val="206040"/>
              </a:solidFill>
              <a:latin typeface="Microsoft YaHei UI" panose="020B0503020204020204" charset="-122"/>
              <a:ea typeface="Microsoft YaHei UI" panose="020B0503020204020204" charset="-122"/>
              <a:cs typeface="Microsoft YaHei UI" panose="020B0503020204020204" charset="-122"/>
            </a:endParaRPr>
          </a:p>
        </p:txBody>
      </p:sp>
      <p:sp>
        <p:nvSpPr>
          <p:cNvPr id="27" name="圆角矩形 26"/>
          <p:cNvSpPr>
            <a:spLocks noGrp="1"/>
          </p:cNvSpPr>
          <p:nvPr/>
        </p:nvSpPr>
        <p:spPr>
          <a:xfrm>
            <a:off x="5715000" y="1476375"/>
            <a:ext cx="1952625" cy="685800"/>
          </a:xfrm>
          <a:prstGeom prst="roundRect">
            <a:avLst>
              <a:gd name="adj" fmla="val 16667"/>
            </a:avLst>
          </a:prstGeom>
          <a:solidFill>
            <a:srgbClr val="FFFFFF"/>
          </a:solidFill>
          <a:ln w="11430">
            <a:solidFill>
              <a:srgbClr val="206040"/>
            </a:solidFill>
          </a:ln>
        </p:spPr>
      </p:sp>
      <p:sp>
        <p:nvSpPr>
          <p:cNvPr id="28" name="矩形 27"/>
          <p:cNvSpPr>
            <a:spLocks noGrp="1"/>
          </p:cNvSpPr>
          <p:nvPr/>
        </p:nvSpPr>
        <p:spPr>
          <a:xfrm>
            <a:off x="5715000" y="1476375"/>
            <a:ext cx="1952625" cy="685800"/>
          </a:xfrm>
          <a:prstGeom prst="rect">
            <a:avLst/>
          </a:prstGeom>
          <a:noFill/>
          <a:ln w="0">
            <a:solidFill>
              <a:srgbClr val="FFFFFF"/>
            </a:solidFill>
          </a:ln>
        </p:spPr>
        <p:txBody>
          <a:bodyPr lIns="76200" tIns="38100" rIns="76200" bIns="38100" anchor="ctr"/>
          <a:lstStyle/>
          <a:p>
            <a:pPr algn="ctr">
              <a:defRPr sz="1350" b="1">
                <a:solidFill>
                  <a:srgbClr val="206040"/>
                </a:solidFill>
                <a:latin typeface="Microsoft YaHei UI" panose="020B0503020204020204" charset="-122"/>
                <a:ea typeface="Microsoft YaHei UI" panose="020B0503020204020204" charset="-122"/>
                <a:cs typeface="Microsoft YaHei UI" panose="020B0503020204020204" charset="-122"/>
              </a:defRPr>
            </a:pPr>
            <a:r>
              <a:rPr sz="1350" b="1">
                <a:solidFill>
                  <a:srgbClr val="206040"/>
                </a:solidFill>
                <a:latin typeface="Microsoft YaHei UI" panose="020B0503020204020204" charset="-122"/>
                <a:ea typeface="Microsoft YaHei UI" panose="020B0503020204020204" charset="-122"/>
                <a:cs typeface="Microsoft YaHei UI" panose="020B0503020204020204" charset="-122"/>
              </a:rPr>
              <a:t>资源配置效率变动</a:t>
            </a:r>
            <a:endParaRPr sz="1350" b="1">
              <a:solidFill>
                <a:srgbClr val="206040"/>
              </a:solidFill>
              <a:latin typeface="Microsoft YaHei UI" panose="020B0503020204020204" charset="-122"/>
              <a:ea typeface="Microsoft YaHei UI" panose="020B0503020204020204" charset="-122"/>
              <a:cs typeface="Microsoft YaHei UI" panose="020B0503020204020204" charset="-122"/>
            </a:endParaRPr>
          </a:p>
        </p:txBody>
      </p:sp>
      <p:sp>
        <p:nvSpPr>
          <p:cNvPr id="29" name="圆角矩形 28"/>
          <p:cNvSpPr>
            <a:spLocks noGrp="1"/>
          </p:cNvSpPr>
          <p:nvPr/>
        </p:nvSpPr>
        <p:spPr>
          <a:xfrm>
            <a:off x="5715000" y="2905125"/>
            <a:ext cx="1952625" cy="685800"/>
          </a:xfrm>
          <a:prstGeom prst="roundRect">
            <a:avLst>
              <a:gd name="adj" fmla="val 16667"/>
            </a:avLst>
          </a:prstGeom>
          <a:solidFill>
            <a:srgbClr val="FFFFFF"/>
          </a:solidFill>
          <a:ln w="11430">
            <a:solidFill>
              <a:srgbClr val="206040"/>
            </a:solidFill>
          </a:ln>
        </p:spPr>
      </p:sp>
      <p:sp>
        <p:nvSpPr>
          <p:cNvPr id="30" name="矩形 29"/>
          <p:cNvSpPr>
            <a:spLocks noGrp="1"/>
          </p:cNvSpPr>
          <p:nvPr/>
        </p:nvSpPr>
        <p:spPr>
          <a:xfrm>
            <a:off x="5715000" y="2905125"/>
            <a:ext cx="1952625" cy="685800"/>
          </a:xfrm>
          <a:prstGeom prst="rect">
            <a:avLst/>
          </a:prstGeom>
          <a:noFill/>
          <a:ln w="0">
            <a:solidFill>
              <a:srgbClr val="FFFFFF"/>
            </a:solidFill>
          </a:ln>
        </p:spPr>
        <p:txBody>
          <a:bodyPr lIns="76200" tIns="38100" rIns="76200" bIns="38100" anchor="ctr"/>
          <a:lstStyle/>
          <a:p>
            <a:pPr algn="ctr">
              <a:defRPr sz="1350" b="1">
                <a:solidFill>
                  <a:srgbClr val="206040"/>
                </a:solidFill>
                <a:latin typeface="Microsoft YaHei UI" panose="020B0503020204020204" charset="-122"/>
                <a:ea typeface="Microsoft YaHei UI" panose="020B0503020204020204" charset="-122"/>
                <a:cs typeface="Microsoft YaHei UI" panose="020B0503020204020204" charset="-122"/>
              </a:defRPr>
            </a:pPr>
            <a:r>
              <a:rPr sz="1350" b="1">
                <a:solidFill>
                  <a:srgbClr val="206040"/>
                </a:solidFill>
                <a:latin typeface="Microsoft YaHei UI" panose="020B0503020204020204" charset="-122"/>
                <a:ea typeface="Microsoft YaHei UI" panose="020B0503020204020204" charset="-122"/>
                <a:cs typeface="Microsoft YaHei UI" panose="020B0503020204020204" charset="-122"/>
              </a:rPr>
              <a:t>绿色研发投入变动</a:t>
            </a:r>
            <a:endParaRPr sz="1350" b="1">
              <a:solidFill>
                <a:srgbClr val="206040"/>
              </a:solidFill>
              <a:latin typeface="Microsoft YaHei UI" panose="020B0503020204020204" charset="-122"/>
              <a:ea typeface="Microsoft YaHei UI" panose="020B0503020204020204" charset="-122"/>
              <a:cs typeface="Microsoft YaHei UI" panose="020B0503020204020204" charset="-122"/>
            </a:endParaRPr>
          </a:p>
        </p:txBody>
      </p:sp>
      <p:sp>
        <p:nvSpPr>
          <p:cNvPr id="31" name="圆角矩形 30"/>
          <p:cNvSpPr>
            <a:spLocks noGrp="1"/>
          </p:cNvSpPr>
          <p:nvPr/>
        </p:nvSpPr>
        <p:spPr>
          <a:xfrm>
            <a:off x="8763000" y="2190750"/>
            <a:ext cx="1619250" cy="685800"/>
          </a:xfrm>
          <a:prstGeom prst="roundRect">
            <a:avLst>
              <a:gd name="adj" fmla="val 16667"/>
            </a:avLst>
          </a:prstGeom>
          <a:solidFill>
            <a:srgbClr val="FFF6D0"/>
          </a:solidFill>
          <a:ln w="11430">
            <a:solidFill>
              <a:srgbClr val="206040"/>
            </a:solidFill>
          </a:ln>
        </p:spPr>
      </p:sp>
      <p:sp>
        <p:nvSpPr>
          <p:cNvPr id="32" name="矩形 31"/>
          <p:cNvSpPr>
            <a:spLocks noGrp="1"/>
          </p:cNvSpPr>
          <p:nvPr/>
        </p:nvSpPr>
        <p:spPr>
          <a:xfrm>
            <a:off x="8763000" y="2190750"/>
            <a:ext cx="1619250" cy="685800"/>
          </a:xfrm>
          <a:prstGeom prst="rect">
            <a:avLst/>
          </a:prstGeom>
          <a:noFill/>
          <a:ln w="0">
            <a:solidFill>
              <a:srgbClr val="FFFFFF"/>
            </a:solidFill>
          </a:ln>
        </p:spPr>
        <p:txBody>
          <a:bodyPr lIns="76200" tIns="38100" rIns="76200" bIns="38100" anchor="ctr"/>
          <a:lstStyle/>
          <a:p>
            <a:pPr algn="ctr">
              <a:defRPr sz="1350" b="1">
                <a:solidFill>
                  <a:srgbClr val="206040"/>
                </a:solidFill>
                <a:latin typeface="Microsoft YaHei UI" panose="020B0503020204020204" charset="-122"/>
                <a:ea typeface="Microsoft YaHei UI" panose="020B0503020204020204" charset="-122"/>
                <a:cs typeface="Microsoft YaHei UI" panose="020B0503020204020204" charset="-122"/>
              </a:defRPr>
            </a:pPr>
            <a:r>
              <a:rPr sz="1350" b="1">
                <a:solidFill>
                  <a:srgbClr val="206040"/>
                </a:solidFill>
                <a:latin typeface="Microsoft YaHei UI" panose="020B0503020204020204" charset="-122"/>
                <a:ea typeface="Microsoft YaHei UI" panose="020B0503020204020204" charset="-122"/>
                <a:cs typeface="Microsoft YaHei UI" panose="020B0503020204020204" charset="-122"/>
              </a:rPr>
              <a:t>GTFP变化</a:t>
            </a:r>
            <a:endParaRPr sz="1350" b="1">
              <a:solidFill>
                <a:srgbClr val="206040"/>
              </a:solidFill>
              <a:latin typeface="Microsoft YaHei UI" panose="020B0503020204020204" charset="-122"/>
              <a:ea typeface="Microsoft YaHei UI" panose="020B0503020204020204" charset="-122"/>
              <a:cs typeface="Microsoft YaHei UI" panose="020B0503020204020204" charset="-122"/>
            </a:endParaRPr>
          </a:p>
        </p:txBody>
      </p:sp>
      <p:cxnSp>
        <p:nvCxnSpPr>
          <p:cNvPr id="33" name="直接箭头连接符 32"/>
          <p:cNvCxnSpPr>
            <a:stCxn id="22" idx="3"/>
            <a:endCxn id="24" idx="1"/>
          </p:cNvCxnSpPr>
          <p:nvPr/>
        </p:nvCxnSpPr>
        <p:spPr>
          <a:xfrm>
            <a:off x="2476500" y="2533650"/>
            <a:ext cx="571500" cy="0"/>
          </a:xfrm>
          <a:prstGeom prst="straightConnector1">
            <a:avLst/>
          </a:prstGeom>
          <a:ln w="20955">
            <a:solidFill>
              <a:srgbClr val="206040"/>
            </a:solidFill>
          </a:ln>
        </p:spPr>
      </p:cxnSp>
      <p:cxnSp>
        <p:nvCxnSpPr>
          <p:cNvPr id="34" name="直接箭头连接符 33"/>
          <p:cNvCxnSpPr>
            <a:stCxn id="24" idx="3"/>
            <a:endCxn id="26" idx="1"/>
          </p:cNvCxnSpPr>
          <p:nvPr/>
        </p:nvCxnSpPr>
        <p:spPr>
          <a:xfrm flipV="1">
            <a:off x="4857750" y="1819275"/>
            <a:ext cx="857250" cy="714375"/>
          </a:xfrm>
          <a:prstGeom prst="straightConnector1">
            <a:avLst/>
          </a:prstGeom>
          <a:ln w="20955">
            <a:solidFill>
              <a:srgbClr val="206040"/>
            </a:solidFill>
          </a:ln>
        </p:spPr>
      </p:cxnSp>
      <p:cxnSp>
        <p:nvCxnSpPr>
          <p:cNvPr id="36" name="直接箭头连接符 35"/>
          <p:cNvCxnSpPr>
            <a:stCxn id="24" idx="3"/>
            <a:endCxn id="28" idx="1"/>
          </p:cNvCxnSpPr>
          <p:nvPr/>
        </p:nvCxnSpPr>
        <p:spPr>
          <a:xfrm>
            <a:off x="4857750" y="2533650"/>
            <a:ext cx="857250" cy="714375"/>
          </a:xfrm>
          <a:prstGeom prst="straightConnector1">
            <a:avLst/>
          </a:prstGeom>
          <a:ln w="20955">
            <a:solidFill>
              <a:srgbClr val="206040"/>
            </a:solidFill>
          </a:ln>
        </p:spPr>
      </p:cxnSp>
      <p:cxnSp>
        <p:nvCxnSpPr>
          <p:cNvPr id="38" name="直接箭头连接符 37"/>
          <p:cNvCxnSpPr>
            <a:stCxn id="26" idx="3"/>
            <a:endCxn id="30" idx="1"/>
          </p:cNvCxnSpPr>
          <p:nvPr/>
        </p:nvCxnSpPr>
        <p:spPr>
          <a:xfrm>
            <a:off x="7667625" y="1819275"/>
            <a:ext cx="1095375" cy="714375"/>
          </a:xfrm>
          <a:prstGeom prst="straightConnector1">
            <a:avLst/>
          </a:prstGeom>
          <a:ln w="20955">
            <a:solidFill>
              <a:srgbClr val="206040"/>
            </a:solidFill>
          </a:ln>
        </p:spPr>
      </p:cxnSp>
      <p:cxnSp>
        <p:nvCxnSpPr>
          <p:cNvPr id="39" name="直接箭头连接符 38"/>
          <p:cNvCxnSpPr>
            <a:stCxn id="28" idx="3"/>
            <a:endCxn id="30" idx="1"/>
          </p:cNvCxnSpPr>
          <p:nvPr/>
        </p:nvCxnSpPr>
        <p:spPr>
          <a:xfrm flipV="1">
            <a:off x="7667625" y="2533650"/>
            <a:ext cx="1095375" cy="714375"/>
          </a:xfrm>
          <a:prstGeom prst="straightConnector1">
            <a:avLst/>
          </a:prstGeom>
          <a:ln w="20955">
            <a:solidFill>
              <a:srgbClr val="206040"/>
            </a:solidFill>
          </a:ln>
        </p:spPr>
      </p:cxnSp>
      <p:sp>
        <p:nvSpPr>
          <p:cNvPr id="40" name="圆角矩形 39"/>
          <p:cNvSpPr>
            <a:spLocks noGrp="1"/>
          </p:cNvSpPr>
          <p:nvPr/>
        </p:nvSpPr>
        <p:spPr>
          <a:xfrm>
            <a:off x="1047750" y="4333875"/>
            <a:ext cx="4476750" cy="904875"/>
          </a:xfrm>
          <a:prstGeom prst="roundRect">
            <a:avLst>
              <a:gd name="adj" fmla="val 12632"/>
            </a:avLst>
          </a:prstGeom>
          <a:solidFill>
            <a:srgbClr val="FFFFFF"/>
          </a:solidFill>
          <a:ln w="11430">
            <a:solidFill>
              <a:srgbClr val="D7DFDA"/>
            </a:solidFill>
          </a:ln>
        </p:spPr>
      </p:sp>
      <p:sp>
        <p:nvSpPr>
          <p:cNvPr id="41" name="矩形 40"/>
          <p:cNvSpPr>
            <a:spLocks noGrp="1"/>
          </p:cNvSpPr>
          <p:nvPr/>
        </p:nvSpPr>
        <p:spPr>
          <a:xfrm>
            <a:off x="1219200" y="4467225"/>
            <a:ext cx="4133850" cy="323850"/>
          </a:xfrm>
          <a:prstGeom prst="rect">
            <a:avLst/>
          </a:prstGeom>
          <a:noFill/>
          <a:ln w="0">
            <a:solidFill>
              <a:srgbClr val="FFFFFF"/>
            </a:solidFill>
          </a:ln>
        </p:spPr>
        <p:txBody>
          <a:bodyPr lIns="76200" tIns="38100" rIns="76200" bIns="38100" anchor="ctr"/>
          <a:lstStyle/>
          <a:p>
            <a:pPr algn="l">
              <a:defRPr sz="1500" b="1">
                <a:solidFill>
                  <a:srgbClr val="206040"/>
                </a:solidFill>
                <a:latin typeface="Microsoft YaHei UI" panose="020B0503020204020204" charset="-122"/>
                <a:ea typeface="Microsoft YaHei UI" panose="020B0503020204020204" charset="-122"/>
                <a:cs typeface="Microsoft YaHei UI" panose="020B0503020204020204" charset="-122"/>
              </a:defRPr>
            </a:pPr>
            <a:r>
              <a:rPr sz="1500" b="1">
                <a:solidFill>
                  <a:srgbClr val="206040"/>
                </a:solidFill>
                <a:latin typeface="Microsoft YaHei UI" panose="020B0503020204020204" charset="-122"/>
                <a:ea typeface="Microsoft YaHei UI" panose="020B0503020204020204" charset="-122"/>
                <a:cs typeface="Microsoft YaHei UI" panose="020B0503020204020204" charset="-122"/>
              </a:rPr>
              <a:t>双重属性</a:t>
            </a:r>
            <a:endParaRPr sz="1500" b="1">
              <a:solidFill>
                <a:srgbClr val="206040"/>
              </a:solidFill>
              <a:latin typeface="Microsoft YaHei UI" panose="020B0503020204020204" charset="-122"/>
              <a:ea typeface="Microsoft YaHei UI" panose="020B0503020204020204" charset="-122"/>
              <a:cs typeface="Microsoft YaHei UI" panose="020B0503020204020204" charset="-122"/>
            </a:endParaRPr>
          </a:p>
        </p:txBody>
      </p:sp>
      <p:sp>
        <p:nvSpPr>
          <p:cNvPr id="42" name="矩形 41"/>
          <p:cNvSpPr>
            <a:spLocks noGrp="1"/>
          </p:cNvSpPr>
          <p:nvPr/>
        </p:nvSpPr>
        <p:spPr>
          <a:xfrm>
            <a:off x="1219200" y="4848225"/>
            <a:ext cx="4133850" cy="257175"/>
          </a:xfrm>
          <a:prstGeom prst="rect">
            <a:avLst/>
          </a:prstGeom>
          <a:noFill/>
          <a:ln w="0">
            <a:solidFill>
              <a:srgbClr val="FFFFFF"/>
            </a:solidFill>
          </a:ln>
        </p:spPr>
        <p:txBody>
          <a:bodyPr lIns="76200" tIns="38100" rIns="76200" bIns="38100" anchor="t"/>
          <a:lstStyle/>
          <a:p>
            <a:pPr algn="l">
              <a:defRPr sz="1275" b="0">
                <a:solidFill>
                  <a:srgbClr val="111111"/>
                </a:solidFill>
                <a:latin typeface="Microsoft YaHei UI" panose="020B0503020204020204" charset="-122"/>
                <a:ea typeface="Microsoft YaHei UI" panose="020B0503020204020204" charset="-122"/>
                <a:cs typeface="Microsoft YaHei UI" panose="020B0503020204020204" charset="-122"/>
              </a:defRPr>
            </a:pPr>
            <a:r>
              <a:rPr sz="1275" b="0">
                <a:solidFill>
                  <a:srgbClr val="111111"/>
                </a:solidFill>
                <a:latin typeface="Microsoft YaHei UI" panose="020B0503020204020204" charset="-122"/>
                <a:ea typeface="Microsoft YaHei UI" panose="020B0503020204020204" charset="-122"/>
                <a:cs typeface="Microsoft YaHei UI" panose="020B0503020204020204" charset="-122"/>
              </a:rPr>
              <a:t>费用化、末端治理支出可能压低当期效率；资本化环保投资和绿色研发可能改善长期效率。</a:t>
            </a:r>
            <a:endParaRPr sz="1275"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43" name="圆角矩形 42"/>
          <p:cNvSpPr>
            <a:spLocks noGrp="1"/>
          </p:cNvSpPr>
          <p:nvPr/>
        </p:nvSpPr>
        <p:spPr>
          <a:xfrm>
            <a:off x="6143625" y="4333875"/>
            <a:ext cx="4476750" cy="904875"/>
          </a:xfrm>
          <a:prstGeom prst="roundRect">
            <a:avLst>
              <a:gd name="adj" fmla="val 12632"/>
            </a:avLst>
          </a:prstGeom>
          <a:solidFill>
            <a:srgbClr val="FFFFFF"/>
          </a:solidFill>
          <a:ln w="11430">
            <a:solidFill>
              <a:srgbClr val="D7DFDA"/>
            </a:solidFill>
          </a:ln>
        </p:spPr>
      </p:sp>
      <p:sp>
        <p:nvSpPr>
          <p:cNvPr id="44" name="矩形 43"/>
          <p:cNvSpPr>
            <a:spLocks noGrp="1"/>
          </p:cNvSpPr>
          <p:nvPr/>
        </p:nvSpPr>
        <p:spPr>
          <a:xfrm>
            <a:off x="6315075" y="4467225"/>
            <a:ext cx="4133850" cy="323850"/>
          </a:xfrm>
          <a:prstGeom prst="rect">
            <a:avLst/>
          </a:prstGeom>
          <a:noFill/>
          <a:ln w="0">
            <a:solidFill>
              <a:srgbClr val="FFFFFF"/>
            </a:solidFill>
          </a:ln>
        </p:spPr>
        <p:txBody>
          <a:bodyPr lIns="76200" tIns="38100" rIns="76200" bIns="38100" anchor="ctr"/>
          <a:lstStyle/>
          <a:p>
            <a:pPr algn="l">
              <a:defRPr sz="1500" b="1">
                <a:solidFill>
                  <a:srgbClr val="206040"/>
                </a:solidFill>
                <a:latin typeface="Microsoft YaHei UI" panose="020B0503020204020204" charset="-122"/>
                <a:ea typeface="Microsoft YaHei UI" panose="020B0503020204020204" charset="-122"/>
                <a:cs typeface="Microsoft YaHei UI" panose="020B0503020204020204" charset="-122"/>
              </a:defRPr>
            </a:pPr>
            <a:r>
              <a:rPr sz="1500" b="1">
                <a:solidFill>
                  <a:srgbClr val="206040"/>
                </a:solidFill>
                <a:latin typeface="Microsoft YaHei UI" panose="020B0503020204020204" charset="-122"/>
                <a:ea typeface="Microsoft YaHei UI" panose="020B0503020204020204" charset="-122"/>
                <a:cs typeface="Microsoft YaHei UI" panose="020B0503020204020204" charset="-122"/>
              </a:rPr>
              <a:t>情境变量</a:t>
            </a:r>
            <a:endParaRPr sz="1500" b="1">
              <a:solidFill>
                <a:srgbClr val="206040"/>
              </a:solidFill>
              <a:latin typeface="Microsoft YaHei UI" panose="020B0503020204020204" charset="-122"/>
              <a:ea typeface="Microsoft YaHei UI" panose="020B0503020204020204" charset="-122"/>
              <a:cs typeface="Microsoft YaHei UI" panose="020B0503020204020204" charset="-122"/>
            </a:endParaRPr>
          </a:p>
        </p:txBody>
      </p:sp>
      <p:sp>
        <p:nvSpPr>
          <p:cNvPr id="45" name="矩形 44"/>
          <p:cNvSpPr>
            <a:spLocks noGrp="1"/>
          </p:cNvSpPr>
          <p:nvPr/>
        </p:nvSpPr>
        <p:spPr>
          <a:xfrm>
            <a:off x="6315075" y="4848225"/>
            <a:ext cx="4133850" cy="257175"/>
          </a:xfrm>
          <a:prstGeom prst="rect">
            <a:avLst/>
          </a:prstGeom>
          <a:noFill/>
          <a:ln w="0">
            <a:solidFill>
              <a:srgbClr val="FFFFFF"/>
            </a:solidFill>
          </a:ln>
        </p:spPr>
        <p:txBody>
          <a:bodyPr lIns="76200" tIns="38100" rIns="76200" bIns="38100" anchor="t"/>
          <a:lstStyle/>
          <a:p>
            <a:pPr algn="l">
              <a:defRPr sz="1275" b="0">
                <a:solidFill>
                  <a:srgbClr val="111111"/>
                </a:solidFill>
                <a:latin typeface="Microsoft YaHei UI" panose="020B0503020204020204" charset="-122"/>
                <a:ea typeface="Microsoft YaHei UI" panose="020B0503020204020204" charset="-122"/>
                <a:cs typeface="Microsoft YaHei UI" panose="020B0503020204020204" charset="-122"/>
              </a:defRPr>
            </a:pPr>
            <a:r>
              <a:rPr sz="1275" b="0">
                <a:solidFill>
                  <a:srgbClr val="111111"/>
                </a:solidFill>
                <a:latin typeface="Microsoft YaHei UI" panose="020B0503020204020204" charset="-122"/>
                <a:ea typeface="Microsoft YaHei UI" panose="020B0503020204020204" charset="-122"/>
                <a:cs typeface="Microsoft YaHei UI" panose="020B0503020204020204" charset="-122"/>
              </a:rPr>
              <a:t>产权性质与绿色金融支持决定企业能否承受短期成本并完成绿色能力积累。</a:t>
            </a:r>
            <a:endParaRPr sz="1275"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a:spLocks noGrp="1"/>
          </p:cNvSpPr>
          <p:nvPr/>
        </p:nvSpPr>
        <p:spPr>
          <a:xfrm>
            <a:off x="0" y="0"/>
            <a:ext cx="12192000" cy="6858000"/>
          </a:xfrm>
          <a:prstGeom prst="rect">
            <a:avLst/>
          </a:prstGeom>
          <a:solidFill>
            <a:srgbClr val="F4F6F5"/>
          </a:solidFill>
          <a:ln w="0">
            <a:solidFill>
              <a:srgbClr val="FFFFFF"/>
            </a:solidFill>
          </a:ln>
        </p:spPr>
      </p:sp>
      <p:sp>
        <p:nvSpPr>
          <p:cNvPr id="3" name="矩形 2"/>
          <p:cNvSpPr>
            <a:spLocks noGrp="1"/>
          </p:cNvSpPr>
          <p:nvPr/>
        </p:nvSpPr>
        <p:spPr>
          <a:xfrm>
            <a:off x="0" y="0"/>
            <a:ext cx="12192000" cy="6858000"/>
          </a:xfrm>
          <a:prstGeom prst="rect">
            <a:avLst/>
          </a:prstGeom>
          <a:solidFill>
            <a:srgbClr val="F9FAF9"/>
          </a:solidFill>
          <a:ln w="0">
            <a:solidFill>
              <a:srgbClr val="FFFFFF"/>
            </a:solidFill>
          </a:ln>
        </p:spPr>
      </p:sp>
      <p:sp>
        <p:nvSpPr>
          <p:cNvPr id="4" name="矩形 3"/>
          <p:cNvSpPr>
            <a:spLocks noGrp="1"/>
          </p:cNvSpPr>
          <p:nvPr/>
        </p:nvSpPr>
        <p:spPr>
          <a:xfrm>
            <a:off x="8858250" y="0"/>
            <a:ext cx="3333750" cy="6858000"/>
          </a:xfrm>
          <a:prstGeom prst="rect">
            <a:avLst/>
          </a:prstGeom>
          <a:solidFill>
            <a:srgbClr val="F7F9F8"/>
          </a:solidFill>
          <a:ln w="0">
            <a:solidFill>
              <a:srgbClr val="FFFFFF"/>
            </a:solidFill>
          </a:ln>
        </p:spPr>
      </p:sp>
      <p:sp>
        <p:nvSpPr>
          <p:cNvPr id="5" name="矩形 4"/>
          <p:cNvSpPr>
            <a:spLocks noGrp="1"/>
          </p:cNvSpPr>
          <p:nvPr/>
        </p:nvSpPr>
        <p:spPr>
          <a:xfrm>
            <a:off x="0" y="6115050"/>
            <a:ext cx="12192000" cy="742950"/>
          </a:xfrm>
          <a:prstGeom prst="rect">
            <a:avLst/>
          </a:prstGeom>
          <a:solidFill>
            <a:srgbClr val="F8FAF9"/>
          </a:solidFill>
          <a:ln w="0">
            <a:solidFill>
              <a:srgbClr val="FFFFFF"/>
            </a:solidFill>
          </a:ln>
        </p:spPr>
      </p:sp>
      <p:sp>
        <p:nvSpPr>
          <p:cNvPr id="6" name="等腰三角形 5"/>
          <p:cNvSpPr>
            <a:spLocks noGrp="1"/>
          </p:cNvSpPr>
          <p:nvPr/>
        </p:nvSpPr>
        <p:spPr>
          <a:xfrm>
            <a:off x="1524000" y="904875"/>
            <a:ext cx="2476500" cy="1714500"/>
          </a:xfrm>
          <a:prstGeom prst="triangle">
            <a:avLst/>
          </a:prstGeom>
          <a:solidFill>
            <a:srgbClr val="FFFFFF"/>
          </a:solidFill>
          <a:ln w="0">
            <a:solidFill>
              <a:srgbClr val="FFFFFF"/>
            </a:solidFill>
          </a:ln>
        </p:spPr>
      </p:sp>
      <p:sp>
        <p:nvSpPr>
          <p:cNvPr id="7" name="等腰三角形 6"/>
          <p:cNvSpPr>
            <a:spLocks noGrp="1"/>
          </p:cNvSpPr>
          <p:nvPr/>
        </p:nvSpPr>
        <p:spPr>
          <a:xfrm>
            <a:off x="3857625" y="1762125"/>
            <a:ext cx="2476500" cy="1714500"/>
          </a:xfrm>
          <a:prstGeom prst="triangle">
            <a:avLst/>
          </a:prstGeom>
          <a:solidFill>
            <a:srgbClr val="F8FBFA"/>
          </a:solidFill>
          <a:ln w="0">
            <a:solidFill>
              <a:srgbClr val="FFFFFF"/>
            </a:solidFill>
          </a:ln>
        </p:spPr>
      </p:sp>
      <p:sp>
        <p:nvSpPr>
          <p:cNvPr id="8" name="等腰三角形 7"/>
          <p:cNvSpPr>
            <a:spLocks noGrp="1"/>
          </p:cNvSpPr>
          <p:nvPr/>
        </p:nvSpPr>
        <p:spPr>
          <a:xfrm>
            <a:off x="6191250" y="904875"/>
            <a:ext cx="2476500" cy="1714500"/>
          </a:xfrm>
          <a:prstGeom prst="triangle">
            <a:avLst/>
          </a:prstGeom>
          <a:solidFill>
            <a:srgbClr val="FFFFFF"/>
          </a:solidFill>
          <a:ln w="0">
            <a:solidFill>
              <a:srgbClr val="FFFFFF"/>
            </a:solidFill>
          </a:ln>
        </p:spPr>
      </p:sp>
      <p:sp>
        <p:nvSpPr>
          <p:cNvPr id="9" name="等腰三角形 8"/>
          <p:cNvSpPr>
            <a:spLocks noGrp="1"/>
          </p:cNvSpPr>
          <p:nvPr/>
        </p:nvSpPr>
        <p:spPr>
          <a:xfrm>
            <a:off x="8524875" y="1762125"/>
            <a:ext cx="2476500" cy="1714500"/>
          </a:xfrm>
          <a:prstGeom prst="triangle">
            <a:avLst/>
          </a:prstGeom>
          <a:solidFill>
            <a:srgbClr val="F8FBFA"/>
          </a:solidFill>
          <a:ln w="0">
            <a:solidFill>
              <a:srgbClr val="FFFFFF"/>
            </a:solidFill>
          </a:ln>
        </p:spPr>
      </p:sp>
      <p:sp>
        <p:nvSpPr>
          <p:cNvPr id="10" name="等腰三角形 9"/>
          <p:cNvSpPr>
            <a:spLocks noGrp="1"/>
          </p:cNvSpPr>
          <p:nvPr/>
        </p:nvSpPr>
        <p:spPr>
          <a:xfrm>
            <a:off x="10858500" y="904875"/>
            <a:ext cx="2476500" cy="1714500"/>
          </a:xfrm>
          <a:prstGeom prst="triangle">
            <a:avLst/>
          </a:prstGeom>
          <a:solidFill>
            <a:srgbClr val="FFFFFF"/>
          </a:solidFill>
          <a:ln w="0">
            <a:solidFill>
              <a:srgbClr val="FFFFFF"/>
            </a:solidFill>
          </a:ln>
        </p:spPr>
      </p:sp>
      <p:sp>
        <p:nvSpPr>
          <p:cNvPr id="11" name="等腰三角形 10"/>
          <p:cNvSpPr>
            <a:spLocks noGrp="1"/>
          </p:cNvSpPr>
          <p:nvPr/>
        </p:nvSpPr>
        <p:spPr>
          <a:xfrm rot="5400000">
            <a:off x="152400" y="266700"/>
            <a:ext cx="533400" cy="476250"/>
          </a:xfrm>
          <a:prstGeom prst="triangle">
            <a:avLst/>
          </a:prstGeom>
          <a:solidFill>
            <a:srgbClr val="206040"/>
          </a:solidFill>
          <a:ln w="0">
            <a:solidFill>
              <a:srgbClr val="FFFFFF"/>
            </a:solidFill>
          </a:ln>
        </p:spPr>
      </p:sp>
      <p:sp>
        <p:nvSpPr>
          <p:cNvPr id="12" name="等腰三角形 11"/>
          <p:cNvSpPr>
            <a:spLocks noGrp="1"/>
          </p:cNvSpPr>
          <p:nvPr/>
        </p:nvSpPr>
        <p:spPr>
          <a:xfrm rot="5400000">
            <a:off x="381000" y="304800"/>
            <a:ext cx="457200" cy="419100"/>
          </a:xfrm>
          <a:prstGeom prst="triangle">
            <a:avLst/>
          </a:prstGeom>
          <a:solidFill>
            <a:srgbClr val="80A090"/>
          </a:solidFill>
          <a:ln w="0">
            <a:solidFill>
              <a:srgbClr val="FFFFFF"/>
            </a:solidFill>
          </a:ln>
        </p:spPr>
      </p:sp>
      <p:sp>
        <p:nvSpPr>
          <p:cNvPr id="13" name="矩形 12"/>
          <p:cNvSpPr>
            <a:spLocks noGrp="1"/>
          </p:cNvSpPr>
          <p:nvPr/>
        </p:nvSpPr>
        <p:spPr>
          <a:xfrm>
            <a:off x="857250" y="228600"/>
            <a:ext cx="2857500" cy="457200"/>
          </a:xfrm>
          <a:prstGeom prst="rect">
            <a:avLst/>
          </a:prstGeom>
          <a:noFill/>
          <a:ln w="0">
            <a:solidFill>
              <a:srgbClr val="FFFFFF"/>
            </a:solidFill>
          </a:ln>
        </p:spPr>
        <p:txBody>
          <a:bodyPr lIns="76200" tIns="38100" rIns="76200" bIns="38100" anchor="ctr"/>
          <a:lstStyle/>
          <a:p>
            <a:pPr algn="l">
              <a:defRPr sz="2550" b="1">
                <a:solidFill>
                  <a:srgbClr val="206040"/>
                </a:solidFill>
                <a:latin typeface="黑体" panose="02010609060101010101" charset="-122"/>
                <a:ea typeface="黑体" panose="02010609060101010101" charset="-122"/>
                <a:cs typeface="黑体" panose="02010609060101010101" charset="-122"/>
              </a:defRPr>
            </a:pPr>
            <a:r>
              <a:rPr sz="2550" b="1">
                <a:solidFill>
                  <a:srgbClr val="206040"/>
                </a:solidFill>
                <a:latin typeface="黑体" panose="02010609060101010101" charset="-122"/>
                <a:ea typeface="黑体" panose="02010609060101010101" charset="-122"/>
                <a:cs typeface="黑体" panose="02010609060101010101" charset="-122"/>
              </a:rPr>
              <a:t>研究假设</a:t>
            </a:r>
            <a:endParaRPr sz="2550" b="1">
              <a:solidFill>
                <a:srgbClr val="206040"/>
              </a:solidFill>
              <a:latin typeface="黑体" panose="02010609060101010101" charset="-122"/>
              <a:ea typeface="黑体" panose="02010609060101010101" charset="-122"/>
              <a:cs typeface="黑体" panose="02010609060101010101" charset="-122"/>
            </a:endParaRPr>
          </a:p>
        </p:txBody>
      </p:sp>
      <p:sp>
        <p:nvSpPr>
          <p:cNvPr id="14" name="矩形 13"/>
          <p:cNvSpPr>
            <a:spLocks noGrp="1"/>
          </p:cNvSpPr>
          <p:nvPr/>
        </p:nvSpPr>
        <p:spPr>
          <a:xfrm>
            <a:off x="4000500" y="295275"/>
            <a:ext cx="1123950" cy="323850"/>
          </a:xfrm>
          <a:prstGeom prst="rect">
            <a:avLst/>
          </a:prstGeom>
          <a:noFill/>
          <a:ln w="0">
            <a:solidFill>
              <a:srgbClr val="FFFFFF"/>
            </a:solidFill>
          </a:ln>
        </p:spPr>
        <p:txBody>
          <a:bodyPr lIns="76200" tIns="38100" rIns="76200" bIns="38100" anchor="ctr"/>
          <a:lstStyle/>
          <a:p>
            <a:pPr algn="ctr">
              <a:defRPr sz="1125" b="0">
                <a:solidFill>
                  <a:srgbClr val="161616"/>
                </a:solidFill>
                <a:latin typeface="Microsoft YaHei UI" panose="020B0503020204020204" charset="-122"/>
                <a:ea typeface="Microsoft YaHei UI" panose="020B0503020204020204" charset="-122"/>
                <a:cs typeface="Microsoft YaHei UI" panose="020B0503020204020204" charset="-122"/>
              </a:defRPr>
            </a:pPr>
            <a:r>
              <a:rPr sz="1125" b="0">
                <a:solidFill>
                  <a:srgbClr val="161616"/>
                </a:solidFill>
                <a:latin typeface="Microsoft YaHei UI" panose="020B0503020204020204" charset="-122"/>
                <a:ea typeface="Microsoft YaHei UI" panose="020B0503020204020204" charset="-122"/>
                <a:cs typeface="Microsoft YaHei UI" panose="020B0503020204020204" charset="-122"/>
              </a:rPr>
              <a:t>现实问题</a:t>
            </a:r>
            <a:endParaRPr sz="1125" b="0">
              <a:solidFill>
                <a:srgbClr val="161616"/>
              </a:solidFill>
              <a:latin typeface="Microsoft YaHei UI" panose="020B0503020204020204" charset="-122"/>
              <a:ea typeface="Microsoft YaHei UI" panose="020B0503020204020204" charset="-122"/>
              <a:cs typeface="Microsoft YaHei UI" panose="020B0503020204020204" charset="-122"/>
            </a:endParaRPr>
          </a:p>
        </p:txBody>
      </p:sp>
      <p:sp>
        <p:nvSpPr>
          <p:cNvPr id="15" name="矩形 14"/>
          <p:cNvSpPr>
            <a:spLocks noGrp="1"/>
          </p:cNvSpPr>
          <p:nvPr/>
        </p:nvSpPr>
        <p:spPr>
          <a:xfrm>
            <a:off x="5200650" y="295275"/>
            <a:ext cx="1123950" cy="323850"/>
          </a:xfrm>
          <a:prstGeom prst="rect">
            <a:avLst/>
          </a:prstGeom>
          <a:noFill/>
          <a:ln w="0">
            <a:solidFill>
              <a:srgbClr val="FFFFFF"/>
            </a:solidFill>
          </a:ln>
        </p:spPr>
        <p:txBody>
          <a:bodyPr lIns="76200" tIns="38100" rIns="76200" bIns="38100" anchor="ctr"/>
          <a:lstStyle/>
          <a:p>
            <a:pPr algn="ctr">
              <a:defRPr sz="1125" b="0">
                <a:solidFill>
                  <a:srgbClr val="161616"/>
                </a:solidFill>
                <a:latin typeface="Microsoft YaHei UI" panose="020B0503020204020204" charset="-122"/>
                <a:ea typeface="Microsoft YaHei UI" panose="020B0503020204020204" charset="-122"/>
                <a:cs typeface="Microsoft YaHei UI" panose="020B0503020204020204" charset="-122"/>
              </a:defRPr>
            </a:pPr>
            <a:r>
              <a:rPr sz="1125" b="0">
                <a:solidFill>
                  <a:srgbClr val="161616"/>
                </a:solidFill>
                <a:latin typeface="Microsoft YaHei UI" panose="020B0503020204020204" charset="-122"/>
                <a:ea typeface="Microsoft YaHei UI" panose="020B0503020204020204" charset="-122"/>
                <a:cs typeface="Microsoft YaHei UI" panose="020B0503020204020204" charset="-122"/>
              </a:rPr>
              <a:t>科学问题</a:t>
            </a:r>
            <a:endParaRPr sz="1125" b="0">
              <a:solidFill>
                <a:srgbClr val="161616"/>
              </a:solidFill>
              <a:latin typeface="Microsoft YaHei UI" panose="020B0503020204020204" charset="-122"/>
              <a:ea typeface="Microsoft YaHei UI" panose="020B0503020204020204" charset="-122"/>
              <a:cs typeface="Microsoft YaHei UI" panose="020B0503020204020204" charset="-122"/>
            </a:endParaRPr>
          </a:p>
        </p:txBody>
      </p:sp>
      <p:sp>
        <p:nvSpPr>
          <p:cNvPr id="16" name="矩形 15"/>
          <p:cNvSpPr>
            <a:spLocks noGrp="1"/>
          </p:cNvSpPr>
          <p:nvPr/>
        </p:nvSpPr>
        <p:spPr>
          <a:xfrm>
            <a:off x="6400800" y="228600"/>
            <a:ext cx="1123950" cy="323850"/>
          </a:xfrm>
          <a:prstGeom prst="rect">
            <a:avLst/>
          </a:prstGeom>
          <a:noFill/>
          <a:ln w="0">
            <a:solidFill>
              <a:srgbClr val="FFFFFF"/>
            </a:solidFill>
          </a:ln>
        </p:spPr>
        <p:txBody>
          <a:bodyPr lIns="76200" tIns="38100" rIns="76200" bIns="38100" anchor="ctr"/>
          <a:lstStyle/>
          <a:p>
            <a:pPr algn="ctr">
              <a:defRPr sz="1500" b="1">
                <a:solidFill>
                  <a:srgbClr val="206040"/>
                </a:solidFill>
                <a:latin typeface="Microsoft YaHei UI" panose="020B0503020204020204" charset="-122"/>
                <a:ea typeface="Microsoft YaHei UI" panose="020B0503020204020204" charset="-122"/>
                <a:cs typeface="Microsoft YaHei UI" panose="020B0503020204020204" charset="-122"/>
              </a:defRPr>
            </a:pPr>
            <a:r>
              <a:rPr sz="1500" b="1">
                <a:solidFill>
                  <a:srgbClr val="206040"/>
                </a:solidFill>
                <a:latin typeface="Microsoft YaHei UI" panose="020B0503020204020204" charset="-122"/>
                <a:ea typeface="Microsoft YaHei UI" panose="020B0503020204020204" charset="-122"/>
                <a:cs typeface="Microsoft YaHei UI" panose="020B0503020204020204" charset="-122"/>
              </a:rPr>
              <a:t>理论机制</a:t>
            </a:r>
            <a:endParaRPr sz="1500" b="1">
              <a:solidFill>
                <a:srgbClr val="206040"/>
              </a:solidFill>
              <a:latin typeface="Microsoft YaHei UI" panose="020B0503020204020204" charset="-122"/>
              <a:ea typeface="Microsoft YaHei UI" panose="020B0503020204020204" charset="-122"/>
              <a:cs typeface="Microsoft YaHei UI" panose="020B0503020204020204" charset="-122"/>
            </a:endParaRPr>
          </a:p>
        </p:txBody>
      </p:sp>
      <p:sp>
        <p:nvSpPr>
          <p:cNvPr id="17" name="圆角矩形 16"/>
          <p:cNvSpPr>
            <a:spLocks noGrp="1"/>
          </p:cNvSpPr>
          <p:nvPr/>
        </p:nvSpPr>
        <p:spPr>
          <a:xfrm>
            <a:off x="6572250" y="657225"/>
            <a:ext cx="781050" cy="38100"/>
          </a:xfrm>
          <a:prstGeom prst="roundRect">
            <a:avLst>
              <a:gd name="adj" fmla="val 25000"/>
            </a:avLst>
          </a:prstGeom>
          <a:solidFill>
            <a:srgbClr val="206040"/>
          </a:solidFill>
          <a:ln w="0">
            <a:solidFill>
              <a:srgbClr val="FFFFFF"/>
            </a:solidFill>
          </a:ln>
        </p:spPr>
      </p:sp>
      <p:sp>
        <p:nvSpPr>
          <p:cNvPr id="18" name="矩形 17"/>
          <p:cNvSpPr>
            <a:spLocks noGrp="1"/>
          </p:cNvSpPr>
          <p:nvPr/>
        </p:nvSpPr>
        <p:spPr>
          <a:xfrm>
            <a:off x="7600950" y="295275"/>
            <a:ext cx="1123950" cy="323850"/>
          </a:xfrm>
          <a:prstGeom prst="rect">
            <a:avLst/>
          </a:prstGeom>
          <a:noFill/>
          <a:ln w="0">
            <a:solidFill>
              <a:srgbClr val="FFFFFF"/>
            </a:solidFill>
          </a:ln>
        </p:spPr>
        <p:txBody>
          <a:bodyPr lIns="76200" tIns="38100" rIns="76200" bIns="38100" anchor="ctr"/>
          <a:lstStyle/>
          <a:p>
            <a:pPr algn="ctr">
              <a:defRPr sz="1125" b="0">
                <a:solidFill>
                  <a:srgbClr val="161616"/>
                </a:solidFill>
                <a:latin typeface="Microsoft YaHei UI" panose="020B0503020204020204" charset="-122"/>
                <a:ea typeface="Microsoft YaHei UI" panose="020B0503020204020204" charset="-122"/>
                <a:cs typeface="Microsoft YaHei UI" panose="020B0503020204020204" charset="-122"/>
              </a:defRPr>
            </a:pPr>
            <a:r>
              <a:rPr sz="1125" b="0">
                <a:solidFill>
                  <a:srgbClr val="161616"/>
                </a:solidFill>
                <a:latin typeface="Microsoft YaHei UI" panose="020B0503020204020204" charset="-122"/>
                <a:ea typeface="Microsoft YaHei UI" panose="020B0503020204020204" charset="-122"/>
                <a:cs typeface="Microsoft YaHei UI" panose="020B0503020204020204" charset="-122"/>
              </a:rPr>
              <a:t>数据变量</a:t>
            </a:r>
            <a:endParaRPr sz="1125" b="0">
              <a:solidFill>
                <a:srgbClr val="161616"/>
              </a:solidFill>
              <a:latin typeface="Microsoft YaHei UI" panose="020B0503020204020204" charset="-122"/>
              <a:ea typeface="Microsoft YaHei UI" panose="020B0503020204020204" charset="-122"/>
              <a:cs typeface="Microsoft YaHei UI" panose="020B0503020204020204" charset="-122"/>
            </a:endParaRPr>
          </a:p>
        </p:txBody>
      </p:sp>
      <p:sp>
        <p:nvSpPr>
          <p:cNvPr id="19" name="矩形 18"/>
          <p:cNvSpPr>
            <a:spLocks noGrp="1"/>
          </p:cNvSpPr>
          <p:nvPr/>
        </p:nvSpPr>
        <p:spPr>
          <a:xfrm>
            <a:off x="8801100" y="295275"/>
            <a:ext cx="1123950" cy="323850"/>
          </a:xfrm>
          <a:prstGeom prst="rect">
            <a:avLst/>
          </a:prstGeom>
          <a:noFill/>
          <a:ln w="0">
            <a:solidFill>
              <a:srgbClr val="FFFFFF"/>
            </a:solidFill>
          </a:ln>
        </p:spPr>
        <p:txBody>
          <a:bodyPr lIns="76200" tIns="38100" rIns="76200" bIns="38100" anchor="ctr"/>
          <a:lstStyle/>
          <a:p>
            <a:pPr algn="ctr">
              <a:defRPr sz="1125" b="0">
                <a:solidFill>
                  <a:srgbClr val="161616"/>
                </a:solidFill>
                <a:latin typeface="Microsoft YaHei UI" panose="020B0503020204020204" charset="-122"/>
                <a:ea typeface="Microsoft YaHei UI" panose="020B0503020204020204" charset="-122"/>
                <a:cs typeface="Microsoft YaHei UI" panose="020B0503020204020204" charset="-122"/>
              </a:defRPr>
            </a:pPr>
            <a:r>
              <a:rPr sz="1125" b="0">
                <a:solidFill>
                  <a:srgbClr val="161616"/>
                </a:solidFill>
                <a:latin typeface="Microsoft YaHei UI" panose="020B0503020204020204" charset="-122"/>
                <a:ea typeface="Microsoft YaHei UI" panose="020B0503020204020204" charset="-122"/>
                <a:cs typeface="Microsoft YaHei UI" panose="020B0503020204020204" charset="-122"/>
              </a:rPr>
              <a:t>模型识别</a:t>
            </a:r>
            <a:endParaRPr sz="1125" b="0">
              <a:solidFill>
                <a:srgbClr val="161616"/>
              </a:solidFill>
              <a:latin typeface="Microsoft YaHei UI" panose="020B0503020204020204" charset="-122"/>
              <a:ea typeface="Microsoft YaHei UI" panose="020B0503020204020204" charset="-122"/>
              <a:cs typeface="Microsoft YaHei UI" panose="020B0503020204020204" charset="-122"/>
            </a:endParaRPr>
          </a:p>
        </p:txBody>
      </p:sp>
      <p:sp>
        <p:nvSpPr>
          <p:cNvPr id="20" name="矩形 19"/>
          <p:cNvSpPr>
            <a:spLocks noGrp="1"/>
          </p:cNvSpPr>
          <p:nvPr/>
        </p:nvSpPr>
        <p:spPr>
          <a:xfrm>
            <a:off x="10001250" y="295275"/>
            <a:ext cx="1123950" cy="323850"/>
          </a:xfrm>
          <a:prstGeom prst="rect">
            <a:avLst/>
          </a:prstGeom>
          <a:noFill/>
          <a:ln w="0">
            <a:solidFill>
              <a:srgbClr val="FFFFFF"/>
            </a:solidFill>
          </a:ln>
        </p:spPr>
        <p:txBody>
          <a:bodyPr lIns="76200" tIns="38100" rIns="76200" bIns="38100" anchor="ctr"/>
          <a:lstStyle/>
          <a:p>
            <a:pPr algn="ctr">
              <a:defRPr sz="1125" b="0">
                <a:solidFill>
                  <a:srgbClr val="161616"/>
                </a:solidFill>
                <a:latin typeface="Microsoft YaHei UI" panose="020B0503020204020204" charset="-122"/>
                <a:ea typeface="Microsoft YaHei UI" panose="020B0503020204020204" charset="-122"/>
                <a:cs typeface="Microsoft YaHei UI" panose="020B0503020204020204" charset="-122"/>
              </a:defRPr>
            </a:pPr>
            <a:r>
              <a:rPr sz="1125" b="0">
                <a:solidFill>
                  <a:srgbClr val="161616"/>
                </a:solidFill>
                <a:latin typeface="Microsoft YaHei UI" panose="020B0503020204020204" charset="-122"/>
                <a:ea typeface="Microsoft YaHei UI" panose="020B0503020204020204" charset="-122"/>
                <a:cs typeface="Microsoft YaHei UI" panose="020B0503020204020204" charset="-122"/>
              </a:rPr>
              <a:t>预期贡献</a:t>
            </a:r>
            <a:endParaRPr sz="1125" b="0">
              <a:solidFill>
                <a:srgbClr val="161616"/>
              </a:solidFill>
              <a:latin typeface="Microsoft YaHei UI" panose="020B0503020204020204" charset="-122"/>
              <a:ea typeface="Microsoft YaHei UI" panose="020B0503020204020204" charset="-122"/>
              <a:cs typeface="Microsoft YaHei UI" panose="020B0503020204020204" charset="-122"/>
            </a:endParaRPr>
          </a:p>
        </p:txBody>
      </p:sp>
      <p:sp>
        <p:nvSpPr>
          <p:cNvPr id="21" name="圆角矩形 20"/>
          <p:cNvSpPr>
            <a:spLocks noGrp="1"/>
          </p:cNvSpPr>
          <p:nvPr/>
        </p:nvSpPr>
        <p:spPr>
          <a:xfrm>
            <a:off x="3905250" y="742950"/>
            <a:ext cx="8001000" cy="9525"/>
          </a:xfrm>
          <a:prstGeom prst="roundRect">
            <a:avLst>
              <a:gd name="adj" fmla="val 50000"/>
            </a:avLst>
          </a:prstGeom>
          <a:solidFill>
            <a:srgbClr val="D7DFDA"/>
          </a:solidFill>
          <a:ln w="0">
            <a:solidFill>
              <a:srgbClr val="FFFFFF"/>
            </a:solidFill>
          </a:ln>
        </p:spPr>
      </p:sp>
      <p:sp>
        <p:nvSpPr>
          <p:cNvPr id="22" name="矩形 21"/>
          <p:cNvSpPr>
            <a:spLocks noGrp="1"/>
          </p:cNvSpPr>
          <p:nvPr/>
        </p:nvSpPr>
        <p:spPr>
          <a:xfrm>
            <a:off x="11334750" y="6286500"/>
            <a:ext cx="495300" cy="266700"/>
          </a:xfrm>
          <a:prstGeom prst="rect">
            <a:avLst/>
          </a:prstGeom>
          <a:noFill/>
          <a:ln w="0">
            <a:solidFill>
              <a:srgbClr val="FFFFFF"/>
            </a:solidFill>
          </a:ln>
        </p:spPr>
        <p:txBody>
          <a:bodyPr lIns="76200" tIns="38100" rIns="76200" bIns="38100" anchor="ctr"/>
          <a:lstStyle/>
          <a:p>
            <a:pPr algn="r">
              <a:defRPr sz="975" b="0">
                <a:solidFill>
                  <a:srgbClr val="80A090"/>
                </a:solidFill>
                <a:latin typeface="Microsoft YaHei UI" panose="020B0503020204020204" charset="-122"/>
                <a:ea typeface="Microsoft YaHei UI" panose="020B0503020204020204" charset="-122"/>
                <a:cs typeface="Microsoft YaHei UI" panose="020B0503020204020204" charset="-122"/>
              </a:defRPr>
            </a:pPr>
            <a:r>
              <a:rPr sz="975" b="0">
                <a:solidFill>
                  <a:srgbClr val="80A090"/>
                </a:solidFill>
                <a:latin typeface="Microsoft YaHei UI" panose="020B0503020204020204" charset="-122"/>
                <a:ea typeface="Microsoft YaHei UI" panose="020B0503020204020204" charset="-122"/>
                <a:cs typeface="Microsoft YaHei UI" panose="020B0503020204020204" charset="-122"/>
              </a:rPr>
              <a:t>08</a:t>
            </a:r>
            <a:endParaRPr sz="975" b="0">
              <a:solidFill>
                <a:srgbClr val="80A090"/>
              </a:solidFill>
              <a:latin typeface="Microsoft YaHei UI" panose="020B0503020204020204" charset="-122"/>
              <a:ea typeface="Microsoft YaHei UI" panose="020B0503020204020204" charset="-122"/>
              <a:cs typeface="Microsoft YaHei UI" panose="020B0503020204020204" charset="-122"/>
            </a:endParaRPr>
          </a:p>
        </p:txBody>
      </p:sp>
      <p:sp>
        <p:nvSpPr>
          <p:cNvPr id="23" name="圆角矩形 22"/>
          <p:cNvSpPr>
            <a:spLocks noGrp="1"/>
          </p:cNvSpPr>
          <p:nvPr/>
        </p:nvSpPr>
        <p:spPr>
          <a:xfrm>
            <a:off x="809625" y="1381125"/>
            <a:ext cx="781050" cy="457200"/>
          </a:xfrm>
          <a:prstGeom prst="roundRect">
            <a:avLst>
              <a:gd name="adj" fmla="val 50000"/>
            </a:avLst>
          </a:prstGeom>
          <a:solidFill>
            <a:srgbClr val="206040"/>
          </a:solidFill>
          <a:ln w="0">
            <a:solidFill>
              <a:srgbClr val="FFFFFF"/>
            </a:solidFill>
          </a:ln>
        </p:spPr>
      </p:sp>
      <p:sp>
        <p:nvSpPr>
          <p:cNvPr id="24" name="矩形 23"/>
          <p:cNvSpPr>
            <a:spLocks noGrp="1"/>
          </p:cNvSpPr>
          <p:nvPr/>
        </p:nvSpPr>
        <p:spPr>
          <a:xfrm>
            <a:off x="809625" y="1381125"/>
            <a:ext cx="781050" cy="457200"/>
          </a:xfrm>
          <a:prstGeom prst="rect">
            <a:avLst/>
          </a:prstGeom>
          <a:noFill/>
          <a:ln w="0">
            <a:solidFill>
              <a:srgbClr val="FFFFFF"/>
            </a:solidFill>
          </a:ln>
        </p:spPr>
        <p:txBody>
          <a:bodyPr lIns="76200" tIns="38100" rIns="76200" bIns="38100" anchor="ctr"/>
          <a:lstStyle/>
          <a:p>
            <a:pPr algn="ctr">
              <a:defRPr sz="1650" b="1">
                <a:solidFill>
                  <a:srgbClr val="FFFFFF"/>
                </a:solidFill>
                <a:latin typeface="Microsoft YaHei UI" panose="020B0503020204020204" charset="-122"/>
                <a:ea typeface="Microsoft YaHei UI" panose="020B0503020204020204" charset="-122"/>
                <a:cs typeface="Microsoft YaHei UI" panose="020B0503020204020204" charset="-122"/>
              </a:defRPr>
            </a:pPr>
            <a:r>
              <a:rPr sz="1650" b="1">
                <a:solidFill>
                  <a:srgbClr val="FFFFFF"/>
                </a:solidFill>
                <a:latin typeface="Microsoft YaHei UI" panose="020B0503020204020204" charset="-122"/>
                <a:ea typeface="Microsoft YaHei UI" panose="020B0503020204020204" charset="-122"/>
                <a:cs typeface="Microsoft YaHei UI" panose="020B0503020204020204" charset="-122"/>
              </a:rPr>
              <a:t>H1</a:t>
            </a:r>
            <a:endParaRPr sz="1650" b="1">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25" name="圆角矩形 24"/>
          <p:cNvSpPr>
            <a:spLocks noGrp="1"/>
          </p:cNvSpPr>
          <p:nvPr/>
        </p:nvSpPr>
        <p:spPr>
          <a:xfrm>
            <a:off x="1809750" y="1190625"/>
            <a:ext cx="8667750" cy="971550"/>
          </a:xfrm>
          <a:prstGeom prst="roundRect">
            <a:avLst>
              <a:gd name="adj" fmla="val 11765"/>
            </a:avLst>
          </a:prstGeom>
          <a:solidFill>
            <a:srgbClr val="FFFFFF"/>
          </a:solidFill>
          <a:ln w="11430">
            <a:solidFill>
              <a:srgbClr val="D7DFDA"/>
            </a:solidFill>
          </a:ln>
        </p:spPr>
      </p:sp>
      <p:sp>
        <p:nvSpPr>
          <p:cNvPr id="26" name="矩形 25"/>
          <p:cNvSpPr>
            <a:spLocks noGrp="1"/>
          </p:cNvSpPr>
          <p:nvPr/>
        </p:nvSpPr>
        <p:spPr>
          <a:xfrm>
            <a:off x="1981200" y="1323975"/>
            <a:ext cx="8324850" cy="323850"/>
          </a:xfrm>
          <a:prstGeom prst="rect">
            <a:avLst/>
          </a:prstGeom>
          <a:noFill/>
          <a:ln w="0">
            <a:solidFill>
              <a:srgbClr val="FFFFFF"/>
            </a:solidFill>
          </a:ln>
        </p:spPr>
        <p:txBody>
          <a:bodyPr lIns="76200" tIns="38100" rIns="76200" bIns="38100" anchor="ctr"/>
          <a:lstStyle/>
          <a:p>
            <a:pPr algn="l">
              <a:defRPr sz="1575" b="1">
                <a:solidFill>
                  <a:srgbClr val="206040"/>
                </a:solidFill>
                <a:latin typeface="Microsoft YaHei UI" panose="020B0503020204020204" charset="-122"/>
                <a:ea typeface="Microsoft YaHei UI" panose="020B0503020204020204" charset="-122"/>
                <a:cs typeface="Microsoft YaHei UI" panose="020B0503020204020204" charset="-122"/>
              </a:defRPr>
            </a:pPr>
            <a:r>
              <a:rPr sz="1575" b="1">
                <a:solidFill>
                  <a:srgbClr val="206040"/>
                </a:solidFill>
                <a:latin typeface="Microsoft YaHei UI" panose="020B0503020204020204" charset="-122"/>
                <a:ea typeface="Microsoft YaHei UI" panose="020B0503020204020204" charset="-122"/>
                <a:cs typeface="Microsoft YaHei UI" panose="020B0503020204020204" charset="-122"/>
              </a:rPr>
              <a:t>环境规制强度对企业GTFP存在非线性影响</a:t>
            </a:r>
            <a:endParaRPr sz="1575" b="1">
              <a:solidFill>
                <a:srgbClr val="206040"/>
              </a:solidFill>
              <a:latin typeface="Microsoft YaHei UI" panose="020B0503020204020204" charset="-122"/>
              <a:ea typeface="Microsoft YaHei UI" panose="020B0503020204020204" charset="-122"/>
              <a:cs typeface="Microsoft YaHei UI" panose="020B0503020204020204" charset="-122"/>
            </a:endParaRPr>
          </a:p>
        </p:txBody>
      </p:sp>
      <p:sp>
        <p:nvSpPr>
          <p:cNvPr id="27" name="矩形 26"/>
          <p:cNvSpPr>
            <a:spLocks noGrp="1"/>
          </p:cNvSpPr>
          <p:nvPr/>
        </p:nvSpPr>
        <p:spPr>
          <a:xfrm>
            <a:off x="1981200" y="1704975"/>
            <a:ext cx="8324850" cy="323850"/>
          </a:xfrm>
          <a:prstGeom prst="rect">
            <a:avLst/>
          </a:prstGeom>
          <a:noFill/>
          <a:ln w="0">
            <a:solidFill>
              <a:srgbClr val="FFFFFF"/>
            </a:solidFill>
          </a:ln>
        </p:spPr>
        <p:txBody>
          <a:bodyPr lIns="76200" tIns="38100" rIns="76200" bIns="38100" anchor="t"/>
          <a:lstStyle/>
          <a:p>
            <a:pPr algn="l">
              <a:defRPr sz="1200" b="0">
                <a:solidFill>
                  <a:srgbClr val="111111"/>
                </a:solidFill>
                <a:latin typeface="Microsoft YaHei UI" panose="020B0503020204020204" charset="-122"/>
                <a:ea typeface="Microsoft YaHei UI" panose="020B0503020204020204" charset="-122"/>
                <a:cs typeface="Microsoft YaHei UI" panose="020B0503020204020204" charset="-122"/>
              </a:defRPr>
            </a:pPr>
            <a:r>
              <a:rPr sz="1200" b="0">
                <a:solidFill>
                  <a:srgbClr val="111111"/>
                </a:solidFill>
                <a:latin typeface="Microsoft YaHei UI" panose="020B0503020204020204" charset="-122"/>
                <a:ea typeface="Microsoft YaHei UI" panose="020B0503020204020204" charset="-122"/>
                <a:cs typeface="Microsoft YaHei UI" panose="020B0503020204020204" charset="-122"/>
              </a:rPr>
              <a:t>低/中强度阶段可能以成本挤出为主；达到一定强度后，创新补偿效应增强。</a:t>
            </a:r>
            <a:endParaRPr sz="1200"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28" name="圆角矩形 27"/>
          <p:cNvSpPr>
            <a:spLocks noGrp="1"/>
          </p:cNvSpPr>
          <p:nvPr/>
        </p:nvSpPr>
        <p:spPr>
          <a:xfrm>
            <a:off x="809625" y="2809875"/>
            <a:ext cx="781050" cy="457200"/>
          </a:xfrm>
          <a:prstGeom prst="roundRect">
            <a:avLst>
              <a:gd name="adj" fmla="val 50000"/>
            </a:avLst>
          </a:prstGeom>
          <a:solidFill>
            <a:srgbClr val="FFC000"/>
          </a:solidFill>
          <a:ln w="0">
            <a:solidFill>
              <a:srgbClr val="FFFFFF"/>
            </a:solidFill>
          </a:ln>
        </p:spPr>
      </p:sp>
      <p:sp>
        <p:nvSpPr>
          <p:cNvPr id="29" name="矩形 28"/>
          <p:cNvSpPr>
            <a:spLocks noGrp="1"/>
          </p:cNvSpPr>
          <p:nvPr/>
        </p:nvSpPr>
        <p:spPr>
          <a:xfrm>
            <a:off x="809625" y="2809875"/>
            <a:ext cx="781050" cy="457200"/>
          </a:xfrm>
          <a:prstGeom prst="rect">
            <a:avLst/>
          </a:prstGeom>
          <a:noFill/>
          <a:ln w="0">
            <a:solidFill>
              <a:srgbClr val="FFFFFF"/>
            </a:solidFill>
          </a:ln>
        </p:spPr>
        <p:txBody>
          <a:bodyPr lIns="76200" tIns="38100" rIns="76200" bIns="38100" anchor="ctr"/>
          <a:lstStyle/>
          <a:p>
            <a:pPr algn="ctr">
              <a:defRPr sz="1650" b="1">
                <a:solidFill>
                  <a:srgbClr val="111111"/>
                </a:solidFill>
                <a:latin typeface="Microsoft YaHei UI" panose="020B0503020204020204" charset="-122"/>
                <a:ea typeface="Microsoft YaHei UI" panose="020B0503020204020204" charset="-122"/>
                <a:cs typeface="Microsoft YaHei UI" panose="020B0503020204020204" charset="-122"/>
              </a:defRPr>
            </a:pPr>
            <a:r>
              <a:rPr sz="1650" b="1">
                <a:solidFill>
                  <a:srgbClr val="111111"/>
                </a:solidFill>
                <a:latin typeface="Microsoft YaHei UI" panose="020B0503020204020204" charset="-122"/>
                <a:ea typeface="Microsoft YaHei UI" panose="020B0503020204020204" charset="-122"/>
                <a:cs typeface="Microsoft YaHei UI" panose="020B0503020204020204" charset="-122"/>
              </a:rPr>
              <a:t>H2</a:t>
            </a:r>
            <a:endParaRPr sz="1650" b="1">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30" name="圆角矩形 29"/>
          <p:cNvSpPr>
            <a:spLocks noGrp="1"/>
          </p:cNvSpPr>
          <p:nvPr/>
        </p:nvSpPr>
        <p:spPr>
          <a:xfrm>
            <a:off x="1809750" y="2619375"/>
            <a:ext cx="8667750" cy="971550"/>
          </a:xfrm>
          <a:prstGeom prst="roundRect">
            <a:avLst>
              <a:gd name="adj" fmla="val 11765"/>
            </a:avLst>
          </a:prstGeom>
          <a:solidFill>
            <a:srgbClr val="FFFFFF"/>
          </a:solidFill>
          <a:ln w="11430">
            <a:solidFill>
              <a:srgbClr val="D7DFDA"/>
            </a:solidFill>
          </a:ln>
        </p:spPr>
      </p:sp>
      <p:sp>
        <p:nvSpPr>
          <p:cNvPr id="31" name="矩形 30"/>
          <p:cNvSpPr>
            <a:spLocks noGrp="1"/>
          </p:cNvSpPr>
          <p:nvPr/>
        </p:nvSpPr>
        <p:spPr>
          <a:xfrm>
            <a:off x="1981200" y="2752725"/>
            <a:ext cx="8324850" cy="323850"/>
          </a:xfrm>
          <a:prstGeom prst="rect">
            <a:avLst/>
          </a:prstGeom>
          <a:noFill/>
          <a:ln w="0">
            <a:solidFill>
              <a:srgbClr val="FFFFFF"/>
            </a:solidFill>
          </a:ln>
        </p:spPr>
        <p:txBody>
          <a:bodyPr lIns="76200" tIns="38100" rIns="76200" bIns="38100" anchor="ctr"/>
          <a:lstStyle/>
          <a:p>
            <a:pPr algn="l">
              <a:defRPr sz="1575" b="1">
                <a:solidFill>
                  <a:srgbClr val="206040"/>
                </a:solidFill>
                <a:latin typeface="Microsoft YaHei UI" panose="020B0503020204020204" charset="-122"/>
                <a:ea typeface="Microsoft YaHei UI" panose="020B0503020204020204" charset="-122"/>
                <a:cs typeface="Microsoft YaHei UI" panose="020B0503020204020204" charset="-122"/>
              </a:defRPr>
            </a:pPr>
            <a:r>
              <a:rPr sz="1575" b="1">
                <a:solidFill>
                  <a:srgbClr val="206040"/>
                </a:solidFill>
                <a:latin typeface="Microsoft YaHei UI" panose="020B0503020204020204" charset="-122"/>
                <a:ea typeface="Microsoft YaHei UI" panose="020B0503020204020204" charset="-122"/>
                <a:cs typeface="Microsoft YaHei UI" panose="020B0503020204020204" charset="-122"/>
              </a:rPr>
              <a:t>企业合规成本发挥中介作用</a:t>
            </a:r>
            <a:endParaRPr sz="1575" b="1">
              <a:solidFill>
                <a:srgbClr val="206040"/>
              </a:solidFill>
              <a:latin typeface="Microsoft YaHei UI" panose="020B0503020204020204" charset="-122"/>
              <a:ea typeface="Microsoft YaHei UI" panose="020B0503020204020204" charset="-122"/>
              <a:cs typeface="Microsoft YaHei UI" panose="020B0503020204020204" charset="-122"/>
            </a:endParaRPr>
          </a:p>
        </p:txBody>
      </p:sp>
      <p:sp>
        <p:nvSpPr>
          <p:cNvPr id="32" name="矩形 31"/>
          <p:cNvSpPr>
            <a:spLocks noGrp="1"/>
          </p:cNvSpPr>
          <p:nvPr/>
        </p:nvSpPr>
        <p:spPr>
          <a:xfrm>
            <a:off x="1981200" y="3133725"/>
            <a:ext cx="8324850" cy="323850"/>
          </a:xfrm>
          <a:prstGeom prst="rect">
            <a:avLst/>
          </a:prstGeom>
          <a:noFill/>
          <a:ln w="0">
            <a:solidFill>
              <a:srgbClr val="FFFFFF"/>
            </a:solidFill>
          </a:ln>
        </p:spPr>
        <p:txBody>
          <a:bodyPr lIns="76200" tIns="38100" rIns="76200" bIns="38100" anchor="t"/>
          <a:lstStyle/>
          <a:p>
            <a:pPr algn="l">
              <a:defRPr sz="1200" b="0">
                <a:solidFill>
                  <a:srgbClr val="111111"/>
                </a:solidFill>
                <a:latin typeface="Microsoft YaHei UI" panose="020B0503020204020204" charset="-122"/>
                <a:ea typeface="Microsoft YaHei UI" panose="020B0503020204020204" charset="-122"/>
                <a:cs typeface="Microsoft YaHei UI" panose="020B0503020204020204" charset="-122"/>
              </a:defRPr>
            </a:pPr>
            <a:r>
              <a:rPr sz="1200" b="0">
                <a:solidFill>
                  <a:srgbClr val="111111"/>
                </a:solidFill>
                <a:latin typeface="Microsoft YaHei UI" panose="020B0503020204020204" charset="-122"/>
                <a:ea typeface="Microsoft YaHei UI" panose="020B0503020204020204" charset="-122"/>
                <a:cs typeface="Microsoft YaHei UI" panose="020B0503020204020204" charset="-122"/>
              </a:rPr>
              <a:t>当期可能体现成本遵循效应，滞后期或资本化支出可能转化为效率改善。</a:t>
            </a:r>
            <a:endParaRPr sz="1200"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33" name="圆角矩形 32"/>
          <p:cNvSpPr>
            <a:spLocks noGrp="1"/>
          </p:cNvSpPr>
          <p:nvPr/>
        </p:nvSpPr>
        <p:spPr>
          <a:xfrm>
            <a:off x="809625" y="4238625"/>
            <a:ext cx="781050" cy="457200"/>
          </a:xfrm>
          <a:prstGeom prst="roundRect">
            <a:avLst>
              <a:gd name="adj" fmla="val 50000"/>
            </a:avLst>
          </a:prstGeom>
          <a:solidFill>
            <a:srgbClr val="206040"/>
          </a:solidFill>
          <a:ln w="0">
            <a:solidFill>
              <a:srgbClr val="FFFFFF"/>
            </a:solidFill>
          </a:ln>
        </p:spPr>
      </p:sp>
      <p:sp>
        <p:nvSpPr>
          <p:cNvPr id="34" name="矩形 33"/>
          <p:cNvSpPr>
            <a:spLocks noGrp="1"/>
          </p:cNvSpPr>
          <p:nvPr/>
        </p:nvSpPr>
        <p:spPr>
          <a:xfrm>
            <a:off x="809625" y="4238625"/>
            <a:ext cx="781050" cy="457200"/>
          </a:xfrm>
          <a:prstGeom prst="rect">
            <a:avLst/>
          </a:prstGeom>
          <a:noFill/>
          <a:ln w="0">
            <a:solidFill>
              <a:srgbClr val="FFFFFF"/>
            </a:solidFill>
          </a:ln>
        </p:spPr>
        <p:txBody>
          <a:bodyPr lIns="76200" tIns="38100" rIns="76200" bIns="38100" anchor="ctr"/>
          <a:lstStyle/>
          <a:p>
            <a:pPr algn="ctr">
              <a:defRPr sz="1650" b="1">
                <a:solidFill>
                  <a:srgbClr val="FFFFFF"/>
                </a:solidFill>
                <a:latin typeface="Microsoft YaHei UI" panose="020B0503020204020204" charset="-122"/>
                <a:ea typeface="Microsoft YaHei UI" panose="020B0503020204020204" charset="-122"/>
                <a:cs typeface="Microsoft YaHei UI" panose="020B0503020204020204" charset="-122"/>
              </a:defRPr>
            </a:pPr>
            <a:r>
              <a:rPr sz="1650" b="1">
                <a:solidFill>
                  <a:srgbClr val="FFFFFF"/>
                </a:solidFill>
                <a:latin typeface="Microsoft YaHei UI" panose="020B0503020204020204" charset="-122"/>
                <a:ea typeface="Microsoft YaHei UI" panose="020B0503020204020204" charset="-122"/>
                <a:cs typeface="Microsoft YaHei UI" panose="020B0503020204020204" charset="-122"/>
              </a:rPr>
              <a:t>H3</a:t>
            </a:r>
            <a:endParaRPr sz="1650" b="1">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35" name="圆角矩形 34"/>
          <p:cNvSpPr>
            <a:spLocks noGrp="1"/>
          </p:cNvSpPr>
          <p:nvPr/>
        </p:nvSpPr>
        <p:spPr>
          <a:xfrm>
            <a:off x="1809750" y="4048125"/>
            <a:ext cx="8667750" cy="971550"/>
          </a:xfrm>
          <a:prstGeom prst="roundRect">
            <a:avLst>
              <a:gd name="adj" fmla="val 11765"/>
            </a:avLst>
          </a:prstGeom>
          <a:solidFill>
            <a:srgbClr val="FFFFFF"/>
          </a:solidFill>
          <a:ln w="11430">
            <a:solidFill>
              <a:srgbClr val="D7DFDA"/>
            </a:solidFill>
          </a:ln>
        </p:spPr>
      </p:sp>
      <p:sp>
        <p:nvSpPr>
          <p:cNvPr id="36" name="矩形 35"/>
          <p:cNvSpPr>
            <a:spLocks noGrp="1"/>
          </p:cNvSpPr>
          <p:nvPr/>
        </p:nvSpPr>
        <p:spPr>
          <a:xfrm>
            <a:off x="1981200" y="4181475"/>
            <a:ext cx="8324850" cy="323850"/>
          </a:xfrm>
          <a:prstGeom prst="rect">
            <a:avLst/>
          </a:prstGeom>
          <a:noFill/>
          <a:ln w="0">
            <a:solidFill>
              <a:srgbClr val="FFFFFF"/>
            </a:solidFill>
          </a:ln>
        </p:spPr>
        <p:txBody>
          <a:bodyPr lIns="76200" tIns="38100" rIns="76200" bIns="38100" anchor="ctr"/>
          <a:lstStyle/>
          <a:p>
            <a:pPr algn="l">
              <a:defRPr sz="1575" b="1">
                <a:solidFill>
                  <a:srgbClr val="206040"/>
                </a:solidFill>
                <a:latin typeface="Microsoft YaHei UI" panose="020B0503020204020204" charset="-122"/>
                <a:ea typeface="Microsoft YaHei UI" panose="020B0503020204020204" charset="-122"/>
                <a:cs typeface="Microsoft YaHei UI" panose="020B0503020204020204" charset="-122"/>
              </a:defRPr>
            </a:pPr>
            <a:r>
              <a:rPr sz="1575" b="1">
                <a:solidFill>
                  <a:srgbClr val="206040"/>
                </a:solidFill>
                <a:latin typeface="Microsoft YaHei UI" panose="020B0503020204020204" charset="-122"/>
                <a:ea typeface="Microsoft YaHei UI" panose="020B0503020204020204" charset="-122"/>
                <a:cs typeface="Microsoft YaHei UI" panose="020B0503020204020204" charset="-122"/>
              </a:rPr>
              <a:t>产权性质形成显著异质性</a:t>
            </a:r>
            <a:endParaRPr sz="1575" b="1">
              <a:solidFill>
                <a:srgbClr val="206040"/>
              </a:solidFill>
              <a:latin typeface="Microsoft YaHei UI" panose="020B0503020204020204" charset="-122"/>
              <a:ea typeface="Microsoft YaHei UI" panose="020B0503020204020204" charset="-122"/>
              <a:cs typeface="Microsoft YaHei UI" panose="020B0503020204020204" charset="-122"/>
            </a:endParaRPr>
          </a:p>
        </p:txBody>
      </p:sp>
      <p:sp>
        <p:nvSpPr>
          <p:cNvPr id="37" name="矩形 36"/>
          <p:cNvSpPr>
            <a:spLocks noGrp="1"/>
          </p:cNvSpPr>
          <p:nvPr/>
        </p:nvSpPr>
        <p:spPr>
          <a:xfrm>
            <a:off x="1981200" y="4562475"/>
            <a:ext cx="8324850" cy="323850"/>
          </a:xfrm>
          <a:prstGeom prst="rect">
            <a:avLst/>
          </a:prstGeom>
          <a:noFill/>
          <a:ln w="0">
            <a:solidFill>
              <a:srgbClr val="FFFFFF"/>
            </a:solidFill>
          </a:ln>
        </p:spPr>
        <p:txBody>
          <a:bodyPr lIns="76200" tIns="38100" rIns="76200" bIns="38100" anchor="t"/>
          <a:lstStyle/>
          <a:p>
            <a:pPr algn="l">
              <a:defRPr sz="1200" b="0">
                <a:solidFill>
                  <a:srgbClr val="111111"/>
                </a:solidFill>
                <a:latin typeface="Microsoft YaHei UI" panose="020B0503020204020204" charset="-122"/>
                <a:ea typeface="Microsoft YaHei UI" panose="020B0503020204020204" charset="-122"/>
                <a:cs typeface="Microsoft YaHei UI" panose="020B0503020204020204" charset="-122"/>
              </a:defRPr>
            </a:pPr>
            <a:r>
              <a:rPr sz="1200" b="0">
                <a:solidFill>
                  <a:srgbClr val="111111"/>
                </a:solidFill>
                <a:latin typeface="Microsoft YaHei UI" panose="020B0503020204020204" charset="-122"/>
                <a:ea typeface="Microsoft YaHei UI" panose="020B0503020204020204" charset="-122"/>
                <a:cs typeface="Microsoft YaHei UI" panose="020B0503020204020204" charset="-122"/>
              </a:rPr>
              <a:t>国有企业政策响应与融资便利更强，民营企业短期成本敏感性更高。</a:t>
            </a:r>
            <a:endParaRPr sz="1200"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38" name="圆角矩形 37"/>
          <p:cNvSpPr>
            <a:spLocks noGrp="1"/>
          </p:cNvSpPr>
          <p:nvPr/>
        </p:nvSpPr>
        <p:spPr>
          <a:xfrm>
            <a:off x="666750" y="5981700"/>
            <a:ext cx="9906000" cy="400050"/>
          </a:xfrm>
          <a:prstGeom prst="roundRect">
            <a:avLst>
              <a:gd name="adj" fmla="val 23810"/>
            </a:avLst>
          </a:prstGeom>
          <a:solidFill>
            <a:srgbClr val="FFF8DA"/>
          </a:solidFill>
          <a:ln w="11430">
            <a:solidFill>
              <a:srgbClr val="E9D47A"/>
            </a:solidFill>
          </a:ln>
        </p:spPr>
      </p:sp>
      <p:sp>
        <p:nvSpPr>
          <p:cNvPr id="39" name="矩形 38"/>
          <p:cNvSpPr>
            <a:spLocks noGrp="1"/>
          </p:cNvSpPr>
          <p:nvPr/>
        </p:nvSpPr>
        <p:spPr>
          <a:xfrm>
            <a:off x="876300" y="6048375"/>
            <a:ext cx="9477375" cy="266700"/>
          </a:xfrm>
          <a:prstGeom prst="rect">
            <a:avLst/>
          </a:prstGeom>
          <a:noFill/>
          <a:ln w="0">
            <a:solidFill>
              <a:srgbClr val="FFFFFF"/>
            </a:solidFill>
          </a:ln>
        </p:spPr>
        <p:txBody>
          <a:bodyPr lIns="76200" tIns="38100" rIns="76200" bIns="38100" anchor="ctr"/>
          <a:lstStyle/>
          <a:p>
            <a:pPr algn="l">
              <a:defRPr sz="1200" b="1">
                <a:solidFill>
                  <a:srgbClr val="206040"/>
                </a:solidFill>
                <a:latin typeface="Microsoft YaHei UI" panose="020B0503020204020204" charset="-122"/>
                <a:ea typeface="Microsoft YaHei UI" panose="020B0503020204020204" charset="-122"/>
                <a:cs typeface="Microsoft YaHei UI" panose="020B0503020204020204" charset="-122"/>
              </a:defRPr>
            </a:pPr>
            <a:r>
              <a:rPr sz="1200" b="1">
                <a:solidFill>
                  <a:srgbClr val="206040"/>
                </a:solidFill>
                <a:latin typeface="Microsoft YaHei UI" panose="020B0503020204020204" charset="-122"/>
                <a:ea typeface="Microsoft YaHei UI" panose="020B0503020204020204" charset="-122"/>
                <a:cs typeface="Microsoft YaHei UI" panose="020B0503020204020204" charset="-122"/>
              </a:rPr>
              <a:t>假设设计围绕“非线性主效应—成本传导—产权差异”三层展开。</a:t>
            </a:r>
            <a:endParaRPr sz="1200" b="1">
              <a:solidFill>
                <a:srgbClr val="206040"/>
              </a:solidFill>
              <a:latin typeface="Microsoft YaHei UI" panose="020B0503020204020204" charset="-122"/>
              <a:ea typeface="Microsoft YaHei UI" panose="020B0503020204020204" charset="-122"/>
              <a:cs typeface="Microsoft YaHei UI" panose="020B050302020402020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a:spLocks noGrp="1"/>
          </p:cNvSpPr>
          <p:nvPr/>
        </p:nvSpPr>
        <p:spPr>
          <a:xfrm>
            <a:off x="0" y="0"/>
            <a:ext cx="12192000" cy="6858000"/>
          </a:xfrm>
          <a:prstGeom prst="rect">
            <a:avLst/>
          </a:prstGeom>
          <a:solidFill>
            <a:srgbClr val="F4F6F5"/>
          </a:solidFill>
          <a:ln w="0">
            <a:solidFill>
              <a:srgbClr val="FFFFFF"/>
            </a:solidFill>
          </a:ln>
        </p:spPr>
      </p:sp>
      <p:sp>
        <p:nvSpPr>
          <p:cNvPr id="3" name="矩形 2"/>
          <p:cNvSpPr>
            <a:spLocks noGrp="1"/>
          </p:cNvSpPr>
          <p:nvPr/>
        </p:nvSpPr>
        <p:spPr>
          <a:xfrm>
            <a:off x="0" y="0"/>
            <a:ext cx="12192000" cy="6858000"/>
          </a:xfrm>
          <a:prstGeom prst="rect">
            <a:avLst/>
          </a:prstGeom>
          <a:solidFill>
            <a:srgbClr val="F9FAF9"/>
          </a:solidFill>
          <a:ln w="0">
            <a:solidFill>
              <a:srgbClr val="FFFFFF"/>
            </a:solidFill>
          </a:ln>
        </p:spPr>
      </p:sp>
      <p:sp>
        <p:nvSpPr>
          <p:cNvPr id="4" name="矩形 3"/>
          <p:cNvSpPr>
            <a:spLocks noGrp="1"/>
          </p:cNvSpPr>
          <p:nvPr/>
        </p:nvSpPr>
        <p:spPr>
          <a:xfrm>
            <a:off x="8858250" y="0"/>
            <a:ext cx="3333750" cy="6858000"/>
          </a:xfrm>
          <a:prstGeom prst="rect">
            <a:avLst/>
          </a:prstGeom>
          <a:solidFill>
            <a:srgbClr val="F7F9F8"/>
          </a:solidFill>
          <a:ln w="0">
            <a:solidFill>
              <a:srgbClr val="FFFFFF"/>
            </a:solidFill>
          </a:ln>
        </p:spPr>
      </p:sp>
      <p:sp>
        <p:nvSpPr>
          <p:cNvPr id="5" name="矩形 4"/>
          <p:cNvSpPr>
            <a:spLocks noGrp="1"/>
          </p:cNvSpPr>
          <p:nvPr/>
        </p:nvSpPr>
        <p:spPr>
          <a:xfrm>
            <a:off x="0" y="6115050"/>
            <a:ext cx="12192000" cy="742950"/>
          </a:xfrm>
          <a:prstGeom prst="rect">
            <a:avLst/>
          </a:prstGeom>
          <a:solidFill>
            <a:srgbClr val="F8FAF9"/>
          </a:solidFill>
          <a:ln w="0">
            <a:solidFill>
              <a:srgbClr val="FFFFFF"/>
            </a:solidFill>
          </a:ln>
        </p:spPr>
      </p:sp>
      <p:sp>
        <p:nvSpPr>
          <p:cNvPr id="6" name="等腰三角形 5"/>
          <p:cNvSpPr>
            <a:spLocks noGrp="1"/>
          </p:cNvSpPr>
          <p:nvPr/>
        </p:nvSpPr>
        <p:spPr>
          <a:xfrm>
            <a:off x="1524000" y="904875"/>
            <a:ext cx="2476500" cy="1714500"/>
          </a:xfrm>
          <a:prstGeom prst="triangle">
            <a:avLst/>
          </a:prstGeom>
          <a:solidFill>
            <a:srgbClr val="FFFFFF"/>
          </a:solidFill>
          <a:ln w="0">
            <a:solidFill>
              <a:srgbClr val="FFFFFF"/>
            </a:solidFill>
          </a:ln>
        </p:spPr>
      </p:sp>
      <p:sp>
        <p:nvSpPr>
          <p:cNvPr id="7" name="等腰三角形 6"/>
          <p:cNvSpPr>
            <a:spLocks noGrp="1"/>
          </p:cNvSpPr>
          <p:nvPr/>
        </p:nvSpPr>
        <p:spPr>
          <a:xfrm>
            <a:off x="3857625" y="1762125"/>
            <a:ext cx="2476500" cy="1714500"/>
          </a:xfrm>
          <a:prstGeom prst="triangle">
            <a:avLst/>
          </a:prstGeom>
          <a:solidFill>
            <a:srgbClr val="F8FBFA"/>
          </a:solidFill>
          <a:ln w="0">
            <a:solidFill>
              <a:srgbClr val="FFFFFF"/>
            </a:solidFill>
          </a:ln>
        </p:spPr>
      </p:sp>
      <p:sp>
        <p:nvSpPr>
          <p:cNvPr id="8" name="等腰三角形 7"/>
          <p:cNvSpPr>
            <a:spLocks noGrp="1"/>
          </p:cNvSpPr>
          <p:nvPr/>
        </p:nvSpPr>
        <p:spPr>
          <a:xfrm>
            <a:off x="6191250" y="904875"/>
            <a:ext cx="2476500" cy="1714500"/>
          </a:xfrm>
          <a:prstGeom prst="triangle">
            <a:avLst/>
          </a:prstGeom>
          <a:solidFill>
            <a:srgbClr val="FFFFFF"/>
          </a:solidFill>
          <a:ln w="0">
            <a:solidFill>
              <a:srgbClr val="FFFFFF"/>
            </a:solidFill>
          </a:ln>
        </p:spPr>
      </p:sp>
      <p:sp>
        <p:nvSpPr>
          <p:cNvPr id="9" name="等腰三角形 8"/>
          <p:cNvSpPr>
            <a:spLocks noGrp="1"/>
          </p:cNvSpPr>
          <p:nvPr/>
        </p:nvSpPr>
        <p:spPr>
          <a:xfrm>
            <a:off x="8524875" y="1762125"/>
            <a:ext cx="2476500" cy="1714500"/>
          </a:xfrm>
          <a:prstGeom prst="triangle">
            <a:avLst/>
          </a:prstGeom>
          <a:solidFill>
            <a:srgbClr val="F8FBFA"/>
          </a:solidFill>
          <a:ln w="0">
            <a:solidFill>
              <a:srgbClr val="FFFFFF"/>
            </a:solidFill>
          </a:ln>
        </p:spPr>
      </p:sp>
      <p:sp>
        <p:nvSpPr>
          <p:cNvPr id="10" name="等腰三角形 9"/>
          <p:cNvSpPr>
            <a:spLocks noGrp="1"/>
          </p:cNvSpPr>
          <p:nvPr/>
        </p:nvSpPr>
        <p:spPr>
          <a:xfrm>
            <a:off x="10858500" y="904875"/>
            <a:ext cx="2476500" cy="1714500"/>
          </a:xfrm>
          <a:prstGeom prst="triangle">
            <a:avLst/>
          </a:prstGeom>
          <a:solidFill>
            <a:srgbClr val="FFFFFF"/>
          </a:solidFill>
          <a:ln w="0">
            <a:solidFill>
              <a:srgbClr val="FFFFFF"/>
            </a:solidFill>
          </a:ln>
        </p:spPr>
      </p:sp>
      <p:sp>
        <p:nvSpPr>
          <p:cNvPr id="11" name="等腰三角形 10"/>
          <p:cNvSpPr>
            <a:spLocks noGrp="1"/>
          </p:cNvSpPr>
          <p:nvPr/>
        </p:nvSpPr>
        <p:spPr>
          <a:xfrm rot="5400000">
            <a:off x="152400" y="266700"/>
            <a:ext cx="533400" cy="476250"/>
          </a:xfrm>
          <a:prstGeom prst="triangle">
            <a:avLst/>
          </a:prstGeom>
          <a:solidFill>
            <a:srgbClr val="206040"/>
          </a:solidFill>
          <a:ln w="0">
            <a:solidFill>
              <a:srgbClr val="FFFFFF"/>
            </a:solidFill>
          </a:ln>
        </p:spPr>
      </p:sp>
      <p:sp>
        <p:nvSpPr>
          <p:cNvPr id="12" name="等腰三角形 11"/>
          <p:cNvSpPr>
            <a:spLocks noGrp="1"/>
          </p:cNvSpPr>
          <p:nvPr/>
        </p:nvSpPr>
        <p:spPr>
          <a:xfrm rot="5400000">
            <a:off x="381000" y="304800"/>
            <a:ext cx="457200" cy="419100"/>
          </a:xfrm>
          <a:prstGeom prst="triangle">
            <a:avLst/>
          </a:prstGeom>
          <a:solidFill>
            <a:srgbClr val="80A090"/>
          </a:solidFill>
          <a:ln w="0">
            <a:solidFill>
              <a:srgbClr val="FFFFFF"/>
            </a:solidFill>
          </a:ln>
        </p:spPr>
      </p:sp>
      <p:sp>
        <p:nvSpPr>
          <p:cNvPr id="13" name="矩形 12"/>
          <p:cNvSpPr>
            <a:spLocks noGrp="1"/>
          </p:cNvSpPr>
          <p:nvPr/>
        </p:nvSpPr>
        <p:spPr>
          <a:xfrm>
            <a:off x="857250" y="228600"/>
            <a:ext cx="2857500" cy="457200"/>
          </a:xfrm>
          <a:prstGeom prst="rect">
            <a:avLst/>
          </a:prstGeom>
          <a:noFill/>
          <a:ln w="0">
            <a:solidFill>
              <a:srgbClr val="FFFFFF"/>
            </a:solidFill>
          </a:ln>
        </p:spPr>
        <p:txBody>
          <a:bodyPr lIns="76200" tIns="38100" rIns="76200" bIns="38100" anchor="ctr"/>
          <a:lstStyle/>
          <a:p>
            <a:pPr algn="l">
              <a:defRPr sz="2550" b="1">
                <a:solidFill>
                  <a:srgbClr val="206040"/>
                </a:solidFill>
                <a:latin typeface="黑体" panose="02010609060101010101" charset="-122"/>
                <a:ea typeface="黑体" panose="02010609060101010101" charset="-122"/>
                <a:cs typeface="黑体" panose="02010609060101010101" charset="-122"/>
              </a:defRPr>
            </a:pPr>
            <a:r>
              <a:rPr sz="2550" b="1">
                <a:solidFill>
                  <a:srgbClr val="206040"/>
                </a:solidFill>
                <a:latin typeface="黑体" panose="02010609060101010101" charset="-122"/>
                <a:ea typeface="黑体" panose="02010609060101010101" charset="-122"/>
                <a:cs typeface="黑体" panose="02010609060101010101" charset="-122"/>
              </a:rPr>
              <a:t>数据来源</a:t>
            </a:r>
            <a:endParaRPr sz="2550" b="1">
              <a:solidFill>
                <a:srgbClr val="206040"/>
              </a:solidFill>
              <a:latin typeface="黑体" panose="02010609060101010101" charset="-122"/>
              <a:ea typeface="黑体" panose="02010609060101010101" charset="-122"/>
              <a:cs typeface="黑体" panose="02010609060101010101" charset="-122"/>
            </a:endParaRPr>
          </a:p>
        </p:txBody>
      </p:sp>
      <p:sp>
        <p:nvSpPr>
          <p:cNvPr id="14" name="矩形 13"/>
          <p:cNvSpPr>
            <a:spLocks noGrp="1"/>
          </p:cNvSpPr>
          <p:nvPr/>
        </p:nvSpPr>
        <p:spPr>
          <a:xfrm>
            <a:off x="4000500" y="295275"/>
            <a:ext cx="1123950" cy="323850"/>
          </a:xfrm>
          <a:prstGeom prst="rect">
            <a:avLst/>
          </a:prstGeom>
          <a:noFill/>
          <a:ln w="0">
            <a:solidFill>
              <a:srgbClr val="FFFFFF"/>
            </a:solidFill>
          </a:ln>
        </p:spPr>
        <p:txBody>
          <a:bodyPr lIns="76200" tIns="38100" rIns="76200" bIns="38100" anchor="ctr"/>
          <a:lstStyle/>
          <a:p>
            <a:pPr algn="ctr">
              <a:defRPr sz="1125" b="0">
                <a:solidFill>
                  <a:srgbClr val="161616"/>
                </a:solidFill>
                <a:latin typeface="Microsoft YaHei UI" panose="020B0503020204020204" charset="-122"/>
                <a:ea typeface="Microsoft YaHei UI" panose="020B0503020204020204" charset="-122"/>
                <a:cs typeface="Microsoft YaHei UI" panose="020B0503020204020204" charset="-122"/>
              </a:defRPr>
            </a:pPr>
            <a:r>
              <a:rPr sz="1125" b="0">
                <a:solidFill>
                  <a:srgbClr val="161616"/>
                </a:solidFill>
                <a:latin typeface="Microsoft YaHei UI" panose="020B0503020204020204" charset="-122"/>
                <a:ea typeface="Microsoft YaHei UI" panose="020B0503020204020204" charset="-122"/>
                <a:cs typeface="Microsoft YaHei UI" panose="020B0503020204020204" charset="-122"/>
              </a:rPr>
              <a:t>现实问题</a:t>
            </a:r>
            <a:endParaRPr sz="1125" b="0">
              <a:solidFill>
                <a:srgbClr val="161616"/>
              </a:solidFill>
              <a:latin typeface="Microsoft YaHei UI" panose="020B0503020204020204" charset="-122"/>
              <a:ea typeface="Microsoft YaHei UI" panose="020B0503020204020204" charset="-122"/>
              <a:cs typeface="Microsoft YaHei UI" panose="020B0503020204020204" charset="-122"/>
            </a:endParaRPr>
          </a:p>
        </p:txBody>
      </p:sp>
      <p:sp>
        <p:nvSpPr>
          <p:cNvPr id="15" name="矩形 14"/>
          <p:cNvSpPr>
            <a:spLocks noGrp="1"/>
          </p:cNvSpPr>
          <p:nvPr/>
        </p:nvSpPr>
        <p:spPr>
          <a:xfrm>
            <a:off x="5200650" y="295275"/>
            <a:ext cx="1123950" cy="323850"/>
          </a:xfrm>
          <a:prstGeom prst="rect">
            <a:avLst/>
          </a:prstGeom>
          <a:noFill/>
          <a:ln w="0">
            <a:solidFill>
              <a:srgbClr val="FFFFFF"/>
            </a:solidFill>
          </a:ln>
        </p:spPr>
        <p:txBody>
          <a:bodyPr lIns="76200" tIns="38100" rIns="76200" bIns="38100" anchor="ctr"/>
          <a:lstStyle/>
          <a:p>
            <a:pPr algn="ctr">
              <a:defRPr sz="1125" b="0">
                <a:solidFill>
                  <a:srgbClr val="161616"/>
                </a:solidFill>
                <a:latin typeface="Microsoft YaHei UI" panose="020B0503020204020204" charset="-122"/>
                <a:ea typeface="Microsoft YaHei UI" panose="020B0503020204020204" charset="-122"/>
                <a:cs typeface="Microsoft YaHei UI" panose="020B0503020204020204" charset="-122"/>
              </a:defRPr>
            </a:pPr>
            <a:r>
              <a:rPr sz="1125" b="0">
                <a:solidFill>
                  <a:srgbClr val="161616"/>
                </a:solidFill>
                <a:latin typeface="Microsoft YaHei UI" panose="020B0503020204020204" charset="-122"/>
                <a:ea typeface="Microsoft YaHei UI" panose="020B0503020204020204" charset="-122"/>
                <a:cs typeface="Microsoft YaHei UI" panose="020B0503020204020204" charset="-122"/>
              </a:rPr>
              <a:t>科学问题</a:t>
            </a:r>
            <a:endParaRPr sz="1125" b="0">
              <a:solidFill>
                <a:srgbClr val="161616"/>
              </a:solidFill>
              <a:latin typeface="Microsoft YaHei UI" panose="020B0503020204020204" charset="-122"/>
              <a:ea typeface="Microsoft YaHei UI" panose="020B0503020204020204" charset="-122"/>
              <a:cs typeface="Microsoft YaHei UI" panose="020B0503020204020204" charset="-122"/>
            </a:endParaRPr>
          </a:p>
        </p:txBody>
      </p:sp>
      <p:sp>
        <p:nvSpPr>
          <p:cNvPr id="16" name="矩形 15"/>
          <p:cNvSpPr>
            <a:spLocks noGrp="1"/>
          </p:cNvSpPr>
          <p:nvPr/>
        </p:nvSpPr>
        <p:spPr>
          <a:xfrm>
            <a:off x="6400800" y="295275"/>
            <a:ext cx="1123950" cy="323850"/>
          </a:xfrm>
          <a:prstGeom prst="rect">
            <a:avLst/>
          </a:prstGeom>
          <a:noFill/>
          <a:ln w="0">
            <a:solidFill>
              <a:srgbClr val="FFFFFF"/>
            </a:solidFill>
          </a:ln>
        </p:spPr>
        <p:txBody>
          <a:bodyPr lIns="76200" tIns="38100" rIns="76200" bIns="38100" anchor="ctr"/>
          <a:lstStyle/>
          <a:p>
            <a:pPr algn="ctr">
              <a:defRPr sz="1125" b="0">
                <a:solidFill>
                  <a:srgbClr val="161616"/>
                </a:solidFill>
                <a:latin typeface="Microsoft YaHei UI" panose="020B0503020204020204" charset="-122"/>
                <a:ea typeface="Microsoft YaHei UI" panose="020B0503020204020204" charset="-122"/>
                <a:cs typeface="Microsoft YaHei UI" panose="020B0503020204020204" charset="-122"/>
              </a:defRPr>
            </a:pPr>
            <a:r>
              <a:rPr sz="1125" b="0">
                <a:solidFill>
                  <a:srgbClr val="161616"/>
                </a:solidFill>
                <a:latin typeface="Microsoft YaHei UI" panose="020B0503020204020204" charset="-122"/>
                <a:ea typeface="Microsoft YaHei UI" panose="020B0503020204020204" charset="-122"/>
                <a:cs typeface="Microsoft YaHei UI" panose="020B0503020204020204" charset="-122"/>
              </a:rPr>
              <a:t>理论机制</a:t>
            </a:r>
            <a:endParaRPr sz="1125" b="0">
              <a:solidFill>
                <a:srgbClr val="161616"/>
              </a:solidFill>
              <a:latin typeface="Microsoft YaHei UI" panose="020B0503020204020204" charset="-122"/>
              <a:ea typeface="Microsoft YaHei UI" panose="020B0503020204020204" charset="-122"/>
              <a:cs typeface="Microsoft YaHei UI" panose="020B0503020204020204" charset="-122"/>
            </a:endParaRPr>
          </a:p>
        </p:txBody>
      </p:sp>
      <p:sp>
        <p:nvSpPr>
          <p:cNvPr id="17" name="矩形 16"/>
          <p:cNvSpPr>
            <a:spLocks noGrp="1"/>
          </p:cNvSpPr>
          <p:nvPr/>
        </p:nvSpPr>
        <p:spPr>
          <a:xfrm>
            <a:off x="7600950" y="228600"/>
            <a:ext cx="1123950" cy="323850"/>
          </a:xfrm>
          <a:prstGeom prst="rect">
            <a:avLst/>
          </a:prstGeom>
          <a:noFill/>
          <a:ln w="0">
            <a:solidFill>
              <a:srgbClr val="FFFFFF"/>
            </a:solidFill>
          </a:ln>
        </p:spPr>
        <p:txBody>
          <a:bodyPr lIns="76200" tIns="38100" rIns="76200" bIns="38100" anchor="ctr"/>
          <a:lstStyle/>
          <a:p>
            <a:pPr algn="ctr">
              <a:defRPr sz="1500" b="1">
                <a:solidFill>
                  <a:srgbClr val="206040"/>
                </a:solidFill>
                <a:latin typeface="Microsoft YaHei UI" panose="020B0503020204020204" charset="-122"/>
                <a:ea typeface="Microsoft YaHei UI" panose="020B0503020204020204" charset="-122"/>
                <a:cs typeface="Microsoft YaHei UI" panose="020B0503020204020204" charset="-122"/>
              </a:defRPr>
            </a:pPr>
            <a:r>
              <a:rPr sz="1500" b="1">
                <a:solidFill>
                  <a:srgbClr val="206040"/>
                </a:solidFill>
                <a:latin typeface="Microsoft YaHei UI" panose="020B0503020204020204" charset="-122"/>
                <a:ea typeface="Microsoft YaHei UI" panose="020B0503020204020204" charset="-122"/>
                <a:cs typeface="Microsoft YaHei UI" panose="020B0503020204020204" charset="-122"/>
              </a:rPr>
              <a:t>数据变量</a:t>
            </a:r>
            <a:endParaRPr sz="1500" b="1">
              <a:solidFill>
                <a:srgbClr val="206040"/>
              </a:solidFill>
              <a:latin typeface="Microsoft YaHei UI" panose="020B0503020204020204" charset="-122"/>
              <a:ea typeface="Microsoft YaHei UI" panose="020B0503020204020204" charset="-122"/>
              <a:cs typeface="Microsoft YaHei UI" panose="020B0503020204020204" charset="-122"/>
            </a:endParaRPr>
          </a:p>
        </p:txBody>
      </p:sp>
      <p:sp>
        <p:nvSpPr>
          <p:cNvPr id="18" name="圆角矩形 17"/>
          <p:cNvSpPr>
            <a:spLocks noGrp="1"/>
          </p:cNvSpPr>
          <p:nvPr/>
        </p:nvSpPr>
        <p:spPr>
          <a:xfrm>
            <a:off x="7772400" y="657225"/>
            <a:ext cx="781050" cy="38100"/>
          </a:xfrm>
          <a:prstGeom prst="roundRect">
            <a:avLst>
              <a:gd name="adj" fmla="val 25000"/>
            </a:avLst>
          </a:prstGeom>
          <a:solidFill>
            <a:srgbClr val="206040"/>
          </a:solidFill>
          <a:ln w="0">
            <a:solidFill>
              <a:srgbClr val="FFFFFF"/>
            </a:solidFill>
          </a:ln>
        </p:spPr>
      </p:sp>
      <p:sp>
        <p:nvSpPr>
          <p:cNvPr id="19" name="矩形 18"/>
          <p:cNvSpPr>
            <a:spLocks noGrp="1"/>
          </p:cNvSpPr>
          <p:nvPr/>
        </p:nvSpPr>
        <p:spPr>
          <a:xfrm>
            <a:off x="8801100" y="295275"/>
            <a:ext cx="1123950" cy="323850"/>
          </a:xfrm>
          <a:prstGeom prst="rect">
            <a:avLst/>
          </a:prstGeom>
          <a:noFill/>
          <a:ln w="0">
            <a:solidFill>
              <a:srgbClr val="FFFFFF"/>
            </a:solidFill>
          </a:ln>
        </p:spPr>
        <p:txBody>
          <a:bodyPr lIns="76200" tIns="38100" rIns="76200" bIns="38100" anchor="ctr"/>
          <a:lstStyle/>
          <a:p>
            <a:pPr algn="ctr">
              <a:defRPr sz="1125" b="0">
                <a:solidFill>
                  <a:srgbClr val="161616"/>
                </a:solidFill>
                <a:latin typeface="Microsoft YaHei UI" panose="020B0503020204020204" charset="-122"/>
                <a:ea typeface="Microsoft YaHei UI" panose="020B0503020204020204" charset="-122"/>
                <a:cs typeface="Microsoft YaHei UI" panose="020B0503020204020204" charset="-122"/>
              </a:defRPr>
            </a:pPr>
            <a:r>
              <a:rPr sz="1125" b="0">
                <a:solidFill>
                  <a:srgbClr val="161616"/>
                </a:solidFill>
                <a:latin typeface="Microsoft YaHei UI" panose="020B0503020204020204" charset="-122"/>
                <a:ea typeface="Microsoft YaHei UI" panose="020B0503020204020204" charset="-122"/>
                <a:cs typeface="Microsoft YaHei UI" panose="020B0503020204020204" charset="-122"/>
              </a:rPr>
              <a:t>模型识别</a:t>
            </a:r>
            <a:endParaRPr sz="1125" b="0">
              <a:solidFill>
                <a:srgbClr val="161616"/>
              </a:solidFill>
              <a:latin typeface="Microsoft YaHei UI" panose="020B0503020204020204" charset="-122"/>
              <a:ea typeface="Microsoft YaHei UI" panose="020B0503020204020204" charset="-122"/>
              <a:cs typeface="Microsoft YaHei UI" panose="020B0503020204020204" charset="-122"/>
            </a:endParaRPr>
          </a:p>
        </p:txBody>
      </p:sp>
      <p:sp>
        <p:nvSpPr>
          <p:cNvPr id="20" name="矩形 19"/>
          <p:cNvSpPr>
            <a:spLocks noGrp="1"/>
          </p:cNvSpPr>
          <p:nvPr/>
        </p:nvSpPr>
        <p:spPr>
          <a:xfrm>
            <a:off x="10001250" y="295275"/>
            <a:ext cx="1123950" cy="323850"/>
          </a:xfrm>
          <a:prstGeom prst="rect">
            <a:avLst/>
          </a:prstGeom>
          <a:noFill/>
          <a:ln w="0">
            <a:solidFill>
              <a:srgbClr val="FFFFFF"/>
            </a:solidFill>
          </a:ln>
        </p:spPr>
        <p:txBody>
          <a:bodyPr lIns="76200" tIns="38100" rIns="76200" bIns="38100" anchor="ctr"/>
          <a:lstStyle/>
          <a:p>
            <a:pPr algn="ctr">
              <a:defRPr sz="1125" b="0">
                <a:solidFill>
                  <a:srgbClr val="161616"/>
                </a:solidFill>
                <a:latin typeface="Microsoft YaHei UI" panose="020B0503020204020204" charset="-122"/>
                <a:ea typeface="Microsoft YaHei UI" panose="020B0503020204020204" charset="-122"/>
                <a:cs typeface="Microsoft YaHei UI" panose="020B0503020204020204" charset="-122"/>
              </a:defRPr>
            </a:pPr>
            <a:r>
              <a:rPr sz="1125" b="0">
                <a:solidFill>
                  <a:srgbClr val="161616"/>
                </a:solidFill>
                <a:latin typeface="Microsoft YaHei UI" panose="020B0503020204020204" charset="-122"/>
                <a:ea typeface="Microsoft YaHei UI" panose="020B0503020204020204" charset="-122"/>
                <a:cs typeface="Microsoft YaHei UI" panose="020B0503020204020204" charset="-122"/>
              </a:rPr>
              <a:t>预期贡献</a:t>
            </a:r>
            <a:endParaRPr sz="1125" b="0">
              <a:solidFill>
                <a:srgbClr val="161616"/>
              </a:solidFill>
              <a:latin typeface="Microsoft YaHei UI" panose="020B0503020204020204" charset="-122"/>
              <a:ea typeface="Microsoft YaHei UI" panose="020B0503020204020204" charset="-122"/>
              <a:cs typeface="Microsoft YaHei UI" panose="020B0503020204020204" charset="-122"/>
            </a:endParaRPr>
          </a:p>
        </p:txBody>
      </p:sp>
      <p:sp>
        <p:nvSpPr>
          <p:cNvPr id="21" name="圆角矩形 20"/>
          <p:cNvSpPr>
            <a:spLocks noGrp="1"/>
          </p:cNvSpPr>
          <p:nvPr/>
        </p:nvSpPr>
        <p:spPr>
          <a:xfrm>
            <a:off x="3905250" y="742950"/>
            <a:ext cx="8001000" cy="9525"/>
          </a:xfrm>
          <a:prstGeom prst="roundRect">
            <a:avLst>
              <a:gd name="adj" fmla="val 50000"/>
            </a:avLst>
          </a:prstGeom>
          <a:solidFill>
            <a:srgbClr val="D7DFDA"/>
          </a:solidFill>
          <a:ln w="0">
            <a:solidFill>
              <a:srgbClr val="FFFFFF"/>
            </a:solidFill>
          </a:ln>
        </p:spPr>
      </p:sp>
      <p:sp>
        <p:nvSpPr>
          <p:cNvPr id="22" name="矩形 21"/>
          <p:cNvSpPr>
            <a:spLocks noGrp="1"/>
          </p:cNvSpPr>
          <p:nvPr/>
        </p:nvSpPr>
        <p:spPr>
          <a:xfrm>
            <a:off x="11334750" y="6286500"/>
            <a:ext cx="495300" cy="266700"/>
          </a:xfrm>
          <a:prstGeom prst="rect">
            <a:avLst/>
          </a:prstGeom>
          <a:noFill/>
          <a:ln w="0">
            <a:solidFill>
              <a:srgbClr val="FFFFFF"/>
            </a:solidFill>
          </a:ln>
        </p:spPr>
        <p:txBody>
          <a:bodyPr lIns="76200" tIns="38100" rIns="76200" bIns="38100" anchor="ctr"/>
          <a:lstStyle/>
          <a:p>
            <a:pPr algn="r">
              <a:defRPr sz="975" b="0">
                <a:solidFill>
                  <a:srgbClr val="80A090"/>
                </a:solidFill>
                <a:latin typeface="Microsoft YaHei UI" panose="020B0503020204020204" charset="-122"/>
                <a:ea typeface="Microsoft YaHei UI" panose="020B0503020204020204" charset="-122"/>
                <a:cs typeface="Microsoft YaHei UI" panose="020B0503020204020204" charset="-122"/>
              </a:defRPr>
            </a:pPr>
            <a:r>
              <a:rPr sz="975" b="0">
                <a:solidFill>
                  <a:srgbClr val="80A090"/>
                </a:solidFill>
                <a:latin typeface="Microsoft YaHei UI" panose="020B0503020204020204" charset="-122"/>
                <a:ea typeface="Microsoft YaHei UI" panose="020B0503020204020204" charset="-122"/>
                <a:cs typeface="Microsoft YaHei UI" panose="020B0503020204020204" charset="-122"/>
              </a:rPr>
              <a:t>09</a:t>
            </a:r>
            <a:endParaRPr sz="975" b="0">
              <a:solidFill>
                <a:srgbClr val="80A090"/>
              </a:solidFill>
              <a:latin typeface="Microsoft YaHei UI" panose="020B0503020204020204" charset="-122"/>
              <a:ea typeface="Microsoft YaHei UI" panose="020B0503020204020204" charset="-122"/>
              <a:cs typeface="Microsoft YaHei UI" panose="020B0503020204020204" charset="-122"/>
            </a:endParaRPr>
          </a:p>
        </p:txBody>
      </p:sp>
      <p:sp>
        <p:nvSpPr>
          <p:cNvPr id="23" name="矩形 22"/>
          <p:cNvSpPr>
            <a:spLocks noGrp="1"/>
          </p:cNvSpPr>
          <p:nvPr/>
        </p:nvSpPr>
        <p:spPr>
          <a:xfrm>
            <a:off x="666750" y="1285875"/>
            <a:ext cx="2676525" cy="571500"/>
          </a:xfrm>
          <a:prstGeom prst="rect">
            <a:avLst/>
          </a:prstGeom>
          <a:solidFill>
            <a:srgbClr val="206040"/>
          </a:solidFill>
          <a:ln w="11430">
            <a:solidFill>
              <a:srgbClr val="C9D5CE"/>
            </a:solidFill>
          </a:ln>
        </p:spPr>
      </p:sp>
      <p:sp>
        <p:nvSpPr>
          <p:cNvPr id="24" name="矩形 23"/>
          <p:cNvSpPr>
            <a:spLocks noGrp="1"/>
          </p:cNvSpPr>
          <p:nvPr/>
        </p:nvSpPr>
        <p:spPr>
          <a:xfrm>
            <a:off x="695325" y="1304925"/>
            <a:ext cx="2619375" cy="533400"/>
          </a:xfrm>
          <a:prstGeom prst="rect">
            <a:avLst/>
          </a:prstGeom>
          <a:noFill/>
          <a:ln w="0">
            <a:solidFill>
              <a:srgbClr val="FFFFFF"/>
            </a:solidFill>
          </a:ln>
        </p:spPr>
        <p:txBody>
          <a:bodyPr lIns="76200" tIns="38100" rIns="76200" bIns="38100" anchor="ctr"/>
          <a:lstStyle/>
          <a:p>
            <a:pPr algn="ctr">
              <a:defRPr sz="1050" b="1">
                <a:solidFill>
                  <a:srgbClr val="FFFFFF"/>
                </a:solidFill>
                <a:latin typeface="Microsoft YaHei UI" panose="020B0503020204020204" charset="-122"/>
                <a:ea typeface="Microsoft YaHei UI" panose="020B0503020204020204" charset="-122"/>
                <a:cs typeface="Microsoft YaHei UI" panose="020B0503020204020204" charset="-122"/>
              </a:defRPr>
            </a:pPr>
            <a:r>
              <a:rPr sz="1050" b="1">
                <a:solidFill>
                  <a:srgbClr val="FFFFFF"/>
                </a:solidFill>
                <a:latin typeface="Microsoft YaHei UI" panose="020B0503020204020204" charset="-122"/>
                <a:ea typeface="Microsoft YaHei UI" panose="020B0503020204020204" charset="-122"/>
                <a:cs typeface="Microsoft YaHei UI" panose="020B0503020204020204" charset="-122"/>
              </a:rPr>
              <a:t>数据类别</a:t>
            </a:r>
            <a:endParaRPr sz="1050" b="1">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25" name="矩形 24"/>
          <p:cNvSpPr>
            <a:spLocks noGrp="1"/>
          </p:cNvSpPr>
          <p:nvPr/>
        </p:nvSpPr>
        <p:spPr>
          <a:xfrm>
            <a:off x="3343275" y="1285875"/>
            <a:ext cx="2676525" cy="571500"/>
          </a:xfrm>
          <a:prstGeom prst="rect">
            <a:avLst/>
          </a:prstGeom>
          <a:solidFill>
            <a:srgbClr val="206040"/>
          </a:solidFill>
          <a:ln w="11430">
            <a:solidFill>
              <a:srgbClr val="C9D5CE"/>
            </a:solidFill>
          </a:ln>
        </p:spPr>
      </p:sp>
      <p:sp>
        <p:nvSpPr>
          <p:cNvPr id="26" name="矩形 25"/>
          <p:cNvSpPr>
            <a:spLocks noGrp="1"/>
          </p:cNvSpPr>
          <p:nvPr/>
        </p:nvSpPr>
        <p:spPr>
          <a:xfrm>
            <a:off x="3371850" y="1304925"/>
            <a:ext cx="2619375" cy="533400"/>
          </a:xfrm>
          <a:prstGeom prst="rect">
            <a:avLst/>
          </a:prstGeom>
          <a:noFill/>
          <a:ln w="0">
            <a:solidFill>
              <a:srgbClr val="FFFFFF"/>
            </a:solidFill>
          </a:ln>
        </p:spPr>
        <p:txBody>
          <a:bodyPr lIns="76200" tIns="38100" rIns="76200" bIns="38100" anchor="ctr"/>
          <a:lstStyle/>
          <a:p>
            <a:pPr algn="ctr">
              <a:defRPr sz="1050" b="1">
                <a:solidFill>
                  <a:srgbClr val="FFFFFF"/>
                </a:solidFill>
                <a:latin typeface="Microsoft YaHei UI" panose="020B0503020204020204" charset="-122"/>
                <a:ea typeface="Microsoft YaHei UI" panose="020B0503020204020204" charset="-122"/>
                <a:cs typeface="Microsoft YaHei UI" panose="020B0503020204020204" charset="-122"/>
              </a:defRPr>
            </a:pPr>
            <a:r>
              <a:rPr sz="1050" b="1">
                <a:solidFill>
                  <a:srgbClr val="FFFFFF"/>
                </a:solidFill>
                <a:latin typeface="Microsoft YaHei UI" panose="020B0503020204020204" charset="-122"/>
                <a:ea typeface="Microsoft YaHei UI" panose="020B0503020204020204" charset="-122"/>
                <a:cs typeface="Microsoft YaHei UI" panose="020B0503020204020204" charset="-122"/>
              </a:rPr>
              <a:t>主要来源</a:t>
            </a:r>
            <a:endParaRPr sz="1050" b="1">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27" name="矩形 26"/>
          <p:cNvSpPr>
            <a:spLocks noGrp="1"/>
          </p:cNvSpPr>
          <p:nvPr/>
        </p:nvSpPr>
        <p:spPr>
          <a:xfrm>
            <a:off x="6029325" y="1285875"/>
            <a:ext cx="2676525" cy="571500"/>
          </a:xfrm>
          <a:prstGeom prst="rect">
            <a:avLst/>
          </a:prstGeom>
          <a:solidFill>
            <a:srgbClr val="206040"/>
          </a:solidFill>
          <a:ln w="11430">
            <a:solidFill>
              <a:srgbClr val="C9D5CE"/>
            </a:solidFill>
          </a:ln>
        </p:spPr>
      </p:sp>
      <p:sp>
        <p:nvSpPr>
          <p:cNvPr id="28" name="矩形 27"/>
          <p:cNvSpPr>
            <a:spLocks noGrp="1"/>
          </p:cNvSpPr>
          <p:nvPr/>
        </p:nvSpPr>
        <p:spPr>
          <a:xfrm>
            <a:off x="6057900" y="1304925"/>
            <a:ext cx="2619375" cy="533400"/>
          </a:xfrm>
          <a:prstGeom prst="rect">
            <a:avLst/>
          </a:prstGeom>
          <a:noFill/>
          <a:ln w="0">
            <a:solidFill>
              <a:srgbClr val="FFFFFF"/>
            </a:solidFill>
          </a:ln>
        </p:spPr>
        <p:txBody>
          <a:bodyPr lIns="76200" tIns="38100" rIns="76200" bIns="38100" anchor="ctr"/>
          <a:lstStyle/>
          <a:p>
            <a:pPr algn="ctr">
              <a:defRPr sz="1050" b="1">
                <a:solidFill>
                  <a:srgbClr val="FFFFFF"/>
                </a:solidFill>
                <a:latin typeface="Microsoft YaHei UI" panose="020B0503020204020204" charset="-122"/>
                <a:ea typeface="Microsoft YaHei UI" panose="020B0503020204020204" charset="-122"/>
                <a:cs typeface="Microsoft YaHei UI" panose="020B0503020204020204" charset="-122"/>
              </a:defRPr>
            </a:pPr>
            <a:r>
              <a:rPr sz="1050" b="1">
                <a:solidFill>
                  <a:srgbClr val="FFFFFF"/>
                </a:solidFill>
                <a:latin typeface="Microsoft YaHei UI" panose="020B0503020204020204" charset="-122"/>
                <a:ea typeface="Microsoft YaHei UI" panose="020B0503020204020204" charset="-122"/>
                <a:cs typeface="Microsoft YaHei UI" panose="020B0503020204020204" charset="-122"/>
              </a:rPr>
              <a:t>时间口径</a:t>
            </a:r>
            <a:endParaRPr sz="1050" b="1">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29" name="矩形 28"/>
          <p:cNvSpPr>
            <a:spLocks noGrp="1"/>
          </p:cNvSpPr>
          <p:nvPr/>
        </p:nvSpPr>
        <p:spPr>
          <a:xfrm>
            <a:off x="8705850" y="1285875"/>
            <a:ext cx="2676525" cy="571500"/>
          </a:xfrm>
          <a:prstGeom prst="rect">
            <a:avLst/>
          </a:prstGeom>
          <a:solidFill>
            <a:srgbClr val="206040"/>
          </a:solidFill>
          <a:ln w="11430">
            <a:solidFill>
              <a:srgbClr val="C9D5CE"/>
            </a:solidFill>
          </a:ln>
        </p:spPr>
      </p:sp>
      <p:sp>
        <p:nvSpPr>
          <p:cNvPr id="30" name="矩形 29"/>
          <p:cNvSpPr>
            <a:spLocks noGrp="1"/>
          </p:cNvSpPr>
          <p:nvPr/>
        </p:nvSpPr>
        <p:spPr>
          <a:xfrm>
            <a:off x="8734425" y="1304925"/>
            <a:ext cx="2619375" cy="533400"/>
          </a:xfrm>
          <a:prstGeom prst="rect">
            <a:avLst/>
          </a:prstGeom>
          <a:noFill/>
          <a:ln w="0">
            <a:solidFill>
              <a:srgbClr val="FFFFFF"/>
            </a:solidFill>
          </a:ln>
        </p:spPr>
        <p:txBody>
          <a:bodyPr lIns="76200" tIns="38100" rIns="76200" bIns="38100" anchor="ctr"/>
          <a:lstStyle/>
          <a:p>
            <a:pPr algn="ctr">
              <a:defRPr sz="1050" b="1">
                <a:solidFill>
                  <a:srgbClr val="FFFFFF"/>
                </a:solidFill>
                <a:latin typeface="Microsoft YaHei UI" panose="020B0503020204020204" charset="-122"/>
                <a:ea typeface="Microsoft YaHei UI" panose="020B0503020204020204" charset="-122"/>
                <a:cs typeface="Microsoft YaHei UI" panose="020B0503020204020204" charset="-122"/>
              </a:defRPr>
            </a:pPr>
            <a:r>
              <a:rPr sz="1050" b="1">
                <a:solidFill>
                  <a:srgbClr val="FFFFFF"/>
                </a:solidFill>
                <a:latin typeface="Microsoft YaHei UI" panose="020B0503020204020204" charset="-122"/>
                <a:ea typeface="Microsoft YaHei UI" panose="020B0503020204020204" charset="-122"/>
                <a:cs typeface="Microsoft YaHei UI" panose="020B0503020204020204" charset="-122"/>
              </a:rPr>
              <a:t>用途</a:t>
            </a:r>
            <a:endParaRPr sz="1050" b="1">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31" name="矩形 30"/>
          <p:cNvSpPr>
            <a:spLocks noGrp="1"/>
          </p:cNvSpPr>
          <p:nvPr/>
        </p:nvSpPr>
        <p:spPr>
          <a:xfrm>
            <a:off x="666750" y="1857375"/>
            <a:ext cx="2676525" cy="571500"/>
          </a:xfrm>
          <a:prstGeom prst="rect">
            <a:avLst/>
          </a:prstGeom>
          <a:solidFill>
            <a:srgbClr val="FFFFFF"/>
          </a:solidFill>
          <a:ln w="11430">
            <a:solidFill>
              <a:srgbClr val="C9D5CE"/>
            </a:solidFill>
          </a:ln>
        </p:spPr>
      </p:sp>
      <p:sp>
        <p:nvSpPr>
          <p:cNvPr id="32" name="矩形 31"/>
          <p:cNvSpPr>
            <a:spLocks noGrp="1"/>
          </p:cNvSpPr>
          <p:nvPr/>
        </p:nvSpPr>
        <p:spPr>
          <a:xfrm>
            <a:off x="695325" y="1876425"/>
            <a:ext cx="2619375" cy="533400"/>
          </a:xfrm>
          <a:prstGeom prst="rect">
            <a:avLst/>
          </a:prstGeom>
          <a:noFill/>
          <a:ln w="0">
            <a:solidFill>
              <a:srgbClr val="FFFFFF"/>
            </a:solidFill>
          </a:ln>
        </p:spPr>
        <p:txBody>
          <a:bodyPr lIns="76200" tIns="38100" rIns="76200" bIns="38100" anchor="ctr"/>
          <a:lstStyle/>
          <a:p>
            <a:pPr algn="ctr">
              <a:defRPr sz="900" b="0">
                <a:solidFill>
                  <a:srgbClr val="111111"/>
                </a:solidFill>
                <a:latin typeface="Microsoft YaHei UI" panose="020B0503020204020204" charset="-122"/>
                <a:ea typeface="Microsoft YaHei UI" panose="020B0503020204020204" charset="-122"/>
                <a:cs typeface="Microsoft YaHei UI" panose="020B0503020204020204" charset="-122"/>
              </a:defRPr>
            </a:pPr>
            <a:r>
              <a:rPr sz="900" b="0">
                <a:solidFill>
                  <a:srgbClr val="111111"/>
                </a:solidFill>
                <a:latin typeface="Microsoft YaHei UI" panose="020B0503020204020204" charset="-122"/>
                <a:ea typeface="Microsoft YaHei UI" panose="020B0503020204020204" charset="-122"/>
                <a:cs typeface="Microsoft YaHei UI" panose="020B0503020204020204" charset="-122"/>
              </a:rPr>
              <a:t>企业财务</a:t>
            </a:r>
            <a:endParaRPr sz="900"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33" name="矩形 32"/>
          <p:cNvSpPr>
            <a:spLocks noGrp="1"/>
          </p:cNvSpPr>
          <p:nvPr/>
        </p:nvSpPr>
        <p:spPr>
          <a:xfrm>
            <a:off x="3343275" y="1857375"/>
            <a:ext cx="2676525" cy="571500"/>
          </a:xfrm>
          <a:prstGeom prst="rect">
            <a:avLst/>
          </a:prstGeom>
          <a:solidFill>
            <a:srgbClr val="FFFFFF"/>
          </a:solidFill>
          <a:ln w="11430">
            <a:solidFill>
              <a:srgbClr val="C9D5CE"/>
            </a:solidFill>
          </a:ln>
        </p:spPr>
      </p:sp>
      <p:sp>
        <p:nvSpPr>
          <p:cNvPr id="34" name="矩形 33"/>
          <p:cNvSpPr>
            <a:spLocks noGrp="1"/>
          </p:cNvSpPr>
          <p:nvPr/>
        </p:nvSpPr>
        <p:spPr>
          <a:xfrm>
            <a:off x="3371850" y="1876425"/>
            <a:ext cx="2619375" cy="533400"/>
          </a:xfrm>
          <a:prstGeom prst="rect">
            <a:avLst/>
          </a:prstGeom>
          <a:noFill/>
          <a:ln w="0">
            <a:solidFill>
              <a:srgbClr val="FFFFFF"/>
            </a:solidFill>
          </a:ln>
        </p:spPr>
        <p:txBody>
          <a:bodyPr lIns="76200" tIns="38100" rIns="76200" bIns="38100" anchor="ctr"/>
          <a:lstStyle/>
          <a:p>
            <a:pPr algn="ctr">
              <a:defRPr sz="900" b="0">
                <a:solidFill>
                  <a:srgbClr val="111111"/>
                </a:solidFill>
                <a:latin typeface="Microsoft YaHei UI" panose="020B0503020204020204" charset="-122"/>
                <a:ea typeface="Microsoft YaHei UI" panose="020B0503020204020204" charset="-122"/>
                <a:cs typeface="Microsoft YaHei UI" panose="020B0503020204020204" charset="-122"/>
              </a:defRPr>
            </a:pPr>
            <a:r>
              <a:rPr sz="900" b="0">
                <a:solidFill>
                  <a:srgbClr val="111111"/>
                </a:solidFill>
                <a:latin typeface="Microsoft YaHei UI" panose="020B0503020204020204" charset="-122"/>
                <a:ea typeface="Microsoft YaHei UI" panose="020B0503020204020204" charset="-122"/>
                <a:cs typeface="Microsoft YaHei UI" panose="020B0503020204020204" charset="-122"/>
              </a:rPr>
              <a:t>CSMAR / Wind / RESSET</a:t>
            </a:r>
            <a:endParaRPr sz="900"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35" name="矩形 34"/>
          <p:cNvSpPr>
            <a:spLocks noGrp="1"/>
          </p:cNvSpPr>
          <p:nvPr/>
        </p:nvSpPr>
        <p:spPr>
          <a:xfrm>
            <a:off x="6029325" y="1857375"/>
            <a:ext cx="2676525" cy="571500"/>
          </a:xfrm>
          <a:prstGeom prst="rect">
            <a:avLst/>
          </a:prstGeom>
          <a:solidFill>
            <a:srgbClr val="FFFFFF"/>
          </a:solidFill>
          <a:ln w="11430">
            <a:solidFill>
              <a:srgbClr val="C9D5CE"/>
            </a:solidFill>
          </a:ln>
        </p:spPr>
      </p:sp>
      <p:sp>
        <p:nvSpPr>
          <p:cNvPr id="36" name="矩形 35"/>
          <p:cNvSpPr>
            <a:spLocks noGrp="1"/>
          </p:cNvSpPr>
          <p:nvPr/>
        </p:nvSpPr>
        <p:spPr>
          <a:xfrm>
            <a:off x="6057900" y="1876425"/>
            <a:ext cx="2619375" cy="533400"/>
          </a:xfrm>
          <a:prstGeom prst="rect">
            <a:avLst/>
          </a:prstGeom>
          <a:noFill/>
          <a:ln w="0">
            <a:solidFill>
              <a:srgbClr val="FFFFFF"/>
            </a:solidFill>
          </a:ln>
        </p:spPr>
        <p:txBody>
          <a:bodyPr lIns="76200" tIns="38100" rIns="76200" bIns="38100" anchor="ctr"/>
          <a:lstStyle/>
          <a:p>
            <a:pPr algn="ctr">
              <a:defRPr sz="900" b="0">
                <a:solidFill>
                  <a:srgbClr val="111111"/>
                </a:solidFill>
                <a:latin typeface="Microsoft YaHei UI" panose="020B0503020204020204" charset="-122"/>
                <a:ea typeface="Microsoft YaHei UI" panose="020B0503020204020204" charset="-122"/>
                <a:cs typeface="Microsoft YaHei UI" panose="020B0503020204020204" charset="-122"/>
              </a:defRPr>
            </a:pPr>
            <a:r>
              <a:rPr sz="900" b="0">
                <a:solidFill>
                  <a:srgbClr val="111111"/>
                </a:solidFill>
                <a:latin typeface="Microsoft YaHei UI" panose="020B0503020204020204" charset="-122"/>
                <a:ea typeface="Microsoft YaHei UI" panose="020B0503020204020204" charset="-122"/>
                <a:cs typeface="Microsoft YaHei UI" panose="020B0503020204020204" charset="-122"/>
              </a:rPr>
              <a:t>2011-2024</a:t>
            </a:r>
            <a:endParaRPr sz="900"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37" name="矩形 36"/>
          <p:cNvSpPr>
            <a:spLocks noGrp="1"/>
          </p:cNvSpPr>
          <p:nvPr/>
        </p:nvSpPr>
        <p:spPr>
          <a:xfrm>
            <a:off x="8705850" y="1857375"/>
            <a:ext cx="2676525" cy="571500"/>
          </a:xfrm>
          <a:prstGeom prst="rect">
            <a:avLst/>
          </a:prstGeom>
          <a:solidFill>
            <a:srgbClr val="FFFFFF"/>
          </a:solidFill>
          <a:ln w="11430">
            <a:solidFill>
              <a:srgbClr val="C9D5CE"/>
            </a:solidFill>
          </a:ln>
        </p:spPr>
      </p:sp>
      <p:sp>
        <p:nvSpPr>
          <p:cNvPr id="38" name="矩形 37"/>
          <p:cNvSpPr>
            <a:spLocks noGrp="1"/>
          </p:cNvSpPr>
          <p:nvPr/>
        </p:nvSpPr>
        <p:spPr>
          <a:xfrm>
            <a:off x="8734425" y="1876425"/>
            <a:ext cx="2619375" cy="533400"/>
          </a:xfrm>
          <a:prstGeom prst="rect">
            <a:avLst/>
          </a:prstGeom>
          <a:noFill/>
          <a:ln w="0">
            <a:solidFill>
              <a:srgbClr val="FFFFFF"/>
            </a:solidFill>
          </a:ln>
        </p:spPr>
        <p:txBody>
          <a:bodyPr lIns="76200" tIns="38100" rIns="76200" bIns="38100" anchor="ctr"/>
          <a:lstStyle/>
          <a:p>
            <a:pPr algn="ctr">
              <a:defRPr sz="900" b="0">
                <a:solidFill>
                  <a:srgbClr val="111111"/>
                </a:solidFill>
                <a:latin typeface="Microsoft YaHei UI" panose="020B0503020204020204" charset="-122"/>
                <a:ea typeface="Microsoft YaHei UI" panose="020B0503020204020204" charset="-122"/>
                <a:cs typeface="Microsoft YaHei UI" panose="020B0503020204020204" charset="-122"/>
              </a:defRPr>
            </a:pPr>
            <a:r>
              <a:rPr sz="900" b="0">
                <a:solidFill>
                  <a:srgbClr val="111111"/>
                </a:solidFill>
                <a:latin typeface="Microsoft YaHei UI" panose="020B0503020204020204" charset="-122"/>
                <a:ea typeface="Microsoft YaHei UI" panose="020B0503020204020204" charset="-122"/>
                <a:cs typeface="Microsoft YaHei UI" panose="020B0503020204020204" charset="-122"/>
              </a:rPr>
              <a:t>控制变量、合规成本、融资约束</a:t>
            </a:r>
            <a:endParaRPr sz="900"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39" name="矩形 38"/>
          <p:cNvSpPr>
            <a:spLocks noGrp="1"/>
          </p:cNvSpPr>
          <p:nvPr/>
        </p:nvSpPr>
        <p:spPr>
          <a:xfrm>
            <a:off x="666750" y="2428875"/>
            <a:ext cx="2676525" cy="571500"/>
          </a:xfrm>
          <a:prstGeom prst="rect">
            <a:avLst/>
          </a:prstGeom>
          <a:solidFill>
            <a:srgbClr val="F7FAF8"/>
          </a:solidFill>
          <a:ln w="11430">
            <a:solidFill>
              <a:srgbClr val="C9D5CE"/>
            </a:solidFill>
          </a:ln>
        </p:spPr>
      </p:sp>
      <p:sp>
        <p:nvSpPr>
          <p:cNvPr id="40" name="矩形 39"/>
          <p:cNvSpPr>
            <a:spLocks noGrp="1"/>
          </p:cNvSpPr>
          <p:nvPr/>
        </p:nvSpPr>
        <p:spPr>
          <a:xfrm>
            <a:off x="695325" y="2447925"/>
            <a:ext cx="2619375" cy="533400"/>
          </a:xfrm>
          <a:prstGeom prst="rect">
            <a:avLst/>
          </a:prstGeom>
          <a:noFill/>
          <a:ln w="0">
            <a:solidFill>
              <a:srgbClr val="FFFFFF"/>
            </a:solidFill>
          </a:ln>
        </p:spPr>
        <p:txBody>
          <a:bodyPr lIns="76200" tIns="38100" rIns="76200" bIns="38100" anchor="ctr"/>
          <a:lstStyle/>
          <a:p>
            <a:pPr algn="ctr">
              <a:defRPr sz="900" b="0">
                <a:solidFill>
                  <a:srgbClr val="111111"/>
                </a:solidFill>
                <a:latin typeface="Microsoft YaHei UI" panose="020B0503020204020204" charset="-122"/>
                <a:ea typeface="Microsoft YaHei UI" panose="020B0503020204020204" charset="-122"/>
                <a:cs typeface="Microsoft YaHei UI" panose="020B0503020204020204" charset="-122"/>
              </a:defRPr>
            </a:pPr>
            <a:r>
              <a:rPr sz="900" b="0">
                <a:solidFill>
                  <a:srgbClr val="111111"/>
                </a:solidFill>
                <a:latin typeface="Microsoft YaHei UI" panose="020B0503020204020204" charset="-122"/>
                <a:ea typeface="Microsoft YaHei UI" panose="020B0503020204020204" charset="-122"/>
                <a:cs typeface="Microsoft YaHei UI" panose="020B0503020204020204" charset="-122"/>
              </a:rPr>
              <a:t>环境规制</a:t>
            </a:r>
            <a:endParaRPr sz="900"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41" name="矩形 40"/>
          <p:cNvSpPr>
            <a:spLocks noGrp="1"/>
          </p:cNvSpPr>
          <p:nvPr/>
        </p:nvSpPr>
        <p:spPr>
          <a:xfrm>
            <a:off x="3343275" y="2428875"/>
            <a:ext cx="2676525" cy="571500"/>
          </a:xfrm>
          <a:prstGeom prst="rect">
            <a:avLst/>
          </a:prstGeom>
          <a:solidFill>
            <a:srgbClr val="F7FAF8"/>
          </a:solidFill>
          <a:ln w="11430">
            <a:solidFill>
              <a:srgbClr val="C9D5CE"/>
            </a:solidFill>
          </a:ln>
        </p:spPr>
      </p:sp>
      <p:sp>
        <p:nvSpPr>
          <p:cNvPr id="42" name="矩形 41"/>
          <p:cNvSpPr>
            <a:spLocks noGrp="1"/>
          </p:cNvSpPr>
          <p:nvPr/>
        </p:nvSpPr>
        <p:spPr>
          <a:xfrm>
            <a:off x="3371850" y="2447925"/>
            <a:ext cx="2619375" cy="533400"/>
          </a:xfrm>
          <a:prstGeom prst="rect">
            <a:avLst/>
          </a:prstGeom>
          <a:noFill/>
          <a:ln w="0">
            <a:solidFill>
              <a:srgbClr val="FFFFFF"/>
            </a:solidFill>
          </a:ln>
        </p:spPr>
        <p:txBody>
          <a:bodyPr lIns="76200" tIns="38100" rIns="76200" bIns="38100" anchor="ctr"/>
          <a:lstStyle/>
          <a:p>
            <a:pPr algn="ctr">
              <a:defRPr sz="900" b="0">
                <a:solidFill>
                  <a:srgbClr val="111111"/>
                </a:solidFill>
                <a:latin typeface="Microsoft YaHei UI" panose="020B0503020204020204" charset="-122"/>
                <a:ea typeface="Microsoft YaHei UI" panose="020B0503020204020204" charset="-122"/>
                <a:cs typeface="Microsoft YaHei UI" panose="020B0503020204020204" charset="-122"/>
              </a:defRPr>
            </a:pPr>
            <a:r>
              <a:rPr sz="900" b="0">
                <a:solidFill>
                  <a:srgbClr val="111111"/>
                </a:solidFill>
                <a:latin typeface="Microsoft YaHei UI" panose="020B0503020204020204" charset="-122"/>
                <a:ea typeface="Microsoft YaHei UI" panose="020B0503020204020204" charset="-122"/>
                <a:cs typeface="Microsoft YaHei UI" panose="020B0503020204020204" charset="-122"/>
              </a:rPr>
              <a:t>政府工作报告文本、环保处罚</a:t>
            </a:r>
            <a:endParaRPr sz="900"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43" name="矩形 42"/>
          <p:cNvSpPr>
            <a:spLocks noGrp="1"/>
          </p:cNvSpPr>
          <p:nvPr/>
        </p:nvSpPr>
        <p:spPr>
          <a:xfrm>
            <a:off x="6029325" y="2428875"/>
            <a:ext cx="2676525" cy="571500"/>
          </a:xfrm>
          <a:prstGeom prst="rect">
            <a:avLst/>
          </a:prstGeom>
          <a:solidFill>
            <a:srgbClr val="F7FAF8"/>
          </a:solidFill>
          <a:ln w="11430">
            <a:solidFill>
              <a:srgbClr val="C9D5CE"/>
            </a:solidFill>
          </a:ln>
        </p:spPr>
      </p:sp>
      <p:sp>
        <p:nvSpPr>
          <p:cNvPr id="44" name="矩形 43"/>
          <p:cNvSpPr>
            <a:spLocks noGrp="1"/>
          </p:cNvSpPr>
          <p:nvPr/>
        </p:nvSpPr>
        <p:spPr>
          <a:xfrm>
            <a:off x="6057900" y="2447925"/>
            <a:ext cx="2619375" cy="533400"/>
          </a:xfrm>
          <a:prstGeom prst="rect">
            <a:avLst/>
          </a:prstGeom>
          <a:noFill/>
          <a:ln w="0">
            <a:solidFill>
              <a:srgbClr val="FFFFFF"/>
            </a:solidFill>
          </a:ln>
        </p:spPr>
        <p:txBody>
          <a:bodyPr lIns="76200" tIns="38100" rIns="76200" bIns="38100" anchor="ctr"/>
          <a:lstStyle/>
          <a:p>
            <a:pPr algn="ctr">
              <a:defRPr sz="900" b="0">
                <a:solidFill>
                  <a:srgbClr val="111111"/>
                </a:solidFill>
                <a:latin typeface="Microsoft YaHei UI" panose="020B0503020204020204" charset="-122"/>
                <a:ea typeface="Microsoft YaHei UI" panose="020B0503020204020204" charset="-122"/>
                <a:cs typeface="Microsoft YaHei UI" panose="020B0503020204020204" charset="-122"/>
              </a:defRPr>
            </a:pPr>
            <a:r>
              <a:rPr sz="900" b="0">
                <a:solidFill>
                  <a:srgbClr val="111111"/>
                </a:solidFill>
                <a:latin typeface="Microsoft YaHei UI" panose="020B0503020204020204" charset="-122"/>
                <a:ea typeface="Microsoft YaHei UI" panose="020B0503020204020204" charset="-122"/>
                <a:cs typeface="Microsoft YaHei UI" panose="020B0503020204020204" charset="-122"/>
              </a:rPr>
              <a:t>2011-2024</a:t>
            </a:r>
            <a:endParaRPr sz="900"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45" name="矩形 44"/>
          <p:cNvSpPr>
            <a:spLocks noGrp="1"/>
          </p:cNvSpPr>
          <p:nvPr/>
        </p:nvSpPr>
        <p:spPr>
          <a:xfrm>
            <a:off x="8705850" y="2428875"/>
            <a:ext cx="2676525" cy="571500"/>
          </a:xfrm>
          <a:prstGeom prst="rect">
            <a:avLst/>
          </a:prstGeom>
          <a:solidFill>
            <a:srgbClr val="F7FAF8"/>
          </a:solidFill>
          <a:ln w="11430">
            <a:solidFill>
              <a:srgbClr val="C9D5CE"/>
            </a:solidFill>
          </a:ln>
        </p:spPr>
      </p:sp>
      <p:sp>
        <p:nvSpPr>
          <p:cNvPr id="46" name="矩形 45"/>
          <p:cNvSpPr>
            <a:spLocks noGrp="1"/>
          </p:cNvSpPr>
          <p:nvPr/>
        </p:nvSpPr>
        <p:spPr>
          <a:xfrm>
            <a:off x="8734425" y="2447925"/>
            <a:ext cx="2619375" cy="533400"/>
          </a:xfrm>
          <a:prstGeom prst="rect">
            <a:avLst/>
          </a:prstGeom>
          <a:noFill/>
          <a:ln w="0">
            <a:solidFill>
              <a:srgbClr val="FFFFFF"/>
            </a:solidFill>
          </a:ln>
        </p:spPr>
        <p:txBody>
          <a:bodyPr lIns="76200" tIns="38100" rIns="76200" bIns="38100" anchor="ctr"/>
          <a:lstStyle/>
          <a:p>
            <a:pPr algn="ctr">
              <a:defRPr sz="900" b="0">
                <a:solidFill>
                  <a:srgbClr val="111111"/>
                </a:solidFill>
                <a:latin typeface="Microsoft YaHei UI" panose="020B0503020204020204" charset="-122"/>
                <a:ea typeface="Microsoft YaHei UI" panose="020B0503020204020204" charset="-122"/>
                <a:cs typeface="Microsoft YaHei UI" panose="020B0503020204020204" charset="-122"/>
              </a:defRPr>
            </a:pPr>
            <a:r>
              <a:rPr sz="900" b="0">
                <a:solidFill>
                  <a:srgbClr val="111111"/>
                </a:solidFill>
                <a:latin typeface="Microsoft YaHei UI" panose="020B0503020204020204" charset="-122"/>
                <a:ea typeface="Microsoft YaHei UI" panose="020B0503020204020204" charset="-122"/>
                <a:cs typeface="Microsoft YaHei UI" panose="020B0503020204020204" charset="-122"/>
              </a:rPr>
              <a:t>解释变量与替代测度</a:t>
            </a:r>
            <a:endParaRPr sz="900"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47" name="矩形 46"/>
          <p:cNvSpPr>
            <a:spLocks noGrp="1"/>
          </p:cNvSpPr>
          <p:nvPr/>
        </p:nvSpPr>
        <p:spPr>
          <a:xfrm>
            <a:off x="666750" y="3000375"/>
            <a:ext cx="2676525" cy="571500"/>
          </a:xfrm>
          <a:prstGeom prst="rect">
            <a:avLst/>
          </a:prstGeom>
          <a:solidFill>
            <a:srgbClr val="FFFFFF"/>
          </a:solidFill>
          <a:ln w="11430">
            <a:solidFill>
              <a:srgbClr val="C9D5CE"/>
            </a:solidFill>
          </a:ln>
        </p:spPr>
      </p:sp>
      <p:sp>
        <p:nvSpPr>
          <p:cNvPr id="48" name="矩形 47"/>
          <p:cNvSpPr>
            <a:spLocks noGrp="1"/>
          </p:cNvSpPr>
          <p:nvPr/>
        </p:nvSpPr>
        <p:spPr>
          <a:xfrm>
            <a:off x="695325" y="3019425"/>
            <a:ext cx="2619375" cy="533400"/>
          </a:xfrm>
          <a:prstGeom prst="rect">
            <a:avLst/>
          </a:prstGeom>
          <a:noFill/>
          <a:ln w="0">
            <a:solidFill>
              <a:srgbClr val="FFFFFF"/>
            </a:solidFill>
          </a:ln>
        </p:spPr>
        <p:txBody>
          <a:bodyPr lIns="76200" tIns="38100" rIns="76200" bIns="38100" anchor="ctr"/>
          <a:lstStyle/>
          <a:p>
            <a:pPr algn="ctr">
              <a:defRPr sz="900" b="0">
                <a:solidFill>
                  <a:srgbClr val="111111"/>
                </a:solidFill>
                <a:latin typeface="Microsoft YaHei UI" panose="020B0503020204020204" charset="-122"/>
                <a:ea typeface="Microsoft YaHei UI" panose="020B0503020204020204" charset="-122"/>
                <a:cs typeface="Microsoft YaHei UI" panose="020B0503020204020204" charset="-122"/>
              </a:defRPr>
            </a:pPr>
            <a:r>
              <a:rPr sz="900" b="0">
                <a:solidFill>
                  <a:srgbClr val="111111"/>
                </a:solidFill>
                <a:latin typeface="Microsoft YaHei UI" panose="020B0503020204020204" charset="-122"/>
                <a:ea typeface="Microsoft YaHei UI" panose="020B0503020204020204" charset="-122"/>
                <a:cs typeface="Microsoft YaHei UI" panose="020B0503020204020204" charset="-122"/>
              </a:rPr>
              <a:t>绿色创新</a:t>
            </a:r>
            <a:endParaRPr sz="900"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49" name="矩形 48"/>
          <p:cNvSpPr>
            <a:spLocks noGrp="1"/>
          </p:cNvSpPr>
          <p:nvPr/>
        </p:nvSpPr>
        <p:spPr>
          <a:xfrm>
            <a:off x="3343275" y="3000375"/>
            <a:ext cx="2676525" cy="571500"/>
          </a:xfrm>
          <a:prstGeom prst="rect">
            <a:avLst/>
          </a:prstGeom>
          <a:solidFill>
            <a:srgbClr val="FFFFFF"/>
          </a:solidFill>
          <a:ln w="11430">
            <a:solidFill>
              <a:srgbClr val="C9D5CE"/>
            </a:solidFill>
          </a:ln>
        </p:spPr>
      </p:sp>
      <p:sp>
        <p:nvSpPr>
          <p:cNvPr id="50" name="矩形 49"/>
          <p:cNvSpPr>
            <a:spLocks noGrp="1"/>
          </p:cNvSpPr>
          <p:nvPr/>
        </p:nvSpPr>
        <p:spPr>
          <a:xfrm>
            <a:off x="3371850" y="3019425"/>
            <a:ext cx="2619375" cy="533400"/>
          </a:xfrm>
          <a:prstGeom prst="rect">
            <a:avLst/>
          </a:prstGeom>
          <a:noFill/>
          <a:ln w="0">
            <a:solidFill>
              <a:srgbClr val="FFFFFF"/>
            </a:solidFill>
          </a:ln>
        </p:spPr>
        <p:txBody>
          <a:bodyPr lIns="76200" tIns="38100" rIns="76200" bIns="38100" anchor="ctr"/>
          <a:lstStyle/>
          <a:p>
            <a:pPr algn="ctr">
              <a:defRPr sz="900" b="0">
                <a:solidFill>
                  <a:srgbClr val="111111"/>
                </a:solidFill>
                <a:latin typeface="Microsoft YaHei UI" panose="020B0503020204020204" charset="-122"/>
                <a:ea typeface="Microsoft YaHei UI" panose="020B0503020204020204" charset="-122"/>
                <a:cs typeface="Microsoft YaHei UI" panose="020B0503020204020204" charset="-122"/>
              </a:defRPr>
            </a:pPr>
            <a:r>
              <a:rPr sz="900" b="0">
                <a:solidFill>
                  <a:srgbClr val="111111"/>
                </a:solidFill>
                <a:latin typeface="Microsoft YaHei UI" panose="020B0503020204020204" charset="-122"/>
                <a:ea typeface="Microsoft YaHei UI" panose="020B0503020204020204" charset="-122"/>
                <a:cs typeface="Microsoft YaHei UI" panose="020B0503020204020204" charset="-122"/>
              </a:rPr>
              <a:t>国知局、CNRDS、CSMAR专利库</a:t>
            </a:r>
            <a:endParaRPr sz="900"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51" name="矩形 50"/>
          <p:cNvSpPr>
            <a:spLocks noGrp="1"/>
          </p:cNvSpPr>
          <p:nvPr/>
        </p:nvSpPr>
        <p:spPr>
          <a:xfrm>
            <a:off x="6029325" y="3000375"/>
            <a:ext cx="2676525" cy="571500"/>
          </a:xfrm>
          <a:prstGeom prst="rect">
            <a:avLst/>
          </a:prstGeom>
          <a:solidFill>
            <a:srgbClr val="FFFFFF"/>
          </a:solidFill>
          <a:ln w="11430">
            <a:solidFill>
              <a:srgbClr val="C9D5CE"/>
            </a:solidFill>
          </a:ln>
        </p:spPr>
      </p:sp>
      <p:sp>
        <p:nvSpPr>
          <p:cNvPr id="52" name="矩形 51"/>
          <p:cNvSpPr>
            <a:spLocks noGrp="1"/>
          </p:cNvSpPr>
          <p:nvPr/>
        </p:nvSpPr>
        <p:spPr>
          <a:xfrm>
            <a:off x="6057900" y="3019425"/>
            <a:ext cx="2619375" cy="533400"/>
          </a:xfrm>
          <a:prstGeom prst="rect">
            <a:avLst/>
          </a:prstGeom>
          <a:noFill/>
          <a:ln w="0">
            <a:solidFill>
              <a:srgbClr val="FFFFFF"/>
            </a:solidFill>
          </a:ln>
        </p:spPr>
        <p:txBody>
          <a:bodyPr lIns="76200" tIns="38100" rIns="76200" bIns="38100" anchor="ctr"/>
          <a:lstStyle/>
          <a:p>
            <a:pPr algn="ctr">
              <a:defRPr sz="900" b="0">
                <a:solidFill>
                  <a:srgbClr val="111111"/>
                </a:solidFill>
                <a:latin typeface="Microsoft YaHei UI" panose="020B0503020204020204" charset="-122"/>
                <a:ea typeface="Microsoft YaHei UI" panose="020B0503020204020204" charset="-122"/>
                <a:cs typeface="Microsoft YaHei UI" panose="020B0503020204020204" charset="-122"/>
              </a:defRPr>
            </a:pPr>
            <a:r>
              <a:rPr sz="900" b="0">
                <a:solidFill>
                  <a:srgbClr val="111111"/>
                </a:solidFill>
                <a:latin typeface="Microsoft YaHei UI" panose="020B0503020204020204" charset="-122"/>
                <a:ea typeface="Microsoft YaHei UI" panose="020B0503020204020204" charset="-122"/>
                <a:cs typeface="Microsoft YaHei UI" panose="020B0503020204020204" charset="-122"/>
              </a:rPr>
              <a:t>2011-2024</a:t>
            </a:r>
            <a:endParaRPr sz="900"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53" name="矩形 52"/>
          <p:cNvSpPr>
            <a:spLocks noGrp="1"/>
          </p:cNvSpPr>
          <p:nvPr/>
        </p:nvSpPr>
        <p:spPr>
          <a:xfrm>
            <a:off x="8705850" y="3000375"/>
            <a:ext cx="2676525" cy="571500"/>
          </a:xfrm>
          <a:prstGeom prst="rect">
            <a:avLst/>
          </a:prstGeom>
          <a:solidFill>
            <a:srgbClr val="FFFFFF"/>
          </a:solidFill>
          <a:ln w="11430">
            <a:solidFill>
              <a:srgbClr val="C9D5CE"/>
            </a:solidFill>
          </a:ln>
        </p:spPr>
      </p:sp>
      <p:sp>
        <p:nvSpPr>
          <p:cNvPr id="54" name="矩形 53"/>
          <p:cNvSpPr>
            <a:spLocks noGrp="1"/>
          </p:cNvSpPr>
          <p:nvPr/>
        </p:nvSpPr>
        <p:spPr>
          <a:xfrm>
            <a:off x="8734425" y="3019425"/>
            <a:ext cx="2619375" cy="533400"/>
          </a:xfrm>
          <a:prstGeom prst="rect">
            <a:avLst/>
          </a:prstGeom>
          <a:noFill/>
          <a:ln w="0">
            <a:solidFill>
              <a:srgbClr val="FFFFFF"/>
            </a:solidFill>
          </a:ln>
        </p:spPr>
        <p:txBody>
          <a:bodyPr lIns="76200" tIns="38100" rIns="76200" bIns="38100" anchor="ctr"/>
          <a:lstStyle/>
          <a:p>
            <a:pPr algn="ctr">
              <a:defRPr sz="900" b="0">
                <a:solidFill>
                  <a:srgbClr val="111111"/>
                </a:solidFill>
                <a:latin typeface="Microsoft YaHei UI" panose="020B0503020204020204" charset="-122"/>
                <a:ea typeface="Microsoft YaHei UI" panose="020B0503020204020204" charset="-122"/>
                <a:cs typeface="Microsoft YaHei UI" panose="020B0503020204020204" charset="-122"/>
              </a:defRPr>
            </a:pPr>
            <a:r>
              <a:rPr sz="900" b="0">
                <a:solidFill>
                  <a:srgbClr val="111111"/>
                </a:solidFill>
                <a:latin typeface="Microsoft YaHei UI" panose="020B0503020204020204" charset="-122"/>
                <a:ea typeface="Microsoft YaHei UI" panose="020B0503020204020204" charset="-122"/>
                <a:cs typeface="Microsoft YaHei UI" panose="020B0503020204020204" charset="-122"/>
              </a:rPr>
              <a:t>机制变量与补充检验</a:t>
            </a:r>
            <a:endParaRPr sz="900"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55" name="矩形 54"/>
          <p:cNvSpPr>
            <a:spLocks noGrp="1"/>
          </p:cNvSpPr>
          <p:nvPr/>
        </p:nvSpPr>
        <p:spPr>
          <a:xfrm>
            <a:off x="666750" y="3571875"/>
            <a:ext cx="2676525" cy="571500"/>
          </a:xfrm>
          <a:prstGeom prst="rect">
            <a:avLst/>
          </a:prstGeom>
          <a:solidFill>
            <a:srgbClr val="F7FAF8"/>
          </a:solidFill>
          <a:ln w="11430">
            <a:solidFill>
              <a:srgbClr val="C9D5CE"/>
            </a:solidFill>
          </a:ln>
        </p:spPr>
      </p:sp>
      <p:sp>
        <p:nvSpPr>
          <p:cNvPr id="56" name="矩形 55"/>
          <p:cNvSpPr>
            <a:spLocks noGrp="1"/>
          </p:cNvSpPr>
          <p:nvPr/>
        </p:nvSpPr>
        <p:spPr>
          <a:xfrm>
            <a:off x="695325" y="3590925"/>
            <a:ext cx="2619375" cy="533400"/>
          </a:xfrm>
          <a:prstGeom prst="rect">
            <a:avLst/>
          </a:prstGeom>
          <a:noFill/>
          <a:ln w="0">
            <a:solidFill>
              <a:srgbClr val="FFFFFF"/>
            </a:solidFill>
          </a:ln>
        </p:spPr>
        <p:txBody>
          <a:bodyPr lIns="76200" tIns="38100" rIns="76200" bIns="38100" anchor="ctr"/>
          <a:lstStyle/>
          <a:p>
            <a:pPr algn="ctr">
              <a:defRPr sz="900" b="0">
                <a:solidFill>
                  <a:srgbClr val="111111"/>
                </a:solidFill>
                <a:latin typeface="Microsoft YaHei UI" panose="020B0503020204020204" charset="-122"/>
                <a:ea typeface="Microsoft YaHei UI" panose="020B0503020204020204" charset="-122"/>
                <a:cs typeface="Microsoft YaHei UI" panose="020B0503020204020204" charset="-122"/>
              </a:defRPr>
            </a:pPr>
            <a:r>
              <a:rPr sz="900" b="0">
                <a:solidFill>
                  <a:srgbClr val="111111"/>
                </a:solidFill>
                <a:latin typeface="Microsoft YaHei UI" panose="020B0503020204020204" charset="-122"/>
                <a:ea typeface="Microsoft YaHei UI" panose="020B0503020204020204" charset="-122"/>
                <a:cs typeface="Microsoft YaHei UI" panose="020B0503020204020204" charset="-122"/>
              </a:rPr>
              <a:t>城市宏观</a:t>
            </a:r>
            <a:endParaRPr sz="900"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57" name="矩形 56"/>
          <p:cNvSpPr>
            <a:spLocks noGrp="1"/>
          </p:cNvSpPr>
          <p:nvPr/>
        </p:nvSpPr>
        <p:spPr>
          <a:xfrm>
            <a:off x="3343275" y="3571875"/>
            <a:ext cx="2676525" cy="571500"/>
          </a:xfrm>
          <a:prstGeom prst="rect">
            <a:avLst/>
          </a:prstGeom>
          <a:solidFill>
            <a:srgbClr val="F7FAF8"/>
          </a:solidFill>
          <a:ln w="11430">
            <a:solidFill>
              <a:srgbClr val="C9D5CE"/>
            </a:solidFill>
          </a:ln>
        </p:spPr>
      </p:sp>
      <p:sp>
        <p:nvSpPr>
          <p:cNvPr id="58" name="矩形 57"/>
          <p:cNvSpPr>
            <a:spLocks noGrp="1"/>
          </p:cNvSpPr>
          <p:nvPr/>
        </p:nvSpPr>
        <p:spPr>
          <a:xfrm>
            <a:off x="3371850" y="3590925"/>
            <a:ext cx="2619375" cy="533400"/>
          </a:xfrm>
          <a:prstGeom prst="rect">
            <a:avLst/>
          </a:prstGeom>
          <a:noFill/>
          <a:ln w="0">
            <a:solidFill>
              <a:srgbClr val="FFFFFF"/>
            </a:solidFill>
          </a:ln>
        </p:spPr>
        <p:txBody>
          <a:bodyPr lIns="76200" tIns="38100" rIns="76200" bIns="38100" anchor="ctr"/>
          <a:lstStyle/>
          <a:p>
            <a:pPr algn="ctr">
              <a:defRPr sz="900" b="0">
                <a:solidFill>
                  <a:srgbClr val="111111"/>
                </a:solidFill>
                <a:latin typeface="Microsoft YaHei UI" panose="020B0503020204020204" charset="-122"/>
                <a:ea typeface="Microsoft YaHei UI" panose="020B0503020204020204" charset="-122"/>
                <a:cs typeface="Microsoft YaHei UI" panose="020B0503020204020204" charset="-122"/>
              </a:defRPr>
            </a:pPr>
            <a:r>
              <a:rPr sz="900" b="0">
                <a:solidFill>
                  <a:srgbClr val="111111"/>
                </a:solidFill>
                <a:latin typeface="Microsoft YaHei UI" panose="020B0503020204020204" charset="-122"/>
                <a:ea typeface="Microsoft YaHei UI" panose="020B0503020204020204" charset="-122"/>
                <a:cs typeface="Microsoft YaHei UI" panose="020B0503020204020204" charset="-122"/>
              </a:rPr>
              <a:t>城市/中国/环境统计年鉴</a:t>
            </a:r>
            <a:endParaRPr sz="900"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59" name="矩形 58"/>
          <p:cNvSpPr>
            <a:spLocks noGrp="1"/>
          </p:cNvSpPr>
          <p:nvPr/>
        </p:nvSpPr>
        <p:spPr>
          <a:xfrm>
            <a:off x="6029325" y="3571875"/>
            <a:ext cx="2676525" cy="571500"/>
          </a:xfrm>
          <a:prstGeom prst="rect">
            <a:avLst/>
          </a:prstGeom>
          <a:solidFill>
            <a:srgbClr val="F7FAF8"/>
          </a:solidFill>
          <a:ln w="11430">
            <a:solidFill>
              <a:srgbClr val="C9D5CE"/>
            </a:solidFill>
          </a:ln>
        </p:spPr>
      </p:sp>
      <p:sp>
        <p:nvSpPr>
          <p:cNvPr id="60" name="矩形 59"/>
          <p:cNvSpPr>
            <a:spLocks noGrp="1"/>
          </p:cNvSpPr>
          <p:nvPr/>
        </p:nvSpPr>
        <p:spPr>
          <a:xfrm>
            <a:off x="6057900" y="3590925"/>
            <a:ext cx="2619375" cy="533400"/>
          </a:xfrm>
          <a:prstGeom prst="rect">
            <a:avLst/>
          </a:prstGeom>
          <a:noFill/>
          <a:ln w="0">
            <a:solidFill>
              <a:srgbClr val="FFFFFF"/>
            </a:solidFill>
          </a:ln>
        </p:spPr>
        <p:txBody>
          <a:bodyPr lIns="76200" tIns="38100" rIns="76200" bIns="38100" anchor="ctr"/>
          <a:lstStyle/>
          <a:p>
            <a:pPr algn="ctr">
              <a:defRPr sz="900" b="0">
                <a:solidFill>
                  <a:srgbClr val="111111"/>
                </a:solidFill>
                <a:latin typeface="Microsoft YaHei UI" panose="020B0503020204020204" charset="-122"/>
                <a:ea typeface="Microsoft YaHei UI" panose="020B0503020204020204" charset="-122"/>
                <a:cs typeface="Microsoft YaHei UI" panose="020B0503020204020204" charset="-122"/>
              </a:defRPr>
            </a:pPr>
            <a:r>
              <a:rPr sz="900" b="0">
                <a:solidFill>
                  <a:srgbClr val="111111"/>
                </a:solidFill>
                <a:latin typeface="Microsoft YaHei UI" panose="020B0503020204020204" charset="-122"/>
                <a:ea typeface="Microsoft YaHei UI" panose="020B0503020204020204" charset="-122"/>
                <a:cs typeface="Microsoft YaHei UI" panose="020B0503020204020204" charset="-122"/>
              </a:rPr>
              <a:t>2011-2024</a:t>
            </a:r>
            <a:endParaRPr sz="900"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61" name="矩形 60"/>
          <p:cNvSpPr>
            <a:spLocks noGrp="1"/>
          </p:cNvSpPr>
          <p:nvPr/>
        </p:nvSpPr>
        <p:spPr>
          <a:xfrm>
            <a:off x="8705850" y="3571875"/>
            <a:ext cx="2676525" cy="571500"/>
          </a:xfrm>
          <a:prstGeom prst="rect">
            <a:avLst/>
          </a:prstGeom>
          <a:solidFill>
            <a:srgbClr val="F7FAF8"/>
          </a:solidFill>
          <a:ln w="11430">
            <a:solidFill>
              <a:srgbClr val="C9D5CE"/>
            </a:solidFill>
          </a:ln>
        </p:spPr>
      </p:sp>
      <p:sp>
        <p:nvSpPr>
          <p:cNvPr id="62" name="矩形 61"/>
          <p:cNvSpPr>
            <a:spLocks noGrp="1"/>
          </p:cNvSpPr>
          <p:nvPr/>
        </p:nvSpPr>
        <p:spPr>
          <a:xfrm>
            <a:off x="8734425" y="3590925"/>
            <a:ext cx="2619375" cy="533400"/>
          </a:xfrm>
          <a:prstGeom prst="rect">
            <a:avLst/>
          </a:prstGeom>
          <a:noFill/>
          <a:ln w="0">
            <a:solidFill>
              <a:srgbClr val="FFFFFF"/>
            </a:solidFill>
          </a:ln>
        </p:spPr>
        <p:txBody>
          <a:bodyPr lIns="76200" tIns="38100" rIns="76200" bIns="38100" anchor="ctr"/>
          <a:lstStyle/>
          <a:p>
            <a:pPr algn="ctr">
              <a:defRPr sz="900" b="0">
                <a:solidFill>
                  <a:srgbClr val="111111"/>
                </a:solidFill>
                <a:latin typeface="Microsoft YaHei UI" panose="020B0503020204020204" charset="-122"/>
                <a:ea typeface="Microsoft YaHei UI" panose="020B0503020204020204" charset="-122"/>
                <a:cs typeface="Microsoft YaHei UI" panose="020B0503020204020204" charset="-122"/>
              </a:defRPr>
            </a:pPr>
            <a:r>
              <a:rPr sz="900" b="0">
                <a:solidFill>
                  <a:srgbClr val="111111"/>
                </a:solidFill>
                <a:latin typeface="Microsoft YaHei UI" panose="020B0503020204020204" charset="-122"/>
                <a:ea typeface="Microsoft YaHei UI" panose="020B0503020204020204" charset="-122"/>
                <a:cs typeface="Microsoft YaHei UI" panose="020B0503020204020204" charset="-122"/>
              </a:rPr>
              <a:t>城市控制与污染强度匹配</a:t>
            </a:r>
            <a:endParaRPr sz="900"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63" name="矩形 62"/>
          <p:cNvSpPr>
            <a:spLocks noGrp="1"/>
          </p:cNvSpPr>
          <p:nvPr/>
        </p:nvSpPr>
        <p:spPr>
          <a:xfrm>
            <a:off x="666750" y="4143375"/>
            <a:ext cx="2676525" cy="571500"/>
          </a:xfrm>
          <a:prstGeom prst="rect">
            <a:avLst/>
          </a:prstGeom>
          <a:solidFill>
            <a:srgbClr val="FFFFFF"/>
          </a:solidFill>
          <a:ln w="11430">
            <a:solidFill>
              <a:srgbClr val="C9D5CE"/>
            </a:solidFill>
          </a:ln>
        </p:spPr>
      </p:sp>
      <p:sp>
        <p:nvSpPr>
          <p:cNvPr id="64" name="矩形 63"/>
          <p:cNvSpPr>
            <a:spLocks noGrp="1"/>
          </p:cNvSpPr>
          <p:nvPr/>
        </p:nvSpPr>
        <p:spPr>
          <a:xfrm>
            <a:off x="695325" y="4162425"/>
            <a:ext cx="2619375" cy="533400"/>
          </a:xfrm>
          <a:prstGeom prst="rect">
            <a:avLst/>
          </a:prstGeom>
          <a:noFill/>
          <a:ln w="0">
            <a:solidFill>
              <a:srgbClr val="FFFFFF"/>
            </a:solidFill>
          </a:ln>
        </p:spPr>
        <p:txBody>
          <a:bodyPr lIns="76200" tIns="38100" rIns="76200" bIns="38100" anchor="ctr"/>
          <a:lstStyle/>
          <a:p>
            <a:pPr algn="ctr">
              <a:defRPr sz="900" b="0">
                <a:solidFill>
                  <a:srgbClr val="111111"/>
                </a:solidFill>
                <a:latin typeface="Microsoft YaHei UI" panose="020B0503020204020204" charset="-122"/>
                <a:ea typeface="Microsoft YaHei UI" panose="020B0503020204020204" charset="-122"/>
                <a:cs typeface="Microsoft YaHei UI" panose="020B0503020204020204" charset="-122"/>
              </a:defRPr>
            </a:pPr>
            <a:r>
              <a:rPr sz="900" b="0">
                <a:solidFill>
                  <a:srgbClr val="111111"/>
                </a:solidFill>
                <a:latin typeface="Microsoft YaHei UI" panose="020B0503020204020204" charset="-122"/>
                <a:ea typeface="Microsoft YaHei UI" panose="020B0503020204020204" charset="-122"/>
                <a:cs typeface="Microsoft YaHei UI" panose="020B0503020204020204" charset="-122"/>
              </a:rPr>
              <a:t>GTFP测算</a:t>
            </a:r>
            <a:endParaRPr sz="900"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65" name="矩形 64"/>
          <p:cNvSpPr>
            <a:spLocks noGrp="1"/>
          </p:cNvSpPr>
          <p:nvPr/>
        </p:nvSpPr>
        <p:spPr>
          <a:xfrm>
            <a:off x="3343275" y="4143375"/>
            <a:ext cx="2676525" cy="571500"/>
          </a:xfrm>
          <a:prstGeom prst="rect">
            <a:avLst/>
          </a:prstGeom>
          <a:solidFill>
            <a:srgbClr val="FFFFFF"/>
          </a:solidFill>
          <a:ln w="11430">
            <a:solidFill>
              <a:srgbClr val="C9D5CE"/>
            </a:solidFill>
          </a:ln>
        </p:spPr>
      </p:sp>
      <p:sp>
        <p:nvSpPr>
          <p:cNvPr id="66" name="矩形 65"/>
          <p:cNvSpPr>
            <a:spLocks noGrp="1"/>
          </p:cNvSpPr>
          <p:nvPr/>
        </p:nvSpPr>
        <p:spPr>
          <a:xfrm>
            <a:off x="3371850" y="4162425"/>
            <a:ext cx="2619375" cy="533400"/>
          </a:xfrm>
          <a:prstGeom prst="rect">
            <a:avLst/>
          </a:prstGeom>
          <a:noFill/>
          <a:ln w="0">
            <a:solidFill>
              <a:srgbClr val="FFFFFF"/>
            </a:solidFill>
          </a:ln>
        </p:spPr>
        <p:txBody>
          <a:bodyPr lIns="76200" tIns="38100" rIns="76200" bIns="38100" anchor="ctr"/>
          <a:lstStyle/>
          <a:p>
            <a:pPr algn="ctr">
              <a:defRPr sz="900" b="0">
                <a:solidFill>
                  <a:srgbClr val="111111"/>
                </a:solidFill>
                <a:latin typeface="Microsoft YaHei UI" panose="020B0503020204020204" charset="-122"/>
                <a:ea typeface="Microsoft YaHei UI" panose="020B0503020204020204" charset="-122"/>
                <a:cs typeface="Microsoft YaHei UI" panose="020B0503020204020204" charset="-122"/>
              </a:defRPr>
            </a:pPr>
            <a:r>
              <a:rPr sz="900" b="0">
                <a:solidFill>
                  <a:srgbClr val="111111"/>
                </a:solidFill>
                <a:latin typeface="Microsoft YaHei UI" panose="020B0503020204020204" charset="-122"/>
                <a:ea typeface="Microsoft YaHei UI" panose="020B0503020204020204" charset="-122"/>
                <a:cs typeface="Microsoft YaHei UI" panose="020B0503020204020204" charset="-122"/>
              </a:rPr>
              <a:t>年报、排放数据、行业-城市匹配</a:t>
            </a:r>
            <a:endParaRPr sz="900"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67" name="矩形 66"/>
          <p:cNvSpPr>
            <a:spLocks noGrp="1"/>
          </p:cNvSpPr>
          <p:nvPr/>
        </p:nvSpPr>
        <p:spPr>
          <a:xfrm>
            <a:off x="6029325" y="4143375"/>
            <a:ext cx="2676525" cy="571500"/>
          </a:xfrm>
          <a:prstGeom prst="rect">
            <a:avLst/>
          </a:prstGeom>
          <a:solidFill>
            <a:srgbClr val="FFFFFF"/>
          </a:solidFill>
          <a:ln w="11430">
            <a:solidFill>
              <a:srgbClr val="C9D5CE"/>
            </a:solidFill>
          </a:ln>
        </p:spPr>
      </p:sp>
      <p:sp>
        <p:nvSpPr>
          <p:cNvPr id="68" name="矩形 67"/>
          <p:cNvSpPr>
            <a:spLocks noGrp="1"/>
          </p:cNvSpPr>
          <p:nvPr/>
        </p:nvSpPr>
        <p:spPr>
          <a:xfrm>
            <a:off x="6057900" y="4162425"/>
            <a:ext cx="2619375" cy="533400"/>
          </a:xfrm>
          <a:prstGeom prst="rect">
            <a:avLst/>
          </a:prstGeom>
          <a:noFill/>
          <a:ln w="0">
            <a:solidFill>
              <a:srgbClr val="FFFFFF"/>
            </a:solidFill>
          </a:ln>
        </p:spPr>
        <p:txBody>
          <a:bodyPr lIns="76200" tIns="38100" rIns="76200" bIns="38100" anchor="ctr"/>
          <a:lstStyle/>
          <a:p>
            <a:pPr algn="ctr">
              <a:defRPr sz="900" b="0">
                <a:solidFill>
                  <a:srgbClr val="111111"/>
                </a:solidFill>
                <a:latin typeface="Microsoft YaHei UI" panose="020B0503020204020204" charset="-122"/>
                <a:ea typeface="Microsoft YaHei UI" panose="020B0503020204020204" charset="-122"/>
                <a:cs typeface="Microsoft YaHei UI" panose="020B0503020204020204" charset="-122"/>
              </a:defRPr>
            </a:pPr>
            <a:r>
              <a:rPr sz="900" b="0">
                <a:solidFill>
                  <a:srgbClr val="111111"/>
                </a:solidFill>
                <a:latin typeface="Microsoft YaHei UI" panose="020B0503020204020204" charset="-122"/>
                <a:ea typeface="Microsoft YaHei UI" panose="020B0503020204020204" charset="-122"/>
                <a:cs typeface="Microsoft YaHei UI" panose="020B0503020204020204" charset="-122"/>
              </a:rPr>
              <a:t>2011-2024</a:t>
            </a:r>
            <a:endParaRPr sz="900"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69" name="矩形 68"/>
          <p:cNvSpPr>
            <a:spLocks noGrp="1"/>
          </p:cNvSpPr>
          <p:nvPr/>
        </p:nvSpPr>
        <p:spPr>
          <a:xfrm>
            <a:off x="8705850" y="4143375"/>
            <a:ext cx="2676525" cy="571500"/>
          </a:xfrm>
          <a:prstGeom prst="rect">
            <a:avLst/>
          </a:prstGeom>
          <a:solidFill>
            <a:srgbClr val="FFFFFF"/>
          </a:solidFill>
          <a:ln w="11430">
            <a:solidFill>
              <a:srgbClr val="C9D5CE"/>
            </a:solidFill>
          </a:ln>
        </p:spPr>
      </p:sp>
      <p:sp>
        <p:nvSpPr>
          <p:cNvPr id="70" name="矩形 69"/>
          <p:cNvSpPr>
            <a:spLocks noGrp="1"/>
          </p:cNvSpPr>
          <p:nvPr/>
        </p:nvSpPr>
        <p:spPr>
          <a:xfrm>
            <a:off x="8734425" y="4162425"/>
            <a:ext cx="2619375" cy="533400"/>
          </a:xfrm>
          <a:prstGeom prst="rect">
            <a:avLst/>
          </a:prstGeom>
          <a:noFill/>
          <a:ln w="0">
            <a:solidFill>
              <a:srgbClr val="FFFFFF"/>
            </a:solidFill>
          </a:ln>
        </p:spPr>
        <p:txBody>
          <a:bodyPr lIns="76200" tIns="38100" rIns="76200" bIns="38100" anchor="ctr"/>
          <a:lstStyle/>
          <a:p>
            <a:pPr algn="ctr">
              <a:defRPr sz="900" b="0">
                <a:solidFill>
                  <a:srgbClr val="111111"/>
                </a:solidFill>
                <a:latin typeface="Microsoft YaHei UI" panose="020B0503020204020204" charset="-122"/>
                <a:ea typeface="Microsoft YaHei UI" panose="020B0503020204020204" charset="-122"/>
                <a:cs typeface="Microsoft YaHei UI" panose="020B0503020204020204" charset="-122"/>
              </a:defRPr>
            </a:pPr>
            <a:r>
              <a:rPr sz="900" b="0">
                <a:solidFill>
                  <a:srgbClr val="111111"/>
                </a:solidFill>
                <a:latin typeface="Microsoft YaHei UI" panose="020B0503020204020204" charset="-122"/>
                <a:ea typeface="Microsoft YaHei UI" panose="020B0503020204020204" charset="-122"/>
                <a:cs typeface="Microsoft YaHei UI" panose="020B0503020204020204" charset="-122"/>
              </a:rPr>
              <a:t>SBM-GML指数测算</a:t>
            </a:r>
            <a:endParaRPr sz="900"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71" name="圆角矩形 70"/>
          <p:cNvSpPr>
            <a:spLocks noGrp="1"/>
          </p:cNvSpPr>
          <p:nvPr/>
        </p:nvSpPr>
        <p:spPr>
          <a:xfrm>
            <a:off x="1066800" y="5095875"/>
            <a:ext cx="4095750" cy="800100"/>
          </a:xfrm>
          <a:prstGeom prst="roundRect">
            <a:avLst>
              <a:gd name="adj" fmla="val 14286"/>
            </a:avLst>
          </a:prstGeom>
          <a:solidFill>
            <a:srgbClr val="FFFFFF"/>
          </a:solidFill>
          <a:ln w="11430">
            <a:solidFill>
              <a:srgbClr val="D7DFDA"/>
            </a:solidFill>
          </a:ln>
        </p:spPr>
      </p:sp>
      <p:sp>
        <p:nvSpPr>
          <p:cNvPr id="72" name="矩形 71"/>
          <p:cNvSpPr>
            <a:spLocks noGrp="1"/>
          </p:cNvSpPr>
          <p:nvPr/>
        </p:nvSpPr>
        <p:spPr>
          <a:xfrm>
            <a:off x="1238250" y="5229225"/>
            <a:ext cx="3752850" cy="323850"/>
          </a:xfrm>
          <a:prstGeom prst="rect">
            <a:avLst/>
          </a:prstGeom>
          <a:noFill/>
          <a:ln w="0">
            <a:solidFill>
              <a:srgbClr val="FFFFFF"/>
            </a:solidFill>
          </a:ln>
        </p:spPr>
        <p:txBody>
          <a:bodyPr lIns="76200" tIns="38100" rIns="76200" bIns="38100" anchor="ctr"/>
          <a:lstStyle/>
          <a:p>
            <a:pPr algn="l">
              <a:defRPr sz="1200" b="1">
                <a:solidFill>
                  <a:srgbClr val="206040"/>
                </a:solidFill>
                <a:latin typeface="Microsoft YaHei UI" panose="020B0503020204020204" charset="-122"/>
                <a:ea typeface="Microsoft YaHei UI" panose="020B0503020204020204" charset="-122"/>
                <a:cs typeface="Microsoft YaHei UI" panose="020B0503020204020204" charset="-122"/>
              </a:defRPr>
            </a:pPr>
            <a:r>
              <a:rPr sz="1200" b="1">
                <a:solidFill>
                  <a:srgbClr val="206040"/>
                </a:solidFill>
                <a:latin typeface="Microsoft YaHei UI" panose="020B0503020204020204" charset="-122"/>
                <a:ea typeface="Microsoft YaHei UI" panose="020B0503020204020204" charset="-122"/>
                <a:cs typeface="Microsoft YaHei UI" panose="020B0503020204020204" charset="-122"/>
              </a:rPr>
              <a:t>样本处理</a:t>
            </a:r>
            <a:endParaRPr sz="1200" b="1">
              <a:solidFill>
                <a:srgbClr val="206040"/>
              </a:solidFill>
              <a:latin typeface="Microsoft YaHei UI" panose="020B0503020204020204" charset="-122"/>
              <a:ea typeface="Microsoft YaHei UI" panose="020B0503020204020204" charset="-122"/>
              <a:cs typeface="Microsoft YaHei UI" panose="020B0503020204020204" charset="-122"/>
            </a:endParaRPr>
          </a:p>
        </p:txBody>
      </p:sp>
      <p:sp>
        <p:nvSpPr>
          <p:cNvPr id="73" name="矩形 72"/>
          <p:cNvSpPr>
            <a:spLocks noGrp="1"/>
          </p:cNvSpPr>
          <p:nvPr/>
        </p:nvSpPr>
        <p:spPr>
          <a:xfrm>
            <a:off x="1238250" y="5610225"/>
            <a:ext cx="3752850" cy="152400"/>
          </a:xfrm>
          <a:prstGeom prst="rect">
            <a:avLst/>
          </a:prstGeom>
          <a:noFill/>
          <a:ln w="0">
            <a:solidFill>
              <a:srgbClr val="FFFFFF"/>
            </a:solidFill>
          </a:ln>
        </p:spPr>
        <p:txBody>
          <a:bodyPr lIns="76200" tIns="38100" rIns="76200" bIns="38100" anchor="t"/>
          <a:lstStyle/>
          <a:p>
            <a:pPr algn="l">
              <a:defRPr sz="975" b="0">
                <a:solidFill>
                  <a:srgbClr val="111111"/>
                </a:solidFill>
                <a:latin typeface="Microsoft YaHei UI" panose="020B0503020204020204" charset="-122"/>
                <a:ea typeface="Microsoft YaHei UI" panose="020B0503020204020204" charset="-122"/>
                <a:cs typeface="Microsoft YaHei UI" panose="020B0503020204020204" charset="-122"/>
              </a:defRPr>
            </a:pPr>
            <a:r>
              <a:rPr sz="975" b="0">
                <a:solidFill>
                  <a:srgbClr val="111111"/>
                </a:solidFill>
                <a:latin typeface="Microsoft YaHei UI" panose="020B0503020204020204" charset="-122"/>
                <a:ea typeface="Microsoft YaHei UI" panose="020B0503020204020204" charset="-122"/>
                <a:cs typeface="Microsoft YaHei UI" panose="020B0503020204020204" charset="-122"/>
              </a:rPr>
              <a:t>剔除金融类、ST/*ST、主要变量缺失、异常财务指标，并对连续变量进行1%和99%缩尾。</a:t>
            </a:r>
            <a:endParaRPr sz="975"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74" name="圆角矩形 73"/>
          <p:cNvSpPr>
            <a:spLocks noGrp="1"/>
          </p:cNvSpPr>
          <p:nvPr/>
        </p:nvSpPr>
        <p:spPr>
          <a:xfrm>
            <a:off x="5953125" y="5095875"/>
            <a:ext cx="4095750" cy="800100"/>
          </a:xfrm>
          <a:prstGeom prst="roundRect">
            <a:avLst>
              <a:gd name="adj" fmla="val 14286"/>
            </a:avLst>
          </a:prstGeom>
          <a:solidFill>
            <a:srgbClr val="FFFFFF"/>
          </a:solidFill>
          <a:ln w="11430">
            <a:solidFill>
              <a:srgbClr val="D7DFDA"/>
            </a:solidFill>
          </a:ln>
        </p:spPr>
      </p:sp>
      <p:sp>
        <p:nvSpPr>
          <p:cNvPr id="75" name="矩形 74"/>
          <p:cNvSpPr>
            <a:spLocks noGrp="1"/>
          </p:cNvSpPr>
          <p:nvPr/>
        </p:nvSpPr>
        <p:spPr>
          <a:xfrm>
            <a:off x="6124575" y="5229225"/>
            <a:ext cx="3752850" cy="323850"/>
          </a:xfrm>
          <a:prstGeom prst="rect">
            <a:avLst/>
          </a:prstGeom>
          <a:noFill/>
          <a:ln w="0">
            <a:solidFill>
              <a:srgbClr val="FFFFFF"/>
            </a:solidFill>
          </a:ln>
        </p:spPr>
        <p:txBody>
          <a:bodyPr lIns="76200" tIns="38100" rIns="76200" bIns="38100" anchor="ctr"/>
          <a:lstStyle/>
          <a:p>
            <a:pPr algn="l">
              <a:defRPr sz="1200" b="1">
                <a:solidFill>
                  <a:srgbClr val="206040"/>
                </a:solidFill>
                <a:latin typeface="Microsoft YaHei UI" panose="020B0503020204020204" charset="-122"/>
                <a:ea typeface="Microsoft YaHei UI" panose="020B0503020204020204" charset="-122"/>
                <a:cs typeface="Microsoft YaHei UI" panose="020B0503020204020204" charset="-122"/>
              </a:defRPr>
            </a:pPr>
            <a:r>
              <a:rPr sz="1200" b="1">
                <a:solidFill>
                  <a:srgbClr val="206040"/>
                </a:solidFill>
                <a:latin typeface="Microsoft YaHei UI" panose="020B0503020204020204" charset="-122"/>
                <a:ea typeface="Microsoft YaHei UI" panose="020B0503020204020204" charset="-122"/>
                <a:cs typeface="Microsoft YaHei UI" panose="020B0503020204020204" charset="-122"/>
              </a:rPr>
              <a:t>扩展口径</a:t>
            </a:r>
            <a:endParaRPr sz="1200" b="1">
              <a:solidFill>
                <a:srgbClr val="206040"/>
              </a:solidFill>
              <a:latin typeface="Microsoft YaHei UI" panose="020B0503020204020204" charset="-122"/>
              <a:ea typeface="Microsoft YaHei UI" panose="020B0503020204020204" charset="-122"/>
              <a:cs typeface="Microsoft YaHei UI" panose="020B0503020204020204" charset="-122"/>
            </a:endParaRPr>
          </a:p>
        </p:txBody>
      </p:sp>
      <p:sp>
        <p:nvSpPr>
          <p:cNvPr id="76" name="矩形 75"/>
          <p:cNvSpPr>
            <a:spLocks noGrp="1"/>
          </p:cNvSpPr>
          <p:nvPr/>
        </p:nvSpPr>
        <p:spPr>
          <a:xfrm>
            <a:off x="6124575" y="5610225"/>
            <a:ext cx="3752850" cy="152400"/>
          </a:xfrm>
          <a:prstGeom prst="rect">
            <a:avLst/>
          </a:prstGeom>
          <a:noFill/>
          <a:ln w="0">
            <a:solidFill>
              <a:srgbClr val="FFFFFF"/>
            </a:solidFill>
          </a:ln>
        </p:spPr>
        <p:txBody>
          <a:bodyPr lIns="76200" tIns="38100" rIns="76200" bIns="38100" anchor="t"/>
          <a:lstStyle/>
          <a:p>
            <a:pPr algn="l">
              <a:defRPr sz="975" b="0">
                <a:solidFill>
                  <a:srgbClr val="111111"/>
                </a:solidFill>
                <a:latin typeface="Microsoft YaHei UI" panose="020B0503020204020204" charset="-122"/>
                <a:ea typeface="Microsoft YaHei UI" panose="020B0503020204020204" charset="-122"/>
                <a:cs typeface="Microsoft YaHei UI" panose="020B0503020204020204" charset="-122"/>
              </a:defRPr>
            </a:pPr>
            <a:r>
              <a:rPr sz="975" b="0">
                <a:solidFill>
                  <a:srgbClr val="111111"/>
                </a:solidFill>
                <a:latin typeface="Microsoft YaHei UI" panose="020B0503020204020204" charset="-122"/>
                <a:ea typeface="Microsoft YaHei UI" panose="020B0503020204020204" charset="-122"/>
                <a:cs typeface="Microsoft YaHei UI" panose="020B0503020204020204" charset="-122"/>
              </a:rPr>
              <a:t>北交所企业若缺失较多，可作为扩展样本或稳健性检验，不影响沪深A股主样本。</a:t>
            </a:r>
            <a:endParaRPr sz="975"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a:spLocks noGrp="1"/>
          </p:cNvSpPr>
          <p:nvPr/>
        </p:nvSpPr>
        <p:spPr>
          <a:xfrm>
            <a:off x="0" y="0"/>
            <a:ext cx="12192000" cy="6858000"/>
          </a:xfrm>
          <a:prstGeom prst="rect">
            <a:avLst/>
          </a:prstGeom>
          <a:solidFill>
            <a:srgbClr val="F4F6F5"/>
          </a:solidFill>
          <a:ln w="0">
            <a:solidFill>
              <a:srgbClr val="FFFFFF"/>
            </a:solidFill>
          </a:ln>
        </p:spPr>
      </p:sp>
      <p:sp>
        <p:nvSpPr>
          <p:cNvPr id="3" name="矩形 2"/>
          <p:cNvSpPr>
            <a:spLocks noGrp="1"/>
          </p:cNvSpPr>
          <p:nvPr/>
        </p:nvSpPr>
        <p:spPr>
          <a:xfrm>
            <a:off x="0" y="0"/>
            <a:ext cx="12192000" cy="6858000"/>
          </a:xfrm>
          <a:prstGeom prst="rect">
            <a:avLst/>
          </a:prstGeom>
          <a:solidFill>
            <a:srgbClr val="F9FAF9"/>
          </a:solidFill>
          <a:ln w="0">
            <a:solidFill>
              <a:srgbClr val="FFFFFF"/>
            </a:solidFill>
          </a:ln>
        </p:spPr>
      </p:sp>
      <p:sp>
        <p:nvSpPr>
          <p:cNvPr id="4" name="矩形 3"/>
          <p:cNvSpPr>
            <a:spLocks noGrp="1"/>
          </p:cNvSpPr>
          <p:nvPr/>
        </p:nvSpPr>
        <p:spPr>
          <a:xfrm>
            <a:off x="8858250" y="0"/>
            <a:ext cx="3333750" cy="6858000"/>
          </a:xfrm>
          <a:prstGeom prst="rect">
            <a:avLst/>
          </a:prstGeom>
          <a:solidFill>
            <a:srgbClr val="F7F9F8"/>
          </a:solidFill>
          <a:ln w="0">
            <a:solidFill>
              <a:srgbClr val="FFFFFF"/>
            </a:solidFill>
          </a:ln>
        </p:spPr>
      </p:sp>
      <p:sp>
        <p:nvSpPr>
          <p:cNvPr id="5" name="矩形 4"/>
          <p:cNvSpPr>
            <a:spLocks noGrp="1"/>
          </p:cNvSpPr>
          <p:nvPr/>
        </p:nvSpPr>
        <p:spPr>
          <a:xfrm>
            <a:off x="0" y="6115050"/>
            <a:ext cx="12192000" cy="742950"/>
          </a:xfrm>
          <a:prstGeom prst="rect">
            <a:avLst/>
          </a:prstGeom>
          <a:solidFill>
            <a:srgbClr val="F8FAF9"/>
          </a:solidFill>
          <a:ln w="0">
            <a:solidFill>
              <a:srgbClr val="FFFFFF"/>
            </a:solidFill>
          </a:ln>
        </p:spPr>
      </p:sp>
      <p:sp>
        <p:nvSpPr>
          <p:cNvPr id="6" name="等腰三角形 5"/>
          <p:cNvSpPr>
            <a:spLocks noGrp="1"/>
          </p:cNvSpPr>
          <p:nvPr/>
        </p:nvSpPr>
        <p:spPr>
          <a:xfrm>
            <a:off x="1524000" y="904875"/>
            <a:ext cx="2476500" cy="1714500"/>
          </a:xfrm>
          <a:prstGeom prst="triangle">
            <a:avLst/>
          </a:prstGeom>
          <a:solidFill>
            <a:srgbClr val="FFFFFF"/>
          </a:solidFill>
          <a:ln w="0">
            <a:solidFill>
              <a:srgbClr val="FFFFFF"/>
            </a:solidFill>
          </a:ln>
        </p:spPr>
      </p:sp>
      <p:sp>
        <p:nvSpPr>
          <p:cNvPr id="7" name="等腰三角形 6"/>
          <p:cNvSpPr>
            <a:spLocks noGrp="1"/>
          </p:cNvSpPr>
          <p:nvPr/>
        </p:nvSpPr>
        <p:spPr>
          <a:xfrm>
            <a:off x="3857625" y="1762125"/>
            <a:ext cx="2476500" cy="1714500"/>
          </a:xfrm>
          <a:prstGeom prst="triangle">
            <a:avLst/>
          </a:prstGeom>
          <a:solidFill>
            <a:srgbClr val="F8FBFA"/>
          </a:solidFill>
          <a:ln w="0">
            <a:solidFill>
              <a:srgbClr val="FFFFFF"/>
            </a:solidFill>
          </a:ln>
        </p:spPr>
      </p:sp>
      <p:sp>
        <p:nvSpPr>
          <p:cNvPr id="8" name="等腰三角形 7"/>
          <p:cNvSpPr>
            <a:spLocks noGrp="1"/>
          </p:cNvSpPr>
          <p:nvPr/>
        </p:nvSpPr>
        <p:spPr>
          <a:xfrm>
            <a:off x="6191250" y="904875"/>
            <a:ext cx="2476500" cy="1714500"/>
          </a:xfrm>
          <a:prstGeom prst="triangle">
            <a:avLst/>
          </a:prstGeom>
          <a:solidFill>
            <a:srgbClr val="FFFFFF"/>
          </a:solidFill>
          <a:ln w="0">
            <a:solidFill>
              <a:srgbClr val="FFFFFF"/>
            </a:solidFill>
          </a:ln>
        </p:spPr>
      </p:sp>
      <p:sp>
        <p:nvSpPr>
          <p:cNvPr id="9" name="等腰三角形 8"/>
          <p:cNvSpPr>
            <a:spLocks noGrp="1"/>
          </p:cNvSpPr>
          <p:nvPr/>
        </p:nvSpPr>
        <p:spPr>
          <a:xfrm>
            <a:off x="8524875" y="1762125"/>
            <a:ext cx="2476500" cy="1714500"/>
          </a:xfrm>
          <a:prstGeom prst="triangle">
            <a:avLst/>
          </a:prstGeom>
          <a:solidFill>
            <a:srgbClr val="F8FBFA"/>
          </a:solidFill>
          <a:ln w="0">
            <a:solidFill>
              <a:srgbClr val="FFFFFF"/>
            </a:solidFill>
          </a:ln>
        </p:spPr>
      </p:sp>
      <p:sp>
        <p:nvSpPr>
          <p:cNvPr id="10" name="等腰三角形 9"/>
          <p:cNvSpPr>
            <a:spLocks noGrp="1"/>
          </p:cNvSpPr>
          <p:nvPr/>
        </p:nvSpPr>
        <p:spPr>
          <a:xfrm>
            <a:off x="10858500" y="904875"/>
            <a:ext cx="2476500" cy="1714500"/>
          </a:xfrm>
          <a:prstGeom prst="triangle">
            <a:avLst/>
          </a:prstGeom>
          <a:solidFill>
            <a:srgbClr val="FFFFFF"/>
          </a:solidFill>
          <a:ln w="0">
            <a:solidFill>
              <a:srgbClr val="FFFFFF"/>
            </a:solidFill>
          </a:ln>
        </p:spPr>
      </p:sp>
      <p:sp>
        <p:nvSpPr>
          <p:cNvPr id="11" name="等腰三角形 10"/>
          <p:cNvSpPr>
            <a:spLocks noGrp="1"/>
          </p:cNvSpPr>
          <p:nvPr/>
        </p:nvSpPr>
        <p:spPr>
          <a:xfrm rot="5400000">
            <a:off x="152400" y="266700"/>
            <a:ext cx="533400" cy="476250"/>
          </a:xfrm>
          <a:prstGeom prst="triangle">
            <a:avLst/>
          </a:prstGeom>
          <a:solidFill>
            <a:srgbClr val="206040"/>
          </a:solidFill>
          <a:ln w="0">
            <a:solidFill>
              <a:srgbClr val="FFFFFF"/>
            </a:solidFill>
          </a:ln>
        </p:spPr>
      </p:sp>
      <p:sp>
        <p:nvSpPr>
          <p:cNvPr id="12" name="等腰三角形 11"/>
          <p:cNvSpPr>
            <a:spLocks noGrp="1"/>
          </p:cNvSpPr>
          <p:nvPr/>
        </p:nvSpPr>
        <p:spPr>
          <a:xfrm rot="5400000">
            <a:off x="381000" y="304800"/>
            <a:ext cx="457200" cy="419100"/>
          </a:xfrm>
          <a:prstGeom prst="triangle">
            <a:avLst/>
          </a:prstGeom>
          <a:solidFill>
            <a:srgbClr val="80A090"/>
          </a:solidFill>
          <a:ln w="0">
            <a:solidFill>
              <a:srgbClr val="FFFFFF"/>
            </a:solidFill>
          </a:ln>
        </p:spPr>
      </p:sp>
      <p:sp>
        <p:nvSpPr>
          <p:cNvPr id="13" name="矩形 12"/>
          <p:cNvSpPr>
            <a:spLocks noGrp="1"/>
          </p:cNvSpPr>
          <p:nvPr/>
        </p:nvSpPr>
        <p:spPr>
          <a:xfrm>
            <a:off x="857250" y="228600"/>
            <a:ext cx="2857500" cy="457200"/>
          </a:xfrm>
          <a:prstGeom prst="rect">
            <a:avLst/>
          </a:prstGeom>
          <a:noFill/>
          <a:ln w="0">
            <a:solidFill>
              <a:srgbClr val="FFFFFF"/>
            </a:solidFill>
          </a:ln>
        </p:spPr>
        <p:txBody>
          <a:bodyPr lIns="76200" tIns="38100" rIns="76200" bIns="38100" anchor="ctr"/>
          <a:lstStyle/>
          <a:p>
            <a:pPr algn="l">
              <a:defRPr sz="2550" b="1">
                <a:solidFill>
                  <a:srgbClr val="206040"/>
                </a:solidFill>
                <a:latin typeface="黑体" panose="02010609060101010101" charset="-122"/>
                <a:ea typeface="黑体" panose="02010609060101010101" charset="-122"/>
                <a:cs typeface="黑体" panose="02010609060101010101" charset="-122"/>
              </a:defRPr>
            </a:pPr>
            <a:r>
              <a:rPr sz="2550" b="1">
                <a:solidFill>
                  <a:srgbClr val="206040"/>
                </a:solidFill>
                <a:latin typeface="黑体" panose="02010609060101010101" charset="-122"/>
                <a:ea typeface="黑体" panose="02010609060101010101" charset="-122"/>
                <a:cs typeface="黑体" panose="02010609060101010101" charset="-122"/>
              </a:rPr>
              <a:t>GTFP测算</a:t>
            </a:r>
            <a:endParaRPr sz="2550" b="1">
              <a:solidFill>
                <a:srgbClr val="206040"/>
              </a:solidFill>
              <a:latin typeface="黑体" panose="02010609060101010101" charset="-122"/>
              <a:ea typeface="黑体" panose="02010609060101010101" charset="-122"/>
              <a:cs typeface="黑体" panose="02010609060101010101" charset="-122"/>
            </a:endParaRPr>
          </a:p>
        </p:txBody>
      </p:sp>
      <p:sp>
        <p:nvSpPr>
          <p:cNvPr id="14" name="矩形 13"/>
          <p:cNvSpPr>
            <a:spLocks noGrp="1"/>
          </p:cNvSpPr>
          <p:nvPr/>
        </p:nvSpPr>
        <p:spPr>
          <a:xfrm>
            <a:off x="4000500" y="295275"/>
            <a:ext cx="1123950" cy="323850"/>
          </a:xfrm>
          <a:prstGeom prst="rect">
            <a:avLst/>
          </a:prstGeom>
          <a:noFill/>
          <a:ln w="0">
            <a:solidFill>
              <a:srgbClr val="FFFFFF"/>
            </a:solidFill>
          </a:ln>
        </p:spPr>
        <p:txBody>
          <a:bodyPr lIns="76200" tIns="38100" rIns="76200" bIns="38100" anchor="ctr"/>
          <a:lstStyle/>
          <a:p>
            <a:pPr algn="ctr">
              <a:defRPr sz="1125" b="0">
                <a:solidFill>
                  <a:srgbClr val="161616"/>
                </a:solidFill>
                <a:latin typeface="Microsoft YaHei UI" panose="020B0503020204020204" charset="-122"/>
                <a:ea typeface="Microsoft YaHei UI" panose="020B0503020204020204" charset="-122"/>
                <a:cs typeface="Microsoft YaHei UI" panose="020B0503020204020204" charset="-122"/>
              </a:defRPr>
            </a:pPr>
            <a:r>
              <a:rPr sz="1125" b="0">
                <a:solidFill>
                  <a:srgbClr val="161616"/>
                </a:solidFill>
                <a:latin typeface="Microsoft YaHei UI" panose="020B0503020204020204" charset="-122"/>
                <a:ea typeface="Microsoft YaHei UI" panose="020B0503020204020204" charset="-122"/>
                <a:cs typeface="Microsoft YaHei UI" panose="020B0503020204020204" charset="-122"/>
              </a:rPr>
              <a:t>现实问题</a:t>
            </a:r>
            <a:endParaRPr sz="1125" b="0">
              <a:solidFill>
                <a:srgbClr val="161616"/>
              </a:solidFill>
              <a:latin typeface="Microsoft YaHei UI" panose="020B0503020204020204" charset="-122"/>
              <a:ea typeface="Microsoft YaHei UI" panose="020B0503020204020204" charset="-122"/>
              <a:cs typeface="Microsoft YaHei UI" panose="020B0503020204020204" charset="-122"/>
            </a:endParaRPr>
          </a:p>
        </p:txBody>
      </p:sp>
      <p:sp>
        <p:nvSpPr>
          <p:cNvPr id="15" name="矩形 14"/>
          <p:cNvSpPr>
            <a:spLocks noGrp="1"/>
          </p:cNvSpPr>
          <p:nvPr/>
        </p:nvSpPr>
        <p:spPr>
          <a:xfrm>
            <a:off x="5200650" y="295275"/>
            <a:ext cx="1123950" cy="323850"/>
          </a:xfrm>
          <a:prstGeom prst="rect">
            <a:avLst/>
          </a:prstGeom>
          <a:noFill/>
          <a:ln w="0">
            <a:solidFill>
              <a:srgbClr val="FFFFFF"/>
            </a:solidFill>
          </a:ln>
        </p:spPr>
        <p:txBody>
          <a:bodyPr lIns="76200" tIns="38100" rIns="76200" bIns="38100" anchor="ctr"/>
          <a:lstStyle/>
          <a:p>
            <a:pPr algn="ctr">
              <a:defRPr sz="1125" b="0">
                <a:solidFill>
                  <a:srgbClr val="161616"/>
                </a:solidFill>
                <a:latin typeface="Microsoft YaHei UI" panose="020B0503020204020204" charset="-122"/>
                <a:ea typeface="Microsoft YaHei UI" panose="020B0503020204020204" charset="-122"/>
                <a:cs typeface="Microsoft YaHei UI" panose="020B0503020204020204" charset="-122"/>
              </a:defRPr>
            </a:pPr>
            <a:r>
              <a:rPr sz="1125" b="0">
                <a:solidFill>
                  <a:srgbClr val="161616"/>
                </a:solidFill>
                <a:latin typeface="Microsoft YaHei UI" panose="020B0503020204020204" charset="-122"/>
                <a:ea typeface="Microsoft YaHei UI" panose="020B0503020204020204" charset="-122"/>
                <a:cs typeface="Microsoft YaHei UI" panose="020B0503020204020204" charset="-122"/>
              </a:rPr>
              <a:t>科学问题</a:t>
            </a:r>
            <a:endParaRPr sz="1125" b="0">
              <a:solidFill>
                <a:srgbClr val="161616"/>
              </a:solidFill>
              <a:latin typeface="Microsoft YaHei UI" panose="020B0503020204020204" charset="-122"/>
              <a:ea typeface="Microsoft YaHei UI" panose="020B0503020204020204" charset="-122"/>
              <a:cs typeface="Microsoft YaHei UI" panose="020B0503020204020204" charset="-122"/>
            </a:endParaRPr>
          </a:p>
        </p:txBody>
      </p:sp>
      <p:sp>
        <p:nvSpPr>
          <p:cNvPr id="16" name="矩形 15"/>
          <p:cNvSpPr>
            <a:spLocks noGrp="1"/>
          </p:cNvSpPr>
          <p:nvPr/>
        </p:nvSpPr>
        <p:spPr>
          <a:xfrm>
            <a:off x="6400800" y="295275"/>
            <a:ext cx="1123950" cy="323850"/>
          </a:xfrm>
          <a:prstGeom prst="rect">
            <a:avLst/>
          </a:prstGeom>
          <a:noFill/>
          <a:ln w="0">
            <a:solidFill>
              <a:srgbClr val="FFFFFF"/>
            </a:solidFill>
          </a:ln>
        </p:spPr>
        <p:txBody>
          <a:bodyPr lIns="76200" tIns="38100" rIns="76200" bIns="38100" anchor="ctr"/>
          <a:lstStyle/>
          <a:p>
            <a:pPr algn="ctr">
              <a:defRPr sz="1125" b="0">
                <a:solidFill>
                  <a:srgbClr val="161616"/>
                </a:solidFill>
                <a:latin typeface="Microsoft YaHei UI" panose="020B0503020204020204" charset="-122"/>
                <a:ea typeface="Microsoft YaHei UI" panose="020B0503020204020204" charset="-122"/>
                <a:cs typeface="Microsoft YaHei UI" panose="020B0503020204020204" charset="-122"/>
              </a:defRPr>
            </a:pPr>
            <a:r>
              <a:rPr sz="1125" b="0">
                <a:solidFill>
                  <a:srgbClr val="161616"/>
                </a:solidFill>
                <a:latin typeface="Microsoft YaHei UI" panose="020B0503020204020204" charset="-122"/>
                <a:ea typeface="Microsoft YaHei UI" panose="020B0503020204020204" charset="-122"/>
                <a:cs typeface="Microsoft YaHei UI" panose="020B0503020204020204" charset="-122"/>
              </a:rPr>
              <a:t>理论机制</a:t>
            </a:r>
            <a:endParaRPr sz="1125" b="0">
              <a:solidFill>
                <a:srgbClr val="161616"/>
              </a:solidFill>
              <a:latin typeface="Microsoft YaHei UI" panose="020B0503020204020204" charset="-122"/>
              <a:ea typeface="Microsoft YaHei UI" panose="020B0503020204020204" charset="-122"/>
              <a:cs typeface="Microsoft YaHei UI" panose="020B0503020204020204" charset="-122"/>
            </a:endParaRPr>
          </a:p>
        </p:txBody>
      </p:sp>
      <p:sp>
        <p:nvSpPr>
          <p:cNvPr id="17" name="矩形 16"/>
          <p:cNvSpPr>
            <a:spLocks noGrp="1"/>
          </p:cNvSpPr>
          <p:nvPr/>
        </p:nvSpPr>
        <p:spPr>
          <a:xfrm>
            <a:off x="7600950" y="228600"/>
            <a:ext cx="1123950" cy="323850"/>
          </a:xfrm>
          <a:prstGeom prst="rect">
            <a:avLst/>
          </a:prstGeom>
          <a:noFill/>
          <a:ln w="0">
            <a:solidFill>
              <a:srgbClr val="FFFFFF"/>
            </a:solidFill>
          </a:ln>
        </p:spPr>
        <p:txBody>
          <a:bodyPr lIns="76200" tIns="38100" rIns="76200" bIns="38100" anchor="ctr"/>
          <a:lstStyle/>
          <a:p>
            <a:pPr algn="ctr">
              <a:defRPr sz="1500" b="1">
                <a:solidFill>
                  <a:srgbClr val="206040"/>
                </a:solidFill>
                <a:latin typeface="Microsoft YaHei UI" panose="020B0503020204020204" charset="-122"/>
                <a:ea typeface="Microsoft YaHei UI" panose="020B0503020204020204" charset="-122"/>
                <a:cs typeface="Microsoft YaHei UI" panose="020B0503020204020204" charset="-122"/>
              </a:defRPr>
            </a:pPr>
            <a:r>
              <a:rPr sz="1500" b="1">
                <a:solidFill>
                  <a:srgbClr val="206040"/>
                </a:solidFill>
                <a:latin typeface="Microsoft YaHei UI" panose="020B0503020204020204" charset="-122"/>
                <a:ea typeface="Microsoft YaHei UI" panose="020B0503020204020204" charset="-122"/>
                <a:cs typeface="Microsoft YaHei UI" panose="020B0503020204020204" charset="-122"/>
              </a:rPr>
              <a:t>数据变量</a:t>
            </a:r>
            <a:endParaRPr sz="1500" b="1">
              <a:solidFill>
                <a:srgbClr val="206040"/>
              </a:solidFill>
              <a:latin typeface="Microsoft YaHei UI" panose="020B0503020204020204" charset="-122"/>
              <a:ea typeface="Microsoft YaHei UI" panose="020B0503020204020204" charset="-122"/>
              <a:cs typeface="Microsoft YaHei UI" panose="020B0503020204020204" charset="-122"/>
            </a:endParaRPr>
          </a:p>
        </p:txBody>
      </p:sp>
      <p:sp>
        <p:nvSpPr>
          <p:cNvPr id="18" name="圆角矩形 17"/>
          <p:cNvSpPr>
            <a:spLocks noGrp="1"/>
          </p:cNvSpPr>
          <p:nvPr/>
        </p:nvSpPr>
        <p:spPr>
          <a:xfrm>
            <a:off x="7772400" y="657225"/>
            <a:ext cx="781050" cy="38100"/>
          </a:xfrm>
          <a:prstGeom prst="roundRect">
            <a:avLst>
              <a:gd name="adj" fmla="val 25000"/>
            </a:avLst>
          </a:prstGeom>
          <a:solidFill>
            <a:srgbClr val="206040"/>
          </a:solidFill>
          <a:ln w="0">
            <a:solidFill>
              <a:srgbClr val="FFFFFF"/>
            </a:solidFill>
          </a:ln>
        </p:spPr>
      </p:sp>
      <p:sp>
        <p:nvSpPr>
          <p:cNvPr id="19" name="矩形 18"/>
          <p:cNvSpPr>
            <a:spLocks noGrp="1"/>
          </p:cNvSpPr>
          <p:nvPr/>
        </p:nvSpPr>
        <p:spPr>
          <a:xfrm>
            <a:off x="8801100" y="295275"/>
            <a:ext cx="1123950" cy="323850"/>
          </a:xfrm>
          <a:prstGeom prst="rect">
            <a:avLst/>
          </a:prstGeom>
          <a:noFill/>
          <a:ln w="0">
            <a:solidFill>
              <a:srgbClr val="FFFFFF"/>
            </a:solidFill>
          </a:ln>
        </p:spPr>
        <p:txBody>
          <a:bodyPr lIns="76200" tIns="38100" rIns="76200" bIns="38100" anchor="ctr"/>
          <a:lstStyle/>
          <a:p>
            <a:pPr algn="ctr">
              <a:defRPr sz="1125" b="0">
                <a:solidFill>
                  <a:srgbClr val="161616"/>
                </a:solidFill>
                <a:latin typeface="Microsoft YaHei UI" panose="020B0503020204020204" charset="-122"/>
                <a:ea typeface="Microsoft YaHei UI" panose="020B0503020204020204" charset="-122"/>
                <a:cs typeface="Microsoft YaHei UI" panose="020B0503020204020204" charset="-122"/>
              </a:defRPr>
            </a:pPr>
            <a:r>
              <a:rPr sz="1125" b="0">
                <a:solidFill>
                  <a:srgbClr val="161616"/>
                </a:solidFill>
                <a:latin typeface="Microsoft YaHei UI" panose="020B0503020204020204" charset="-122"/>
                <a:ea typeface="Microsoft YaHei UI" panose="020B0503020204020204" charset="-122"/>
                <a:cs typeface="Microsoft YaHei UI" panose="020B0503020204020204" charset="-122"/>
              </a:rPr>
              <a:t>模型识别</a:t>
            </a:r>
            <a:endParaRPr sz="1125" b="0">
              <a:solidFill>
                <a:srgbClr val="161616"/>
              </a:solidFill>
              <a:latin typeface="Microsoft YaHei UI" panose="020B0503020204020204" charset="-122"/>
              <a:ea typeface="Microsoft YaHei UI" panose="020B0503020204020204" charset="-122"/>
              <a:cs typeface="Microsoft YaHei UI" panose="020B0503020204020204" charset="-122"/>
            </a:endParaRPr>
          </a:p>
        </p:txBody>
      </p:sp>
      <p:sp>
        <p:nvSpPr>
          <p:cNvPr id="20" name="矩形 19"/>
          <p:cNvSpPr>
            <a:spLocks noGrp="1"/>
          </p:cNvSpPr>
          <p:nvPr/>
        </p:nvSpPr>
        <p:spPr>
          <a:xfrm>
            <a:off x="10001250" y="295275"/>
            <a:ext cx="1123950" cy="323850"/>
          </a:xfrm>
          <a:prstGeom prst="rect">
            <a:avLst/>
          </a:prstGeom>
          <a:noFill/>
          <a:ln w="0">
            <a:solidFill>
              <a:srgbClr val="FFFFFF"/>
            </a:solidFill>
          </a:ln>
        </p:spPr>
        <p:txBody>
          <a:bodyPr lIns="76200" tIns="38100" rIns="76200" bIns="38100" anchor="ctr"/>
          <a:lstStyle/>
          <a:p>
            <a:pPr algn="ctr">
              <a:defRPr sz="1125" b="0">
                <a:solidFill>
                  <a:srgbClr val="161616"/>
                </a:solidFill>
                <a:latin typeface="Microsoft YaHei UI" panose="020B0503020204020204" charset="-122"/>
                <a:ea typeface="Microsoft YaHei UI" panose="020B0503020204020204" charset="-122"/>
                <a:cs typeface="Microsoft YaHei UI" panose="020B0503020204020204" charset="-122"/>
              </a:defRPr>
            </a:pPr>
            <a:r>
              <a:rPr sz="1125" b="0">
                <a:solidFill>
                  <a:srgbClr val="161616"/>
                </a:solidFill>
                <a:latin typeface="Microsoft YaHei UI" panose="020B0503020204020204" charset="-122"/>
                <a:ea typeface="Microsoft YaHei UI" panose="020B0503020204020204" charset="-122"/>
                <a:cs typeface="Microsoft YaHei UI" panose="020B0503020204020204" charset="-122"/>
              </a:rPr>
              <a:t>预期贡献</a:t>
            </a:r>
            <a:endParaRPr sz="1125" b="0">
              <a:solidFill>
                <a:srgbClr val="161616"/>
              </a:solidFill>
              <a:latin typeface="Microsoft YaHei UI" panose="020B0503020204020204" charset="-122"/>
              <a:ea typeface="Microsoft YaHei UI" panose="020B0503020204020204" charset="-122"/>
              <a:cs typeface="Microsoft YaHei UI" panose="020B0503020204020204" charset="-122"/>
            </a:endParaRPr>
          </a:p>
        </p:txBody>
      </p:sp>
      <p:sp>
        <p:nvSpPr>
          <p:cNvPr id="21" name="圆角矩形 20"/>
          <p:cNvSpPr>
            <a:spLocks noGrp="1"/>
          </p:cNvSpPr>
          <p:nvPr/>
        </p:nvSpPr>
        <p:spPr>
          <a:xfrm>
            <a:off x="3905250" y="742950"/>
            <a:ext cx="8001000" cy="9525"/>
          </a:xfrm>
          <a:prstGeom prst="roundRect">
            <a:avLst>
              <a:gd name="adj" fmla="val 50000"/>
            </a:avLst>
          </a:prstGeom>
          <a:solidFill>
            <a:srgbClr val="D7DFDA"/>
          </a:solidFill>
          <a:ln w="0">
            <a:solidFill>
              <a:srgbClr val="FFFFFF"/>
            </a:solidFill>
          </a:ln>
        </p:spPr>
      </p:sp>
      <p:sp>
        <p:nvSpPr>
          <p:cNvPr id="22" name="矩形 21"/>
          <p:cNvSpPr>
            <a:spLocks noGrp="1"/>
          </p:cNvSpPr>
          <p:nvPr/>
        </p:nvSpPr>
        <p:spPr>
          <a:xfrm>
            <a:off x="11334750" y="6286500"/>
            <a:ext cx="495300" cy="266700"/>
          </a:xfrm>
          <a:prstGeom prst="rect">
            <a:avLst/>
          </a:prstGeom>
          <a:noFill/>
          <a:ln w="0">
            <a:solidFill>
              <a:srgbClr val="FFFFFF"/>
            </a:solidFill>
          </a:ln>
        </p:spPr>
        <p:txBody>
          <a:bodyPr lIns="76200" tIns="38100" rIns="76200" bIns="38100" anchor="ctr"/>
          <a:lstStyle/>
          <a:p>
            <a:pPr algn="r">
              <a:defRPr sz="975" b="0">
                <a:solidFill>
                  <a:srgbClr val="80A090"/>
                </a:solidFill>
                <a:latin typeface="Microsoft YaHei UI" panose="020B0503020204020204" charset="-122"/>
                <a:ea typeface="Microsoft YaHei UI" panose="020B0503020204020204" charset="-122"/>
                <a:cs typeface="Microsoft YaHei UI" panose="020B0503020204020204" charset="-122"/>
              </a:defRPr>
            </a:pPr>
            <a:r>
              <a:rPr sz="975" b="0">
                <a:solidFill>
                  <a:srgbClr val="80A090"/>
                </a:solidFill>
                <a:latin typeface="Microsoft YaHei UI" panose="020B0503020204020204" charset="-122"/>
                <a:ea typeface="Microsoft YaHei UI" panose="020B0503020204020204" charset="-122"/>
                <a:cs typeface="Microsoft YaHei UI" panose="020B0503020204020204" charset="-122"/>
              </a:rPr>
              <a:t>10</a:t>
            </a:r>
            <a:endParaRPr sz="975" b="0">
              <a:solidFill>
                <a:srgbClr val="80A090"/>
              </a:solidFill>
              <a:latin typeface="Microsoft YaHei UI" panose="020B0503020204020204" charset="-122"/>
              <a:ea typeface="Microsoft YaHei UI" panose="020B0503020204020204" charset="-122"/>
              <a:cs typeface="Microsoft YaHei UI" panose="020B0503020204020204" charset="-122"/>
            </a:endParaRPr>
          </a:p>
        </p:txBody>
      </p:sp>
      <p:sp>
        <p:nvSpPr>
          <p:cNvPr id="23" name="圆角矩形 22"/>
          <p:cNvSpPr>
            <a:spLocks noGrp="1"/>
          </p:cNvSpPr>
          <p:nvPr/>
        </p:nvSpPr>
        <p:spPr>
          <a:xfrm>
            <a:off x="666750" y="1162050"/>
            <a:ext cx="3238500" cy="2047875"/>
          </a:xfrm>
          <a:prstGeom prst="roundRect">
            <a:avLst>
              <a:gd name="adj" fmla="val 5581"/>
            </a:avLst>
          </a:prstGeom>
          <a:solidFill>
            <a:srgbClr val="FFFFFF"/>
          </a:solidFill>
          <a:ln w="11430">
            <a:solidFill>
              <a:srgbClr val="D7DFDA"/>
            </a:solidFill>
          </a:ln>
        </p:spPr>
      </p:sp>
      <p:sp>
        <p:nvSpPr>
          <p:cNvPr id="24" name="矩形 23"/>
          <p:cNvSpPr>
            <a:spLocks noGrp="1"/>
          </p:cNvSpPr>
          <p:nvPr/>
        </p:nvSpPr>
        <p:spPr>
          <a:xfrm>
            <a:off x="838200" y="1295400"/>
            <a:ext cx="2895600" cy="323850"/>
          </a:xfrm>
          <a:prstGeom prst="rect">
            <a:avLst/>
          </a:prstGeom>
          <a:noFill/>
          <a:ln w="0">
            <a:solidFill>
              <a:srgbClr val="FFFFFF"/>
            </a:solidFill>
          </a:ln>
        </p:spPr>
        <p:txBody>
          <a:bodyPr lIns="76200" tIns="38100" rIns="76200" bIns="38100" anchor="ctr"/>
          <a:lstStyle/>
          <a:p>
            <a:pPr algn="l">
              <a:defRPr sz="1650" b="1">
                <a:solidFill>
                  <a:srgbClr val="206040"/>
                </a:solidFill>
                <a:latin typeface="Microsoft YaHei UI" panose="020B0503020204020204" charset="-122"/>
                <a:ea typeface="Microsoft YaHei UI" panose="020B0503020204020204" charset="-122"/>
                <a:cs typeface="Microsoft YaHei UI" panose="020B0503020204020204" charset="-122"/>
              </a:defRPr>
            </a:pPr>
            <a:r>
              <a:rPr sz="1650" b="1">
                <a:solidFill>
                  <a:srgbClr val="206040"/>
                </a:solidFill>
                <a:latin typeface="Microsoft YaHei UI" panose="020B0503020204020204" charset="-122"/>
                <a:ea typeface="Microsoft YaHei UI" panose="020B0503020204020204" charset="-122"/>
                <a:cs typeface="Microsoft YaHei UI" panose="020B0503020204020204" charset="-122"/>
              </a:rPr>
              <a:t>方法选择</a:t>
            </a:r>
            <a:endParaRPr sz="1650" b="1">
              <a:solidFill>
                <a:srgbClr val="206040"/>
              </a:solidFill>
              <a:latin typeface="Microsoft YaHei UI" panose="020B0503020204020204" charset="-122"/>
              <a:ea typeface="Microsoft YaHei UI" panose="020B0503020204020204" charset="-122"/>
              <a:cs typeface="Microsoft YaHei UI" panose="020B0503020204020204" charset="-122"/>
            </a:endParaRPr>
          </a:p>
        </p:txBody>
      </p:sp>
      <p:sp>
        <p:nvSpPr>
          <p:cNvPr id="25" name="矩形 24"/>
          <p:cNvSpPr>
            <a:spLocks noGrp="1"/>
          </p:cNvSpPr>
          <p:nvPr/>
        </p:nvSpPr>
        <p:spPr>
          <a:xfrm>
            <a:off x="838200" y="1676400"/>
            <a:ext cx="2895600" cy="1400175"/>
          </a:xfrm>
          <a:prstGeom prst="rect">
            <a:avLst/>
          </a:prstGeom>
          <a:noFill/>
          <a:ln w="0">
            <a:solidFill>
              <a:srgbClr val="FFFFFF"/>
            </a:solidFill>
          </a:ln>
        </p:spPr>
        <p:txBody>
          <a:bodyPr lIns="76200" tIns="38100" rIns="76200" bIns="38100" anchor="t"/>
          <a:lstStyle/>
          <a:p>
            <a:pPr algn="l">
              <a:defRPr sz="1275" b="0">
                <a:solidFill>
                  <a:srgbClr val="111111"/>
                </a:solidFill>
                <a:latin typeface="Microsoft YaHei UI" panose="020B0503020204020204" charset="-122"/>
                <a:ea typeface="Microsoft YaHei UI" panose="020B0503020204020204" charset="-122"/>
                <a:cs typeface="Microsoft YaHei UI" panose="020B0503020204020204" charset="-122"/>
              </a:defRPr>
            </a:pPr>
            <a:r>
              <a:rPr sz="1275" b="0">
                <a:solidFill>
                  <a:srgbClr val="111111"/>
                </a:solidFill>
                <a:latin typeface="Microsoft YaHei UI" panose="020B0503020204020204" charset="-122"/>
                <a:ea typeface="Microsoft YaHei UI" panose="020B0503020204020204" charset="-122"/>
                <a:cs typeface="Microsoft YaHei UI" panose="020B0503020204020204" charset="-122"/>
              </a:rPr>
              <a:t>采用超效率SBM模型与GML指数：既处理投入冗余/产出不足，又能避免跨期比较的不可行解。</a:t>
            </a:r>
            <a:endParaRPr sz="1275"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26" name="圆角矩形 25"/>
          <p:cNvSpPr>
            <a:spLocks noGrp="1"/>
          </p:cNvSpPr>
          <p:nvPr/>
        </p:nvSpPr>
        <p:spPr>
          <a:xfrm>
            <a:off x="4476750" y="1162050"/>
            <a:ext cx="3238500" cy="2047875"/>
          </a:xfrm>
          <a:prstGeom prst="roundRect">
            <a:avLst>
              <a:gd name="adj" fmla="val 5581"/>
            </a:avLst>
          </a:prstGeom>
          <a:solidFill>
            <a:srgbClr val="FFFFFF"/>
          </a:solidFill>
          <a:ln w="11430">
            <a:solidFill>
              <a:srgbClr val="D7DFDA"/>
            </a:solidFill>
          </a:ln>
        </p:spPr>
      </p:sp>
      <p:sp>
        <p:nvSpPr>
          <p:cNvPr id="27" name="矩形 26"/>
          <p:cNvSpPr>
            <a:spLocks noGrp="1"/>
          </p:cNvSpPr>
          <p:nvPr/>
        </p:nvSpPr>
        <p:spPr>
          <a:xfrm>
            <a:off x="4648200" y="1295400"/>
            <a:ext cx="2895600" cy="323850"/>
          </a:xfrm>
          <a:prstGeom prst="rect">
            <a:avLst/>
          </a:prstGeom>
          <a:noFill/>
          <a:ln w="0">
            <a:solidFill>
              <a:srgbClr val="FFFFFF"/>
            </a:solidFill>
          </a:ln>
        </p:spPr>
        <p:txBody>
          <a:bodyPr lIns="76200" tIns="38100" rIns="76200" bIns="38100" anchor="ctr"/>
          <a:lstStyle/>
          <a:p>
            <a:pPr algn="l">
              <a:defRPr sz="1650" b="1">
                <a:solidFill>
                  <a:srgbClr val="206040"/>
                </a:solidFill>
                <a:latin typeface="Microsoft YaHei UI" panose="020B0503020204020204" charset="-122"/>
                <a:ea typeface="Microsoft YaHei UI" panose="020B0503020204020204" charset="-122"/>
                <a:cs typeface="Microsoft YaHei UI" panose="020B0503020204020204" charset="-122"/>
              </a:defRPr>
            </a:pPr>
            <a:r>
              <a:rPr sz="1650" b="1">
                <a:solidFill>
                  <a:srgbClr val="206040"/>
                </a:solidFill>
                <a:latin typeface="Microsoft YaHei UI" panose="020B0503020204020204" charset="-122"/>
                <a:ea typeface="Microsoft YaHei UI" panose="020B0503020204020204" charset="-122"/>
                <a:cs typeface="Microsoft YaHei UI" panose="020B0503020204020204" charset="-122"/>
              </a:rPr>
              <a:t>投入指标</a:t>
            </a:r>
            <a:endParaRPr sz="1650" b="1">
              <a:solidFill>
                <a:srgbClr val="206040"/>
              </a:solidFill>
              <a:latin typeface="Microsoft YaHei UI" panose="020B0503020204020204" charset="-122"/>
              <a:ea typeface="Microsoft YaHei UI" panose="020B0503020204020204" charset="-122"/>
              <a:cs typeface="Microsoft YaHei UI" panose="020B0503020204020204" charset="-122"/>
            </a:endParaRPr>
          </a:p>
        </p:txBody>
      </p:sp>
      <p:sp>
        <p:nvSpPr>
          <p:cNvPr id="28" name="矩形 27"/>
          <p:cNvSpPr>
            <a:spLocks noGrp="1"/>
          </p:cNvSpPr>
          <p:nvPr/>
        </p:nvSpPr>
        <p:spPr>
          <a:xfrm>
            <a:off x="4648200" y="1676400"/>
            <a:ext cx="2895600" cy="1400175"/>
          </a:xfrm>
          <a:prstGeom prst="rect">
            <a:avLst/>
          </a:prstGeom>
          <a:noFill/>
          <a:ln w="0">
            <a:solidFill>
              <a:srgbClr val="FFFFFF"/>
            </a:solidFill>
          </a:ln>
        </p:spPr>
        <p:txBody>
          <a:bodyPr lIns="76200" tIns="38100" rIns="76200" bIns="38100" anchor="t"/>
          <a:lstStyle/>
          <a:p>
            <a:pPr algn="l">
              <a:defRPr sz="1275" b="0">
                <a:solidFill>
                  <a:srgbClr val="111111"/>
                </a:solidFill>
                <a:latin typeface="Microsoft YaHei UI" panose="020B0503020204020204" charset="-122"/>
                <a:ea typeface="Microsoft YaHei UI" panose="020B0503020204020204" charset="-122"/>
                <a:cs typeface="Microsoft YaHei UI" panose="020B0503020204020204" charset="-122"/>
              </a:defRPr>
            </a:pPr>
            <a:r>
              <a:rPr sz="1275" b="0">
                <a:solidFill>
                  <a:srgbClr val="111111"/>
                </a:solidFill>
                <a:latin typeface="Microsoft YaHei UI" panose="020B0503020204020204" charset="-122"/>
                <a:ea typeface="Microsoft YaHei UI" panose="020B0503020204020204" charset="-122"/>
                <a:cs typeface="Microsoft YaHei UI" panose="020B0503020204020204" charset="-122"/>
              </a:rPr>
              <a:t>资本投入、劳动投入、能源投入；可由固定资产、员工/薪酬、能源消耗或能源费用估算。</a:t>
            </a:r>
            <a:endParaRPr sz="1275"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29" name="圆角矩形 28"/>
          <p:cNvSpPr>
            <a:spLocks noGrp="1"/>
          </p:cNvSpPr>
          <p:nvPr/>
        </p:nvSpPr>
        <p:spPr>
          <a:xfrm>
            <a:off x="8286750" y="1162050"/>
            <a:ext cx="3238500" cy="2047875"/>
          </a:xfrm>
          <a:prstGeom prst="roundRect">
            <a:avLst>
              <a:gd name="adj" fmla="val 5581"/>
            </a:avLst>
          </a:prstGeom>
          <a:solidFill>
            <a:srgbClr val="FFFFFF"/>
          </a:solidFill>
          <a:ln w="11430">
            <a:solidFill>
              <a:srgbClr val="D7DFDA"/>
            </a:solidFill>
          </a:ln>
        </p:spPr>
      </p:sp>
      <p:sp>
        <p:nvSpPr>
          <p:cNvPr id="30" name="矩形 29"/>
          <p:cNvSpPr>
            <a:spLocks noGrp="1"/>
          </p:cNvSpPr>
          <p:nvPr/>
        </p:nvSpPr>
        <p:spPr>
          <a:xfrm>
            <a:off x="8458200" y="1295400"/>
            <a:ext cx="2895600" cy="323850"/>
          </a:xfrm>
          <a:prstGeom prst="rect">
            <a:avLst/>
          </a:prstGeom>
          <a:noFill/>
          <a:ln w="0">
            <a:solidFill>
              <a:srgbClr val="FFFFFF"/>
            </a:solidFill>
          </a:ln>
        </p:spPr>
        <p:txBody>
          <a:bodyPr lIns="76200" tIns="38100" rIns="76200" bIns="38100" anchor="ctr"/>
          <a:lstStyle/>
          <a:p>
            <a:pPr algn="l">
              <a:defRPr sz="1650" b="1">
                <a:solidFill>
                  <a:srgbClr val="206040"/>
                </a:solidFill>
                <a:latin typeface="Microsoft YaHei UI" panose="020B0503020204020204" charset="-122"/>
                <a:ea typeface="Microsoft YaHei UI" panose="020B0503020204020204" charset="-122"/>
                <a:cs typeface="Microsoft YaHei UI" panose="020B0503020204020204" charset="-122"/>
              </a:defRPr>
            </a:pPr>
            <a:r>
              <a:rPr sz="1650" b="1">
                <a:solidFill>
                  <a:srgbClr val="206040"/>
                </a:solidFill>
                <a:latin typeface="Microsoft YaHei UI" panose="020B0503020204020204" charset="-122"/>
                <a:ea typeface="Microsoft YaHei UI" panose="020B0503020204020204" charset="-122"/>
                <a:cs typeface="Microsoft YaHei UI" panose="020B0503020204020204" charset="-122"/>
              </a:rPr>
              <a:t>产出指标</a:t>
            </a:r>
            <a:endParaRPr sz="1650" b="1">
              <a:solidFill>
                <a:srgbClr val="206040"/>
              </a:solidFill>
              <a:latin typeface="Microsoft YaHei UI" panose="020B0503020204020204" charset="-122"/>
              <a:ea typeface="Microsoft YaHei UI" panose="020B0503020204020204" charset="-122"/>
              <a:cs typeface="Microsoft YaHei UI" panose="020B0503020204020204" charset="-122"/>
            </a:endParaRPr>
          </a:p>
        </p:txBody>
      </p:sp>
      <p:sp>
        <p:nvSpPr>
          <p:cNvPr id="31" name="矩形 30"/>
          <p:cNvSpPr>
            <a:spLocks noGrp="1"/>
          </p:cNvSpPr>
          <p:nvPr/>
        </p:nvSpPr>
        <p:spPr>
          <a:xfrm>
            <a:off x="8458200" y="1676400"/>
            <a:ext cx="2895600" cy="1400175"/>
          </a:xfrm>
          <a:prstGeom prst="rect">
            <a:avLst/>
          </a:prstGeom>
          <a:noFill/>
          <a:ln w="0">
            <a:solidFill>
              <a:srgbClr val="FFFFFF"/>
            </a:solidFill>
          </a:ln>
        </p:spPr>
        <p:txBody>
          <a:bodyPr lIns="76200" tIns="38100" rIns="76200" bIns="38100" anchor="t"/>
          <a:lstStyle/>
          <a:p>
            <a:pPr algn="l">
              <a:defRPr sz="1275" b="0">
                <a:solidFill>
                  <a:srgbClr val="111111"/>
                </a:solidFill>
                <a:latin typeface="Microsoft YaHei UI" panose="020B0503020204020204" charset="-122"/>
                <a:ea typeface="Microsoft YaHei UI" panose="020B0503020204020204" charset="-122"/>
                <a:cs typeface="Microsoft YaHei UI" panose="020B0503020204020204" charset="-122"/>
              </a:defRPr>
            </a:pPr>
            <a:r>
              <a:rPr sz="1275" b="0">
                <a:solidFill>
                  <a:srgbClr val="111111"/>
                </a:solidFill>
                <a:latin typeface="Microsoft YaHei UI" panose="020B0503020204020204" charset="-122"/>
                <a:ea typeface="Microsoft YaHei UI" panose="020B0503020204020204" charset="-122"/>
                <a:cs typeface="Microsoft YaHei UI" panose="020B0503020204020204" charset="-122"/>
              </a:rPr>
              <a:t>期望产出为营业收入/增加值；非期望产出为污染物排放或碳排放。</a:t>
            </a:r>
            <a:endParaRPr sz="1275"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32" name="圆角矩形 31"/>
          <p:cNvSpPr>
            <a:spLocks noGrp="1"/>
          </p:cNvSpPr>
          <p:nvPr/>
        </p:nvSpPr>
        <p:spPr>
          <a:xfrm>
            <a:off x="1619250" y="3857625"/>
            <a:ext cx="8667750" cy="1381125"/>
          </a:xfrm>
          <a:prstGeom prst="roundRect">
            <a:avLst>
              <a:gd name="adj" fmla="val 8276"/>
            </a:avLst>
          </a:prstGeom>
          <a:solidFill>
            <a:srgbClr val="FFFFFF"/>
          </a:solidFill>
          <a:ln w="11430">
            <a:solidFill>
              <a:srgbClr val="206040"/>
            </a:solidFill>
          </a:ln>
        </p:spPr>
      </p:sp>
      <p:sp>
        <p:nvSpPr>
          <p:cNvPr id="33" name="矩形 32"/>
          <p:cNvSpPr>
            <a:spLocks noGrp="1"/>
          </p:cNvSpPr>
          <p:nvPr/>
        </p:nvSpPr>
        <p:spPr>
          <a:xfrm>
            <a:off x="1809750" y="4067175"/>
            <a:ext cx="8286750" cy="514350"/>
          </a:xfrm>
          <a:prstGeom prst="rect">
            <a:avLst/>
          </a:prstGeom>
          <a:noFill/>
          <a:ln w="0">
            <a:solidFill>
              <a:srgbClr val="FFFFFF"/>
            </a:solidFill>
          </a:ln>
        </p:spPr>
        <p:txBody>
          <a:bodyPr lIns="76200" tIns="38100" rIns="76200" bIns="38100" anchor="ctr"/>
          <a:lstStyle/>
          <a:p>
            <a:pPr algn="ctr">
              <a:defRPr sz="1800" b="1">
                <a:solidFill>
                  <a:srgbClr val="111111"/>
                </a:solidFill>
                <a:latin typeface="Cambria Math" panose="02040503050406030204"/>
                <a:ea typeface="Cambria Math" panose="02040503050406030204"/>
                <a:cs typeface="Cambria Math" panose="02040503050406030204"/>
              </a:defRPr>
            </a:pPr>
            <a:r>
              <a:rPr sz="1800" b="1">
                <a:solidFill>
                  <a:srgbClr val="111111"/>
                </a:solidFill>
                <a:latin typeface="Cambria Math" panose="02040503050406030204"/>
                <a:ea typeface="Cambria Math" panose="02040503050406030204"/>
                <a:cs typeface="Cambria Math" panose="02040503050406030204"/>
              </a:rPr>
              <a:t>GTFP = Super-SBM efficiency × GML productivity index</a:t>
            </a:r>
            <a:endParaRPr sz="1800" b="1">
              <a:solidFill>
                <a:srgbClr val="111111"/>
              </a:solidFill>
              <a:latin typeface="Cambria Math" panose="02040503050406030204"/>
              <a:ea typeface="Cambria Math" panose="02040503050406030204"/>
              <a:cs typeface="Cambria Math" panose="02040503050406030204"/>
            </a:endParaRPr>
          </a:p>
        </p:txBody>
      </p:sp>
      <p:sp>
        <p:nvSpPr>
          <p:cNvPr id="34" name="矩形 33"/>
          <p:cNvSpPr>
            <a:spLocks noGrp="1"/>
          </p:cNvSpPr>
          <p:nvPr/>
        </p:nvSpPr>
        <p:spPr>
          <a:xfrm>
            <a:off x="1885950" y="4695825"/>
            <a:ext cx="8134350" cy="390525"/>
          </a:xfrm>
          <a:prstGeom prst="rect">
            <a:avLst/>
          </a:prstGeom>
          <a:noFill/>
          <a:ln w="0">
            <a:solidFill>
              <a:srgbClr val="FFFFFF"/>
            </a:solidFill>
          </a:ln>
        </p:spPr>
        <p:txBody>
          <a:bodyPr lIns="76200" tIns="38100" rIns="76200" bIns="38100" anchor="t"/>
          <a:lstStyle/>
          <a:p>
            <a:pPr algn="l">
              <a:defRPr sz="1125" b="0">
                <a:solidFill>
                  <a:srgbClr val="5D6763"/>
                </a:solidFill>
                <a:latin typeface="Microsoft YaHei UI" panose="020B0503020204020204" charset="-122"/>
                <a:ea typeface="Microsoft YaHei UI" panose="020B0503020204020204" charset="-122"/>
                <a:cs typeface="Microsoft YaHei UI" panose="020B0503020204020204" charset="-122"/>
              </a:defRPr>
            </a:pPr>
            <a:r>
              <a:rPr sz="1125" b="0">
                <a:solidFill>
                  <a:srgbClr val="5D6763"/>
                </a:solidFill>
                <a:latin typeface="Microsoft YaHei UI" panose="020B0503020204020204" charset="-122"/>
                <a:ea typeface="Microsoft YaHei UI" panose="020B0503020204020204" charset="-122"/>
                <a:cs typeface="Microsoft YaHei UI" panose="020B0503020204020204" charset="-122"/>
              </a:rPr>
              <a:t>该页作为测算方案说明，不报告已完成测算结果。替代指标包括Luenberger指数、DEA-Malmquist指数等。</a:t>
            </a:r>
            <a:endParaRPr sz="1125" b="0">
              <a:solidFill>
                <a:srgbClr val="5D6763"/>
              </a:solidFill>
              <a:latin typeface="Microsoft YaHei UI" panose="020B0503020204020204" charset="-122"/>
              <a:ea typeface="Microsoft YaHei UI" panose="020B0503020204020204" charset="-122"/>
              <a:cs typeface="Microsoft YaHei UI" panose="020B0503020204020204" charset="-122"/>
            </a:endParaRPr>
          </a:p>
        </p:txBody>
      </p:sp>
      <p:sp>
        <p:nvSpPr>
          <p:cNvPr id="35" name="圆角矩形 34"/>
          <p:cNvSpPr>
            <a:spLocks noGrp="1"/>
          </p:cNvSpPr>
          <p:nvPr/>
        </p:nvSpPr>
        <p:spPr>
          <a:xfrm>
            <a:off x="666750" y="5981700"/>
            <a:ext cx="9906000" cy="400050"/>
          </a:xfrm>
          <a:prstGeom prst="roundRect">
            <a:avLst>
              <a:gd name="adj" fmla="val 23810"/>
            </a:avLst>
          </a:prstGeom>
          <a:solidFill>
            <a:srgbClr val="FFF8DA"/>
          </a:solidFill>
          <a:ln w="11430">
            <a:solidFill>
              <a:srgbClr val="E9D47A"/>
            </a:solidFill>
          </a:ln>
        </p:spPr>
      </p:sp>
      <p:sp>
        <p:nvSpPr>
          <p:cNvPr id="36" name="矩形 35"/>
          <p:cNvSpPr>
            <a:spLocks noGrp="1"/>
          </p:cNvSpPr>
          <p:nvPr/>
        </p:nvSpPr>
        <p:spPr>
          <a:xfrm>
            <a:off x="876300" y="6048375"/>
            <a:ext cx="9477375" cy="266700"/>
          </a:xfrm>
          <a:prstGeom prst="rect">
            <a:avLst/>
          </a:prstGeom>
          <a:noFill/>
          <a:ln w="0">
            <a:solidFill>
              <a:srgbClr val="FFFFFF"/>
            </a:solidFill>
          </a:ln>
        </p:spPr>
        <p:txBody>
          <a:bodyPr lIns="76200" tIns="38100" rIns="76200" bIns="38100" anchor="ctr"/>
          <a:lstStyle/>
          <a:p>
            <a:pPr algn="l">
              <a:defRPr sz="1200" b="1">
                <a:solidFill>
                  <a:srgbClr val="206040"/>
                </a:solidFill>
                <a:latin typeface="Microsoft YaHei UI" panose="020B0503020204020204" charset="-122"/>
                <a:ea typeface="Microsoft YaHei UI" panose="020B0503020204020204" charset="-122"/>
                <a:cs typeface="Microsoft YaHei UI" panose="020B0503020204020204" charset="-122"/>
              </a:defRPr>
            </a:pPr>
            <a:r>
              <a:rPr sz="1200" b="1">
                <a:solidFill>
                  <a:srgbClr val="206040"/>
                </a:solidFill>
                <a:latin typeface="Microsoft YaHei UI" panose="020B0503020204020204" charset="-122"/>
                <a:ea typeface="Microsoft YaHei UI" panose="020B0503020204020204" charset="-122"/>
                <a:cs typeface="Microsoft YaHei UI" panose="020B0503020204020204" charset="-122"/>
              </a:rPr>
              <a:t>GTFP不是传统TFP，而是在资源环境约束下观察企业效率。</a:t>
            </a:r>
            <a:endParaRPr sz="1200" b="1">
              <a:solidFill>
                <a:srgbClr val="206040"/>
              </a:solidFill>
              <a:latin typeface="Microsoft YaHei UI" panose="020B0503020204020204" charset="-122"/>
              <a:ea typeface="Microsoft YaHei UI" panose="020B0503020204020204" charset="-122"/>
              <a:cs typeface="Microsoft YaHei UI" panose="020B0503020204020204"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a:spLocks noGrp="1"/>
          </p:cNvSpPr>
          <p:nvPr/>
        </p:nvSpPr>
        <p:spPr>
          <a:xfrm>
            <a:off x="0" y="0"/>
            <a:ext cx="12192000" cy="6858000"/>
          </a:xfrm>
          <a:prstGeom prst="rect">
            <a:avLst/>
          </a:prstGeom>
          <a:solidFill>
            <a:srgbClr val="F4F6F5"/>
          </a:solidFill>
          <a:ln w="0">
            <a:solidFill>
              <a:srgbClr val="FFFFFF"/>
            </a:solidFill>
          </a:ln>
        </p:spPr>
      </p:sp>
      <p:sp>
        <p:nvSpPr>
          <p:cNvPr id="3" name="矩形 2"/>
          <p:cNvSpPr>
            <a:spLocks noGrp="1"/>
          </p:cNvSpPr>
          <p:nvPr/>
        </p:nvSpPr>
        <p:spPr>
          <a:xfrm>
            <a:off x="0" y="0"/>
            <a:ext cx="12192000" cy="6858000"/>
          </a:xfrm>
          <a:prstGeom prst="rect">
            <a:avLst/>
          </a:prstGeom>
          <a:solidFill>
            <a:srgbClr val="F9FAF9"/>
          </a:solidFill>
          <a:ln w="0">
            <a:solidFill>
              <a:srgbClr val="FFFFFF"/>
            </a:solidFill>
          </a:ln>
        </p:spPr>
      </p:sp>
      <p:sp>
        <p:nvSpPr>
          <p:cNvPr id="4" name="矩形 3"/>
          <p:cNvSpPr>
            <a:spLocks noGrp="1"/>
          </p:cNvSpPr>
          <p:nvPr/>
        </p:nvSpPr>
        <p:spPr>
          <a:xfrm>
            <a:off x="8858250" y="0"/>
            <a:ext cx="3333750" cy="6858000"/>
          </a:xfrm>
          <a:prstGeom prst="rect">
            <a:avLst/>
          </a:prstGeom>
          <a:solidFill>
            <a:srgbClr val="F7F9F8"/>
          </a:solidFill>
          <a:ln w="0">
            <a:solidFill>
              <a:srgbClr val="FFFFFF"/>
            </a:solidFill>
          </a:ln>
        </p:spPr>
      </p:sp>
      <p:sp>
        <p:nvSpPr>
          <p:cNvPr id="5" name="矩形 4"/>
          <p:cNvSpPr>
            <a:spLocks noGrp="1"/>
          </p:cNvSpPr>
          <p:nvPr/>
        </p:nvSpPr>
        <p:spPr>
          <a:xfrm>
            <a:off x="0" y="6115050"/>
            <a:ext cx="12192000" cy="742950"/>
          </a:xfrm>
          <a:prstGeom prst="rect">
            <a:avLst/>
          </a:prstGeom>
          <a:solidFill>
            <a:srgbClr val="F8FAF9"/>
          </a:solidFill>
          <a:ln w="0">
            <a:solidFill>
              <a:srgbClr val="FFFFFF"/>
            </a:solidFill>
          </a:ln>
        </p:spPr>
      </p:sp>
      <p:sp>
        <p:nvSpPr>
          <p:cNvPr id="6" name="等腰三角形 5"/>
          <p:cNvSpPr>
            <a:spLocks noGrp="1"/>
          </p:cNvSpPr>
          <p:nvPr/>
        </p:nvSpPr>
        <p:spPr>
          <a:xfrm>
            <a:off x="1524000" y="904875"/>
            <a:ext cx="2476500" cy="1714500"/>
          </a:xfrm>
          <a:prstGeom prst="triangle">
            <a:avLst/>
          </a:prstGeom>
          <a:solidFill>
            <a:srgbClr val="FFFFFF"/>
          </a:solidFill>
          <a:ln w="0">
            <a:solidFill>
              <a:srgbClr val="FFFFFF"/>
            </a:solidFill>
          </a:ln>
        </p:spPr>
      </p:sp>
      <p:sp>
        <p:nvSpPr>
          <p:cNvPr id="7" name="等腰三角形 6"/>
          <p:cNvSpPr>
            <a:spLocks noGrp="1"/>
          </p:cNvSpPr>
          <p:nvPr/>
        </p:nvSpPr>
        <p:spPr>
          <a:xfrm>
            <a:off x="3857625" y="1762125"/>
            <a:ext cx="2476500" cy="1714500"/>
          </a:xfrm>
          <a:prstGeom prst="triangle">
            <a:avLst/>
          </a:prstGeom>
          <a:solidFill>
            <a:srgbClr val="F8FBFA"/>
          </a:solidFill>
          <a:ln w="0">
            <a:solidFill>
              <a:srgbClr val="FFFFFF"/>
            </a:solidFill>
          </a:ln>
        </p:spPr>
      </p:sp>
      <p:sp>
        <p:nvSpPr>
          <p:cNvPr id="8" name="等腰三角形 7"/>
          <p:cNvSpPr>
            <a:spLocks noGrp="1"/>
          </p:cNvSpPr>
          <p:nvPr/>
        </p:nvSpPr>
        <p:spPr>
          <a:xfrm>
            <a:off x="6191250" y="904875"/>
            <a:ext cx="2476500" cy="1714500"/>
          </a:xfrm>
          <a:prstGeom prst="triangle">
            <a:avLst/>
          </a:prstGeom>
          <a:solidFill>
            <a:srgbClr val="FFFFFF"/>
          </a:solidFill>
          <a:ln w="0">
            <a:solidFill>
              <a:srgbClr val="FFFFFF"/>
            </a:solidFill>
          </a:ln>
        </p:spPr>
      </p:sp>
      <p:sp>
        <p:nvSpPr>
          <p:cNvPr id="9" name="等腰三角形 8"/>
          <p:cNvSpPr>
            <a:spLocks noGrp="1"/>
          </p:cNvSpPr>
          <p:nvPr/>
        </p:nvSpPr>
        <p:spPr>
          <a:xfrm>
            <a:off x="8524875" y="1762125"/>
            <a:ext cx="2476500" cy="1714500"/>
          </a:xfrm>
          <a:prstGeom prst="triangle">
            <a:avLst/>
          </a:prstGeom>
          <a:solidFill>
            <a:srgbClr val="F8FBFA"/>
          </a:solidFill>
          <a:ln w="0">
            <a:solidFill>
              <a:srgbClr val="FFFFFF"/>
            </a:solidFill>
          </a:ln>
        </p:spPr>
      </p:sp>
      <p:sp>
        <p:nvSpPr>
          <p:cNvPr id="10" name="等腰三角形 9"/>
          <p:cNvSpPr>
            <a:spLocks noGrp="1"/>
          </p:cNvSpPr>
          <p:nvPr/>
        </p:nvSpPr>
        <p:spPr>
          <a:xfrm>
            <a:off x="10858500" y="904875"/>
            <a:ext cx="2476500" cy="1714500"/>
          </a:xfrm>
          <a:prstGeom prst="triangle">
            <a:avLst/>
          </a:prstGeom>
          <a:solidFill>
            <a:srgbClr val="FFFFFF"/>
          </a:solidFill>
          <a:ln w="0">
            <a:solidFill>
              <a:srgbClr val="FFFFFF"/>
            </a:solidFill>
          </a:ln>
        </p:spPr>
      </p:sp>
      <p:sp>
        <p:nvSpPr>
          <p:cNvPr id="11" name="等腰三角形 10"/>
          <p:cNvSpPr>
            <a:spLocks noGrp="1"/>
          </p:cNvSpPr>
          <p:nvPr/>
        </p:nvSpPr>
        <p:spPr>
          <a:xfrm rot="5400000">
            <a:off x="152400" y="266700"/>
            <a:ext cx="533400" cy="476250"/>
          </a:xfrm>
          <a:prstGeom prst="triangle">
            <a:avLst/>
          </a:prstGeom>
          <a:solidFill>
            <a:srgbClr val="206040"/>
          </a:solidFill>
          <a:ln w="0">
            <a:solidFill>
              <a:srgbClr val="FFFFFF"/>
            </a:solidFill>
          </a:ln>
        </p:spPr>
      </p:sp>
      <p:sp>
        <p:nvSpPr>
          <p:cNvPr id="12" name="等腰三角形 11"/>
          <p:cNvSpPr>
            <a:spLocks noGrp="1"/>
          </p:cNvSpPr>
          <p:nvPr/>
        </p:nvSpPr>
        <p:spPr>
          <a:xfrm rot="5400000">
            <a:off x="381000" y="304800"/>
            <a:ext cx="457200" cy="419100"/>
          </a:xfrm>
          <a:prstGeom prst="triangle">
            <a:avLst/>
          </a:prstGeom>
          <a:solidFill>
            <a:srgbClr val="80A090"/>
          </a:solidFill>
          <a:ln w="0">
            <a:solidFill>
              <a:srgbClr val="FFFFFF"/>
            </a:solidFill>
          </a:ln>
        </p:spPr>
      </p:sp>
      <p:sp>
        <p:nvSpPr>
          <p:cNvPr id="13" name="矩形 12"/>
          <p:cNvSpPr>
            <a:spLocks noGrp="1"/>
          </p:cNvSpPr>
          <p:nvPr/>
        </p:nvSpPr>
        <p:spPr>
          <a:xfrm>
            <a:off x="857250" y="228600"/>
            <a:ext cx="2857500" cy="457200"/>
          </a:xfrm>
          <a:prstGeom prst="rect">
            <a:avLst/>
          </a:prstGeom>
          <a:noFill/>
          <a:ln w="0">
            <a:solidFill>
              <a:srgbClr val="FFFFFF"/>
            </a:solidFill>
          </a:ln>
        </p:spPr>
        <p:txBody>
          <a:bodyPr lIns="76200" tIns="38100" rIns="76200" bIns="38100" anchor="ctr"/>
          <a:lstStyle/>
          <a:p>
            <a:pPr algn="l">
              <a:defRPr sz="2550" b="1">
                <a:solidFill>
                  <a:srgbClr val="206040"/>
                </a:solidFill>
                <a:latin typeface="黑体" panose="02010609060101010101" charset="-122"/>
                <a:ea typeface="黑体" panose="02010609060101010101" charset="-122"/>
                <a:cs typeface="黑体" panose="02010609060101010101" charset="-122"/>
              </a:defRPr>
            </a:pPr>
            <a:r>
              <a:rPr sz="2550" b="1">
                <a:solidFill>
                  <a:srgbClr val="206040"/>
                </a:solidFill>
                <a:latin typeface="黑体" panose="02010609060101010101" charset="-122"/>
                <a:ea typeface="黑体" panose="02010609060101010101" charset="-122"/>
                <a:cs typeface="黑体" panose="02010609060101010101" charset="-122"/>
              </a:rPr>
              <a:t>合规成本操作化</a:t>
            </a:r>
            <a:endParaRPr sz="2550" b="1">
              <a:solidFill>
                <a:srgbClr val="206040"/>
              </a:solidFill>
              <a:latin typeface="黑体" panose="02010609060101010101" charset="-122"/>
              <a:ea typeface="黑体" panose="02010609060101010101" charset="-122"/>
              <a:cs typeface="黑体" panose="02010609060101010101" charset="-122"/>
            </a:endParaRPr>
          </a:p>
        </p:txBody>
      </p:sp>
      <p:sp>
        <p:nvSpPr>
          <p:cNvPr id="14" name="矩形 13"/>
          <p:cNvSpPr>
            <a:spLocks noGrp="1"/>
          </p:cNvSpPr>
          <p:nvPr/>
        </p:nvSpPr>
        <p:spPr>
          <a:xfrm>
            <a:off x="4000500" y="295275"/>
            <a:ext cx="1123950" cy="323850"/>
          </a:xfrm>
          <a:prstGeom prst="rect">
            <a:avLst/>
          </a:prstGeom>
          <a:noFill/>
          <a:ln w="0">
            <a:solidFill>
              <a:srgbClr val="FFFFFF"/>
            </a:solidFill>
          </a:ln>
        </p:spPr>
        <p:txBody>
          <a:bodyPr lIns="76200" tIns="38100" rIns="76200" bIns="38100" anchor="ctr"/>
          <a:lstStyle/>
          <a:p>
            <a:pPr algn="ctr">
              <a:defRPr sz="1125" b="0">
                <a:solidFill>
                  <a:srgbClr val="161616"/>
                </a:solidFill>
                <a:latin typeface="Microsoft YaHei UI" panose="020B0503020204020204" charset="-122"/>
                <a:ea typeface="Microsoft YaHei UI" panose="020B0503020204020204" charset="-122"/>
                <a:cs typeface="Microsoft YaHei UI" panose="020B0503020204020204" charset="-122"/>
              </a:defRPr>
            </a:pPr>
            <a:r>
              <a:rPr sz="1125" b="0">
                <a:solidFill>
                  <a:srgbClr val="161616"/>
                </a:solidFill>
                <a:latin typeface="Microsoft YaHei UI" panose="020B0503020204020204" charset="-122"/>
                <a:ea typeface="Microsoft YaHei UI" panose="020B0503020204020204" charset="-122"/>
                <a:cs typeface="Microsoft YaHei UI" panose="020B0503020204020204" charset="-122"/>
              </a:rPr>
              <a:t>现实问题</a:t>
            </a:r>
            <a:endParaRPr sz="1125" b="0">
              <a:solidFill>
                <a:srgbClr val="161616"/>
              </a:solidFill>
              <a:latin typeface="Microsoft YaHei UI" panose="020B0503020204020204" charset="-122"/>
              <a:ea typeface="Microsoft YaHei UI" panose="020B0503020204020204" charset="-122"/>
              <a:cs typeface="Microsoft YaHei UI" panose="020B0503020204020204" charset="-122"/>
            </a:endParaRPr>
          </a:p>
        </p:txBody>
      </p:sp>
      <p:sp>
        <p:nvSpPr>
          <p:cNvPr id="15" name="矩形 14"/>
          <p:cNvSpPr>
            <a:spLocks noGrp="1"/>
          </p:cNvSpPr>
          <p:nvPr/>
        </p:nvSpPr>
        <p:spPr>
          <a:xfrm>
            <a:off x="5200650" y="295275"/>
            <a:ext cx="1123950" cy="323850"/>
          </a:xfrm>
          <a:prstGeom prst="rect">
            <a:avLst/>
          </a:prstGeom>
          <a:noFill/>
          <a:ln w="0">
            <a:solidFill>
              <a:srgbClr val="FFFFFF"/>
            </a:solidFill>
          </a:ln>
        </p:spPr>
        <p:txBody>
          <a:bodyPr lIns="76200" tIns="38100" rIns="76200" bIns="38100" anchor="ctr"/>
          <a:lstStyle/>
          <a:p>
            <a:pPr algn="ctr">
              <a:defRPr sz="1125" b="0">
                <a:solidFill>
                  <a:srgbClr val="161616"/>
                </a:solidFill>
                <a:latin typeface="Microsoft YaHei UI" panose="020B0503020204020204" charset="-122"/>
                <a:ea typeface="Microsoft YaHei UI" panose="020B0503020204020204" charset="-122"/>
                <a:cs typeface="Microsoft YaHei UI" panose="020B0503020204020204" charset="-122"/>
              </a:defRPr>
            </a:pPr>
            <a:r>
              <a:rPr sz="1125" b="0">
                <a:solidFill>
                  <a:srgbClr val="161616"/>
                </a:solidFill>
                <a:latin typeface="Microsoft YaHei UI" panose="020B0503020204020204" charset="-122"/>
                <a:ea typeface="Microsoft YaHei UI" panose="020B0503020204020204" charset="-122"/>
                <a:cs typeface="Microsoft YaHei UI" panose="020B0503020204020204" charset="-122"/>
              </a:rPr>
              <a:t>科学问题</a:t>
            </a:r>
            <a:endParaRPr sz="1125" b="0">
              <a:solidFill>
                <a:srgbClr val="161616"/>
              </a:solidFill>
              <a:latin typeface="Microsoft YaHei UI" panose="020B0503020204020204" charset="-122"/>
              <a:ea typeface="Microsoft YaHei UI" panose="020B0503020204020204" charset="-122"/>
              <a:cs typeface="Microsoft YaHei UI" panose="020B0503020204020204" charset="-122"/>
            </a:endParaRPr>
          </a:p>
        </p:txBody>
      </p:sp>
      <p:sp>
        <p:nvSpPr>
          <p:cNvPr id="16" name="矩形 15"/>
          <p:cNvSpPr>
            <a:spLocks noGrp="1"/>
          </p:cNvSpPr>
          <p:nvPr/>
        </p:nvSpPr>
        <p:spPr>
          <a:xfrm>
            <a:off x="6400800" y="295275"/>
            <a:ext cx="1123950" cy="323850"/>
          </a:xfrm>
          <a:prstGeom prst="rect">
            <a:avLst/>
          </a:prstGeom>
          <a:noFill/>
          <a:ln w="0">
            <a:solidFill>
              <a:srgbClr val="FFFFFF"/>
            </a:solidFill>
          </a:ln>
        </p:spPr>
        <p:txBody>
          <a:bodyPr lIns="76200" tIns="38100" rIns="76200" bIns="38100" anchor="ctr"/>
          <a:lstStyle/>
          <a:p>
            <a:pPr algn="ctr">
              <a:defRPr sz="1125" b="0">
                <a:solidFill>
                  <a:srgbClr val="161616"/>
                </a:solidFill>
                <a:latin typeface="Microsoft YaHei UI" panose="020B0503020204020204" charset="-122"/>
                <a:ea typeface="Microsoft YaHei UI" panose="020B0503020204020204" charset="-122"/>
                <a:cs typeface="Microsoft YaHei UI" panose="020B0503020204020204" charset="-122"/>
              </a:defRPr>
            </a:pPr>
            <a:r>
              <a:rPr sz="1125" b="0">
                <a:solidFill>
                  <a:srgbClr val="161616"/>
                </a:solidFill>
                <a:latin typeface="Microsoft YaHei UI" panose="020B0503020204020204" charset="-122"/>
                <a:ea typeface="Microsoft YaHei UI" panose="020B0503020204020204" charset="-122"/>
                <a:cs typeface="Microsoft YaHei UI" panose="020B0503020204020204" charset="-122"/>
              </a:rPr>
              <a:t>理论机制</a:t>
            </a:r>
            <a:endParaRPr sz="1125" b="0">
              <a:solidFill>
                <a:srgbClr val="161616"/>
              </a:solidFill>
              <a:latin typeface="Microsoft YaHei UI" panose="020B0503020204020204" charset="-122"/>
              <a:ea typeface="Microsoft YaHei UI" panose="020B0503020204020204" charset="-122"/>
              <a:cs typeface="Microsoft YaHei UI" panose="020B0503020204020204" charset="-122"/>
            </a:endParaRPr>
          </a:p>
        </p:txBody>
      </p:sp>
      <p:sp>
        <p:nvSpPr>
          <p:cNvPr id="17" name="矩形 16"/>
          <p:cNvSpPr>
            <a:spLocks noGrp="1"/>
          </p:cNvSpPr>
          <p:nvPr/>
        </p:nvSpPr>
        <p:spPr>
          <a:xfrm>
            <a:off x="7600950" y="228600"/>
            <a:ext cx="1123950" cy="323850"/>
          </a:xfrm>
          <a:prstGeom prst="rect">
            <a:avLst/>
          </a:prstGeom>
          <a:noFill/>
          <a:ln w="0">
            <a:solidFill>
              <a:srgbClr val="FFFFFF"/>
            </a:solidFill>
          </a:ln>
        </p:spPr>
        <p:txBody>
          <a:bodyPr lIns="76200" tIns="38100" rIns="76200" bIns="38100" anchor="ctr"/>
          <a:lstStyle/>
          <a:p>
            <a:pPr algn="ctr">
              <a:defRPr sz="1500" b="1">
                <a:solidFill>
                  <a:srgbClr val="206040"/>
                </a:solidFill>
                <a:latin typeface="Microsoft YaHei UI" panose="020B0503020204020204" charset="-122"/>
                <a:ea typeface="Microsoft YaHei UI" panose="020B0503020204020204" charset="-122"/>
                <a:cs typeface="Microsoft YaHei UI" panose="020B0503020204020204" charset="-122"/>
              </a:defRPr>
            </a:pPr>
            <a:r>
              <a:rPr sz="1500" b="1">
                <a:solidFill>
                  <a:srgbClr val="206040"/>
                </a:solidFill>
                <a:latin typeface="Microsoft YaHei UI" panose="020B0503020204020204" charset="-122"/>
                <a:ea typeface="Microsoft YaHei UI" panose="020B0503020204020204" charset="-122"/>
                <a:cs typeface="Microsoft YaHei UI" panose="020B0503020204020204" charset="-122"/>
              </a:rPr>
              <a:t>数据变量</a:t>
            </a:r>
            <a:endParaRPr sz="1500" b="1">
              <a:solidFill>
                <a:srgbClr val="206040"/>
              </a:solidFill>
              <a:latin typeface="Microsoft YaHei UI" panose="020B0503020204020204" charset="-122"/>
              <a:ea typeface="Microsoft YaHei UI" panose="020B0503020204020204" charset="-122"/>
              <a:cs typeface="Microsoft YaHei UI" panose="020B0503020204020204" charset="-122"/>
            </a:endParaRPr>
          </a:p>
        </p:txBody>
      </p:sp>
      <p:sp>
        <p:nvSpPr>
          <p:cNvPr id="18" name="圆角矩形 17"/>
          <p:cNvSpPr>
            <a:spLocks noGrp="1"/>
          </p:cNvSpPr>
          <p:nvPr/>
        </p:nvSpPr>
        <p:spPr>
          <a:xfrm>
            <a:off x="7772400" y="657225"/>
            <a:ext cx="781050" cy="38100"/>
          </a:xfrm>
          <a:prstGeom prst="roundRect">
            <a:avLst>
              <a:gd name="adj" fmla="val 25000"/>
            </a:avLst>
          </a:prstGeom>
          <a:solidFill>
            <a:srgbClr val="206040"/>
          </a:solidFill>
          <a:ln w="0">
            <a:solidFill>
              <a:srgbClr val="FFFFFF"/>
            </a:solidFill>
          </a:ln>
        </p:spPr>
      </p:sp>
      <p:sp>
        <p:nvSpPr>
          <p:cNvPr id="19" name="矩形 18"/>
          <p:cNvSpPr>
            <a:spLocks noGrp="1"/>
          </p:cNvSpPr>
          <p:nvPr/>
        </p:nvSpPr>
        <p:spPr>
          <a:xfrm>
            <a:off x="8801100" y="295275"/>
            <a:ext cx="1123950" cy="323850"/>
          </a:xfrm>
          <a:prstGeom prst="rect">
            <a:avLst/>
          </a:prstGeom>
          <a:noFill/>
          <a:ln w="0">
            <a:solidFill>
              <a:srgbClr val="FFFFFF"/>
            </a:solidFill>
          </a:ln>
        </p:spPr>
        <p:txBody>
          <a:bodyPr lIns="76200" tIns="38100" rIns="76200" bIns="38100" anchor="ctr"/>
          <a:lstStyle/>
          <a:p>
            <a:pPr algn="ctr">
              <a:defRPr sz="1125" b="0">
                <a:solidFill>
                  <a:srgbClr val="161616"/>
                </a:solidFill>
                <a:latin typeface="Microsoft YaHei UI" panose="020B0503020204020204" charset="-122"/>
                <a:ea typeface="Microsoft YaHei UI" panose="020B0503020204020204" charset="-122"/>
                <a:cs typeface="Microsoft YaHei UI" panose="020B0503020204020204" charset="-122"/>
              </a:defRPr>
            </a:pPr>
            <a:r>
              <a:rPr sz="1125" b="0">
                <a:solidFill>
                  <a:srgbClr val="161616"/>
                </a:solidFill>
                <a:latin typeface="Microsoft YaHei UI" panose="020B0503020204020204" charset="-122"/>
                <a:ea typeface="Microsoft YaHei UI" panose="020B0503020204020204" charset="-122"/>
                <a:cs typeface="Microsoft YaHei UI" panose="020B0503020204020204" charset="-122"/>
              </a:rPr>
              <a:t>模型识别</a:t>
            </a:r>
            <a:endParaRPr sz="1125" b="0">
              <a:solidFill>
                <a:srgbClr val="161616"/>
              </a:solidFill>
              <a:latin typeface="Microsoft YaHei UI" panose="020B0503020204020204" charset="-122"/>
              <a:ea typeface="Microsoft YaHei UI" panose="020B0503020204020204" charset="-122"/>
              <a:cs typeface="Microsoft YaHei UI" panose="020B0503020204020204" charset="-122"/>
            </a:endParaRPr>
          </a:p>
        </p:txBody>
      </p:sp>
      <p:sp>
        <p:nvSpPr>
          <p:cNvPr id="20" name="矩形 19"/>
          <p:cNvSpPr>
            <a:spLocks noGrp="1"/>
          </p:cNvSpPr>
          <p:nvPr/>
        </p:nvSpPr>
        <p:spPr>
          <a:xfrm>
            <a:off x="10001250" y="295275"/>
            <a:ext cx="1123950" cy="323850"/>
          </a:xfrm>
          <a:prstGeom prst="rect">
            <a:avLst/>
          </a:prstGeom>
          <a:noFill/>
          <a:ln w="0">
            <a:solidFill>
              <a:srgbClr val="FFFFFF"/>
            </a:solidFill>
          </a:ln>
        </p:spPr>
        <p:txBody>
          <a:bodyPr lIns="76200" tIns="38100" rIns="76200" bIns="38100" anchor="ctr"/>
          <a:lstStyle/>
          <a:p>
            <a:pPr algn="ctr">
              <a:defRPr sz="1125" b="0">
                <a:solidFill>
                  <a:srgbClr val="161616"/>
                </a:solidFill>
                <a:latin typeface="Microsoft YaHei UI" panose="020B0503020204020204" charset="-122"/>
                <a:ea typeface="Microsoft YaHei UI" panose="020B0503020204020204" charset="-122"/>
                <a:cs typeface="Microsoft YaHei UI" panose="020B0503020204020204" charset="-122"/>
              </a:defRPr>
            </a:pPr>
            <a:r>
              <a:rPr sz="1125" b="0">
                <a:solidFill>
                  <a:srgbClr val="161616"/>
                </a:solidFill>
                <a:latin typeface="Microsoft YaHei UI" panose="020B0503020204020204" charset="-122"/>
                <a:ea typeface="Microsoft YaHei UI" panose="020B0503020204020204" charset="-122"/>
                <a:cs typeface="Microsoft YaHei UI" panose="020B0503020204020204" charset="-122"/>
              </a:rPr>
              <a:t>预期贡献</a:t>
            </a:r>
            <a:endParaRPr sz="1125" b="0">
              <a:solidFill>
                <a:srgbClr val="161616"/>
              </a:solidFill>
              <a:latin typeface="Microsoft YaHei UI" panose="020B0503020204020204" charset="-122"/>
              <a:ea typeface="Microsoft YaHei UI" panose="020B0503020204020204" charset="-122"/>
              <a:cs typeface="Microsoft YaHei UI" panose="020B0503020204020204" charset="-122"/>
            </a:endParaRPr>
          </a:p>
        </p:txBody>
      </p:sp>
      <p:sp>
        <p:nvSpPr>
          <p:cNvPr id="21" name="圆角矩形 20"/>
          <p:cNvSpPr>
            <a:spLocks noGrp="1"/>
          </p:cNvSpPr>
          <p:nvPr/>
        </p:nvSpPr>
        <p:spPr>
          <a:xfrm>
            <a:off x="3905250" y="742950"/>
            <a:ext cx="8001000" cy="9525"/>
          </a:xfrm>
          <a:prstGeom prst="roundRect">
            <a:avLst>
              <a:gd name="adj" fmla="val 50000"/>
            </a:avLst>
          </a:prstGeom>
          <a:solidFill>
            <a:srgbClr val="D7DFDA"/>
          </a:solidFill>
          <a:ln w="0">
            <a:solidFill>
              <a:srgbClr val="FFFFFF"/>
            </a:solidFill>
          </a:ln>
        </p:spPr>
      </p:sp>
      <p:sp>
        <p:nvSpPr>
          <p:cNvPr id="22" name="矩形 21"/>
          <p:cNvSpPr>
            <a:spLocks noGrp="1"/>
          </p:cNvSpPr>
          <p:nvPr/>
        </p:nvSpPr>
        <p:spPr>
          <a:xfrm>
            <a:off x="11334750" y="6286500"/>
            <a:ext cx="495300" cy="266700"/>
          </a:xfrm>
          <a:prstGeom prst="rect">
            <a:avLst/>
          </a:prstGeom>
          <a:noFill/>
          <a:ln w="0">
            <a:solidFill>
              <a:srgbClr val="FFFFFF"/>
            </a:solidFill>
          </a:ln>
        </p:spPr>
        <p:txBody>
          <a:bodyPr lIns="76200" tIns="38100" rIns="76200" bIns="38100" anchor="ctr"/>
          <a:lstStyle/>
          <a:p>
            <a:pPr algn="r">
              <a:defRPr sz="975" b="0">
                <a:solidFill>
                  <a:srgbClr val="80A090"/>
                </a:solidFill>
                <a:latin typeface="Microsoft YaHei UI" panose="020B0503020204020204" charset="-122"/>
                <a:ea typeface="Microsoft YaHei UI" panose="020B0503020204020204" charset="-122"/>
                <a:cs typeface="Microsoft YaHei UI" panose="020B0503020204020204" charset="-122"/>
              </a:defRPr>
            </a:pPr>
            <a:r>
              <a:rPr sz="975" b="0">
                <a:solidFill>
                  <a:srgbClr val="80A090"/>
                </a:solidFill>
                <a:latin typeface="Microsoft YaHei UI" panose="020B0503020204020204" charset="-122"/>
                <a:ea typeface="Microsoft YaHei UI" panose="020B0503020204020204" charset="-122"/>
                <a:cs typeface="Microsoft YaHei UI" panose="020B0503020204020204" charset="-122"/>
              </a:rPr>
              <a:t>11</a:t>
            </a:r>
            <a:endParaRPr sz="975" b="0">
              <a:solidFill>
                <a:srgbClr val="80A090"/>
              </a:solidFill>
              <a:latin typeface="Microsoft YaHei UI" panose="020B0503020204020204" charset="-122"/>
              <a:ea typeface="Microsoft YaHei UI" panose="020B0503020204020204" charset="-122"/>
              <a:cs typeface="Microsoft YaHei UI" panose="020B0503020204020204" charset="-122"/>
            </a:endParaRPr>
          </a:p>
        </p:txBody>
      </p:sp>
      <p:sp>
        <p:nvSpPr>
          <p:cNvPr id="23" name="圆角矩形 22"/>
          <p:cNvSpPr>
            <a:spLocks noGrp="1"/>
          </p:cNvSpPr>
          <p:nvPr/>
        </p:nvSpPr>
        <p:spPr>
          <a:xfrm>
            <a:off x="857250" y="1476375"/>
            <a:ext cx="2857500" cy="1047750"/>
          </a:xfrm>
          <a:prstGeom prst="roundRect">
            <a:avLst>
              <a:gd name="adj" fmla="val 10909"/>
            </a:avLst>
          </a:prstGeom>
          <a:solidFill>
            <a:srgbClr val="FFFFFF"/>
          </a:solidFill>
          <a:ln w="11430">
            <a:solidFill>
              <a:srgbClr val="D7DFDA"/>
            </a:solidFill>
          </a:ln>
        </p:spPr>
      </p:sp>
      <p:sp>
        <p:nvSpPr>
          <p:cNvPr id="24" name="矩形 23"/>
          <p:cNvSpPr>
            <a:spLocks noGrp="1"/>
          </p:cNvSpPr>
          <p:nvPr/>
        </p:nvSpPr>
        <p:spPr>
          <a:xfrm>
            <a:off x="1028700" y="1609725"/>
            <a:ext cx="2514600" cy="323850"/>
          </a:xfrm>
          <a:prstGeom prst="rect">
            <a:avLst/>
          </a:prstGeom>
          <a:noFill/>
          <a:ln w="0">
            <a:solidFill>
              <a:srgbClr val="FFFFFF"/>
            </a:solidFill>
          </a:ln>
        </p:spPr>
        <p:txBody>
          <a:bodyPr lIns="76200" tIns="38100" rIns="76200" bIns="38100" anchor="ctr"/>
          <a:lstStyle/>
          <a:p>
            <a:pPr algn="l">
              <a:defRPr sz="1500" b="1">
                <a:solidFill>
                  <a:srgbClr val="206040"/>
                </a:solidFill>
                <a:latin typeface="Microsoft YaHei UI" panose="020B0503020204020204" charset="-122"/>
                <a:ea typeface="Microsoft YaHei UI" panose="020B0503020204020204" charset="-122"/>
                <a:cs typeface="Microsoft YaHei UI" panose="020B0503020204020204" charset="-122"/>
              </a:defRPr>
            </a:pPr>
            <a:r>
              <a:rPr sz="1500" b="1">
                <a:solidFill>
                  <a:srgbClr val="206040"/>
                </a:solidFill>
                <a:latin typeface="Microsoft YaHei UI" panose="020B0503020204020204" charset="-122"/>
                <a:ea typeface="Microsoft YaHei UI" panose="020B0503020204020204" charset="-122"/>
                <a:cs typeface="Microsoft YaHei UI" panose="020B0503020204020204" charset="-122"/>
              </a:rPr>
              <a:t>环保资本性支出</a:t>
            </a:r>
            <a:endParaRPr sz="1500" b="1">
              <a:solidFill>
                <a:srgbClr val="206040"/>
              </a:solidFill>
              <a:latin typeface="Microsoft YaHei UI" panose="020B0503020204020204" charset="-122"/>
              <a:ea typeface="Microsoft YaHei UI" panose="020B0503020204020204" charset="-122"/>
              <a:cs typeface="Microsoft YaHei UI" panose="020B0503020204020204" charset="-122"/>
            </a:endParaRPr>
          </a:p>
        </p:txBody>
      </p:sp>
      <p:sp>
        <p:nvSpPr>
          <p:cNvPr id="25" name="矩形 24"/>
          <p:cNvSpPr>
            <a:spLocks noGrp="1"/>
          </p:cNvSpPr>
          <p:nvPr/>
        </p:nvSpPr>
        <p:spPr>
          <a:xfrm>
            <a:off x="1028700" y="1990725"/>
            <a:ext cx="2514600" cy="400050"/>
          </a:xfrm>
          <a:prstGeom prst="rect">
            <a:avLst/>
          </a:prstGeom>
          <a:noFill/>
          <a:ln w="0">
            <a:solidFill>
              <a:srgbClr val="FFFFFF"/>
            </a:solidFill>
          </a:ln>
        </p:spPr>
        <p:txBody>
          <a:bodyPr lIns="76200" tIns="38100" rIns="76200" bIns="38100" anchor="t"/>
          <a:lstStyle/>
          <a:p>
            <a:pPr algn="l">
              <a:defRPr sz="1050" b="0">
                <a:solidFill>
                  <a:srgbClr val="111111"/>
                </a:solidFill>
                <a:latin typeface="Microsoft YaHei UI" panose="020B0503020204020204" charset="-122"/>
                <a:ea typeface="Microsoft YaHei UI" panose="020B0503020204020204" charset="-122"/>
                <a:cs typeface="Microsoft YaHei UI" panose="020B0503020204020204" charset="-122"/>
              </a:defRPr>
            </a:pPr>
            <a:r>
              <a:rPr sz="1050" b="0">
                <a:solidFill>
                  <a:srgbClr val="111111"/>
                </a:solidFill>
                <a:latin typeface="Microsoft YaHei UI" panose="020B0503020204020204" charset="-122"/>
                <a:ea typeface="Microsoft YaHei UI" panose="020B0503020204020204" charset="-122"/>
                <a:cs typeface="Microsoft YaHei UI" panose="020B0503020204020204" charset="-122"/>
              </a:rPr>
              <a:t>优先从年报、环保投入与财务附注中识别。</a:t>
            </a:r>
            <a:endParaRPr sz="1050"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26" name="圆角矩形 25"/>
          <p:cNvSpPr>
            <a:spLocks noGrp="1"/>
          </p:cNvSpPr>
          <p:nvPr/>
        </p:nvSpPr>
        <p:spPr>
          <a:xfrm>
            <a:off x="4381500" y="1476375"/>
            <a:ext cx="2857500" cy="1047750"/>
          </a:xfrm>
          <a:prstGeom prst="roundRect">
            <a:avLst>
              <a:gd name="adj" fmla="val 10909"/>
            </a:avLst>
          </a:prstGeom>
          <a:solidFill>
            <a:srgbClr val="FFFFFF"/>
          </a:solidFill>
          <a:ln w="11430">
            <a:solidFill>
              <a:srgbClr val="D7DFDA"/>
            </a:solidFill>
          </a:ln>
        </p:spPr>
      </p:sp>
      <p:sp>
        <p:nvSpPr>
          <p:cNvPr id="27" name="矩形 26"/>
          <p:cNvSpPr>
            <a:spLocks noGrp="1"/>
          </p:cNvSpPr>
          <p:nvPr/>
        </p:nvSpPr>
        <p:spPr>
          <a:xfrm>
            <a:off x="4552950" y="1609725"/>
            <a:ext cx="2514600" cy="323850"/>
          </a:xfrm>
          <a:prstGeom prst="rect">
            <a:avLst/>
          </a:prstGeom>
          <a:noFill/>
          <a:ln w="0">
            <a:solidFill>
              <a:srgbClr val="FFFFFF"/>
            </a:solidFill>
          </a:ln>
        </p:spPr>
        <p:txBody>
          <a:bodyPr lIns="76200" tIns="38100" rIns="76200" bIns="38100" anchor="ctr"/>
          <a:lstStyle/>
          <a:p>
            <a:pPr algn="l">
              <a:defRPr sz="1500" b="1">
                <a:solidFill>
                  <a:srgbClr val="206040"/>
                </a:solidFill>
                <a:latin typeface="Microsoft YaHei UI" panose="020B0503020204020204" charset="-122"/>
                <a:ea typeface="Microsoft YaHei UI" panose="020B0503020204020204" charset="-122"/>
                <a:cs typeface="Microsoft YaHei UI" panose="020B0503020204020204" charset="-122"/>
              </a:defRPr>
            </a:pPr>
            <a:r>
              <a:rPr sz="1500" b="1">
                <a:solidFill>
                  <a:srgbClr val="206040"/>
                </a:solidFill>
                <a:latin typeface="Microsoft YaHei UI" panose="020B0503020204020204" charset="-122"/>
                <a:ea typeface="Microsoft YaHei UI" panose="020B0503020204020204" charset="-122"/>
                <a:cs typeface="Microsoft YaHei UI" panose="020B0503020204020204" charset="-122"/>
              </a:rPr>
              <a:t>环保费用化支出</a:t>
            </a:r>
            <a:endParaRPr sz="1500" b="1">
              <a:solidFill>
                <a:srgbClr val="206040"/>
              </a:solidFill>
              <a:latin typeface="Microsoft YaHei UI" panose="020B0503020204020204" charset="-122"/>
              <a:ea typeface="Microsoft YaHei UI" panose="020B0503020204020204" charset="-122"/>
              <a:cs typeface="Microsoft YaHei UI" panose="020B0503020204020204" charset="-122"/>
            </a:endParaRPr>
          </a:p>
        </p:txBody>
      </p:sp>
      <p:sp>
        <p:nvSpPr>
          <p:cNvPr id="28" name="矩形 27"/>
          <p:cNvSpPr>
            <a:spLocks noGrp="1"/>
          </p:cNvSpPr>
          <p:nvPr/>
        </p:nvSpPr>
        <p:spPr>
          <a:xfrm>
            <a:off x="4552950" y="1990725"/>
            <a:ext cx="2514600" cy="400050"/>
          </a:xfrm>
          <a:prstGeom prst="rect">
            <a:avLst/>
          </a:prstGeom>
          <a:noFill/>
          <a:ln w="0">
            <a:solidFill>
              <a:srgbClr val="FFFFFF"/>
            </a:solidFill>
          </a:ln>
        </p:spPr>
        <p:txBody>
          <a:bodyPr lIns="76200" tIns="38100" rIns="76200" bIns="38100" anchor="t"/>
          <a:lstStyle/>
          <a:p>
            <a:pPr algn="l">
              <a:defRPr sz="1050" b="0">
                <a:solidFill>
                  <a:srgbClr val="111111"/>
                </a:solidFill>
                <a:latin typeface="Microsoft YaHei UI" panose="020B0503020204020204" charset="-122"/>
                <a:ea typeface="Microsoft YaHei UI" panose="020B0503020204020204" charset="-122"/>
                <a:cs typeface="Microsoft YaHei UI" panose="020B0503020204020204" charset="-122"/>
              </a:defRPr>
            </a:pPr>
            <a:r>
              <a:rPr sz="1050" b="0">
                <a:solidFill>
                  <a:srgbClr val="111111"/>
                </a:solidFill>
                <a:latin typeface="Microsoft YaHei UI" panose="020B0503020204020204" charset="-122"/>
                <a:ea typeface="Microsoft YaHei UI" panose="020B0503020204020204" charset="-122"/>
                <a:cs typeface="Microsoft YaHei UI" panose="020B0503020204020204" charset="-122"/>
              </a:rPr>
              <a:t>优先从年报、环保投入与财务附注中识别。</a:t>
            </a:r>
            <a:endParaRPr sz="1050"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29" name="圆角矩形 28"/>
          <p:cNvSpPr>
            <a:spLocks noGrp="1"/>
          </p:cNvSpPr>
          <p:nvPr/>
        </p:nvSpPr>
        <p:spPr>
          <a:xfrm>
            <a:off x="7905750" y="1476375"/>
            <a:ext cx="2857500" cy="1047750"/>
          </a:xfrm>
          <a:prstGeom prst="roundRect">
            <a:avLst>
              <a:gd name="adj" fmla="val 10909"/>
            </a:avLst>
          </a:prstGeom>
          <a:solidFill>
            <a:srgbClr val="FFFFFF"/>
          </a:solidFill>
          <a:ln w="11430">
            <a:solidFill>
              <a:srgbClr val="D7DFDA"/>
            </a:solidFill>
          </a:ln>
        </p:spPr>
      </p:sp>
      <p:sp>
        <p:nvSpPr>
          <p:cNvPr id="30" name="矩形 29"/>
          <p:cNvSpPr>
            <a:spLocks noGrp="1"/>
          </p:cNvSpPr>
          <p:nvPr/>
        </p:nvSpPr>
        <p:spPr>
          <a:xfrm>
            <a:off x="8077200" y="1609725"/>
            <a:ext cx="2514600" cy="323850"/>
          </a:xfrm>
          <a:prstGeom prst="rect">
            <a:avLst/>
          </a:prstGeom>
          <a:noFill/>
          <a:ln w="0">
            <a:solidFill>
              <a:srgbClr val="FFFFFF"/>
            </a:solidFill>
          </a:ln>
        </p:spPr>
        <p:txBody>
          <a:bodyPr lIns="76200" tIns="38100" rIns="76200" bIns="38100" anchor="ctr"/>
          <a:lstStyle/>
          <a:p>
            <a:pPr algn="l">
              <a:defRPr sz="1500" b="1">
                <a:solidFill>
                  <a:srgbClr val="206040"/>
                </a:solidFill>
                <a:latin typeface="Microsoft YaHei UI" panose="020B0503020204020204" charset="-122"/>
                <a:ea typeface="Microsoft YaHei UI" panose="020B0503020204020204" charset="-122"/>
                <a:cs typeface="Microsoft YaHei UI" panose="020B0503020204020204" charset="-122"/>
              </a:defRPr>
            </a:pPr>
            <a:r>
              <a:rPr sz="1500" b="1">
                <a:solidFill>
                  <a:srgbClr val="206040"/>
                </a:solidFill>
                <a:latin typeface="Microsoft YaHei UI" panose="020B0503020204020204" charset="-122"/>
                <a:ea typeface="Microsoft YaHei UI" panose="020B0503020204020204" charset="-122"/>
                <a:cs typeface="Microsoft YaHei UI" panose="020B0503020204020204" charset="-122"/>
              </a:rPr>
              <a:t>环保税费/排污费</a:t>
            </a:r>
            <a:endParaRPr sz="1500" b="1">
              <a:solidFill>
                <a:srgbClr val="206040"/>
              </a:solidFill>
              <a:latin typeface="Microsoft YaHei UI" panose="020B0503020204020204" charset="-122"/>
              <a:ea typeface="Microsoft YaHei UI" panose="020B0503020204020204" charset="-122"/>
              <a:cs typeface="Microsoft YaHei UI" panose="020B0503020204020204" charset="-122"/>
            </a:endParaRPr>
          </a:p>
        </p:txBody>
      </p:sp>
      <p:sp>
        <p:nvSpPr>
          <p:cNvPr id="31" name="矩形 30"/>
          <p:cNvSpPr>
            <a:spLocks noGrp="1"/>
          </p:cNvSpPr>
          <p:nvPr/>
        </p:nvSpPr>
        <p:spPr>
          <a:xfrm>
            <a:off x="8077200" y="1990725"/>
            <a:ext cx="2514600" cy="400050"/>
          </a:xfrm>
          <a:prstGeom prst="rect">
            <a:avLst/>
          </a:prstGeom>
          <a:noFill/>
          <a:ln w="0">
            <a:solidFill>
              <a:srgbClr val="FFFFFF"/>
            </a:solidFill>
          </a:ln>
        </p:spPr>
        <p:txBody>
          <a:bodyPr lIns="76200" tIns="38100" rIns="76200" bIns="38100" anchor="t"/>
          <a:lstStyle/>
          <a:p>
            <a:pPr algn="l">
              <a:defRPr sz="1050" b="0">
                <a:solidFill>
                  <a:srgbClr val="111111"/>
                </a:solidFill>
                <a:latin typeface="Microsoft YaHei UI" panose="020B0503020204020204" charset="-122"/>
                <a:ea typeface="Microsoft YaHei UI" panose="020B0503020204020204" charset="-122"/>
                <a:cs typeface="Microsoft YaHei UI" panose="020B0503020204020204" charset="-122"/>
              </a:defRPr>
            </a:pPr>
            <a:r>
              <a:rPr sz="1050" b="0">
                <a:solidFill>
                  <a:srgbClr val="111111"/>
                </a:solidFill>
                <a:latin typeface="Microsoft YaHei UI" panose="020B0503020204020204" charset="-122"/>
                <a:ea typeface="Microsoft YaHei UI" panose="020B0503020204020204" charset="-122"/>
                <a:cs typeface="Microsoft YaHei UI" panose="020B0503020204020204" charset="-122"/>
              </a:rPr>
              <a:t>若明细不可得，使用替代指标并在稳健性中说明。</a:t>
            </a:r>
            <a:endParaRPr sz="1050"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32" name="圆角矩形 31"/>
          <p:cNvSpPr>
            <a:spLocks noGrp="1"/>
          </p:cNvSpPr>
          <p:nvPr/>
        </p:nvSpPr>
        <p:spPr>
          <a:xfrm>
            <a:off x="857250" y="3048000"/>
            <a:ext cx="2857500" cy="1047750"/>
          </a:xfrm>
          <a:prstGeom prst="roundRect">
            <a:avLst>
              <a:gd name="adj" fmla="val 10909"/>
            </a:avLst>
          </a:prstGeom>
          <a:solidFill>
            <a:srgbClr val="FFFFFF"/>
          </a:solidFill>
          <a:ln w="11430">
            <a:solidFill>
              <a:srgbClr val="D7DFDA"/>
            </a:solidFill>
          </a:ln>
        </p:spPr>
      </p:sp>
      <p:sp>
        <p:nvSpPr>
          <p:cNvPr id="33" name="矩形 32"/>
          <p:cNvSpPr>
            <a:spLocks noGrp="1"/>
          </p:cNvSpPr>
          <p:nvPr/>
        </p:nvSpPr>
        <p:spPr>
          <a:xfrm>
            <a:off x="1028700" y="3181350"/>
            <a:ext cx="2514600" cy="323850"/>
          </a:xfrm>
          <a:prstGeom prst="rect">
            <a:avLst/>
          </a:prstGeom>
          <a:noFill/>
          <a:ln w="0">
            <a:solidFill>
              <a:srgbClr val="FFFFFF"/>
            </a:solidFill>
          </a:ln>
        </p:spPr>
        <p:txBody>
          <a:bodyPr lIns="76200" tIns="38100" rIns="76200" bIns="38100" anchor="ctr"/>
          <a:lstStyle/>
          <a:p>
            <a:pPr algn="l">
              <a:defRPr sz="1500" b="1">
                <a:solidFill>
                  <a:srgbClr val="206040"/>
                </a:solidFill>
                <a:latin typeface="Microsoft YaHei UI" panose="020B0503020204020204" charset="-122"/>
                <a:ea typeface="Microsoft YaHei UI" panose="020B0503020204020204" charset="-122"/>
                <a:cs typeface="Microsoft YaHei UI" panose="020B0503020204020204" charset="-122"/>
              </a:defRPr>
            </a:pPr>
            <a:r>
              <a:rPr sz="1500" b="1">
                <a:solidFill>
                  <a:srgbClr val="206040"/>
                </a:solidFill>
                <a:latin typeface="Microsoft YaHei UI" panose="020B0503020204020204" charset="-122"/>
                <a:ea typeface="Microsoft YaHei UI" panose="020B0503020204020204" charset="-122"/>
                <a:cs typeface="Microsoft YaHei UI" panose="020B0503020204020204" charset="-122"/>
              </a:rPr>
              <a:t>监测认证费用</a:t>
            </a:r>
            <a:endParaRPr sz="1500" b="1">
              <a:solidFill>
                <a:srgbClr val="206040"/>
              </a:solidFill>
              <a:latin typeface="Microsoft YaHei UI" panose="020B0503020204020204" charset="-122"/>
              <a:ea typeface="Microsoft YaHei UI" panose="020B0503020204020204" charset="-122"/>
              <a:cs typeface="Microsoft YaHei UI" panose="020B0503020204020204" charset="-122"/>
            </a:endParaRPr>
          </a:p>
        </p:txBody>
      </p:sp>
      <p:sp>
        <p:nvSpPr>
          <p:cNvPr id="34" name="矩形 33"/>
          <p:cNvSpPr>
            <a:spLocks noGrp="1"/>
          </p:cNvSpPr>
          <p:nvPr/>
        </p:nvSpPr>
        <p:spPr>
          <a:xfrm>
            <a:off x="1028700" y="3562350"/>
            <a:ext cx="2514600" cy="400050"/>
          </a:xfrm>
          <a:prstGeom prst="rect">
            <a:avLst/>
          </a:prstGeom>
          <a:noFill/>
          <a:ln w="0">
            <a:solidFill>
              <a:srgbClr val="FFFFFF"/>
            </a:solidFill>
          </a:ln>
        </p:spPr>
        <p:txBody>
          <a:bodyPr lIns="76200" tIns="38100" rIns="76200" bIns="38100" anchor="t"/>
          <a:lstStyle/>
          <a:p>
            <a:pPr algn="l">
              <a:defRPr sz="1050" b="0">
                <a:solidFill>
                  <a:srgbClr val="111111"/>
                </a:solidFill>
                <a:latin typeface="Microsoft YaHei UI" panose="020B0503020204020204" charset="-122"/>
                <a:ea typeface="Microsoft YaHei UI" panose="020B0503020204020204" charset="-122"/>
                <a:cs typeface="Microsoft YaHei UI" panose="020B0503020204020204" charset="-122"/>
              </a:defRPr>
            </a:pPr>
            <a:r>
              <a:rPr sz="1050" b="0">
                <a:solidFill>
                  <a:srgbClr val="111111"/>
                </a:solidFill>
                <a:latin typeface="Microsoft YaHei UI" panose="020B0503020204020204" charset="-122"/>
                <a:ea typeface="Microsoft YaHei UI" panose="020B0503020204020204" charset="-122"/>
                <a:cs typeface="Microsoft YaHei UI" panose="020B0503020204020204" charset="-122"/>
              </a:rPr>
              <a:t>若明细不可得，使用替代指标并在稳健性中说明。</a:t>
            </a:r>
            <a:endParaRPr sz="1050"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35" name="圆角矩形 34"/>
          <p:cNvSpPr>
            <a:spLocks noGrp="1"/>
          </p:cNvSpPr>
          <p:nvPr/>
        </p:nvSpPr>
        <p:spPr>
          <a:xfrm>
            <a:off x="4381500" y="3048000"/>
            <a:ext cx="2857500" cy="1047750"/>
          </a:xfrm>
          <a:prstGeom prst="roundRect">
            <a:avLst>
              <a:gd name="adj" fmla="val 10909"/>
            </a:avLst>
          </a:prstGeom>
          <a:solidFill>
            <a:srgbClr val="FFFFFF"/>
          </a:solidFill>
          <a:ln w="11430">
            <a:solidFill>
              <a:srgbClr val="D7DFDA"/>
            </a:solidFill>
          </a:ln>
        </p:spPr>
      </p:sp>
      <p:sp>
        <p:nvSpPr>
          <p:cNvPr id="36" name="矩形 35"/>
          <p:cNvSpPr>
            <a:spLocks noGrp="1"/>
          </p:cNvSpPr>
          <p:nvPr/>
        </p:nvSpPr>
        <p:spPr>
          <a:xfrm>
            <a:off x="4552950" y="3181350"/>
            <a:ext cx="2514600" cy="323850"/>
          </a:xfrm>
          <a:prstGeom prst="rect">
            <a:avLst/>
          </a:prstGeom>
          <a:noFill/>
          <a:ln w="0">
            <a:solidFill>
              <a:srgbClr val="FFFFFF"/>
            </a:solidFill>
          </a:ln>
        </p:spPr>
        <p:txBody>
          <a:bodyPr lIns="76200" tIns="38100" rIns="76200" bIns="38100" anchor="ctr"/>
          <a:lstStyle/>
          <a:p>
            <a:pPr algn="l">
              <a:defRPr sz="1500" b="1">
                <a:solidFill>
                  <a:srgbClr val="206040"/>
                </a:solidFill>
                <a:latin typeface="Microsoft YaHei UI" panose="020B0503020204020204" charset="-122"/>
                <a:ea typeface="Microsoft YaHei UI" panose="020B0503020204020204" charset="-122"/>
                <a:cs typeface="Microsoft YaHei UI" panose="020B0503020204020204" charset="-122"/>
              </a:defRPr>
            </a:pPr>
            <a:r>
              <a:rPr sz="1500" b="1">
                <a:solidFill>
                  <a:srgbClr val="206040"/>
                </a:solidFill>
                <a:latin typeface="Microsoft YaHei UI" panose="020B0503020204020204" charset="-122"/>
                <a:ea typeface="Microsoft YaHei UI" panose="020B0503020204020204" charset="-122"/>
                <a:cs typeface="Microsoft YaHei UI" panose="020B0503020204020204" charset="-122"/>
              </a:rPr>
              <a:t>碳核算成本</a:t>
            </a:r>
            <a:endParaRPr sz="1500" b="1">
              <a:solidFill>
                <a:srgbClr val="206040"/>
              </a:solidFill>
              <a:latin typeface="Microsoft YaHei UI" panose="020B0503020204020204" charset="-122"/>
              <a:ea typeface="Microsoft YaHei UI" panose="020B0503020204020204" charset="-122"/>
              <a:cs typeface="Microsoft YaHei UI" panose="020B0503020204020204" charset="-122"/>
            </a:endParaRPr>
          </a:p>
        </p:txBody>
      </p:sp>
      <p:sp>
        <p:nvSpPr>
          <p:cNvPr id="37" name="矩形 36"/>
          <p:cNvSpPr>
            <a:spLocks noGrp="1"/>
          </p:cNvSpPr>
          <p:nvPr/>
        </p:nvSpPr>
        <p:spPr>
          <a:xfrm>
            <a:off x="4552950" y="3562350"/>
            <a:ext cx="2514600" cy="400050"/>
          </a:xfrm>
          <a:prstGeom prst="rect">
            <a:avLst/>
          </a:prstGeom>
          <a:noFill/>
          <a:ln w="0">
            <a:solidFill>
              <a:srgbClr val="FFFFFF"/>
            </a:solidFill>
          </a:ln>
        </p:spPr>
        <p:txBody>
          <a:bodyPr lIns="76200" tIns="38100" rIns="76200" bIns="38100" anchor="t"/>
          <a:lstStyle/>
          <a:p>
            <a:pPr algn="l">
              <a:defRPr sz="1050" b="0">
                <a:solidFill>
                  <a:srgbClr val="111111"/>
                </a:solidFill>
                <a:latin typeface="Microsoft YaHei UI" panose="020B0503020204020204" charset="-122"/>
                <a:ea typeface="Microsoft YaHei UI" panose="020B0503020204020204" charset="-122"/>
                <a:cs typeface="Microsoft YaHei UI" panose="020B0503020204020204" charset="-122"/>
              </a:defRPr>
            </a:pPr>
            <a:r>
              <a:rPr sz="1050" b="0">
                <a:solidFill>
                  <a:srgbClr val="111111"/>
                </a:solidFill>
                <a:latin typeface="Microsoft YaHei UI" panose="020B0503020204020204" charset="-122"/>
                <a:ea typeface="Microsoft YaHei UI" panose="020B0503020204020204" charset="-122"/>
                <a:cs typeface="Microsoft YaHei UI" panose="020B0503020204020204" charset="-122"/>
              </a:rPr>
              <a:t>若明细不可得，使用替代指标并在稳健性中说明。</a:t>
            </a:r>
            <a:endParaRPr sz="1050"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38" name="圆角矩形 37"/>
          <p:cNvSpPr>
            <a:spLocks noGrp="1"/>
          </p:cNvSpPr>
          <p:nvPr/>
        </p:nvSpPr>
        <p:spPr>
          <a:xfrm>
            <a:off x="7905750" y="3048000"/>
            <a:ext cx="2857500" cy="1047750"/>
          </a:xfrm>
          <a:prstGeom prst="roundRect">
            <a:avLst>
              <a:gd name="adj" fmla="val 10909"/>
            </a:avLst>
          </a:prstGeom>
          <a:solidFill>
            <a:srgbClr val="FFFFFF"/>
          </a:solidFill>
          <a:ln w="11430">
            <a:solidFill>
              <a:srgbClr val="D7DFDA"/>
            </a:solidFill>
          </a:ln>
        </p:spPr>
      </p:sp>
      <p:sp>
        <p:nvSpPr>
          <p:cNvPr id="39" name="矩形 38"/>
          <p:cNvSpPr>
            <a:spLocks noGrp="1"/>
          </p:cNvSpPr>
          <p:nvPr/>
        </p:nvSpPr>
        <p:spPr>
          <a:xfrm>
            <a:off x="8077200" y="3181350"/>
            <a:ext cx="2514600" cy="323850"/>
          </a:xfrm>
          <a:prstGeom prst="rect">
            <a:avLst/>
          </a:prstGeom>
          <a:noFill/>
          <a:ln w="0">
            <a:solidFill>
              <a:srgbClr val="FFFFFF"/>
            </a:solidFill>
          </a:ln>
        </p:spPr>
        <p:txBody>
          <a:bodyPr lIns="76200" tIns="38100" rIns="76200" bIns="38100" anchor="ctr"/>
          <a:lstStyle/>
          <a:p>
            <a:pPr algn="l">
              <a:defRPr sz="1500" b="1">
                <a:solidFill>
                  <a:srgbClr val="206040"/>
                </a:solidFill>
                <a:latin typeface="Microsoft YaHei UI" panose="020B0503020204020204" charset="-122"/>
                <a:ea typeface="Microsoft YaHei UI" panose="020B0503020204020204" charset="-122"/>
                <a:cs typeface="Microsoft YaHei UI" panose="020B0503020204020204" charset="-122"/>
              </a:defRPr>
            </a:pPr>
            <a:r>
              <a:rPr sz="1500" b="1">
                <a:solidFill>
                  <a:srgbClr val="206040"/>
                </a:solidFill>
                <a:latin typeface="Microsoft YaHei UI" panose="020B0503020204020204" charset="-122"/>
                <a:ea typeface="Microsoft YaHei UI" panose="020B0503020204020204" charset="-122"/>
                <a:cs typeface="Microsoft YaHei UI" panose="020B0503020204020204" charset="-122"/>
              </a:rPr>
              <a:t>ESG报告编制成本</a:t>
            </a:r>
            <a:endParaRPr sz="1500" b="1">
              <a:solidFill>
                <a:srgbClr val="206040"/>
              </a:solidFill>
              <a:latin typeface="Microsoft YaHei UI" panose="020B0503020204020204" charset="-122"/>
              <a:ea typeface="Microsoft YaHei UI" panose="020B0503020204020204" charset="-122"/>
              <a:cs typeface="Microsoft YaHei UI" panose="020B0503020204020204" charset="-122"/>
            </a:endParaRPr>
          </a:p>
        </p:txBody>
      </p:sp>
      <p:sp>
        <p:nvSpPr>
          <p:cNvPr id="40" name="矩形 39"/>
          <p:cNvSpPr>
            <a:spLocks noGrp="1"/>
          </p:cNvSpPr>
          <p:nvPr/>
        </p:nvSpPr>
        <p:spPr>
          <a:xfrm>
            <a:off x="8077200" y="3562350"/>
            <a:ext cx="2514600" cy="400050"/>
          </a:xfrm>
          <a:prstGeom prst="rect">
            <a:avLst/>
          </a:prstGeom>
          <a:noFill/>
          <a:ln w="0">
            <a:solidFill>
              <a:srgbClr val="FFFFFF"/>
            </a:solidFill>
          </a:ln>
        </p:spPr>
        <p:txBody>
          <a:bodyPr lIns="76200" tIns="38100" rIns="76200" bIns="38100" anchor="t"/>
          <a:lstStyle/>
          <a:p>
            <a:pPr algn="l">
              <a:defRPr sz="1050" b="0">
                <a:solidFill>
                  <a:srgbClr val="111111"/>
                </a:solidFill>
                <a:latin typeface="Microsoft YaHei UI" panose="020B0503020204020204" charset="-122"/>
                <a:ea typeface="Microsoft YaHei UI" panose="020B0503020204020204" charset="-122"/>
                <a:cs typeface="Microsoft YaHei UI" panose="020B0503020204020204" charset="-122"/>
              </a:defRPr>
            </a:pPr>
            <a:r>
              <a:rPr sz="1050" b="0">
                <a:solidFill>
                  <a:srgbClr val="111111"/>
                </a:solidFill>
                <a:latin typeface="Microsoft YaHei UI" panose="020B0503020204020204" charset="-122"/>
                <a:ea typeface="Microsoft YaHei UI" panose="020B0503020204020204" charset="-122"/>
                <a:cs typeface="Microsoft YaHei UI" panose="020B0503020204020204" charset="-122"/>
              </a:rPr>
              <a:t>若明细不可得，使用替代指标并在稳健性中说明。</a:t>
            </a:r>
            <a:endParaRPr sz="1050"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41" name="圆角矩形 40"/>
          <p:cNvSpPr>
            <a:spLocks noGrp="1"/>
          </p:cNvSpPr>
          <p:nvPr/>
        </p:nvSpPr>
        <p:spPr>
          <a:xfrm>
            <a:off x="1381125" y="4762500"/>
            <a:ext cx="9429750" cy="1047750"/>
          </a:xfrm>
          <a:prstGeom prst="roundRect">
            <a:avLst>
              <a:gd name="adj" fmla="val 10909"/>
            </a:avLst>
          </a:prstGeom>
          <a:solidFill>
            <a:srgbClr val="FFFFFF"/>
          </a:solidFill>
          <a:ln w="11430">
            <a:solidFill>
              <a:srgbClr val="206040"/>
            </a:solidFill>
          </a:ln>
        </p:spPr>
      </p:sp>
      <p:sp>
        <p:nvSpPr>
          <p:cNvPr id="42" name="矩形 41"/>
          <p:cNvSpPr>
            <a:spLocks noGrp="1"/>
          </p:cNvSpPr>
          <p:nvPr/>
        </p:nvSpPr>
        <p:spPr>
          <a:xfrm>
            <a:off x="1571625" y="4972050"/>
            <a:ext cx="9048750" cy="514350"/>
          </a:xfrm>
          <a:prstGeom prst="rect">
            <a:avLst/>
          </a:prstGeom>
          <a:noFill/>
          <a:ln w="0">
            <a:solidFill>
              <a:srgbClr val="FFFFFF"/>
            </a:solidFill>
          </a:ln>
        </p:spPr>
        <p:txBody>
          <a:bodyPr lIns="76200" tIns="38100" rIns="76200" bIns="38100" anchor="ctr"/>
          <a:lstStyle/>
          <a:p>
            <a:pPr algn="ctr">
              <a:defRPr sz="1800" b="1">
                <a:solidFill>
                  <a:srgbClr val="111111"/>
                </a:solidFill>
                <a:latin typeface="Cambria Math" panose="02040503050406030204"/>
                <a:ea typeface="Cambria Math" panose="02040503050406030204"/>
                <a:cs typeface="Cambria Math" panose="02040503050406030204"/>
              </a:defRPr>
            </a:pPr>
            <a:r>
              <a:rPr sz="1800" b="1">
                <a:solidFill>
                  <a:srgbClr val="111111"/>
                </a:solidFill>
                <a:latin typeface="Cambria Math" panose="02040503050406030204"/>
                <a:ea typeface="Cambria Math" panose="02040503050406030204"/>
                <a:cs typeface="Cambria Math" panose="02040503050406030204"/>
              </a:rPr>
              <a:t>ComplianceCost = ln(环保投入 + 税费 + 监测认证 + 碳核算 + ESG披露 + 1)</a:t>
            </a:r>
            <a:endParaRPr sz="1800" b="1">
              <a:solidFill>
                <a:srgbClr val="111111"/>
              </a:solidFill>
              <a:latin typeface="Cambria Math" panose="02040503050406030204"/>
              <a:ea typeface="Cambria Math" panose="02040503050406030204"/>
              <a:cs typeface="Cambria Math" panose="02040503050406030204"/>
            </a:endParaRPr>
          </a:p>
        </p:txBody>
      </p:sp>
      <p:sp>
        <p:nvSpPr>
          <p:cNvPr id="43" name="矩形 42"/>
          <p:cNvSpPr>
            <a:spLocks noGrp="1"/>
          </p:cNvSpPr>
          <p:nvPr/>
        </p:nvSpPr>
        <p:spPr>
          <a:xfrm>
            <a:off x="1647825" y="5600700"/>
            <a:ext cx="8896350" cy="57150"/>
          </a:xfrm>
          <a:prstGeom prst="rect">
            <a:avLst/>
          </a:prstGeom>
          <a:noFill/>
          <a:ln w="0">
            <a:solidFill>
              <a:srgbClr val="FFFFFF"/>
            </a:solidFill>
          </a:ln>
        </p:spPr>
        <p:txBody>
          <a:bodyPr lIns="76200" tIns="38100" rIns="76200" bIns="38100" anchor="t"/>
          <a:lstStyle/>
          <a:p>
            <a:pPr algn="l">
              <a:defRPr sz="1125" b="0">
                <a:solidFill>
                  <a:srgbClr val="5D6763"/>
                </a:solidFill>
                <a:latin typeface="Microsoft YaHei UI" panose="020B0503020204020204" charset="-122"/>
                <a:ea typeface="Microsoft YaHei UI" panose="020B0503020204020204" charset="-122"/>
                <a:cs typeface="Microsoft YaHei UI" panose="020B0503020204020204" charset="-122"/>
              </a:defRPr>
            </a:pPr>
            <a:r>
              <a:rPr sz="1125" b="0">
                <a:solidFill>
                  <a:srgbClr val="5D6763"/>
                </a:solidFill>
                <a:latin typeface="Microsoft YaHei UI" panose="020B0503020204020204" charset="-122"/>
                <a:ea typeface="Microsoft YaHei UI" panose="020B0503020204020204" charset="-122"/>
                <a:cs typeface="Microsoft YaHei UI" panose="020B0503020204020204" charset="-122"/>
              </a:rPr>
              <a:t>基准指标强调财务核算敏感性；替代变量可用环保支出占营收比、环境相关在建工程或固定资产投资占比。</a:t>
            </a:r>
            <a:endParaRPr sz="1125" b="0">
              <a:solidFill>
                <a:srgbClr val="5D6763"/>
              </a:solidFill>
              <a:latin typeface="Microsoft YaHei UI" panose="020B0503020204020204" charset="-122"/>
              <a:ea typeface="Microsoft YaHei UI" panose="020B0503020204020204" charset="-122"/>
              <a:cs typeface="Microsoft YaHei UI" panose="020B0503020204020204"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a:spLocks noGrp="1"/>
          </p:cNvSpPr>
          <p:nvPr/>
        </p:nvSpPr>
        <p:spPr>
          <a:xfrm>
            <a:off x="0" y="0"/>
            <a:ext cx="12192000" cy="6858000"/>
          </a:xfrm>
          <a:prstGeom prst="rect">
            <a:avLst/>
          </a:prstGeom>
          <a:solidFill>
            <a:srgbClr val="F4F6F5"/>
          </a:solidFill>
          <a:ln w="0">
            <a:solidFill>
              <a:srgbClr val="FFFFFF"/>
            </a:solidFill>
          </a:ln>
        </p:spPr>
      </p:sp>
      <p:sp>
        <p:nvSpPr>
          <p:cNvPr id="3" name="矩形 2"/>
          <p:cNvSpPr>
            <a:spLocks noGrp="1"/>
          </p:cNvSpPr>
          <p:nvPr/>
        </p:nvSpPr>
        <p:spPr>
          <a:xfrm>
            <a:off x="0" y="0"/>
            <a:ext cx="12192000" cy="6858000"/>
          </a:xfrm>
          <a:prstGeom prst="rect">
            <a:avLst/>
          </a:prstGeom>
          <a:solidFill>
            <a:srgbClr val="F9FAF9"/>
          </a:solidFill>
          <a:ln w="0">
            <a:solidFill>
              <a:srgbClr val="FFFFFF"/>
            </a:solidFill>
          </a:ln>
        </p:spPr>
      </p:sp>
      <p:sp>
        <p:nvSpPr>
          <p:cNvPr id="4" name="矩形 3"/>
          <p:cNvSpPr>
            <a:spLocks noGrp="1"/>
          </p:cNvSpPr>
          <p:nvPr/>
        </p:nvSpPr>
        <p:spPr>
          <a:xfrm>
            <a:off x="8858250" y="0"/>
            <a:ext cx="3333750" cy="6858000"/>
          </a:xfrm>
          <a:prstGeom prst="rect">
            <a:avLst/>
          </a:prstGeom>
          <a:solidFill>
            <a:srgbClr val="F7F9F8"/>
          </a:solidFill>
          <a:ln w="0">
            <a:solidFill>
              <a:srgbClr val="FFFFFF"/>
            </a:solidFill>
          </a:ln>
        </p:spPr>
      </p:sp>
      <p:sp>
        <p:nvSpPr>
          <p:cNvPr id="5" name="矩形 4"/>
          <p:cNvSpPr>
            <a:spLocks noGrp="1"/>
          </p:cNvSpPr>
          <p:nvPr/>
        </p:nvSpPr>
        <p:spPr>
          <a:xfrm>
            <a:off x="0" y="6115050"/>
            <a:ext cx="12192000" cy="742950"/>
          </a:xfrm>
          <a:prstGeom prst="rect">
            <a:avLst/>
          </a:prstGeom>
          <a:solidFill>
            <a:srgbClr val="F8FAF9"/>
          </a:solidFill>
          <a:ln w="0">
            <a:solidFill>
              <a:srgbClr val="FFFFFF"/>
            </a:solidFill>
          </a:ln>
        </p:spPr>
      </p:sp>
      <p:sp>
        <p:nvSpPr>
          <p:cNvPr id="6" name="等腰三角形 5"/>
          <p:cNvSpPr>
            <a:spLocks noGrp="1"/>
          </p:cNvSpPr>
          <p:nvPr/>
        </p:nvSpPr>
        <p:spPr>
          <a:xfrm>
            <a:off x="1524000" y="904875"/>
            <a:ext cx="2476500" cy="1714500"/>
          </a:xfrm>
          <a:prstGeom prst="triangle">
            <a:avLst/>
          </a:prstGeom>
          <a:solidFill>
            <a:srgbClr val="FFFFFF"/>
          </a:solidFill>
          <a:ln w="0">
            <a:solidFill>
              <a:srgbClr val="FFFFFF"/>
            </a:solidFill>
          </a:ln>
        </p:spPr>
      </p:sp>
      <p:sp>
        <p:nvSpPr>
          <p:cNvPr id="7" name="等腰三角形 6"/>
          <p:cNvSpPr>
            <a:spLocks noGrp="1"/>
          </p:cNvSpPr>
          <p:nvPr/>
        </p:nvSpPr>
        <p:spPr>
          <a:xfrm>
            <a:off x="3857625" y="1762125"/>
            <a:ext cx="2476500" cy="1714500"/>
          </a:xfrm>
          <a:prstGeom prst="triangle">
            <a:avLst/>
          </a:prstGeom>
          <a:solidFill>
            <a:srgbClr val="F8FBFA"/>
          </a:solidFill>
          <a:ln w="0">
            <a:solidFill>
              <a:srgbClr val="FFFFFF"/>
            </a:solidFill>
          </a:ln>
        </p:spPr>
      </p:sp>
      <p:sp>
        <p:nvSpPr>
          <p:cNvPr id="8" name="等腰三角形 7"/>
          <p:cNvSpPr>
            <a:spLocks noGrp="1"/>
          </p:cNvSpPr>
          <p:nvPr/>
        </p:nvSpPr>
        <p:spPr>
          <a:xfrm>
            <a:off x="6191250" y="904875"/>
            <a:ext cx="2476500" cy="1714500"/>
          </a:xfrm>
          <a:prstGeom prst="triangle">
            <a:avLst/>
          </a:prstGeom>
          <a:solidFill>
            <a:srgbClr val="FFFFFF"/>
          </a:solidFill>
          <a:ln w="0">
            <a:solidFill>
              <a:srgbClr val="FFFFFF"/>
            </a:solidFill>
          </a:ln>
        </p:spPr>
      </p:sp>
      <p:sp>
        <p:nvSpPr>
          <p:cNvPr id="9" name="等腰三角形 8"/>
          <p:cNvSpPr>
            <a:spLocks noGrp="1"/>
          </p:cNvSpPr>
          <p:nvPr/>
        </p:nvSpPr>
        <p:spPr>
          <a:xfrm>
            <a:off x="8524875" y="1762125"/>
            <a:ext cx="2476500" cy="1714500"/>
          </a:xfrm>
          <a:prstGeom prst="triangle">
            <a:avLst/>
          </a:prstGeom>
          <a:solidFill>
            <a:srgbClr val="F8FBFA"/>
          </a:solidFill>
          <a:ln w="0">
            <a:solidFill>
              <a:srgbClr val="FFFFFF"/>
            </a:solidFill>
          </a:ln>
        </p:spPr>
      </p:sp>
      <p:sp>
        <p:nvSpPr>
          <p:cNvPr id="10" name="等腰三角形 9"/>
          <p:cNvSpPr>
            <a:spLocks noGrp="1"/>
          </p:cNvSpPr>
          <p:nvPr/>
        </p:nvSpPr>
        <p:spPr>
          <a:xfrm>
            <a:off x="10858500" y="904875"/>
            <a:ext cx="2476500" cy="1714500"/>
          </a:xfrm>
          <a:prstGeom prst="triangle">
            <a:avLst/>
          </a:prstGeom>
          <a:solidFill>
            <a:srgbClr val="FFFFFF"/>
          </a:solidFill>
          <a:ln w="0">
            <a:solidFill>
              <a:srgbClr val="FFFFFF"/>
            </a:solidFill>
          </a:ln>
        </p:spPr>
      </p:sp>
      <p:sp>
        <p:nvSpPr>
          <p:cNvPr id="11" name="等腰三角形 10"/>
          <p:cNvSpPr>
            <a:spLocks noGrp="1"/>
          </p:cNvSpPr>
          <p:nvPr/>
        </p:nvSpPr>
        <p:spPr>
          <a:xfrm rot="5400000">
            <a:off x="152400" y="266700"/>
            <a:ext cx="533400" cy="476250"/>
          </a:xfrm>
          <a:prstGeom prst="triangle">
            <a:avLst/>
          </a:prstGeom>
          <a:solidFill>
            <a:srgbClr val="206040"/>
          </a:solidFill>
          <a:ln w="0">
            <a:solidFill>
              <a:srgbClr val="FFFFFF"/>
            </a:solidFill>
          </a:ln>
        </p:spPr>
      </p:sp>
      <p:sp>
        <p:nvSpPr>
          <p:cNvPr id="12" name="等腰三角形 11"/>
          <p:cNvSpPr>
            <a:spLocks noGrp="1"/>
          </p:cNvSpPr>
          <p:nvPr/>
        </p:nvSpPr>
        <p:spPr>
          <a:xfrm rot="5400000">
            <a:off x="381000" y="304800"/>
            <a:ext cx="457200" cy="419100"/>
          </a:xfrm>
          <a:prstGeom prst="triangle">
            <a:avLst/>
          </a:prstGeom>
          <a:solidFill>
            <a:srgbClr val="80A090"/>
          </a:solidFill>
          <a:ln w="0">
            <a:solidFill>
              <a:srgbClr val="FFFFFF"/>
            </a:solidFill>
          </a:ln>
        </p:spPr>
      </p:sp>
      <p:sp>
        <p:nvSpPr>
          <p:cNvPr id="13" name="矩形 12"/>
          <p:cNvSpPr>
            <a:spLocks noGrp="1"/>
          </p:cNvSpPr>
          <p:nvPr/>
        </p:nvSpPr>
        <p:spPr>
          <a:xfrm>
            <a:off x="857250" y="228600"/>
            <a:ext cx="2857500" cy="457200"/>
          </a:xfrm>
          <a:prstGeom prst="rect">
            <a:avLst/>
          </a:prstGeom>
          <a:noFill/>
          <a:ln w="0">
            <a:solidFill>
              <a:srgbClr val="FFFFFF"/>
            </a:solidFill>
          </a:ln>
        </p:spPr>
        <p:txBody>
          <a:bodyPr lIns="76200" tIns="38100" rIns="76200" bIns="38100" anchor="ctr"/>
          <a:lstStyle/>
          <a:p>
            <a:pPr algn="l">
              <a:defRPr sz="2550" b="1">
                <a:solidFill>
                  <a:srgbClr val="206040"/>
                </a:solidFill>
                <a:latin typeface="黑体" panose="02010609060101010101" charset="-122"/>
                <a:ea typeface="黑体" panose="02010609060101010101" charset="-122"/>
                <a:cs typeface="黑体" panose="02010609060101010101" charset="-122"/>
              </a:defRPr>
            </a:pPr>
            <a:r>
              <a:rPr sz="2550" b="1">
                <a:solidFill>
                  <a:srgbClr val="206040"/>
                </a:solidFill>
                <a:latin typeface="黑体" panose="02010609060101010101" charset="-122"/>
                <a:ea typeface="黑体" panose="02010609060101010101" charset="-122"/>
                <a:cs typeface="黑体" panose="02010609060101010101" charset="-122"/>
              </a:rPr>
              <a:t>基准模型</a:t>
            </a:r>
            <a:endParaRPr sz="2550" b="1">
              <a:solidFill>
                <a:srgbClr val="206040"/>
              </a:solidFill>
              <a:latin typeface="黑体" panose="02010609060101010101" charset="-122"/>
              <a:ea typeface="黑体" panose="02010609060101010101" charset="-122"/>
              <a:cs typeface="黑体" panose="02010609060101010101" charset="-122"/>
            </a:endParaRPr>
          </a:p>
        </p:txBody>
      </p:sp>
      <p:sp>
        <p:nvSpPr>
          <p:cNvPr id="14" name="矩形 13"/>
          <p:cNvSpPr>
            <a:spLocks noGrp="1"/>
          </p:cNvSpPr>
          <p:nvPr/>
        </p:nvSpPr>
        <p:spPr>
          <a:xfrm>
            <a:off x="4000500" y="295275"/>
            <a:ext cx="1123950" cy="323850"/>
          </a:xfrm>
          <a:prstGeom prst="rect">
            <a:avLst/>
          </a:prstGeom>
          <a:noFill/>
          <a:ln w="0">
            <a:solidFill>
              <a:srgbClr val="FFFFFF"/>
            </a:solidFill>
          </a:ln>
        </p:spPr>
        <p:txBody>
          <a:bodyPr lIns="76200" tIns="38100" rIns="76200" bIns="38100" anchor="ctr"/>
          <a:lstStyle/>
          <a:p>
            <a:pPr algn="ctr">
              <a:defRPr sz="1125" b="0">
                <a:solidFill>
                  <a:srgbClr val="161616"/>
                </a:solidFill>
                <a:latin typeface="Microsoft YaHei UI" panose="020B0503020204020204" charset="-122"/>
                <a:ea typeface="Microsoft YaHei UI" panose="020B0503020204020204" charset="-122"/>
                <a:cs typeface="Microsoft YaHei UI" panose="020B0503020204020204" charset="-122"/>
              </a:defRPr>
            </a:pPr>
            <a:r>
              <a:rPr sz="1125" b="0">
                <a:solidFill>
                  <a:srgbClr val="161616"/>
                </a:solidFill>
                <a:latin typeface="Microsoft YaHei UI" panose="020B0503020204020204" charset="-122"/>
                <a:ea typeface="Microsoft YaHei UI" panose="020B0503020204020204" charset="-122"/>
                <a:cs typeface="Microsoft YaHei UI" panose="020B0503020204020204" charset="-122"/>
              </a:rPr>
              <a:t>现实问题</a:t>
            </a:r>
            <a:endParaRPr sz="1125" b="0">
              <a:solidFill>
                <a:srgbClr val="161616"/>
              </a:solidFill>
              <a:latin typeface="Microsoft YaHei UI" panose="020B0503020204020204" charset="-122"/>
              <a:ea typeface="Microsoft YaHei UI" panose="020B0503020204020204" charset="-122"/>
              <a:cs typeface="Microsoft YaHei UI" panose="020B0503020204020204" charset="-122"/>
            </a:endParaRPr>
          </a:p>
        </p:txBody>
      </p:sp>
      <p:sp>
        <p:nvSpPr>
          <p:cNvPr id="15" name="矩形 14"/>
          <p:cNvSpPr>
            <a:spLocks noGrp="1"/>
          </p:cNvSpPr>
          <p:nvPr/>
        </p:nvSpPr>
        <p:spPr>
          <a:xfrm>
            <a:off x="5200650" y="295275"/>
            <a:ext cx="1123950" cy="323850"/>
          </a:xfrm>
          <a:prstGeom prst="rect">
            <a:avLst/>
          </a:prstGeom>
          <a:noFill/>
          <a:ln w="0">
            <a:solidFill>
              <a:srgbClr val="FFFFFF"/>
            </a:solidFill>
          </a:ln>
        </p:spPr>
        <p:txBody>
          <a:bodyPr lIns="76200" tIns="38100" rIns="76200" bIns="38100" anchor="ctr"/>
          <a:lstStyle/>
          <a:p>
            <a:pPr algn="ctr">
              <a:defRPr sz="1125" b="0">
                <a:solidFill>
                  <a:srgbClr val="161616"/>
                </a:solidFill>
                <a:latin typeface="Microsoft YaHei UI" panose="020B0503020204020204" charset="-122"/>
                <a:ea typeface="Microsoft YaHei UI" panose="020B0503020204020204" charset="-122"/>
                <a:cs typeface="Microsoft YaHei UI" panose="020B0503020204020204" charset="-122"/>
              </a:defRPr>
            </a:pPr>
            <a:r>
              <a:rPr sz="1125" b="0">
                <a:solidFill>
                  <a:srgbClr val="161616"/>
                </a:solidFill>
                <a:latin typeface="Microsoft YaHei UI" panose="020B0503020204020204" charset="-122"/>
                <a:ea typeface="Microsoft YaHei UI" panose="020B0503020204020204" charset="-122"/>
                <a:cs typeface="Microsoft YaHei UI" panose="020B0503020204020204" charset="-122"/>
              </a:rPr>
              <a:t>科学问题</a:t>
            </a:r>
            <a:endParaRPr sz="1125" b="0">
              <a:solidFill>
                <a:srgbClr val="161616"/>
              </a:solidFill>
              <a:latin typeface="Microsoft YaHei UI" panose="020B0503020204020204" charset="-122"/>
              <a:ea typeface="Microsoft YaHei UI" panose="020B0503020204020204" charset="-122"/>
              <a:cs typeface="Microsoft YaHei UI" panose="020B0503020204020204" charset="-122"/>
            </a:endParaRPr>
          </a:p>
        </p:txBody>
      </p:sp>
      <p:sp>
        <p:nvSpPr>
          <p:cNvPr id="16" name="矩形 15"/>
          <p:cNvSpPr>
            <a:spLocks noGrp="1"/>
          </p:cNvSpPr>
          <p:nvPr/>
        </p:nvSpPr>
        <p:spPr>
          <a:xfrm>
            <a:off x="6400800" y="295275"/>
            <a:ext cx="1123950" cy="323850"/>
          </a:xfrm>
          <a:prstGeom prst="rect">
            <a:avLst/>
          </a:prstGeom>
          <a:noFill/>
          <a:ln w="0">
            <a:solidFill>
              <a:srgbClr val="FFFFFF"/>
            </a:solidFill>
          </a:ln>
        </p:spPr>
        <p:txBody>
          <a:bodyPr lIns="76200" tIns="38100" rIns="76200" bIns="38100" anchor="ctr"/>
          <a:lstStyle/>
          <a:p>
            <a:pPr algn="ctr">
              <a:defRPr sz="1125" b="0">
                <a:solidFill>
                  <a:srgbClr val="161616"/>
                </a:solidFill>
                <a:latin typeface="Microsoft YaHei UI" panose="020B0503020204020204" charset="-122"/>
                <a:ea typeface="Microsoft YaHei UI" panose="020B0503020204020204" charset="-122"/>
                <a:cs typeface="Microsoft YaHei UI" panose="020B0503020204020204" charset="-122"/>
              </a:defRPr>
            </a:pPr>
            <a:r>
              <a:rPr sz="1125" b="0">
                <a:solidFill>
                  <a:srgbClr val="161616"/>
                </a:solidFill>
                <a:latin typeface="Microsoft YaHei UI" panose="020B0503020204020204" charset="-122"/>
                <a:ea typeface="Microsoft YaHei UI" panose="020B0503020204020204" charset="-122"/>
                <a:cs typeface="Microsoft YaHei UI" panose="020B0503020204020204" charset="-122"/>
              </a:rPr>
              <a:t>理论机制</a:t>
            </a:r>
            <a:endParaRPr sz="1125" b="0">
              <a:solidFill>
                <a:srgbClr val="161616"/>
              </a:solidFill>
              <a:latin typeface="Microsoft YaHei UI" panose="020B0503020204020204" charset="-122"/>
              <a:ea typeface="Microsoft YaHei UI" panose="020B0503020204020204" charset="-122"/>
              <a:cs typeface="Microsoft YaHei UI" panose="020B0503020204020204" charset="-122"/>
            </a:endParaRPr>
          </a:p>
        </p:txBody>
      </p:sp>
      <p:sp>
        <p:nvSpPr>
          <p:cNvPr id="17" name="矩形 16"/>
          <p:cNvSpPr>
            <a:spLocks noGrp="1"/>
          </p:cNvSpPr>
          <p:nvPr/>
        </p:nvSpPr>
        <p:spPr>
          <a:xfrm>
            <a:off x="7600950" y="295275"/>
            <a:ext cx="1123950" cy="323850"/>
          </a:xfrm>
          <a:prstGeom prst="rect">
            <a:avLst/>
          </a:prstGeom>
          <a:noFill/>
          <a:ln w="0">
            <a:solidFill>
              <a:srgbClr val="FFFFFF"/>
            </a:solidFill>
          </a:ln>
        </p:spPr>
        <p:txBody>
          <a:bodyPr lIns="76200" tIns="38100" rIns="76200" bIns="38100" anchor="ctr"/>
          <a:lstStyle/>
          <a:p>
            <a:pPr algn="ctr">
              <a:defRPr sz="1125" b="0">
                <a:solidFill>
                  <a:srgbClr val="161616"/>
                </a:solidFill>
                <a:latin typeface="Microsoft YaHei UI" panose="020B0503020204020204" charset="-122"/>
                <a:ea typeface="Microsoft YaHei UI" panose="020B0503020204020204" charset="-122"/>
                <a:cs typeface="Microsoft YaHei UI" panose="020B0503020204020204" charset="-122"/>
              </a:defRPr>
            </a:pPr>
            <a:r>
              <a:rPr sz="1125" b="0">
                <a:solidFill>
                  <a:srgbClr val="161616"/>
                </a:solidFill>
                <a:latin typeface="Microsoft YaHei UI" panose="020B0503020204020204" charset="-122"/>
                <a:ea typeface="Microsoft YaHei UI" panose="020B0503020204020204" charset="-122"/>
                <a:cs typeface="Microsoft YaHei UI" panose="020B0503020204020204" charset="-122"/>
              </a:rPr>
              <a:t>数据变量</a:t>
            </a:r>
            <a:endParaRPr sz="1125" b="0">
              <a:solidFill>
                <a:srgbClr val="161616"/>
              </a:solidFill>
              <a:latin typeface="Microsoft YaHei UI" panose="020B0503020204020204" charset="-122"/>
              <a:ea typeface="Microsoft YaHei UI" panose="020B0503020204020204" charset="-122"/>
              <a:cs typeface="Microsoft YaHei UI" panose="020B0503020204020204" charset="-122"/>
            </a:endParaRPr>
          </a:p>
        </p:txBody>
      </p:sp>
      <p:sp>
        <p:nvSpPr>
          <p:cNvPr id="18" name="矩形 17"/>
          <p:cNvSpPr>
            <a:spLocks noGrp="1"/>
          </p:cNvSpPr>
          <p:nvPr/>
        </p:nvSpPr>
        <p:spPr>
          <a:xfrm>
            <a:off x="8801100" y="228600"/>
            <a:ext cx="1123950" cy="323850"/>
          </a:xfrm>
          <a:prstGeom prst="rect">
            <a:avLst/>
          </a:prstGeom>
          <a:noFill/>
          <a:ln w="0">
            <a:solidFill>
              <a:srgbClr val="FFFFFF"/>
            </a:solidFill>
          </a:ln>
        </p:spPr>
        <p:txBody>
          <a:bodyPr lIns="76200" tIns="38100" rIns="76200" bIns="38100" anchor="ctr"/>
          <a:lstStyle/>
          <a:p>
            <a:pPr algn="ctr">
              <a:defRPr sz="1500" b="1">
                <a:solidFill>
                  <a:srgbClr val="206040"/>
                </a:solidFill>
                <a:latin typeface="Microsoft YaHei UI" panose="020B0503020204020204" charset="-122"/>
                <a:ea typeface="Microsoft YaHei UI" panose="020B0503020204020204" charset="-122"/>
                <a:cs typeface="Microsoft YaHei UI" panose="020B0503020204020204" charset="-122"/>
              </a:defRPr>
            </a:pPr>
            <a:r>
              <a:rPr sz="1500" b="1">
                <a:solidFill>
                  <a:srgbClr val="206040"/>
                </a:solidFill>
                <a:latin typeface="Microsoft YaHei UI" panose="020B0503020204020204" charset="-122"/>
                <a:ea typeface="Microsoft YaHei UI" panose="020B0503020204020204" charset="-122"/>
                <a:cs typeface="Microsoft YaHei UI" panose="020B0503020204020204" charset="-122"/>
              </a:rPr>
              <a:t>模型识别</a:t>
            </a:r>
            <a:endParaRPr sz="1500" b="1">
              <a:solidFill>
                <a:srgbClr val="206040"/>
              </a:solidFill>
              <a:latin typeface="Microsoft YaHei UI" panose="020B0503020204020204" charset="-122"/>
              <a:ea typeface="Microsoft YaHei UI" panose="020B0503020204020204" charset="-122"/>
              <a:cs typeface="Microsoft YaHei UI" panose="020B0503020204020204" charset="-122"/>
            </a:endParaRPr>
          </a:p>
        </p:txBody>
      </p:sp>
      <p:sp>
        <p:nvSpPr>
          <p:cNvPr id="19" name="圆角矩形 18"/>
          <p:cNvSpPr>
            <a:spLocks noGrp="1"/>
          </p:cNvSpPr>
          <p:nvPr/>
        </p:nvSpPr>
        <p:spPr>
          <a:xfrm>
            <a:off x="8972550" y="657225"/>
            <a:ext cx="781050" cy="38100"/>
          </a:xfrm>
          <a:prstGeom prst="roundRect">
            <a:avLst>
              <a:gd name="adj" fmla="val 25000"/>
            </a:avLst>
          </a:prstGeom>
          <a:solidFill>
            <a:srgbClr val="206040"/>
          </a:solidFill>
          <a:ln w="0">
            <a:solidFill>
              <a:srgbClr val="FFFFFF"/>
            </a:solidFill>
          </a:ln>
        </p:spPr>
      </p:sp>
      <p:sp>
        <p:nvSpPr>
          <p:cNvPr id="20" name="矩形 19"/>
          <p:cNvSpPr>
            <a:spLocks noGrp="1"/>
          </p:cNvSpPr>
          <p:nvPr/>
        </p:nvSpPr>
        <p:spPr>
          <a:xfrm>
            <a:off x="10001250" y="295275"/>
            <a:ext cx="1123950" cy="323850"/>
          </a:xfrm>
          <a:prstGeom prst="rect">
            <a:avLst/>
          </a:prstGeom>
          <a:noFill/>
          <a:ln w="0">
            <a:solidFill>
              <a:srgbClr val="FFFFFF"/>
            </a:solidFill>
          </a:ln>
        </p:spPr>
        <p:txBody>
          <a:bodyPr lIns="76200" tIns="38100" rIns="76200" bIns="38100" anchor="ctr"/>
          <a:lstStyle/>
          <a:p>
            <a:pPr algn="ctr">
              <a:defRPr sz="1125" b="0">
                <a:solidFill>
                  <a:srgbClr val="161616"/>
                </a:solidFill>
                <a:latin typeface="Microsoft YaHei UI" panose="020B0503020204020204" charset="-122"/>
                <a:ea typeface="Microsoft YaHei UI" panose="020B0503020204020204" charset="-122"/>
                <a:cs typeface="Microsoft YaHei UI" panose="020B0503020204020204" charset="-122"/>
              </a:defRPr>
            </a:pPr>
            <a:r>
              <a:rPr sz="1125" b="0">
                <a:solidFill>
                  <a:srgbClr val="161616"/>
                </a:solidFill>
                <a:latin typeface="Microsoft YaHei UI" panose="020B0503020204020204" charset="-122"/>
                <a:ea typeface="Microsoft YaHei UI" panose="020B0503020204020204" charset="-122"/>
                <a:cs typeface="Microsoft YaHei UI" panose="020B0503020204020204" charset="-122"/>
              </a:rPr>
              <a:t>预期贡献</a:t>
            </a:r>
            <a:endParaRPr sz="1125" b="0">
              <a:solidFill>
                <a:srgbClr val="161616"/>
              </a:solidFill>
              <a:latin typeface="Microsoft YaHei UI" panose="020B0503020204020204" charset="-122"/>
              <a:ea typeface="Microsoft YaHei UI" panose="020B0503020204020204" charset="-122"/>
              <a:cs typeface="Microsoft YaHei UI" panose="020B0503020204020204" charset="-122"/>
            </a:endParaRPr>
          </a:p>
        </p:txBody>
      </p:sp>
      <p:sp>
        <p:nvSpPr>
          <p:cNvPr id="21" name="圆角矩形 20"/>
          <p:cNvSpPr>
            <a:spLocks noGrp="1"/>
          </p:cNvSpPr>
          <p:nvPr/>
        </p:nvSpPr>
        <p:spPr>
          <a:xfrm>
            <a:off x="3905250" y="742950"/>
            <a:ext cx="8001000" cy="9525"/>
          </a:xfrm>
          <a:prstGeom prst="roundRect">
            <a:avLst>
              <a:gd name="adj" fmla="val 50000"/>
            </a:avLst>
          </a:prstGeom>
          <a:solidFill>
            <a:srgbClr val="D7DFDA"/>
          </a:solidFill>
          <a:ln w="0">
            <a:solidFill>
              <a:srgbClr val="FFFFFF"/>
            </a:solidFill>
          </a:ln>
        </p:spPr>
      </p:sp>
      <p:sp>
        <p:nvSpPr>
          <p:cNvPr id="22" name="矩形 21"/>
          <p:cNvSpPr>
            <a:spLocks noGrp="1"/>
          </p:cNvSpPr>
          <p:nvPr/>
        </p:nvSpPr>
        <p:spPr>
          <a:xfrm>
            <a:off x="11334750" y="6286500"/>
            <a:ext cx="495300" cy="266700"/>
          </a:xfrm>
          <a:prstGeom prst="rect">
            <a:avLst/>
          </a:prstGeom>
          <a:noFill/>
          <a:ln w="0">
            <a:solidFill>
              <a:srgbClr val="FFFFFF"/>
            </a:solidFill>
          </a:ln>
        </p:spPr>
        <p:txBody>
          <a:bodyPr lIns="76200" tIns="38100" rIns="76200" bIns="38100" anchor="ctr"/>
          <a:lstStyle/>
          <a:p>
            <a:pPr algn="r">
              <a:defRPr sz="975" b="0">
                <a:solidFill>
                  <a:srgbClr val="80A090"/>
                </a:solidFill>
                <a:latin typeface="Microsoft YaHei UI" panose="020B0503020204020204" charset="-122"/>
                <a:ea typeface="Microsoft YaHei UI" panose="020B0503020204020204" charset="-122"/>
                <a:cs typeface="Microsoft YaHei UI" panose="020B0503020204020204" charset="-122"/>
              </a:defRPr>
            </a:pPr>
            <a:r>
              <a:rPr sz="975" b="0">
                <a:solidFill>
                  <a:srgbClr val="80A090"/>
                </a:solidFill>
                <a:latin typeface="Microsoft YaHei UI" panose="020B0503020204020204" charset="-122"/>
                <a:ea typeface="Microsoft YaHei UI" panose="020B0503020204020204" charset="-122"/>
                <a:cs typeface="Microsoft YaHei UI" panose="020B0503020204020204" charset="-122"/>
              </a:rPr>
              <a:t>12</a:t>
            </a:r>
            <a:endParaRPr sz="975" b="0">
              <a:solidFill>
                <a:srgbClr val="80A090"/>
              </a:solidFill>
              <a:latin typeface="Microsoft YaHei UI" panose="020B0503020204020204" charset="-122"/>
              <a:ea typeface="Microsoft YaHei UI" panose="020B0503020204020204" charset="-122"/>
              <a:cs typeface="Microsoft YaHei UI" panose="020B0503020204020204" charset="-122"/>
            </a:endParaRPr>
          </a:p>
        </p:txBody>
      </p:sp>
      <p:sp>
        <p:nvSpPr>
          <p:cNvPr id="23" name="圆角矩形 22"/>
          <p:cNvSpPr>
            <a:spLocks noGrp="1"/>
          </p:cNvSpPr>
          <p:nvPr/>
        </p:nvSpPr>
        <p:spPr>
          <a:xfrm>
            <a:off x="1047750" y="1285875"/>
            <a:ext cx="10096500" cy="1285875"/>
          </a:xfrm>
          <a:prstGeom prst="roundRect">
            <a:avLst>
              <a:gd name="adj" fmla="val 8889"/>
            </a:avLst>
          </a:prstGeom>
          <a:solidFill>
            <a:srgbClr val="FFFFFF"/>
          </a:solidFill>
          <a:ln w="11430">
            <a:solidFill>
              <a:srgbClr val="206040"/>
            </a:solidFill>
          </a:ln>
        </p:spPr>
      </p:sp>
      <p:sp>
        <p:nvSpPr>
          <p:cNvPr id="24" name="矩形 23"/>
          <p:cNvSpPr>
            <a:spLocks noGrp="1"/>
          </p:cNvSpPr>
          <p:nvPr/>
        </p:nvSpPr>
        <p:spPr>
          <a:xfrm>
            <a:off x="1238250" y="1495425"/>
            <a:ext cx="9715500" cy="514350"/>
          </a:xfrm>
          <a:prstGeom prst="rect">
            <a:avLst/>
          </a:prstGeom>
          <a:noFill/>
          <a:ln w="0">
            <a:solidFill>
              <a:srgbClr val="FFFFFF"/>
            </a:solidFill>
          </a:ln>
        </p:spPr>
        <p:txBody>
          <a:bodyPr lIns="76200" tIns="38100" rIns="76200" bIns="38100" anchor="ctr"/>
          <a:lstStyle/>
          <a:p>
            <a:pPr algn="ctr">
              <a:defRPr sz="1800" b="1">
                <a:solidFill>
                  <a:srgbClr val="111111"/>
                </a:solidFill>
                <a:latin typeface="Cambria Math" panose="02040503050406030204"/>
                <a:ea typeface="Cambria Math" panose="02040503050406030204"/>
                <a:cs typeface="Cambria Math" panose="02040503050406030204"/>
              </a:defRPr>
            </a:pPr>
            <a:r>
              <a:rPr sz="1800" b="1">
                <a:solidFill>
                  <a:srgbClr val="111111"/>
                </a:solidFill>
                <a:latin typeface="Cambria Math" panose="02040503050406030204"/>
                <a:ea typeface="Cambria Math" panose="02040503050406030204"/>
                <a:cs typeface="Cambria Math" panose="02040503050406030204"/>
              </a:rPr>
              <a:t>GTFP_ict = α + β₁ER_ct + β₂ER_ct² + γX_ict + μ_i + λ_t + ε_ict</a:t>
            </a:r>
            <a:endParaRPr sz="1800" b="1">
              <a:solidFill>
                <a:srgbClr val="111111"/>
              </a:solidFill>
              <a:latin typeface="Cambria Math" panose="02040503050406030204"/>
              <a:ea typeface="Cambria Math" panose="02040503050406030204"/>
              <a:cs typeface="Cambria Math" panose="02040503050406030204"/>
            </a:endParaRPr>
          </a:p>
        </p:txBody>
      </p:sp>
      <p:sp>
        <p:nvSpPr>
          <p:cNvPr id="25" name="矩形 24"/>
          <p:cNvSpPr>
            <a:spLocks noGrp="1"/>
          </p:cNvSpPr>
          <p:nvPr/>
        </p:nvSpPr>
        <p:spPr>
          <a:xfrm>
            <a:off x="1314450" y="2124075"/>
            <a:ext cx="9563100" cy="295275"/>
          </a:xfrm>
          <a:prstGeom prst="rect">
            <a:avLst/>
          </a:prstGeom>
          <a:noFill/>
          <a:ln w="0">
            <a:solidFill>
              <a:srgbClr val="FFFFFF"/>
            </a:solidFill>
          </a:ln>
        </p:spPr>
        <p:txBody>
          <a:bodyPr lIns="76200" tIns="38100" rIns="76200" bIns="38100" anchor="t"/>
          <a:lstStyle/>
          <a:p>
            <a:pPr algn="l">
              <a:defRPr sz="1125" b="0">
                <a:solidFill>
                  <a:srgbClr val="5D6763"/>
                </a:solidFill>
                <a:latin typeface="Microsoft YaHei UI" panose="020B0503020204020204" charset="-122"/>
                <a:ea typeface="Microsoft YaHei UI" panose="020B0503020204020204" charset="-122"/>
                <a:cs typeface="Microsoft YaHei UI" panose="020B0503020204020204" charset="-122"/>
              </a:defRPr>
            </a:pPr>
            <a:r>
              <a:rPr sz="1125" b="0">
                <a:solidFill>
                  <a:srgbClr val="5D6763"/>
                </a:solidFill>
                <a:latin typeface="Microsoft YaHei UI" panose="020B0503020204020204" charset="-122"/>
                <a:ea typeface="Microsoft YaHei UI" panose="020B0503020204020204" charset="-122"/>
                <a:cs typeface="Microsoft YaHei UI" panose="020B0503020204020204" charset="-122"/>
              </a:rPr>
              <a:t>双向固定效应控制企业不随时间变化的特征与年份共同冲击；ER²用于检验非线性影响。</a:t>
            </a:r>
            <a:endParaRPr sz="1125" b="0">
              <a:solidFill>
                <a:srgbClr val="5D6763"/>
              </a:solidFill>
              <a:latin typeface="Microsoft YaHei UI" panose="020B0503020204020204" charset="-122"/>
              <a:ea typeface="Microsoft YaHei UI" panose="020B0503020204020204" charset="-122"/>
              <a:cs typeface="Microsoft YaHei UI" panose="020B0503020204020204" charset="-122"/>
            </a:endParaRPr>
          </a:p>
        </p:txBody>
      </p:sp>
      <p:sp>
        <p:nvSpPr>
          <p:cNvPr id="26" name="矩形 25"/>
          <p:cNvSpPr>
            <a:spLocks noGrp="1"/>
          </p:cNvSpPr>
          <p:nvPr/>
        </p:nvSpPr>
        <p:spPr>
          <a:xfrm>
            <a:off x="1095375" y="3095625"/>
            <a:ext cx="2000250" cy="400050"/>
          </a:xfrm>
          <a:prstGeom prst="rect">
            <a:avLst/>
          </a:prstGeom>
          <a:solidFill>
            <a:srgbClr val="206040"/>
          </a:solidFill>
          <a:ln w="11430">
            <a:solidFill>
              <a:srgbClr val="C9D5CE"/>
            </a:solidFill>
          </a:ln>
        </p:spPr>
      </p:sp>
      <p:sp>
        <p:nvSpPr>
          <p:cNvPr id="27" name="矩形 26"/>
          <p:cNvSpPr>
            <a:spLocks noGrp="1"/>
          </p:cNvSpPr>
          <p:nvPr/>
        </p:nvSpPr>
        <p:spPr>
          <a:xfrm>
            <a:off x="1123950" y="3114675"/>
            <a:ext cx="1943100" cy="361950"/>
          </a:xfrm>
          <a:prstGeom prst="rect">
            <a:avLst/>
          </a:prstGeom>
          <a:noFill/>
          <a:ln w="0">
            <a:solidFill>
              <a:srgbClr val="FFFFFF"/>
            </a:solidFill>
          </a:ln>
        </p:spPr>
        <p:txBody>
          <a:bodyPr lIns="76200" tIns="38100" rIns="76200" bIns="38100" anchor="ctr"/>
          <a:lstStyle/>
          <a:p>
            <a:pPr algn="ctr">
              <a:defRPr sz="1125" b="1">
                <a:solidFill>
                  <a:srgbClr val="FFFFFF"/>
                </a:solidFill>
                <a:latin typeface="Microsoft YaHei UI" panose="020B0503020204020204" charset="-122"/>
                <a:ea typeface="Microsoft YaHei UI" panose="020B0503020204020204" charset="-122"/>
                <a:cs typeface="Microsoft YaHei UI" panose="020B0503020204020204" charset="-122"/>
              </a:defRPr>
            </a:pPr>
            <a:r>
              <a:rPr sz="1125" b="1">
                <a:solidFill>
                  <a:srgbClr val="FFFFFF"/>
                </a:solidFill>
                <a:latin typeface="Microsoft YaHei UI" panose="020B0503020204020204" charset="-122"/>
                <a:ea typeface="Microsoft YaHei UI" panose="020B0503020204020204" charset="-122"/>
                <a:cs typeface="Microsoft YaHei UI" panose="020B0503020204020204" charset="-122"/>
              </a:rPr>
              <a:t>符号</a:t>
            </a:r>
            <a:endParaRPr sz="1125" b="1">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28" name="矩形 27"/>
          <p:cNvSpPr>
            <a:spLocks noGrp="1"/>
          </p:cNvSpPr>
          <p:nvPr/>
        </p:nvSpPr>
        <p:spPr>
          <a:xfrm>
            <a:off x="3095625" y="3095625"/>
            <a:ext cx="2000250" cy="400050"/>
          </a:xfrm>
          <a:prstGeom prst="rect">
            <a:avLst/>
          </a:prstGeom>
          <a:solidFill>
            <a:srgbClr val="206040"/>
          </a:solidFill>
          <a:ln w="11430">
            <a:solidFill>
              <a:srgbClr val="C9D5CE"/>
            </a:solidFill>
          </a:ln>
        </p:spPr>
      </p:sp>
      <p:sp>
        <p:nvSpPr>
          <p:cNvPr id="29" name="矩形 28"/>
          <p:cNvSpPr>
            <a:spLocks noGrp="1"/>
          </p:cNvSpPr>
          <p:nvPr/>
        </p:nvSpPr>
        <p:spPr>
          <a:xfrm>
            <a:off x="3124200" y="3114675"/>
            <a:ext cx="1943100" cy="361950"/>
          </a:xfrm>
          <a:prstGeom prst="rect">
            <a:avLst/>
          </a:prstGeom>
          <a:noFill/>
          <a:ln w="0">
            <a:solidFill>
              <a:srgbClr val="FFFFFF"/>
            </a:solidFill>
          </a:ln>
        </p:spPr>
        <p:txBody>
          <a:bodyPr lIns="76200" tIns="38100" rIns="76200" bIns="38100" anchor="ctr"/>
          <a:lstStyle/>
          <a:p>
            <a:pPr algn="ctr">
              <a:defRPr sz="1125" b="1">
                <a:solidFill>
                  <a:srgbClr val="FFFFFF"/>
                </a:solidFill>
                <a:latin typeface="Microsoft YaHei UI" panose="020B0503020204020204" charset="-122"/>
                <a:ea typeface="Microsoft YaHei UI" panose="020B0503020204020204" charset="-122"/>
                <a:cs typeface="Microsoft YaHei UI" panose="020B0503020204020204" charset="-122"/>
              </a:defRPr>
            </a:pPr>
            <a:r>
              <a:rPr sz="1125" b="1">
                <a:solidFill>
                  <a:srgbClr val="FFFFFF"/>
                </a:solidFill>
                <a:latin typeface="Microsoft YaHei UI" panose="020B0503020204020204" charset="-122"/>
                <a:ea typeface="Microsoft YaHei UI" panose="020B0503020204020204" charset="-122"/>
                <a:cs typeface="Microsoft YaHei UI" panose="020B0503020204020204" charset="-122"/>
              </a:rPr>
              <a:t>含义</a:t>
            </a:r>
            <a:endParaRPr sz="1125" b="1">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30" name="矩形 29"/>
          <p:cNvSpPr>
            <a:spLocks noGrp="1"/>
          </p:cNvSpPr>
          <p:nvPr/>
        </p:nvSpPr>
        <p:spPr>
          <a:xfrm>
            <a:off x="1095375" y="3495675"/>
            <a:ext cx="2000250" cy="400050"/>
          </a:xfrm>
          <a:prstGeom prst="rect">
            <a:avLst/>
          </a:prstGeom>
          <a:solidFill>
            <a:srgbClr val="FFFFFF"/>
          </a:solidFill>
          <a:ln w="11430">
            <a:solidFill>
              <a:srgbClr val="C9D5CE"/>
            </a:solidFill>
          </a:ln>
        </p:spPr>
      </p:sp>
      <p:sp>
        <p:nvSpPr>
          <p:cNvPr id="31" name="矩形 30"/>
          <p:cNvSpPr>
            <a:spLocks noGrp="1"/>
          </p:cNvSpPr>
          <p:nvPr/>
        </p:nvSpPr>
        <p:spPr>
          <a:xfrm>
            <a:off x="1123950" y="3514725"/>
            <a:ext cx="1943100" cy="361950"/>
          </a:xfrm>
          <a:prstGeom prst="rect">
            <a:avLst/>
          </a:prstGeom>
          <a:noFill/>
          <a:ln w="0">
            <a:solidFill>
              <a:srgbClr val="FFFFFF"/>
            </a:solidFill>
          </a:ln>
        </p:spPr>
        <p:txBody>
          <a:bodyPr lIns="76200" tIns="38100" rIns="76200" bIns="38100" anchor="ctr"/>
          <a:lstStyle/>
          <a:p>
            <a:pPr algn="ctr">
              <a:defRPr sz="1050" b="0">
                <a:solidFill>
                  <a:srgbClr val="111111"/>
                </a:solidFill>
                <a:latin typeface="Microsoft YaHei UI" panose="020B0503020204020204" charset="-122"/>
                <a:ea typeface="Microsoft YaHei UI" panose="020B0503020204020204" charset="-122"/>
                <a:cs typeface="Microsoft YaHei UI" panose="020B0503020204020204" charset="-122"/>
              </a:defRPr>
            </a:pPr>
            <a:r>
              <a:rPr sz="1050" b="0">
                <a:solidFill>
                  <a:srgbClr val="111111"/>
                </a:solidFill>
                <a:latin typeface="Microsoft YaHei UI" panose="020B0503020204020204" charset="-122"/>
                <a:ea typeface="Microsoft YaHei UI" panose="020B0503020204020204" charset="-122"/>
                <a:cs typeface="Microsoft YaHei UI" panose="020B0503020204020204" charset="-122"/>
              </a:rPr>
              <a:t>i / c / t</a:t>
            </a:r>
            <a:endParaRPr sz="1050"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32" name="矩形 31"/>
          <p:cNvSpPr>
            <a:spLocks noGrp="1"/>
          </p:cNvSpPr>
          <p:nvPr/>
        </p:nvSpPr>
        <p:spPr>
          <a:xfrm>
            <a:off x="3095625" y="3495675"/>
            <a:ext cx="2000250" cy="400050"/>
          </a:xfrm>
          <a:prstGeom prst="rect">
            <a:avLst/>
          </a:prstGeom>
          <a:solidFill>
            <a:srgbClr val="FFFFFF"/>
          </a:solidFill>
          <a:ln w="11430">
            <a:solidFill>
              <a:srgbClr val="C9D5CE"/>
            </a:solidFill>
          </a:ln>
        </p:spPr>
      </p:sp>
      <p:sp>
        <p:nvSpPr>
          <p:cNvPr id="33" name="矩形 32"/>
          <p:cNvSpPr>
            <a:spLocks noGrp="1"/>
          </p:cNvSpPr>
          <p:nvPr/>
        </p:nvSpPr>
        <p:spPr>
          <a:xfrm>
            <a:off x="3124200" y="3514725"/>
            <a:ext cx="1943100" cy="361950"/>
          </a:xfrm>
          <a:prstGeom prst="rect">
            <a:avLst/>
          </a:prstGeom>
          <a:noFill/>
          <a:ln w="0">
            <a:solidFill>
              <a:srgbClr val="FFFFFF"/>
            </a:solidFill>
          </a:ln>
        </p:spPr>
        <p:txBody>
          <a:bodyPr lIns="76200" tIns="38100" rIns="76200" bIns="38100" anchor="ctr"/>
          <a:lstStyle/>
          <a:p>
            <a:pPr algn="ctr">
              <a:defRPr sz="1050" b="0">
                <a:solidFill>
                  <a:srgbClr val="111111"/>
                </a:solidFill>
                <a:latin typeface="Microsoft YaHei UI" panose="020B0503020204020204" charset="-122"/>
                <a:ea typeface="Microsoft YaHei UI" panose="020B0503020204020204" charset="-122"/>
                <a:cs typeface="Microsoft YaHei UI" panose="020B0503020204020204" charset="-122"/>
              </a:defRPr>
            </a:pPr>
            <a:r>
              <a:rPr sz="1050" b="0">
                <a:solidFill>
                  <a:srgbClr val="111111"/>
                </a:solidFill>
                <a:latin typeface="Microsoft YaHei UI" panose="020B0503020204020204" charset="-122"/>
                <a:ea typeface="Microsoft YaHei UI" panose="020B0503020204020204" charset="-122"/>
                <a:cs typeface="Microsoft YaHei UI" panose="020B0503020204020204" charset="-122"/>
              </a:rPr>
              <a:t>企业 / 城市 / 年份</a:t>
            </a:r>
            <a:endParaRPr sz="1050"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34" name="矩形 33"/>
          <p:cNvSpPr>
            <a:spLocks noGrp="1"/>
          </p:cNvSpPr>
          <p:nvPr/>
        </p:nvSpPr>
        <p:spPr>
          <a:xfrm>
            <a:off x="1095375" y="3886200"/>
            <a:ext cx="2000250" cy="400050"/>
          </a:xfrm>
          <a:prstGeom prst="rect">
            <a:avLst/>
          </a:prstGeom>
          <a:solidFill>
            <a:srgbClr val="F7FAF8"/>
          </a:solidFill>
          <a:ln w="11430">
            <a:solidFill>
              <a:srgbClr val="C9D5CE"/>
            </a:solidFill>
          </a:ln>
        </p:spPr>
      </p:sp>
      <p:sp>
        <p:nvSpPr>
          <p:cNvPr id="35" name="矩形 34"/>
          <p:cNvSpPr>
            <a:spLocks noGrp="1"/>
          </p:cNvSpPr>
          <p:nvPr/>
        </p:nvSpPr>
        <p:spPr>
          <a:xfrm>
            <a:off x="1123950" y="3905250"/>
            <a:ext cx="1943100" cy="361950"/>
          </a:xfrm>
          <a:prstGeom prst="rect">
            <a:avLst/>
          </a:prstGeom>
          <a:noFill/>
          <a:ln w="0">
            <a:solidFill>
              <a:srgbClr val="FFFFFF"/>
            </a:solidFill>
          </a:ln>
        </p:spPr>
        <p:txBody>
          <a:bodyPr lIns="76200" tIns="38100" rIns="76200" bIns="38100" anchor="ctr"/>
          <a:lstStyle/>
          <a:p>
            <a:pPr algn="ctr">
              <a:defRPr sz="1050" b="0">
                <a:solidFill>
                  <a:srgbClr val="111111"/>
                </a:solidFill>
                <a:latin typeface="Microsoft YaHei UI" panose="020B0503020204020204" charset="-122"/>
                <a:ea typeface="Microsoft YaHei UI" panose="020B0503020204020204" charset="-122"/>
                <a:cs typeface="Microsoft YaHei UI" panose="020B0503020204020204" charset="-122"/>
              </a:defRPr>
            </a:pPr>
            <a:r>
              <a:rPr sz="1050" b="0">
                <a:solidFill>
                  <a:srgbClr val="111111"/>
                </a:solidFill>
                <a:latin typeface="Microsoft YaHei UI" panose="020B0503020204020204" charset="-122"/>
                <a:ea typeface="Microsoft YaHei UI" panose="020B0503020204020204" charset="-122"/>
                <a:cs typeface="Microsoft YaHei UI" panose="020B0503020204020204" charset="-122"/>
              </a:rPr>
              <a:t>μ_i</a:t>
            </a:r>
            <a:endParaRPr sz="1050"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36" name="矩形 35"/>
          <p:cNvSpPr>
            <a:spLocks noGrp="1"/>
          </p:cNvSpPr>
          <p:nvPr/>
        </p:nvSpPr>
        <p:spPr>
          <a:xfrm>
            <a:off x="3095625" y="3886200"/>
            <a:ext cx="2000250" cy="400050"/>
          </a:xfrm>
          <a:prstGeom prst="rect">
            <a:avLst/>
          </a:prstGeom>
          <a:solidFill>
            <a:srgbClr val="F7FAF8"/>
          </a:solidFill>
          <a:ln w="11430">
            <a:solidFill>
              <a:srgbClr val="C9D5CE"/>
            </a:solidFill>
          </a:ln>
        </p:spPr>
      </p:sp>
      <p:sp>
        <p:nvSpPr>
          <p:cNvPr id="37" name="矩形 36"/>
          <p:cNvSpPr>
            <a:spLocks noGrp="1"/>
          </p:cNvSpPr>
          <p:nvPr/>
        </p:nvSpPr>
        <p:spPr>
          <a:xfrm>
            <a:off x="3124200" y="3905250"/>
            <a:ext cx="1943100" cy="361950"/>
          </a:xfrm>
          <a:prstGeom prst="rect">
            <a:avLst/>
          </a:prstGeom>
          <a:noFill/>
          <a:ln w="0">
            <a:solidFill>
              <a:srgbClr val="FFFFFF"/>
            </a:solidFill>
          </a:ln>
        </p:spPr>
        <p:txBody>
          <a:bodyPr lIns="76200" tIns="38100" rIns="76200" bIns="38100" anchor="ctr"/>
          <a:lstStyle/>
          <a:p>
            <a:pPr algn="ctr">
              <a:defRPr sz="1050" b="0">
                <a:solidFill>
                  <a:srgbClr val="111111"/>
                </a:solidFill>
                <a:latin typeface="Microsoft YaHei UI" panose="020B0503020204020204" charset="-122"/>
                <a:ea typeface="Microsoft YaHei UI" panose="020B0503020204020204" charset="-122"/>
                <a:cs typeface="Microsoft YaHei UI" panose="020B0503020204020204" charset="-122"/>
              </a:defRPr>
            </a:pPr>
            <a:r>
              <a:rPr sz="1050" b="0">
                <a:solidFill>
                  <a:srgbClr val="111111"/>
                </a:solidFill>
                <a:latin typeface="Microsoft YaHei UI" panose="020B0503020204020204" charset="-122"/>
                <a:ea typeface="Microsoft YaHei UI" panose="020B0503020204020204" charset="-122"/>
                <a:cs typeface="Microsoft YaHei UI" panose="020B0503020204020204" charset="-122"/>
              </a:rPr>
              <a:t>企业固定效应</a:t>
            </a:r>
            <a:endParaRPr sz="1050"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38" name="矩形 37"/>
          <p:cNvSpPr>
            <a:spLocks noGrp="1"/>
          </p:cNvSpPr>
          <p:nvPr/>
        </p:nvSpPr>
        <p:spPr>
          <a:xfrm>
            <a:off x="1095375" y="4286250"/>
            <a:ext cx="2000250" cy="400050"/>
          </a:xfrm>
          <a:prstGeom prst="rect">
            <a:avLst/>
          </a:prstGeom>
          <a:solidFill>
            <a:srgbClr val="FFFFFF"/>
          </a:solidFill>
          <a:ln w="11430">
            <a:solidFill>
              <a:srgbClr val="C9D5CE"/>
            </a:solidFill>
          </a:ln>
        </p:spPr>
      </p:sp>
      <p:sp>
        <p:nvSpPr>
          <p:cNvPr id="39" name="矩形 38"/>
          <p:cNvSpPr>
            <a:spLocks noGrp="1"/>
          </p:cNvSpPr>
          <p:nvPr/>
        </p:nvSpPr>
        <p:spPr>
          <a:xfrm>
            <a:off x="1123950" y="4305300"/>
            <a:ext cx="1943100" cy="361950"/>
          </a:xfrm>
          <a:prstGeom prst="rect">
            <a:avLst/>
          </a:prstGeom>
          <a:noFill/>
          <a:ln w="0">
            <a:solidFill>
              <a:srgbClr val="FFFFFF"/>
            </a:solidFill>
          </a:ln>
        </p:spPr>
        <p:txBody>
          <a:bodyPr lIns="76200" tIns="38100" rIns="76200" bIns="38100" anchor="ctr"/>
          <a:lstStyle/>
          <a:p>
            <a:pPr algn="ctr">
              <a:defRPr sz="1050" b="0">
                <a:solidFill>
                  <a:srgbClr val="111111"/>
                </a:solidFill>
                <a:latin typeface="Microsoft YaHei UI" panose="020B0503020204020204" charset="-122"/>
                <a:ea typeface="Microsoft YaHei UI" panose="020B0503020204020204" charset="-122"/>
                <a:cs typeface="Microsoft YaHei UI" panose="020B0503020204020204" charset="-122"/>
              </a:defRPr>
            </a:pPr>
            <a:r>
              <a:rPr sz="1050" b="0">
                <a:solidFill>
                  <a:srgbClr val="111111"/>
                </a:solidFill>
                <a:latin typeface="Microsoft YaHei UI" panose="020B0503020204020204" charset="-122"/>
                <a:ea typeface="Microsoft YaHei UI" panose="020B0503020204020204" charset="-122"/>
                <a:cs typeface="Microsoft YaHei UI" panose="020B0503020204020204" charset="-122"/>
              </a:rPr>
              <a:t>λ_t</a:t>
            </a:r>
            <a:endParaRPr sz="1050"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40" name="矩形 39"/>
          <p:cNvSpPr>
            <a:spLocks noGrp="1"/>
          </p:cNvSpPr>
          <p:nvPr/>
        </p:nvSpPr>
        <p:spPr>
          <a:xfrm>
            <a:off x="3095625" y="4286250"/>
            <a:ext cx="2000250" cy="400050"/>
          </a:xfrm>
          <a:prstGeom prst="rect">
            <a:avLst/>
          </a:prstGeom>
          <a:solidFill>
            <a:srgbClr val="FFFFFF"/>
          </a:solidFill>
          <a:ln w="11430">
            <a:solidFill>
              <a:srgbClr val="C9D5CE"/>
            </a:solidFill>
          </a:ln>
        </p:spPr>
      </p:sp>
      <p:sp>
        <p:nvSpPr>
          <p:cNvPr id="41" name="矩形 40"/>
          <p:cNvSpPr>
            <a:spLocks noGrp="1"/>
          </p:cNvSpPr>
          <p:nvPr/>
        </p:nvSpPr>
        <p:spPr>
          <a:xfrm>
            <a:off x="3124200" y="4305300"/>
            <a:ext cx="1943100" cy="361950"/>
          </a:xfrm>
          <a:prstGeom prst="rect">
            <a:avLst/>
          </a:prstGeom>
          <a:noFill/>
          <a:ln w="0">
            <a:solidFill>
              <a:srgbClr val="FFFFFF"/>
            </a:solidFill>
          </a:ln>
        </p:spPr>
        <p:txBody>
          <a:bodyPr lIns="76200" tIns="38100" rIns="76200" bIns="38100" anchor="ctr"/>
          <a:lstStyle/>
          <a:p>
            <a:pPr algn="ctr">
              <a:defRPr sz="1050" b="0">
                <a:solidFill>
                  <a:srgbClr val="111111"/>
                </a:solidFill>
                <a:latin typeface="Microsoft YaHei UI" panose="020B0503020204020204" charset="-122"/>
                <a:ea typeface="Microsoft YaHei UI" panose="020B0503020204020204" charset="-122"/>
                <a:cs typeface="Microsoft YaHei UI" panose="020B0503020204020204" charset="-122"/>
              </a:defRPr>
            </a:pPr>
            <a:r>
              <a:rPr sz="1050" b="0">
                <a:solidFill>
                  <a:srgbClr val="111111"/>
                </a:solidFill>
                <a:latin typeface="Microsoft YaHei UI" panose="020B0503020204020204" charset="-122"/>
                <a:ea typeface="Microsoft YaHei UI" panose="020B0503020204020204" charset="-122"/>
                <a:cs typeface="Microsoft YaHei UI" panose="020B0503020204020204" charset="-122"/>
              </a:rPr>
              <a:t>年份固定效应</a:t>
            </a:r>
            <a:endParaRPr sz="1050"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42" name="矩形 41"/>
          <p:cNvSpPr>
            <a:spLocks noGrp="1"/>
          </p:cNvSpPr>
          <p:nvPr/>
        </p:nvSpPr>
        <p:spPr>
          <a:xfrm>
            <a:off x="1095375" y="4686300"/>
            <a:ext cx="2000250" cy="400050"/>
          </a:xfrm>
          <a:prstGeom prst="rect">
            <a:avLst/>
          </a:prstGeom>
          <a:solidFill>
            <a:srgbClr val="F7FAF8"/>
          </a:solidFill>
          <a:ln w="11430">
            <a:solidFill>
              <a:srgbClr val="C9D5CE"/>
            </a:solidFill>
          </a:ln>
        </p:spPr>
      </p:sp>
      <p:sp>
        <p:nvSpPr>
          <p:cNvPr id="43" name="矩形 42"/>
          <p:cNvSpPr>
            <a:spLocks noGrp="1"/>
          </p:cNvSpPr>
          <p:nvPr/>
        </p:nvSpPr>
        <p:spPr>
          <a:xfrm>
            <a:off x="1123950" y="4705350"/>
            <a:ext cx="1943100" cy="361950"/>
          </a:xfrm>
          <a:prstGeom prst="rect">
            <a:avLst/>
          </a:prstGeom>
          <a:noFill/>
          <a:ln w="0">
            <a:solidFill>
              <a:srgbClr val="FFFFFF"/>
            </a:solidFill>
          </a:ln>
        </p:spPr>
        <p:txBody>
          <a:bodyPr lIns="76200" tIns="38100" rIns="76200" bIns="38100" anchor="ctr"/>
          <a:lstStyle/>
          <a:p>
            <a:pPr algn="ctr">
              <a:defRPr sz="1050" b="0">
                <a:solidFill>
                  <a:srgbClr val="111111"/>
                </a:solidFill>
                <a:latin typeface="Microsoft YaHei UI" panose="020B0503020204020204" charset="-122"/>
                <a:ea typeface="Microsoft YaHei UI" panose="020B0503020204020204" charset="-122"/>
                <a:cs typeface="Microsoft YaHei UI" panose="020B0503020204020204" charset="-122"/>
              </a:defRPr>
            </a:pPr>
            <a:r>
              <a:rPr sz="1050" b="0">
                <a:solidFill>
                  <a:srgbClr val="111111"/>
                </a:solidFill>
                <a:latin typeface="Microsoft YaHei UI" panose="020B0503020204020204" charset="-122"/>
                <a:ea typeface="Microsoft YaHei UI" panose="020B0503020204020204" charset="-122"/>
                <a:cs typeface="Microsoft YaHei UI" panose="020B0503020204020204" charset="-122"/>
              </a:rPr>
              <a:t>X_ict</a:t>
            </a:r>
            <a:endParaRPr sz="1050"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44" name="矩形 43"/>
          <p:cNvSpPr>
            <a:spLocks noGrp="1"/>
          </p:cNvSpPr>
          <p:nvPr/>
        </p:nvSpPr>
        <p:spPr>
          <a:xfrm>
            <a:off x="3095625" y="4686300"/>
            <a:ext cx="2000250" cy="400050"/>
          </a:xfrm>
          <a:prstGeom prst="rect">
            <a:avLst/>
          </a:prstGeom>
          <a:solidFill>
            <a:srgbClr val="F7FAF8"/>
          </a:solidFill>
          <a:ln w="11430">
            <a:solidFill>
              <a:srgbClr val="C9D5CE"/>
            </a:solidFill>
          </a:ln>
        </p:spPr>
      </p:sp>
      <p:sp>
        <p:nvSpPr>
          <p:cNvPr id="45" name="矩形 44"/>
          <p:cNvSpPr>
            <a:spLocks noGrp="1"/>
          </p:cNvSpPr>
          <p:nvPr/>
        </p:nvSpPr>
        <p:spPr>
          <a:xfrm>
            <a:off x="3124200" y="4705350"/>
            <a:ext cx="1943100" cy="361950"/>
          </a:xfrm>
          <a:prstGeom prst="rect">
            <a:avLst/>
          </a:prstGeom>
          <a:noFill/>
          <a:ln w="0">
            <a:solidFill>
              <a:srgbClr val="FFFFFF"/>
            </a:solidFill>
          </a:ln>
        </p:spPr>
        <p:txBody>
          <a:bodyPr lIns="76200" tIns="38100" rIns="76200" bIns="38100" anchor="ctr"/>
          <a:lstStyle/>
          <a:p>
            <a:pPr algn="ctr">
              <a:defRPr sz="1050" b="0">
                <a:solidFill>
                  <a:srgbClr val="111111"/>
                </a:solidFill>
                <a:latin typeface="Microsoft YaHei UI" panose="020B0503020204020204" charset="-122"/>
                <a:ea typeface="Microsoft YaHei UI" panose="020B0503020204020204" charset="-122"/>
                <a:cs typeface="Microsoft YaHei UI" panose="020B0503020204020204" charset="-122"/>
              </a:defRPr>
            </a:pPr>
            <a:r>
              <a:rPr sz="1050" b="0">
                <a:solidFill>
                  <a:srgbClr val="111111"/>
                </a:solidFill>
                <a:latin typeface="Microsoft YaHei UI" panose="020B0503020204020204" charset="-122"/>
                <a:ea typeface="Microsoft YaHei UI" panose="020B0503020204020204" charset="-122"/>
                <a:cs typeface="Microsoft YaHei UI" panose="020B0503020204020204" charset="-122"/>
              </a:rPr>
              <a:t>企业与城市控制变量</a:t>
            </a:r>
            <a:endParaRPr sz="1050"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46" name="矩形 45"/>
          <p:cNvSpPr>
            <a:spLocks noGrp="1"/>
          </p:cNvSpPr>
          <p:nvPr/>
        </p:nvSpPr>
        <p:spPr>
          <a:xfrm>
            <a:off x="1095375" y="5076825"/>
            <a:ext cx="2000250" cy="400050"/>
          </a:xfrm>
          <a:prstGeom prst="rect">
            <a:avLst/>
          </a:prstGeom>
          <a:solidFill>
            <a:srgbClr val="FFFFFF"/>
          </a:solidFill>
          <a:ln w="11430">
            <a:solidFill>
              <a:srgbClr val="C9D5CE"/>
            </a:solidFill>
          </a:ln>
        </p:spPr>
      </p:sp>
      <p:sp>
        <p:nvSpPr>
          <p:cNvPr id="47" name="矩形 46"/>
          <p:cNvSpPr>
            <a:spLocks noGrp="1"/>
          </p:cNvSpPr>
          <p:nvPr/>
        </p:nvSpPr>
        <p:spPr>
          <a:xfrm>
            <a:off x="1123950" y="5095875"/>
            <a:ext cx="1943100" cy="361950"/>
          </a:xfrm>
          <a:prstGeom prst="rect">
            <a:avLst/>
          </a:prstGeom>
          <a:noFill/>
          <a:ln w="0">
            <a:solidFill>
              <a:srgbClr val="FFFFFF"/>
            </a:solidFill>
          </a:ln>
        </p:spPr>
        <p:txBody>
          <a:bodyPr lIns="76200" tIns="38100" rIns="76200" bIns="38100" anchor="ctr"/>
          <a:lstStyle/>
          <a:p>
            <a:pPr algn="ctr">
              <a:defRPr sz="1050" b="0">
                <a:solidFill>
                  <a:srgbClr val="111111"/>
                </a:solidFill>
                <a:latin typeface="Microsoft YaHei UI" panose="020B0503020204020204" charset="-122"/>
                <a:ea typeface="Microsoft YaHei UI" panose="020B0503020204020204" charset="-122"/>
                <a:cs typeface="Microsoft YaHei UI" panose="020B0503020204020204" charset="-122"/>
              </a:defRPr>
            </a:pPr>
            <a:r>
              <a:rPr sz="1050" b="0">
                <a:solidFill>
                  <a:srgbClr val="111111"/>
                </a:solidFill>
                <a:latin typeface="Microsoft YaHei UI" panose="020B0503020204020204" charset="-122"/>
                <a:ea typeface="Microsoft YaHei UI" panose="020B0503020204020204" charset="-122"/>
                <a:cs typeface="Microsoft YaHei UI" panose="020B0503020204020204" charset="-122"/>
              </a:rPr>
              <a:t>β₁, β₂</a:t>
            </a:r>
            <a:endParaRPr sz="1050"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48" name="矩形 47"/>
          <p:cNvSpPr>
            <a:spLocks noGrp="1"/>
          </p:cNvSpPr>
          <p:nvPr/>
        </p:nvSpPr>
        <p:spPr>
          <a:xfrm>
            <a:off x="3095625" y="5076825"/>
            <a:ext cx="2000250" cy="400050"/>
          </a:xfrm>
          <a:prstGeom prst="rect">
            <a:avLst/>
          </a:prstGeom>
          <a:solidFill>
            <a:srgbClr val="FFFFFF"/>
          </a:solidFill>
          <a:ln w="11430">
            <a:solidFill>
              <a:srgbClr val="C9D5CE"/>
            </a:solidFill>
          </a:ln>
        </p:spPr>
      </p:sp>
      <p:sp>
        <p:nvSpPr>
          <p:cNvPr id="49" name="矩形 48"/>
          <p:cNvSpPr>
            <a:spLocks noGrp="1"/>
          </p:cNvSpPr>
          <p:nvPr/>
        </p:nvSpPr>
        <p:spPr>
          <a:xfrm>
            <a:off x="3124200" y="5095875"/>
            <a:ext cx="1943100" cy="361950"/>
          </a:xfrm>
          <a:prstGeom prst="rect">
            <a:avLst/>
          </a:prstGeom>
          <a:noFill/>
          <a:ln w="0">
            <a:solidFill>
              <a:srgbClr val="FFFFFF"/>
            </a:solidFill>
          </a:ln>
        </p:spPr>
        <p:txBody>
          <a:bodyPr lIns="76200" tIns="38100" rIns="76200" bIns="38100" anchor="ctr"/>
          <a:lstStyle/>
          <a:p>
            <a:pPr algn="ctr">
              <a:defRPr sz="1050" b="0">
                <a:solidFill>
                  <a:srgbClr val="111111"/>
                </a:solidFill>
                <a:latin typeface="Microsoft YaHei UI" panose="020B0503020204020204" charset="-122"/>
                <a:ea typeface="Microsoft YaHei UI" panose="020B0503020204020204" charset="-122"/>
                <a:cs typeface="Microsoft YaHei UI" panose="020B0503020204020204" charset="-122"/>
              </a:defRPr>
            </a:pPr>
            <a:r>
              <a:rPr sz="1050" b="0">
                <a:solidFill>
                  <a:srgbClr val="111111"/>
                </a:solidFill>
                <a:latin typeface="Microsoft YaHei UI" panose="020B0503020204020204" charset="-122"/>
                <a:ea typeface="Microsoft YaHei UI" panose="020B0503020204020204" charset="-122"/>
                <a:cs typeface="Microsoft YaHei UI" panose="020B0503020204020204" charset="-122"/>
              </a:rPr>
              <a:t>环境规制线性项与非线性项</a:t>
            </a:r>
            <a:endParaRPr sz="1050"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50" name="圆角矩形 49"/>
          <p:cNvSpPr>
            <a:spLocks noGrp="1"/>
          </p:cNvSpPr>
          <p:nvPr/>
        </p:nvSpPr>
        <p:spPr>
          <a:xfrm>
            <a:off x="5905500" y="3143250"/>
            <a:ext cx="4476750" cy="1428750"/>
          </a:xfrm>
          <a:prstGeom prst="roundRect">
            <a:avLst>
              <a:gd name="adj" fmla="val 8000"/>
            </a:avLst>
          </a:prstGeom>
          <a:solidFill>
            <a:srgbClr val="FFFFFF"/>
          </a:solidFill>
          <a:ln w="11430">
            <a:solidFill>
              <a:srgbClr val="D7DFDA"/>
            </a:solidFill>
          </a:ln>
        </p:spPr>
      </p:sp>
      <p:sp>
        <p:nvSpPr>
          <p:cNvPr id="51" name="矩形 50"/>
          <p:cNvSpPr>
            <a:spLocks noGrp="1"/>
          </p:cNvSpPr>
          <p:nvPr/>
        </p:nvSpPr>
        <p:spPr>
          <a:xfrm>
            <a:off x="6076950" y="3276600"/>
            <a:ext cx="4133850" cy="323850"/>
          </a:xfrm>
          <a:prstGeom prst="rect">
            <a:avLst/>
          </a:prstGeom>
          <a:noFill/>
          <a:ln w="0">
            <a:solidFill>
              <a:srgbClr val="FFFFFF"/>
            </a:solidFill>
          </a:ln>
        </p:spPr>
        <p:txBody>
          <a:bodyPr lIns="76200" tIns="38100" rIns="76200" bIns="38100" anchor="ctr"/>
          <a:lstStyle/>
          <a:p>
            <a:pPr algn="l">
              <a:defRPr sz="1500" b="1">
                <a:solidFill>
                  <a:srgbClr val="206040"/>
                </a:solidFill>
                <a:latin typeface="Microsoft YaHei UI" panose="020B0503020204020204" charset="-122"/>
                <a:ea typeface="Microsoft YaHei UI" panose="020B0503020204020204" charset="-122"/>
                <a:cs typeface="Microsoft YaHei UI" panose="020B0503020204020204" charset="-122"/>
              </a:defRPr>
            </a:pPr>
            <a:r>
              <a:rPr sz="1500" b="1">
                <a:solidFill>
                  <a:srgbClr val="206040"/>
                </a:solidFill>
                <a:latin typeface="Microsoft YaHei UI" panose="020B0503020204020204" charset="-122"/>
                <a:ea typeface="Microsoft YaHei UI" panose="020B0503020204020204" charset="-122"/>
                <a:cs typeface="Microsoft YaHei UI" panose="020B0503020204020204" charset="-122"/>
              </a:rPr>
              <a:t>预期判读</a:t>
            </a:r>
            <a:endParaRPr sz="1500" b="1">
              <a:solidFill>
                <a:srgbClr val="206040"/>
              </a:solidFill>
              <a:latin typeface="Microsoft YaHei UI" panose="020B0503020204020204" charset="-122"/>
              <a:ea typeface="Microsoft YaHei UI" panose="020B0503020204020204" charset="-122"/>
              <a:cs typeface="Microsoft YaHei UI" panose="020B0503020204020204" charset="-122"/>
            </a:endParaRPr>
          </a:p>
        </p:txBody>
      </p:sp>
      <p:sp>
        <p:nvSpPr>
          <p:cNvPr id="52" name="矩形 51"/>
          <p:cNvSpPr>
            <a:spLocks noGrp="1"/>
          </p:cNvSpPr>
          <p:nvPr/>
        </p:nvSpPr>
        <p:spPr>
          <a:xfrm>
            <a:off x="6076950" y="3657600"/>
            <a:ext cx="4133850" cy="781050"/>
          </a:xfrm>
          <a:prstGeom prst="rect">
            <a:avLst/>
          </a:prstGeom>
          <a:noFill/>
          <a:ln w="0">
            <a:solidFill>
              <a:srgbClr val="FFFFFF"/>
            </a:solidFill>
          </a:ln>
        </p:spPr>
        <p:txBody>
          <a:bodyPr lIns="76200" tIns="38100" rIns="76200" bIns="38100" anchor="t"/>
          <a:lstStyle/>
          <a:p>
            <a:pPr algn="l">
              <a:defRPr sz="1275" b="0">
                <a:solidFill>
                  <a:srgbClr val="111111"/>
                </a:solidFill>
                <a:latin typeface="Microsoft YaHei UI" panose="020B0503020204020204" charset="-122"/>
                <a:ea typeface="Microsoft YaHei UI" panose="020B0503020204020204" charset="-122"/>
                <a:cs typeface="Microsoft YaHei UI" panose="020B0503020204020204" charset="-122"/>
              </a:defRPr>
            </a:pPr>
            <a:r>
              <a:rPr sz="1275" b="0">
                <a:solidFill>
                  <a:srgbClr val="111111"/>
                </a:solidFill>
                <a:latin typeface="Microsoft YaHei UI" panose="020B0503020204020204" charset="-122"/>
                <a:ea typeface="Microsoft YaHei UI" panose="020B0503020204020204" charset="-122"/>
                <a:cs typeface="Microsoft YaHei UI" panose="020B0503020204020204" charset="-122"/>
              </a:rPr>
              <a:t>若β₁显著为负且β₂显著为正，说明环境规制与GTFP之间可能存在U型关系。此处为拟检验方向，不是估计结果。</a:t>
            </a:r>
            <a:endParaRPr sz="1275"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53" name="圆角矩形 52"/>
          <p:cNvSpPr>
            <a:spLocks noGrp="1"/>
          </p:cNvSpPr>
          <p:nvPr/>
        </p:nvSpPr>
        <p:spPr>
          <a:xfrm>
            <a:off x="666750" y="5981700"/>
            <a:ext cx="9906000" cy="400050"/>
          </a:xfrm>
          <a:prstGeom prst="roundRect">
            <a:avLst>
              <a:gd name="adj" fmla="val 23810"/>
            </a:avLst>
          </a:prstGeom>
          <a:solidFill>
            <a:srgbClr val="FFF8DA"/>
          </a:solidFill>
          <a:ln w="11430">
            <a:solidFill>
              <a:srgbClr val="E9D47A"/>
            </a:solidFill>
          </a:ln>
        </p:spPr>
      </p:sp>
      <p:sp>
        <p:nvSpPr>
          <p:cNvPr id="54" name="矩形 53"/>
          <p:cNvSpPr>
            <a:spLocks noGrp="1"/>
          </p:cNvSpPr>
          <p:nvPr/>
        </p:nvSpPr>
        <p:spPr>
          <a:xfrm>
            <a:off x="876300" y="6048375"/>
            <a:ext cx="9477375" cy="266700"/>
          </a:xfrm>
          <a:prstGeom prst="rect">
            <a:avLst/>
          </a:prstGeom>
          <a:noFill/>
          <a:ln w="0">
            <a:solidFill>
              <a:srgbClr val="FFFFFF"/>
            </a:solidFill>
          </a:ln>
        </p:spPr>
        <p:txBody>
          <a:bodyPr lIns="76200" tIns="38100" rIns="76200" bIns="38100" anchor="ctr"/>
          <a:lstStyle/>
          <a:p>
            <a:pPr algn="l">
              <a:defRPr sz="1200" b="1">
                <a:solidFill>
                  <a:srgbClr val="206040"/>
                </a:solidFill>
                <a:latin typeface="Microsoft YaHei UI" panose="020B0503020204020204" charset="-122"/>
                <a:ea typeface="Microsoft YaHei UI" panose="020B0503020204020204" charset="-122"/>
                <a:cs typeface="Microsoft YaHei UI" panose="020B0503020204020204" charset="-122"/>
              </a:defRPr>
            </a:pPr>
            <a:r>
              <a:rPr sz="1200" b="1">
                <a:solidFill>
                  <a:srgbClr val="206040"/>
                </a:solidFill>
                <a:latin typeface="Microsoft YaHei UI" panose="020B0503020204020204" charset="-122"/>
                <a:ea typeface="Microsoft YaHei UI" panose="020B0503020204020204" charset="-122"/>
                <a:cs typeface="Microsoft YaHei UI" panose="020B0503020204020204" charset="-122"/>
              </a:rPr>
              <a:t>基准模型先回答“是否存在非线性主效应”。</a:t>
            </a:r>
            <a:endParaRPr sz="1200" b="1">
              <a:solidFill>
                <a:srgbClr val="206040"/>
              </a:solidFill>
              <a:latin typeface="Microsoft YaHei UI" panose="020B0503020204020204" charset="-122"/>
              <a:ea typeface="Microsoft YaHei UI" panose="020B0503020204020204" charset="-122"/>
              <a:cs typeface="Microsoft YaHei UI" panose="020B0503020204020204"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a:spLocks noGrp="1"/>
          </p:cNvSpPr>
          <p:nvPr/>
        </p:nvSpPr>
        <p:spPr>
          <a:xfrm>
            <a:off x="0" y="0"/>
            <a:ext cx="12192000" cy="6858000"/>
          </a:xfrm>
          <a:prstGeom prst="rect">
            <a:avLst/>
          </a:prstGeom>
          <a:solidFill>
            <a:srgbClr val="F4F6F5"/>
          </a:solidFill>
          <a:ln w="0">
            <a:solidFill>
              <a:srgbClr val="FFFFFF"/>
            </a:solidFill>
          </a:ln>
        </p:spPr>
      </p:sp>
      <p:sp>
        <p:nvSpPr>
          <p:cNvPr id="3" name="矩形 2"/>
          <p:cNvSpPr>
            <a:spLocks noGrp="1"/>
          </p:cNvSpPr>
          <p:nvPr/>
        </p:nvSpPr>
        <p:spPr>
          <a:xfrm>
            <a:off x="0" y="0"/>
            <a:ext cx="12192000" cy="6858000"/>
          </a:xfrm>
          <a:prstGeom prst="rect">
            <a:avLst/>
          </a:prstGeom>
          <a:solidFill>
            <a:srgbClr val="F9FAF9"/>
          </a:solidFill>
          <a:ln w="0">
            <a:solidFill>
              <a:srgbClr val="FFFFFF"/>
            </a:solidFill>
          </a:ln>
        </p:spPr>
      </p:sp>
      <p:sp>
        <p:nvSpPr>
          <p:cNvPr id="4" name="矩形 3"/>
          <p:cNvSpPr>
            <a:spLocks noGrp="1"/>
          </p:cNvSpPr>
          <p:nvPr/>
        </p:nvSpPr>
        <p:spPr>
          <a:xfrm>
            <a:off x="8858250" y="0"/>
            <a:ext cx="3333750" cy="6858000"/>
          </a:xfrm>
          <a:prstGeom prst="rect">
            <a:avLst/>
          </a:prstGeom>
          <a:solidFill>
            <a:srgbClr val="F7F9F8"/>
          </a:solidFill>
          <a:ln w="0">
            <a:solidFill>
              <a:srgbClr val="FFFFFF"/>
            </a:solidFill>
          </a:ln>
        </p:spPr>
      </p:sp>
      <p:sp>
        <p:nvSpPr>
          <p:cNvPr id="5" name="矩形 4"/>
          <p:cNvSpPr>
            <a:spLocks noGrp="1"/>
          </p:cNvSpPr>
          <p:nvPr/>
        </p:nvSpPr>
        <p:spPr>
          <a:xfrm>
            <a:off x="0" y="6115050"/>
            <a:ext cx="12192000" cy="742950"/>
          </a:xfrm>
          <a:prstGeom prst="rect">
            <a:avLst/>
          </a:prstGeom>
          <a:solidFill>
            <a:srgbClr val="F8FAF9"/>
          </a:solidFill>
          <a:ln w="0">
            <a:solidFill>
              <a:srgbClr val="FFFFFF"/>
            </a:solidFill>
          </a:ln>
        </p:spPr>
      </p:sp>
      <p:sp>
        <p:nvSpPr>
          <p:cNvPr id="6" name="等腰三角形 5"/>
          <p:cNvSpPr>
            <a:spLocks noGrp="1"/>
          </p:cNvSpPr>
          <p:nvPr/>
        </p:nvSpPr>
        <p:spPr>
          <a:xfrm>
            <a:off x="1524000" y="904875"/>
            <a:ext cx="2476500" cy="1714500"/>
          </a:xfrm>
          <a:prstGeom prst="triangle">
            <a:avLst/>
          </a:prstGeom>
          <a:solidFill>
            <a:srgbClr val="FFFFFF"/>
          </a:solidFill>
          <a:ln w="0">
            <a:solidFill>
              <a:srgbClr val="FFFFFF"/>
            </a:solidFill>
          </a:ln>
        </p:spPr>
      </p:sp>
      <p:sp>
        <p:nvSpPr>
          <p:cNvPr id="7" name="等腰三角形 6"/>
          <p:cNvSpPr>
            <a:spLocks noGrp="1"/>
          </p:cNvSpPr>
          <p:nvPr/>
        </p:nvSpPr>
        <p:spPr>
          <a:xfrm>
            <a:off x="3857625" y="1762125"/>
            <a:ext cx="2476500" cy="1714500"/>
          </a:xfrm>
          <a:prstGeom prst="triangle">
            <a:avLst/>
          </a:prstGeom>
          <a:solidFill>
            <a:srgbClr val="F8FBFA"/>
          </a:solidFill>
          <a:ln w="0">
            <a:solidFill>
              <a:srgbClr val="FFFFFF"/>
            </a:solidFill>
          </a:ln>
        </p:spPr>
      </p:sp>
      <p:sp>
        <p:nvSpPr>
          <p:cNvPr id="8" name="等腰三角形 7"/>
          <p:cNvSpPr>
            <a:spLocks noGrp="1"/>
          </p:cNvSpPr>
          <p:nvPr/>
        </p:nvSpPr>
        <p:spPr>
          <a:xfrm>
            <a:off x="6191250" y="904875"/>
            <a:ext cx="2476500" cy="1714500"/>
          </a:xfrm>
          <a:prstGeom prst="triangle">
            <a:avLst/>
          </a:prstGeom>
          <a:solidFill>
            <a:srgbClr val="FFFFFF"/>
          </a:solidFill>
          <a:ln w="0">
            <a:solidFill>
              <a:srgbClr val="FFFFFF"/>
            </a:solidFill>
          </a:ln>
        </p:spPr>
      </p:sp>
      <p:sp>
        <p:nvSpPr>
          <p:cNvPr id="9" name="等腰三角形 8"/>
          <p:cNvSpPr>
            <a:spLocks noGrp="1"/>
          </p:cNvSpPr>
          <p:nvPr/>
        </p:nvSpPr>
        <p:spPr>
          <a:xfrm>
            <a:off x="8524875" y="1762125"/>
            <a:ext cx="2476500" cy="1714500"/>
          </a:xfrm>
          <a:prstGeom prst="triangle">
            <a:avLst/>
          </a:prstGeom>
          <a:solidFill>
            <a:srgbClr val="F8FBFA"/>
          </a:solidFill>
          <a:ln w="0">
            <a:solidFill>
              <a:srgbClr val="FFFFFF"/>
            </a:solidFill>
          </a:ln>
        </p:spPr>
      </p:sp>
      <p:sp>
        <p:nvSpPr>
          <p:cNvPr id="10" name="等腰三角形 9"/>
          <p:cNvSpPr>
            <a:spLocks noGrp="1"/>
          </p:cNvSpPr>
          <p:nvPr/>
        </p:nvSpPr>
        <p:spPr>
          <a:xfrm>
            <a:off x="10858500" y="904875"/>
            <a:ext cx="2476500" cy="1714500"/>
          </a:xfrm>
          <a:prstGeom prst="triangle">
            <a:avLst/>
          </a:prstGeom>
          <a:solidFill>
            <a:srgbClr val="FFFFFF"/>
          </a:solidFill>
          <a:ln w="0">
            <a:solidFill>
              <a:srgbClr val="FFFFFF"/>
            </a:solidFill>
          </a:ln>
        </p:spPr>
      </p:sp>
      <p:sp>
        <p:nvSpPr>
          <p:cNvPr id="11" name="等腰三角形 10"/>
          <p:cNvSpPr>
            <a:spLocks noGrp="1"/>
          </p:cNvSpPr>
          <p:nvPr/>
        </p:nvSpPr>
        <p:spPr>
          <a:xfrm rot="5400000">
            <a:off x="152400" y="266700"/>
            <a:ext cx="533400" cy="476250"/>
          </a:xfrm>
          <a:prstGeom prst="triangle">
            <a:avLst/>
          </a:prstGeom>
          <a:solidFill>
            <a:srgbClr val="206040"/>
          </a:solidFill>
          <a:ln w="0">
            <a:solidFill>
              <a:srgbClr val="FFFFFF"/>
            </a:solidFill>
          </a:ln>
        </p:spPr>
      </p:sp>
      <p:sp>
        <p:nvSpPr>
          <p:cNvPr id="12" name="等腰三角形 11"/>
          <p:cNvSpPr>
            <a:spLocks noGrp="1"/>
          </p:cNvSpPr>
          <p:nvPr/>
        </p:nvSpPr>
        <p:spPr>
          <a:xfrm rot="5400000">
            <a:off x="381000" y="304800"/>
            <a:ext cx="457200" cy="419100"/>
          </a:xfrm>
          <a:prstGeom prst="triangle">
            <a:avLst/>
          </a:prstGeom>
          <a:solidFill>
            <a:srgbClr val="80A090"/>
          </a:solidFill>
          <a:ln w="0">
            <a:solidFill>
              <a:srgbClr val="FFFFFF"/>
            </a:solidFill>
          </a:ln>
        </p:spPr>
      </p:sp>
      <p:sp>
        <p:nvSpPr>
          <p:cNvPr id="13" name="矩形 12"/>
          <p:cNvSpPr>
            <a:spLocks noGrp="1"/>
          </p:cNvSpPr>
          <p:nvPr/>
        </p:nvSpPr>
        <p:spPr>
          <a:xfrm>
            <a:off x="857250" y="228600"/>
            <a:ext cx="2857500" cy="457200"/>
          </a:xfrm>
          <a:prstGeom prst="rect">
            <a:avLst/>
          </a:prstGeom>
          <a:noFill/>
          <a:ln w="0">
            <a:solidFill>
              <a:srgbClr val="FFFFFF"/>
            </a:solidFill>
          </a:ln>
        </p:spPr>
        <p:txBody>
          <a:bodyPr lIns="76200" tIns="38100" rIns="76200" bIns="38100" anchor="ctr"/>
          <a:lstStyle/>
          <a:p>
            <a:pPr algn="l">
              <a:defRPr sz="2550" b="1">
                <a:solidFill>
                  <a:srgbClr val="206040"/>
                </a:solidFill>
                <a:latin typeface="黑体" panose="02010609060101010101" charset="-122"/>
                <a:ea typeface="黑体" panose="02010609060101010101" charset="-122"/>
                <a:cs typeface="黑体" panose="02010609060101010101" charset="-122"/>
              </a:defRPr>
            </a:pPr>
            <a:r>
              <a:rPr sz="2550" b="1">
                <a:solidFill>
                  <a:srgbClr val="206040"/>
                </a:solidFill>
                <a:latin typeface="黑体" panose="02010609060101010101" charset="-122"/>
                <a:ea typeface="黑体" panose="02010609060101010101" charset="-122"/>
                <a:cs typeface="黑体" panose="02010609060101010101" charset="-122"/>
              </a:rPr>
              <a:t>机制检验</a:t>
            </a:r>
            <a:endParaRPr sz="2550" b="1">
              <a:solidFill>
                <a:srgbClr val="206040"/>
              </a:solidFill>
              <a:latin typeface="黑体" panose="02010609060101010101" charset="-122"/>
              <a:ea typeface="黑体" panose="02010609060101010101" charset="-122"/>
              <a:cs typeface="黑体" panose="02010609060101010101" charset="-122"/>
            </a:endParaRPr>
          </a:p>
        </p:txBody>
      </p:sp>
      <p:sp>
        <p:nvSpPr>
          <p:cNvPr id="14" name="矩形 13"/>
          <p:cNvSpPr>
            <a:spLocks noGrp="1"/>
          </p:cNvSpPr>
          <p:nvPr/>
        </p:nvSpPr>
        <p:spPr>
          <a:xfrm>
            <a:off x="4000500" y="295275"/>
            <a:ext cx="1123950" cy="323850"/>
          </a:xfrm>
          <a:prstGeom prst="rect">
            <a:avLst/>
          </a:prstGeom>
          <a:noFill/>
          <a:ln w="0">
            <a:solidFill>
              <a:srgbClr val="FFFFFF"/>
            </a:solidFill>
          </a:ln>
        </p:spPr>
        <p:txBody>
          <a:bodyPr lIns="76200" tIns="38100" rIns="76200" bIns="38100" anchor="ctr"/>
          <a:lstStyle/>
          <a:p>
            <a:pPr algn="ctr">
              <a:defRPr sz="1125" b="0">
                <a:solidFill>
                  <a:srgbClr val="161616"/>
                </a:solidFill>
                <a:latin typeface="Microsoft YaHei UI" panose="020B0503020204020204" charset="-122"/>
                <a:ea typeface="Microsoft YaHei UI" panose="020B0503020204020204" charset="-122"/>
                <a:cs typeface="Microsoft YaHei UI" panose="020B0503020204020204" charset="-122"/>
              </a:defRPr>
            </a:pPr>
            <a:r>
              <a:rPr sz="1125" b="0">
                <a:solidFill>
                  <a:srgbClr val="161616"/>
                </a:solidFill>
                <a:latin typeface="Microsoft YaHei UI" panose="020B0503020204020204" charset="-122"/>
                <a:ea typeface="Microsoft YaHei UI" panose="020B0503020204020204" charset="-122"/>
                <a:cs typeface="Microsoft YaHei UI" panose="020B0503020204020204" charset="-122"/>
              </a:rPr>
              <a:t>现实问题</a:t>
            </a:r>
            <a:endParaRPr sz="1125" b="0">
              <a:solidFill>
                <a:srgbClr val="161616"/>
              </a:solidFill>
              <a:latin typeface="Microsoft YaHei UI" panose="020B0503020204020204" charset="-122"/>
              <a:ea typeface="Microsoft YaHei UI" panose="020B0503020204020204" charset="-122"/>
              <a:cs typeface="Microsoft YaHei UI" panose="020B0503020204020204" charset="-122"/>
            </a:endParaRPr>
          </a:p>
        </p:txBody>
      </p:sp>
      <p:sp>
        <p:nvSpPr>
          <p:cNvPr id="15" name="矩形 14"/>
          <p:cNvSpPr>
            <a:spLocks noGrp="1"/>
          </p:cNvSpPr>
          <p:nvPr/>
        </p:nvSpPr>
        <p:spPr>
          <a:xfrm>
            <a:off x="5200650" y="295275"/>
            <a:ext cx="1123950" cy="323850"/>
          </a:xfrm>
          <a:prstGeom prst="rect">
            <a:avLst/>
          </a:prstGeom>
          <a:noFill/>
          <a:ln w="0">
            <a:solidFill>
              <a:srgbClr val="FFFFFF"/>
            </a:solidFill>
          </a:ln>
        </p:spPr>
        <p:txBody>
          <a:bodyPr lIns="76200" tIns="38100" rIns="76200" bIns="38100" anchor="ctr"/>
          <a:lstStyle/>
          <a:p>
            <a:pPr algn="ctr">
              <a:defRPr sz="1125" b="0">
                <a:solidFill>
                  <a:srgbClr val="161616"/>
                </a:solidFill>
                <a:latin typeface="Microsoft YaHei UI" panose="020B0503020204020204" charset="-122"/>
                <a:ea typeface="Microsoft YaHei UI" panose="020B0503020204020204" charset="-122"/>
                <a:cs typeface="Microsoft YaHei UI" panose="020B0503020204020204" charset="-122"/>
              </a:defRPr>
            </a:pPr>
            <a:r>
              <a:rPr sz="1125" b="0">
                <a:solidFill>
                  <a:srgbClr val="161616"/>
                </a:solidFill>
                <a:latin typeface="Microsoft YaHei UI" panose="020B0503020204020204" charset="-122"/>
                <a:ea typeface="Microsoft YaHei UI" panose="020B0503020204020204" charset="-122"/>
                <a:cs typeface="Microsoft YaHei UI" panose="020B0503020204020204" charset="-122"/>
              </a:rPr>
              <a:t>科学问题</a:t>
            </a:r>
            <a:endParaRPr sz="1125" b="0">
              <a:solidFill>
                <a:srgbClr val="161616"/>
              </a:solidFill>
              <a:latin typeface="Microsoft YaHei UI" panose="020B0503020204020204" charset="-122"/>
              <a:ea typeface="Microsoft YaHei UI" panose="020B0503020204020204" charset="-122"/>
              <a:cs typeface="Microsoft YaHei UI" panose="020B0503020204020204" charset="-122"/>
            </a:endParaRPr>
          </a:p>
        </p:txBody>
      </p:sp>
      <p:sp>
        <p:nvSpPr>
          <p:cNvPr id="16" name="矩形 15"/>
          <p:cNvSpPr>
            <a:spLocks noGrp="1"/>
          </p:cNvSpPr>
          <p:nvPr/>
        </p:nvSpPr>
        <p:spPr>
          <a:xfrm>
            <a:off x="6400800" y="295275"/>
            <a:ext cx="1123950" cy="323850"/>
          </a:xfrm>
          <a:prstGeom prst="rect">
            <a:avLst/>
          </a:prstGeom>
          <a:noFill/>
          <a:ln w="0">
            <a:solidFill>
              <a:srgbClr val="FFFFFF"/>
            </a:solidFill>
          </a:ln>
        </p:spPr>
        <p:txBody>
          <a:bodyPr lIns="76200" tIns="38100" rIns="76200" bIns="38100" anchor="ctr"/>
          <a:lstStyle/>
          <a:p>
            <a:pPr algn="ctr">
              <a:defRPr sz="1125" b="0">
                <a:solidFill>
                  <a:srgbClr val="161616"/>
                </a:solidFill>
                <a:latin typeface="Microsoft YaHei UI" panose="020B0503020204020204" charset="-122"/>
                <a:ea typeface="Microsoft YaHei UI" panose="020B0503020204020204" charset="-122"/>
                <a:cs typeface="Microsoft YaHei UI" panose="020B0503020204020204" charset="-122"/>
              </a:defRPr>
            </a:pPr>
            <a:r>
              <a:rPr sz="1125" b="0">
                <a:solidFill>
                  <a:srgbClr val="161616"/>
                </a:solidFill>
                <a:latin typeface="Microsoft YaHei UI" panose="020B0503020204020204" charset="-122"/>
                <a:ea typeface="Microsoft YaHei UI" panose="020B0503020204020204" charset="-122"/>
                <a:cs typeface="Microsoft YaHei UI" panose="020B0503020204020204" charset="-122"/>
              </a:rPr>
              <a:t>理论机制</a:t>
            </a:r>
            <a:endParaRPr sz="1125" b="0">
              <a:solidFill>
                <a:srgbClr val="161616"/>
              </a:solidFill>
              <a:latin typeface="Microsoft YaHei UI" panose="020B0503020204020204" charset="-122"/>
              <a:ea typeface="Microsoft YaHei UI" panose="020B0503020204020204" charset="-122"/>
              <a:cs typeface="Microsoft YaHei UI" panose="020B0503020204020204" charset="-122"/>
            </a:endParaRPr>
          </a:p>
        </p:txBody>
      </p:sp>
      <p:sp>
        <p:nvSpPr>
          <p:cNvPr id="17" name="矩形 16"/>
          <p:cNvSpPr>
            <a:spLocks noGrp="1"/>
          </p:cNvSpPr>
          <p:nvPr/>
        </p:nvSpPr>
        <p:spPr>
          <a:xfrm>
            <a:off x="7600950" y="295275"/>
            <a:ext cx="1123950" cy="323850"/>
          </a:xfrm>
          <a:prstGeom prst="rect">
            <a:avLst/>
          </a:prstGeom>
          <a:noFill/>
          <a:ln w="0">
            <a:solidFill>
              <a:srgbClr val="FFFFFF"/>
            </a:solidFill>
          </a:ln>
        </p:spPr>
        <p:txBody>
          <a:bodyPr lIns="76200" tIns="38100" rIns="76200" bIns="38100" anchor="ctr"/>
          <a:lstStyle/>
          <a:p>
            <a:pPr algn="ctr">
              <a:defRPr sz="1125" b="0">
                <a:solidFill>
                  <a:srgbClr val="161616"/>
                </a:solidFill>
                <a:latin typeface="Microsoft YaHei UI" panose="020B0503020204020204" charset="-122"/>
                <a:ea typeface="Microsoft YaHei UI" panose="020B0503020204020204" charset="-122"/>
                <a:cs typeface="Microsoft YaHei UI" panose="020B0503020204020204" charset="-122"/>
              </a:defRPr>
            </a:pPr>
            <a:r>
              <a:rPr sz="1125" b="0">
                <a:solidFill>
                  <a:srgbClr val="161616"/>
                </a:solidFill>
                <a:latin typeface="Microsoft YaHei UI" panose="020B0503020204020204" charset="-122"/>
                <a:ea typeface="Microsoft YaHei UI" panose="020B0503020204020204" charset="-122"/>
                <a:cs typeface="Microsoft YaHei UI" panose="020B0503020204020204" charset="-122"/>
              </a:rPr>
              <a:t>数据变量</a:t>
            </a:r>
            <a:endParaRPr sz="1125" b="0">
              <a:solidFill>
                <a:srgbClr val="161616"/>
              </a:solidFill>
              <a:latin typeface="Microsoft YaHei UI" panose="020B0503020204020204" charset="-122"/>
              <a:ea typeface="Microsoft YaHei UI" panose="020B0503020204020204" charset="-122"/>
              <a:cs typeface="Microsoft YaHei UI" panose="020B0503020204020204" charset="-122"/>
            </a:endParaRPr>
          </a:p>
        </p:txBody>
      </p:sp>
      <p:sp>
        <p:nvSpPr>
          <p:cNvPr id="18" name="矩形 17"/>
          <p:cNvSpPr>
            <a:spLocks noGrp="1"/>
          </p:cNvSpPr>
          <p:nvPr/>
        </p:nvSpPr>
        <p:spPr>
          <a:xfrm>
            <a:off x="8801100" y="228600"/>
            <a:ext cx="1123950" cy="323850"/>
          </a:xfrm>
          <a:prstGeom prst="rect">
            <a:avLst/>
          </a:prstGeom>
          <a:noFill/>
          <a:ln w="0">
            <a:solidFill>
              <a:srgbClr val="FFFFFF"/>
            </a:solidFill>
          </a:ln>
        </p:spPr>
        <p:txBody>
          <a:bodyPr lIns="76200" tIns="38100" rIns="76200" bIns="38100" anchor="ctr"/>
          <a:lstStyle/>
          <a:p>
            <a:pPr algn="ctr">
              <a:defRPr sz="1500" b="1">
                <a:solidFill>
                  <a:srgbClr val="206040"/>
                </a:solidFill>
                <a:latin typeface="Microsoft YaHei UI" panose="020B0503020204020204" charset="-122"/>
                <a:ea typeface="Microsoft YaHei UI" panose="020B0503020204020204" charset="-122"/>
                <a:cs typeface="Microsoft YaHei UI" panose="020B0503020204020204" charset="-122"/>
              </a:defRPr>
            </a:pPr>
            <a:r>
              <a:rPr sz="1500" b="1">
                <a:solidFill>
                  <a:srgbClr val="206040"/>
                </a:solidFill>
                <a:latin typeface="Microsoft YaHei UI" panose="020B0503020204020204" charset="-122"/>
                <a:ea typeface="Microsoft YaHei UI" panose="020B0503020204020204" charset="-122"/>
                <a:cs typeface="Microsoft YaHei UI" panose="020B0503020204020204" charset="-122"/>
              </a:rPr>
              <a:t>模型识别</a:t>
            </a:r>
            <a:endParaRPr sz="1500" b="1">
              <a:solidFill>
                <a:srgbClr val="206040"/>
              </a:solidFill>
              <a:latin typeface="Microsoft YaHei UI" panose="020B0503020204020204" charset="-122"/>
              <a:ea typeface="Microsoft YaHei UI" panose="020B0503020204020204" charset="-122"/>
              <a:cs typeface="Microsoft YaHei UI" panose="020B0503020204020204" charset="-122"/>
            </a:endParaRPr>
          </a:p>
        </p:txBody>
      </p:sp>
      <p:sp>
        <p:nvSpPr>
          <p:cNvPr id="19" name="圆角矩形 18"/>
          <p:cNvSpPr>
            <a:spLocks noGrp="1"/>
          </p:cNvSpPr>
          <p:nvPr/>
        </p:nvSpPr>
        <p:spPr>
          <a:xfrm>
            <a:off x="8972550" y="657225"/>
            <a:ext cx="781050" cy="38100"/>
          </a:xfrm>
          <a:prstGeom prst="roundRect">
            <a:avLst>
              <a:gd name="adj" fmla="val 25000"/>
            </a:avLst>
          </a:prstGeom>
          <a:solidFill>
            <a:srgbClr val="206040"/>
          </a:solidFill>
          <a:ln w="0">
            <a:solidFill>
              <a:srgbClr val="FFFFFF"/>
            </a:solidFill>
          </a:ln>
        </p:spPr>
      </p:sp>
      <p:sp>
        <p:nvSpPr>
          <p:cNvPr id="20" name="矩形 19"/>
          <p:cNvSpPr>
            <a:spLocks noGrp="1"/>
          </p:cNvSpPr>
          <p:nvPr/>
        </p:nvSpPr>
        <p:spPr>
          <a:xfrm>
            <a:off x="10001250" y="295275"/>
            <a:ext cx="1123950" cy="323850"/>
          </a:xfrm>
          <a:prstGeom prst="rect">
            <a:avLst/>
          </a:prstGeom>
          <a:noFill/>
          <a:ln w="0">
            <a:solidFill>
              <a:srgbClr val="FFFFFF"/>
            </a:solidFill>
          </a:ln>
        </p:spPr>
        <p:txBody>
          <a:bodyPr lIns="76200" tIns="38100" rIns="76200" bIns="38100" anchor="ctr"/>
          <a:lstStyle/>
          <a:p>
            <a:pPr algn="ctr">
              <a:defRPr sz="1125" b="0">
                <a:solidFill>
                  <a:srgbClr val="161616"/>
                </a:solidFill>
                <a:latin typeface="Microsoft YaHei UI" panose="020B0503020204020204" charset="-122"/>
                <a:ea typeface="Microsoft YaHei UI" panose="020B0503020204020204" charset="-122"/>
                <a:cs typeface="Microsoft YaHei UI" panose="020B0503020204020204" charset="-122"/>
              </a:defRPr>
            </a:pPr>
            <a:r>
              <a:rPr sz="1125" b="0">
                <a:solidFill>
                  <a:srgbClr val="161616"/>
                </a:solidFill>
                <a:latin typeface="Microsoft YaHei UI" panose="020B0503020204020204" charset="-122"/>
                <a:ea typeface="Microsoft YaHei UI" panose="020B0503020204020204" charset="-122"/>
                <a:cs typeface="Microsoft YaHei UI" panose="020B0503020204020204" charset="-122"/>
              </a:rPr>
              <a:t>预期贡献</a:t>
            </a:r>
            <a:endParaRPr sz="1125" b="0">
              <a:solidFill>
                <a:srgbClr val="161616"/>
              </a:solidFill>
              <a:latin typeface="Microsoft YaHei UI" panose="020B0503020204020204" charset="-122"/>
              <a:ea typeface="Microsoft YaHei UI" panose="020B0503020204020204" charset="-122"/>
              <a:cs typeface="Microsoft YaHei UI" panose="020B0503020204020204" charset="-122"/>
            </a:endParaRPr>
          </a:p>
        </p:txBody>
      </p:sp>
      <p:sp>
        <p:nvSpPr>
          <p:cNvPr id="21" name="圆角矩形 20"/>
          <p:cNvSpPr>
            <a:spLocks noGrp="1"/>
          </p:cNvSpPr>
          <p:nvPr/>
        </p:nvSpPr>
        <p:spPr>
          <a:xfrm>
            <a:off x="3905250" y="742950"/>
            <a:ext cx="8001000" cy="9525"/>
          </a:xfrm>
          <a:prstGeom prst="roundRect">
            <a:avLst>
              <a:gd name="adj" fmla="val 50000"/>
            </a:avLst>
          </a:prstGeom>
          <a:solidFill>
            <a:srgbClr val="D7DFDA"/>
          </a:solidFill>
          <a:ln w="0">
            <a:solidFill>
              <a:srgbClr val="FFFFFF"/>
            </a:solidFill>
          </a:ln>
        </p:spPr>
      </p:sp>
      <p:sp>
        <p:nvSpPr>
          <p:cNvPr id="22" name="矩形 21"/>
          <p:cNvSpPr>
            <a:spLocks noGrp="1"/>
          </p:cNvSpPr>
          <p:nvPr/>
        </p:nvSpPr>
        <p:spPr>
          <a:xfrm>
            <a:off x="11334750" y="6286500"/>
            <a:ext cx="495300" cy="266700"/>
          </a:xfrm>
          <a:prstGeom prst="rect">
            <a:avLst/>
          </a:prstGeom>
          <a:noFill/>
          <a:ln w="0">
            <a:solidFill>
              <a:srgbClr val="FFFFFF"/>
            </a:solidFill>
          </a:ln>
        </p:spPr>
        <p:txBody>
          <a:bodyPr lIns="76200" tIns="38100" rIns="76200" bIns="38100" anchor="ctr"/>
          <a:lstStyle/>
          <a:p>
            <a:pPr algn="r">
              <a:defRPr sz="975" b="0">
                <a:solidFill>
                  <a:srgbClr val="80A090"/>
                </a:solidFill>
                <a:latin typeface="Microsoft YaHei UI" panose="020B0503020204020204" charset="-122"/>
                <a:ea typeface="Microsoft YaHei UI" panose="020B0503020204020204" charset="-122"/>
                <a:cs typeface="Microsoft YaHei UI" panose="020B0503020204020204" charset="-122"/>
              </a:defRPr>
            </a:pPr>
            <a:r>
              <a:rPr sz="975" b="0">
                <a:solidFill>
                  <a:srgbClr val="80A090"/>
                </a:solidFill>
                <a:latin typeface="Microsoft YaHei UI" panose="020B0503020204020204" charset="-122"/>
                <a:ea typeface="Microsoft YaHei UI" panose="020B0503020204020204" charset="-122"/>
                <a:cs typeface="Microsoft YaHei UI" panose="020B0503020204020204" charset="-122"/>
              </a:rPr>
              <a:t>13</a:t>
            </a:r>
            <a:endParaRPr sz="975" b="0">
              <a:solidFill>
                <a:srgbClr val="80A090"/>
              </a:solidFill>
              <a:latin typeface="Microsoft YaHei UI" panose="020B0503020204020204" charset="-122"/>
              <a:ea typeface="Microsoft YaHei UI" panose="020B0503020204020204" charset="-122"/>
              <a:cs typeface="Microsoft YaHei UI" panose="020B0503020204020204" charset="-122"/>
            </a:endParaRPr>
          </a:p>
        </p:txBody>
      </p:sp>
      <p:sp>
        <p:nvSpPr>
          <p:cNvPr id="23" name="圆角矩形 22"/>
          <p:cNvSpPr>
            <a:spLocks noGrp="1"/>
          </p:cNvSpPr>
          <p:nvPr/>
        </p:nvSpPr>
        <p:spPr>
          <a:xfrm>
            <a:off x="857250" y="1238250"/>
            <a:ext cx="10287000" cy="1000125"/>
          </a:xfrm>
          <a:prstGeom prst="roundRect">
            <a:avLst>
              <a:gd name="adj" fmla="val 11429"/>
            </a:avLst>
          </a:prstGeom>
          <a:solidFill>
            <a:srgbClr val="FFFFFF"/>
          </a:solidFill>
          <a:ln w="11430">
            <a:solidFill>
              <a:srgbClr val="206040"/>
            </a:solidFill>
          </a:ln>
        </p:spPr>
      </p:sp>
      <p:sp>
        <p:nvSpPr>
          <p:cNvPr id="24" name="矩形 23"/>
          <p:cNvSpPr>
            <a:spLocks noGrp="1"/>
          </p:cNvSpPr>
          <p:nvPr/>
        </p:nvSpPr>
        <p:spPr>
          <a:xfrm>
            <a:off x="1047750" y="1447800"/>
            <a:ext cx="9906000" cy="514350"/>
          </a:xfrm>
          <a:prstGeom prst="rect">
            <a:avLst/>
          </a:prstGeom>
          <a:noFill/>
          <a:ln w="0">
            <a:solidFill>
              <a:srgbClr val="FFFFFF"/>
            </a:solidFill>
          </a:ln>
        </p:spPr>
        <p:txBody>
          <a:bodyPr lIns="76200" tIns="38100" rIns="76200" bIns="38100" anchor="ctr"/>
          <a:lstStyle/>
          <a:p>
            <a:pPr algn="ctr">
              <a:defRPr sz="1800" b="1">
                <a:solidFill>
                  <a:srgbClr val="111111"/>
                </a:solidFill>
                <a:latin typeface="Cambria Math" panose="02040503050406030204"/>
                <a:ea typeface="Cambria Math" panose="02040503050406030204"/>
                <a:cs typeface="Cambria Math" panose="02040503050406030204"/>
              </a:defRPr>
            </a:pPr>
            <a:r>
              <a:rPr sz="1800" b="1">
                <a:solidFill>
                  <a:srgbClr val="111111"/>
                </a:solidFill>
                <a:latin typeface="Cambria Math" panose="02040503050406030204"/>
                <a:ea typeface="Cambria Math" panose="02040503050406030204"/>
                <a:cs typeface="Cambria Math" panose="02040503050406030204"/>
              </a:rPr>
              <a:t>ComplianceCost_ict = α + θER_ct + γX_ict + μ_i + λ_t + ε_ict</a:t>
            </a:r>
            <a:endParaRPr sz="1800" b="1">
              <a:solidFill>
                <a:srgbClr val="111111"/>
              </a:solidFill>
              <a:latin typeface="Cambria Math" panose="02040503050406030204"/>
              <a:ea typeface="Cambria Math" panose="02040503050406030204"/>
              <a:cs typeface="Cambria Math" panose="02040503050406030204"/>
            </a:endParaRPr>
          </a:p>
        </p:txBody>
      </p:sp>
      <p:sp>
        <p:nvSpPr>
          <p:cNvPr id="25" name="矩形 24"/>
          <p:cNvSpPr>
            <a:spLocks noGrp="1"/>
          </p:cNvSpPr>
          <p:nvPr/>
        </p:nvSpPr>
        <p:spPr>
          <a:xfrm>
            <a:off x="1123950" y="2076450"/>
            <a:ext cx="9753600" cy="9525"/>
          </a:xfrm>
          <a:prstGeom prst="rect">
            <a:avLst/>
          </a:prstGeom>
          <a:noFill/>
          <a:ln w="0">
            <a:solidFill>
              <a:srgbClr val="FFFFFF"/>
            </a:solidFill>
          </a:ln>
        </p:spPr>
        <p:txBody>
          <a:bodyPr lIns="76200" tIns="38100" rIns="76200" bIns="38100" anchor="t"/>
          <a:lstStyle/>
          <a:p>
            <a:pPr algn="l">
              <a:defRPr sz="1125" b="0">
                <a:solidFill>
                  <a:srgbClr val="5D6763"/>
                </a:solidFill>
                <a:latin typeface="Microsoft YaHei UI" panose="020B0503020204020204" charset="-122"/>
                <a:ea typeface="Microsoft YaHei UI" panose="020B0503020204020204" charset="-122"/>
                <a:cs typeface="Microsoft YaHei UI" panose="020B0503020204020204" charset="-122"/>
              </a:defRPr>
            </a:pPr>
            <a:r>
              <a:rPr sz="1125" b="0">
                <a:solidFill>
                  <a:srgbClr val="5D6763"/>
                </a:solidFill>
                <a:latin typeface="Microsoft YaHei UI" panose="020B0503020204020204" charset="-122"/>
                <a:ea typeface="Microsoft YaHei UI" panose="020B0503020204020204" charset="-122"/>
                <a:cs typeface="Microsoft YaHei UI" panose="020B0503020204020204" charset="-122"/>
              </a:rPr>
              <a:t>第一步：检验环境规制是否显著提高企业合规成本。</a:t>
            </a:r>
            <a:endParaRPr sz="1125" b="0">
              <a:solidFill>
                <a:srgbClr val="5D6763"/>
              </a:solidFill>
              <a:latin typeface="Microsoft YaHei UI" panose="020B0503020204020204" charset="-122"/>
              <a:ea typeface="Microsoft YaHei UI" panose="020B0503020204020204" charset="-122"/>
              <a:cs typeface="Microsoft YaHei UI" panose="020B0503020204020204" charset="-122"/>
            </a:endParaRPr>
          </a:p>
        </p:txBody>
      </p:sp>
      <p:sp>
        <p:nvSpPr>
          <p:cNvPr id="26" name="圆角矩形 25"/>
          <p:cNvSpPr>
            <a:spLocks noGrp="1"/>
          </p:cNvSpPr>
          <p:nvPr/>
        </p:nvSpPr>
        <p:spPr>
          <a:xfrm>
            <a:off x="857250" y="2571750"/>
            <a:ext cx="10287000" cy="1095375"/>
          </a:xfrm>
          <a:prstGeom prst="roundRect">
            <a:avLst>
              <a:gd name="adj" fmla="val 10435"/>
            </a:avLst>
          </a:prstGeom>
          <a:solidFill>
            <a:srgbClr val="FFFFFF"/>
          </a:solidFill>
          <a:ln w="11430">
            <a:solidFill>
              <a:srgbClr val="206040"/>
            </a:solidFill>
          </a:ln>
        </p:spPr>
      </p:sp>
      <p:sp>
        <p:nvSpPr>
          <p:cNvPr id="27" name="矩形 26"/>
          <p:cNvSpPr>
            <a:spLocks noGrp="1"/>
          </p:cNvSpPr>
          <p:nvPr/>
        </p:nvSpPr>
        <p:spPr>
          <a:xfrm>
            <a:off x="1047750" y="2781300"/>
            <a:ext cx="9906000" cy="514350"/>
          </a:xfrm>
          <a:prstGeom prst="rect">
            <a:avLst/>
          </a:prstGeom>
          <a:noFill/>
          <a:ln w="0">
            <a:solidFill>
              <a:srgbClr val="FFFFFF"/>
            </a:solidFill>
          </a:ln>
        </p:spPr>
        <p:txBody>
          <a:bodyPr lIns="76200" tIns="38100" rIns="76200" bIns="38100" anchor="ctr"/>
          <a:lstStyle/>
          <a:p>
            <a:pPr algn="ctr">
              <a:defRPr sz="1800" b="1">
                <a:solidFill>
                  <a:srgbClr val="111111"/>
                </a:solidFill>
                <a:latin typeface="Cambria Math" panose="02040503050406030204"/>
                <a:ea typeface="Cambria Math" panose="02040503050406030204"/>
                <a:cs typeface="Cambria Math" panose="02040503050406030204"/>
              </a:defRPr>
            </a:pPr>
            <a:r>
              <a:rPr sz="1800" b="1">
                <a:solidFill>
                  <a:srgbClr val="111111"/>
                </a:solidFill>
                <a:latin typeface="Cambria Math" panose="02040503050406030204"/>
                <a:ea typeface="Cambria Math" panose="02040503050406030204"/>
                <a:cs typeface="Cambria Math" panose="02040503050406030204"/>
              </a:rPr>
              <a:t>GTFP_ict = α + βER_ct + ρComplianceCost_ict + γX_ict + μ_i + λ_t + ε_ict</a:t>
            </a:r>
            <a:endParaRPr sz="1800" b="1">
              <a:solidFill>
                <a:srgbClr val="111111"/>
              </a:solidFill>
              <a:latin typeface="Cambria Math" panose="02040503050406030204"/>
              <a:ea typeface="Cambria Math" panose="02040503050406030204"/>
              <a:cs typeface="Cambria Math" panose="02040503050406030204"/>
            </a:endParaRPr>
          </a:p>
        </p:txBody>
      </p:sp>
      <p:sp>
        <p:nvSpPr>
          <p:cNvPr id="28" name="矩形 27"/>
          <p:cNvSpPr>
            <a:spLocks noGrp="1"/>
          </p:cNvSpPr>
          <p:nvPr/>
        </p:nvSpPr>
        <p:spPr>
          <a:xfrm>
            <a:off x="1123950" y="3409950"/>
            <a:ext cx="9753600" cy="104775"/>
          </a:xfrm>
          <a:prstGeom prst="rect">
            <a:avLst/>
          </a:prstGeom>
          <a:noFill/>
          <a:ln w="0">
            <a:solidFill>
              <a:srgbClr val="FFFFFF"/>
            </a:solidFill>
          </a:ln>
        </p:spPr>
        <p:txBody>
          <a:bodyPr lIns="76200" tIns="38100" rIns="76200" bIns="38100" anchor="t"/>
          <a:lstStyle/>
          <a:p>
            <a:pPr algn="l">
              <a:defRPr sz="1125" b="0">
                <a:solidFill>
                  <a:srgbClr val="5D6763"/>
                </a:solidFill>
                <a:latin typeface="Microsoft YaHei UI" panose="020B0503020204020204" charset="-122"/>
                <a:ea typeface="Microsoft YaHei UI" panose="020B0503020204020204" charset="-122"/>
                <a:cs typeface="Microsoft YaHei UI" panose="020B0503020204020204" charset="-122"/>
              </a:defRPr>
            </a:pPr>
            <a:r>
              <a:rPr sz="1125" b="0">
                <a:solidFill>
                  <a:srgbClr val="5D6763"/>
                </a:solidFill>
                <a:latin typeface="Microsoft YaHei UI" panose="020B0503020204020204" charset="-122"/>
                <a:ea typeface="Microsoft YaHei UI" panose="020B0503020204020204" charset="-122"/>
                <a:cs typeface="Microsoft YaHei UI" panose="020B0503020204020204" charset="-122"/>
              </a:rPr>
              <a:t>第二步：将合规成本纳入GTFP模型，观察成本遵循或创新补偿的证据方向。</a:t>
            </a:r>
            <a:endParaRPr sz="1125" b="0">
              <a:solidFill>
                <a:srgbClr val="5D6763"/>
              </a:solidFill>
              <a:latin typeface="Microsoft YaHei UI" panose="020B0503020204020204" charset="-122"/>
              <a:ea typeface="Microsoft YaHei UI" panose="020B0503020204020204" charset="-122"/>
              <a:cs typeface="Microsoft YaHei UI" panose="020B0503020204020204" charset="-122"/>
            </a:endParaRPr>
          </a:p>
        </p:txBody>
      </p:sp>
      <p:sp>
        <p:nvSpPr>
          <p:cNvPr id="29" name="圆角矩形 28"/>
          <p:cNvSpPr>
            <a:spLocks noGrp="1"/>
          </p:cNvSpPr>
          <p:nvPr/>
        </p:nvSpPr>
        <p:spPr>
          <a:xfrm>
            <a:off x="1095375" y="4191000"/>
            <a:ext cx="4381500" cy="1066800"/>
          </a:xfrm>
          <a:prstGeom prst="roundRect">
            <a:avLst>
              <a:gd name="adj" fmla="val 10714"/>
            </a:avLst>
          </a:prstGeom>
          <a:solidFill>
            <a:srgbClr val="FFFFFF"/>
          </a:solidFill>
          <a:ln w="11430">
            <a:solidFill>
              <a:srgbClr val="D7DFDA"/>
            </a:solidFill>
          </a:ln>
        </p:spPr>
      </p:sp>
      <p:sp>
        <p:nvSpPr>
          <p:cNvPr id="30" name="矩形 29"/>
          <p:cNvSpPr>
            <a:spLocks noGrp="1"/>
          </p:cNvSpPr>
          <p:nvPr/>
        </p:nvSpPr>
        <p:spPr>
          <a:xfrm>
            <a:off x="1266825" y="4324350"/>
            <a:ext cx="4038600" cy="323850"/>
          </a:xfrm>
          <a:prstGeom prst="rect">
            <a:avLst/>
          </a:prstGeom>
          <a:noFill/>
          <a:ln w="0">
            <a:solidFill>
              <a:srgbClr val="FFFFFF"/>
            </a:solidFill>
          </a:ln>
        </p:spPr>
        <p:txBody>
          <a:bodyPr lIns="76200" tIns="38100" rIns="76200" bIns="38100" anchor="ctr"/>
          <a:lstStyle/>
          <a:p>
            <a:pPr algn="l">
              <a:defRPr sz="1500" b="1">
                <a:solidFill>
                  <a:srgbClr val="206040"/>
                </a:solidFill>
                <a:latin typeface="Microsoft YaHei UI" panose="020B0503020204020204" charset="-122"/>
                <a:ea typeface="Microsoft YaHei UI" panose="020B0503020204020204" charset="-122"/>
                <a:cs typeface="Microsoft YaHei UI" panose="020B0503020204020204" charset="-122"/>
              </a:defRPr>
            </a:pPr>
            <a:r>
              <a:rPr sz="1500" b="1">
                <a:solidFill>
                  <a:srgbClr val="206040"/>
                </a:solidFill>
                <a:latin typeface="Microsoft YaHei UI" panose="020B0503020204020204" charset="-122"/>
                <a:ea typeface="Microsoft YaHei UI" panose="020B0503020204020204" charset="-122"/>
                <a:cs typeface="Microsoft YaHei UI" panose="020B0503020204020204" charset="-122"/>
              </a:rPr>
              <a:t>解释边界</a:t>
            </a:r>
            <a:endParaRPr sz="1500" b="1">
              <a:solidFill>
                <a:srgbClr val="206040"/>
              </a:solidFill>
              <a:latin typeface="Microsoft YaHei UI" panose="020B0503020204020204" charset="-122"/>
              <a:ea typeface="Microsoft YaHei UI" panose="020B0503020204020204" charset="-122"/>
              <a:cs typeface="Microsoft YaHei UI" panose="020B0503020204020204" charset="-122"/>
            </a:endParaRPr>
          </a:p>
        </p:txBody>
      </p:sp>
      <p:sp>
        <p:nvSpPr>
          <p:cNvPr id="31" name="矩形 30"/>
          <p:cNvSpPr>
            <a:spLocks noGrp="1"/>
          </p:cNvSpPr>
          <p:nvPr/>
        </p:nvSpPr>
        <p:spPr>
          <a:xfrm>
            <a:off x="1266825" y="4705350"/>
            <a:ext cx="4038600" cy="419100"/>
          </a:xfrm>
          <a:prstGeom prst="rect">
            <a:avLst/>
          </a:prstGeom>
          <a:noFill/>
          <a:ln w="0">
            <a:solidFill>
              <a:srgbClr val="FFFFFF"/>
            </a:solidFill>
          </a:ln>
        </p:spPr>
        <p:txBody>
          <a:bodyPr lIns="76200" tIns="38100" rIns="76200" bIns="38100" anchor="t"/>
          <a:lstStyle/>
          <a:p>
            <a:pPr algn="l">
              <a:defRPr sz="1200" b="0">
                <a:solidFill>
                  <a:srgbClr val="111111"/>
                </a:solidFill>
                <a:latin typeface="Microsoft YaHei UI" panose="020B0503020204020204" charset="-122"/>
                <a:ea typeface="Microsoft YaHei UI" panose="020B0503020204020204" charset="-122"/>
                <a:cs typeface="Microsoft YaHei UI" panose="020B0503020204020204" charset="-122"/>
              </a:defRPr>
            </a:pPr>
            <a:r>
              <a:rPr sz="1200" b="0">
                <a:solidFill>
                  <a:srgbClr val="111111"/>
                </a:solidFill>
                <a:latin typeface="Microsoft YaHei UI" panose="020B0503020204020204" charset="-122"/>
                <a:ea typeface="Microsoft YaHei UI" panose="020B0503020204020204" charset="-122"/>
                <a:cs typeface="Microsoft YaHei UI" panose="020B0503020204020204" charset="-122"/>
              </a:rPr>
              <a:t>参考江艇（2022），机制检验用于补充理论渠道证据，不机械追求“中介效应占比”。</a:t>
            </a:r>
            <a:endParaRPr sz="1200"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32" name="圆角矩形 31"/>
          <p:cNvSpPr>
            <a:spLocks noGrp="1"/>
          </p:cNvSpPr>
          <p:nvPr/>
        </p:nvSpPr>
        <p:spPr>
          <a:xfrm>
            <a:off x="6096000" y="4191000"/>
            <a:ext cx="4381500" cy="1066800"/>
          </a:xfrm>
          <a:prstGeom prst="roundRect">
            <a:avLst>
              <a:gd name="adj" fmla="val 10714"/>
            </a:avLst>
          </a:prstGeom>
          <a:solidFill>
            <a:srgbClr val="FFFFFF"/>
          </a:solidFill>
          <a:ln w="11430">
            <a:solidFill>
              <a:srgbClr val="D7DFDA"/>
            </a:solidFill>
          </a:ln>
        </p:spPr>
      </p:sp>
      <p:sp>
        <p:nvSpPr>
          <p:cNvPr id="33" name="矩形 32"/>
          <p:cNvSpPr>
            <a:spLocks noGrp="1"/>
          </p:cNvSpPr>
          <p:nvPr/>
        </p:nvSpPr>
        <p:spPr>
          <a:xfrm>
            <a:off x="6267450" y="4324350"/>
            <a:ext cx="4038600" cy="323850"/>
          </a:xfrm>
          <a:prstGeom prst="rect">
            <a:avLst/>
          </a:prstGeom>
          <a:noFill/>
          <a:ln w="0">
            <a:solidFill>
              <a:srgbClr val="FFFFFF"/>
            </a:solidFill>
          </a:ln>
        </p:spPr>
        <p:txBody>
          <a:bodyPr lIns="76200" tIns="38100" rIns="76200" bIns="38100" anchor="ctr"/>
          <a:lstStyle/>
          <a:p>
            <a:pPr algn="l">
              <a:defRPr sz="1500" b="1">
                <a:solidFill>
                  <a:srgbClr val="206040"/>
                </a:solidFill>
                <a:latin typeface="Microsoft YaHei UI" panose="020B0503020204020204" charset="-122"/>
                <a:ea typeface="Microsoft YaHei UI" panose="020B0503020204020204" charset="-122"/>
                <a:cs typeface="Microsoft YaHei UI" panose="020B0503020204020204" charset="-122"/>
              </a:defRPr>
            </a:pPr>
            <a:r>
              <a:rPr sz="1500" b="1">
                <a:solidFill>
                  <a:srgbClr val="206040"/>
                </a:solidFill>
                <a:latin typeface="Microsoft YaHei UI" panose="020B0503020204020204" charset="-122"/>
                <a:ea typeface="Microsoft YaHei UI" panose="020B0503020204020204" charset="-122"/>
                <a:cs typeface="Microsoft YaHei UI" panose="020B0503020204020204" charset="-122"/>
              </a:rPr>
              <a:t>动态含义</a:t>
            </a:r>
            <a:endParaRPr sz="1500" b="1">
              <a:solidFill>
                <a:srgbClr val="206040"/>
              </a:solidFill>
              <a:latin typeface="Microsoft YaHei UI" panose="020B0503020204020204" charset="-122"/>
              <a:ea typeface="Microsoft YaHei UI" panose="020B0503020204020204" charset="-122"/>
              <a:cs typeface="Microsoft YaHei UI" panose="020B0503020204020204" charset="-122"/>
            </a:endParaRPr>
          </a:p>
        </p:txBody>
      </p:sp>
      <p:sp>
        <p:nvSpPr>
          <p:cNvPr id="34" name="矩形 33"/>
          <p:cNvSpPr>
            <a:spLocks noGrp="1"/>
          </p:cNvSpPr>
          <p:nvPr/>
        </p:nvSpPr>
        <p:spPr>
          <a:xfrm>
            <a:off x="6267450" y="4705350"/>
            <a:ext cx="4038600" cy="419100"/>
          </a:xfrm>
          <a:prstGeom prst="rect">
            <a:avLst/>
          </a:prstGeom>
          <a:noFill/>
          <a:ln w="0">
            <a:solidFill>
              <a:srgbClr val="FFFFFF"/>
            </a:solidFill>
          </a:ln>
        </p:spPr>
        <p:txBody>
          <a:bodyPr lIns="76200" tIns="38100" rIns="76200" bIns="38100" anchor="t"/>
          <a:lstStyle/>
          <a:p>
            <a:pPr algn="l">
              <a:defRPr sz="1200" b="0">
                <a:solidFill>
                  <a:srgbClr val="111111"/>
                </a:solidFill>
                <a:latin typeface="Microsoft YaHei UI" panose="020B0503020204020204" charset="-122"/>
                <a:ea typeface="Microsoft YaHei UI" panose="020B0503020204020204" charset="-122"/>
                <a:cs typeface="Microsoft YaHei UI" panose="020B0503020204020204" charset="-122"/>
              </a:defRPr>
            </a:pPr>
            <a:r>
              <a:rPr sz="1200" b="0">
                <a:solidFill>
                  <a:srgbClr val="111111"/>
                </a:solidFill>
                <a:latin typeface="Microsoft YaHei UI" panose="020B0503020204020204" charset="-122"/>
                <a:ea typeface="Microsoft YaHei UI" panose="020B0503020204020204" charset="-122"/>
                <a:cs typeface="Microsoft YaHei UI" panose="020B0503020204020204" charset="-122"/>
              </a:rPr>
              <a:t>当期ρ若为负，可理解为成本遵循；滞后合规成本或环保资本支出若为正，提示创新补偿。</a:t>
            </a:r>
            <a:endParaRPr sz="1200"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a:spLocks noGrp="1"/>
          </p:cNvSpPr>
          <p:nvPr/>
        </p:nvSpPr>
        <p:spPr>
          <a:xfrm>
            <a:off x="0" y="0"/>
            <a:ext cx="12192000" cy="6858000"/>
          </a:xfrm>
          <a:prstGeom prst="rect">
            <a:avLst/>
          </a:prstGeom>
          <a:solidFill>
            <a:srgbClr val="F4F6F5"/>
          </a:solidFill>
          <a:ln w="0">
            <a:solidFill>
              <a:srgbClr val="FFFFFF"/>
            </a:solidFill>
          </a:ln>
        </p:spPr>
      </p:sp>
      <p:sp>
        <p:nvSpPr>
          <p:cNvPr id="3" name="矩形 2"/>
          <p:cNvSpPr>
            <a:spLocks noGrp="1"/>
          </p:cNvSpPr>
          <p:nvPr/>
        </p:nvSpPr>
        <p:spPr>
          <a:xfrm>
            <a:off x="0" y="0"/>
            <a:ext cx="12192000" cy="6858000"/>
          </a:xfrm>
          <a:prstGeom prst="rect">
            <a:avLst/>
          </a:prstGeom>
          <a:solidFill>
            <a:srgbClr val="F9FAF9"/>
          </a:solidFill>
          <a:ln w="0">
            <a:solidFill>
              <a:srgbClr val="FFFFFF"/>
            </a:solidFill>
          </a:ln>
        </p:spPr>
      </p:sp>
      <p:sp>
        <p:nvSpPr>
          <p:cNvPr id="4" name="矩形 3"/>
          <p:cNvSpPr>
            <a:spLocks noGrp="1"/>
          </p:cNvSpPr>
          <p:nvPr/>
        </p:nvSpPr>
        <p:spPr>
          <a:xfrm>
            <a:off x="8858250" y="0"/>
            <a:ext cx="3333750" cy="6858000"/>
          </a:xfrm>
          <a:prstGeom prst="rect">
            <a:avLst/>
          </a:prstGeom>
          <a:solidFill>
            <a:srgbClr val="F7F9F8"/>
          </a:solidFill>
          <a:ln w="0">
            <a:solidFill>
              <a:srgbClr val="FFFFFF"/>
            </a:solidFill>
          </a:ln>
        </p:spPr>
      </p:sp>
      <p:sp>
        <p:nvSpPr>
          <p:cNvPr id="5" name="矩形 4"/>
          <p:cNvSpPr>
            <a:spLocks noGrp="1"/>
          </p:cNvSpPr>
          <p:nvPr/>
        </p:nvSpPr>
        <p:spPr>
          <a:xfrm>
            <a:off x="0" y="6115050"/>
            <a:ext cx="12192000" cy="742950"/>
          </a:xfrm>
          <a:prstGeom prst="rect">
            <a:avLst/>
          </a:prstGeom>
          <a:solidFill>
            <a:srgbClr val="F8FAF9"/>
          </a:solidFill>
          <a:ln w="0">
            <a:solidFill>
              <a:srgbClr val="FFFFFF"/>
            </a:solidFill>
          </a:ln>
        </p:spPr>
      </p:sp>
      <p:sp>
        <p:nvSpPr>
          <p:cNvPr id="6" name="等腰三角形 5"/>
          <p:cNvSpPr>
            <a:spLocks noGrp="1"/>
          </p:cNvSpPr>
          <p:nvPr/>
        </p:nvSpPr>
        <p:spPr>
          <a:xfrm>
            <a:off x="1524000" y="904875"/>
            <a:ext cx="2476500" cy="1714500"/>
          </a:xfrm>
          <a:prstGeom prst="triangle">
            <a:avLst/>
          </a:prstGeom>
          <a:solidFill>
            <a:srgbClr val="FFFFFF"/>
          </a:solidFill>
          <a:ln w="0">
            <a:solidFill>
              <a:srgbClr val="FFFFFF"/>
            </a:solidFill>
          </a:ln>
        </p:spPr>
      </p:sp>
      <p:sp>
        <p:nvSpPr>
          <p:cNvPr id="7" name="等腰三角形 6"/>
          <p:cNvSpPr>
            <a:spLocks noGrp="1"/>
          </p:cNvSpPr>
          <p:nvPr/>
        </p:nvSpPr>
        <p:spPr>
          <a:xfrm>
            <a:off x="3857625" y="1762125"/>
            <a:ext cx="2476500" cy="1714500"/>
          </a:xfrm>
          <a:prstGeom prst="triangle">
            <a:avLst/>
          </a:prstGeom>
          <a:solidFill>
            <a:srgbClr val="F8FBFA"/>
          </a:solidFill>
          <a:ln w="0">
            <a:solidFill>
              <a:srgbClr val="FFFFFF"/>
            </a:solidFill>
          </a:ln>
        </p:spPr>
      </p:sp>
      <p:sp>
        <p:nvSpPr>
          <p:cNvPr id="8" name="等腰三角形 7"/>
          <p:cNvSpPr>
            <a:spLocks noGrp="1"/>
          </p:cNvSpPr>
          <p:nvPr/>
        </p:nvSpPr>
        <p:spPr>
          <a:xfrm>
            <a:off x="6191250" y="904875"/>
            <a:ext cx="2476500" cy="1714500"/>
          </a:xfrm>
          <a:prstGeom prst="triangle">
            <a:avLst/>
          </a:prstGeom>
          <a:solidFill>
            <a:srgbClr val="FFFFFF"/>
          </a:solidFill>
          <a:ln w="0">
            <a:solidFill>
              <a:srgbClr val="FFFFFF"/>
            </a:solidFill>
          </a:ln>
        </p:spPr>
      </p:sp>
      <p:sp>
        <p:nvSpPr>
          <p:cNvPr id="9" name="等腰三角形 8"/>
          <p:cNvSpPr>
            <a:spLocks noGrp="1"/>
          </p:cNvSpPr>
          <p:nvPr/>
        </p:nvSpPr>
        <p:spPr>
          <a:xfrm>
            <a:off x="8524875" y="1762125"/>
            <a:ext cx="2476500" cy="1714500"/>
          </a:xfrm>
          <a:prstGeom prst="triangle">
            <a:avLst/>
          </a:prstGeom>
          <a:solidFill>
            <a:srgbClr val="F8FBFA"/>
          </a:solidFill>
          <a:ln w="0">
            <a:solidFill>
              <a:srgbClr val="FFFFFF"/>
            </a:solidFill>
          </a:ln>
        </p:spPr>
      </p:sp>
      <p:sp>
        <p:nvSpPr>
          <p:cNvPr id="10" name="等腰三角形 9"/>
          <p:cNvSpPr>
            <a:spLocks noGrp="1"/>
          </p:cNvSpPr>
          <p:nvPr/>
        </p:nvSpPr>
        <p:spPr>
          <a:xfrm>
            <a:off x="10858500" y="904875"/>
            <a:ext cx="2476500" cy="1714500"/>
          </a:xfrm>
          <a:prstGeom prst="triangle">
            <a:avLst/>
          </a:prstGeom>
          <a:solidFill>
            <a:srgbClr val="FFFFFF"/>
          </a:solidFill>
          <a:ln w="0">
            <a:solidFill>
              <a:srgbClr val="FFFFFF"/>
            </a:solidFill>
          </a:ln>
        </p:spPr>
      </p:sp>
      <p:sp>
        <p:nvSpPr>
          <p:cNvPr id="11" name="等腰三角形 10"/>
          <p:cNvSpPr>
            <a:spLocks noGrp="1"/>
          </p:cNvSpPr>
          <p:nvPr/>
        </p:nvSpPr>
        <p:spPr>
          <a:xfrm rot="5400000">
            <a:off x="152400" y="266700"/>
            <a:ext cx="533400" cy="476250"/>
          </a:xfrm>
          <a:prstGeom prst="triangle">
            <a:avLst/>
          </a:prstGeom>
          <a:solidFill>
            <a:srgbClr val="206040"/>
          </a:solidFill>
          <a:ln w="0">
            <a:solidFill>
              <a:srgbClr val="FFFFFF"/>
            </a:solidFill>
          </a:ln>
        </p:spPr>
      </p:sp>
      <p:sp>
        <p:nvSpPr>
          <p:cNvPr id="12" name="等腰三角形 11"/>
          <p:cNvSpPr>
            <a:spLocks noGrp="1"/>
          </p:cNvSpPr>
          <p:nvPr/>
        </p:nvSpPr>
        <p:spPr>
          <a:xfrm rot="5400000">
            <a:off x="381000" y="304800"/>
            <a:ext cx="457200" cy="419100"/>
          </a:xfrm>
          <a:prstGeom prst="triangle">
            <a:avLst/>
          </a:prstGeom>
          <a:solidFill>
            <a:srgbClr val="80A090"/>
          </a:solidFill>
          <a:ln w="0">
            <a:solidFill>
              <a:srgbClr val="FFFFFF"/>
            </a:solidFill>
          </a:ln>
        </p:spPr>
      </p:sp>
      <p:sp>
        <p:nvSpPr>
          <p:cNvPr id="13" name="矩形 12"/>
          <p:cNvSpPr>
            <a:spLocks noGrp="1"/>
          </p:cNvSpPr>
          <p:nvPr/>
        </p:nvSpPr>
        <p:spPr>
          <a:xfrm>
            <a:off x="857250" y="228600"/>
            <a:ext cx="2857500" cy="457200"/>
          </a:xfrm>
          <a:prstGeom prst="rect">
            <a:avLst/>
          </a:prstGeom>
          <a:noFill/>
          <a:ln w="0">
            <a:solidFill>
              <a:srgbClr val="FFFFFF"/>
            </a:solidFill>
          </a:ln>
        </p:spPr>
        <p:txBody>
          <a:bodyPr lIns="76200" tIns="38100" rIns="76200" bIns="38100" anchor="ctr"/>
          <a:lstStyle/>
          <a:p>
            <a:pPr algn="l">
              <a:defRPr sz="2550" b="1">
                <a:solidFill>
                  <a:srgbClr val="206040"/>
                </a:solidFill>
                <a:latin typeface="黑体" panose="02010609060101010101" charset="-122"/>
                <a:ea typeface="黑体" panose="02010609060101010101" charset="-122"/>
                <a:cs typeface="黑体" panose="02010609060101010101" charset="-122"/>
              </a:defRPr>
            </a:pPr>
            <a:r>
              <a:rPr sz="2550" b="1">
                <a:solidFill>
                  <a:srgbClr val="206040"/>
                </a:solidFill>
                <a:latin typeface="黑体" panose="02010609060101010101" charset="-122"/>
                <a:ea typeface="黑体" panose="02010609060101010101" charset="-122"/>
                <a:cs typeface="黑体" panose="02010609060101010101" charset="-122"/>
              </a:rPr>
              <a:t>产权异质性</a:t>
            </a:r>
            <a:endParaRPr sz="2550" b="1">
              <a:solidFill>
                <a:srgbClr val="206040"/>
              </a:solidFill>
              <a:latin typeface="黑体" panose="02010609060101010101" charset="-122"/>
              <a:ea typeface="黑体" panose="02010609060101010101" charset="-122"/>
              <a:cs typeface="黑体" panose="02010609060101010101" charset="-122"/>
            </a:endParaRPr>
          </a:p>
        </p:txBody>
      </p:sp>
      <p:sp>
        <p:nvSpPr>
          <p:cNvPr id="14" name="矩形 13"/>
          <p:cNvSpPr>
            <a:spLocks noGrp="1"/>
          </p:cNvSpPr>
          <p:nvPr/>
        </p:nvSpPr>
        <p:spPr>
          <a:xfrm>
            <a:off x="4000500" y="295275"/>
            <a:ext cx="1123950" cy="323850"/>
          </a:xfrm>
          <a:prstGeom prst="rect">
            <a:avLst/>
          </a:prstGeom>
          <a:noFill/>
          <a:ln w="0">
            <a:solidFill>
              <a:srgbClr val="FFFFFF"/>
            </a:solidFill>
          </a:ln>
        </p:spPr>
        <p:txBody>
          <a:bodyPr lIns="76200" tIns="38100" rIns="76200" bIns="38100" anchor="ctr"/>
          <a:lstStyle/>
          <a:p>
            <a:pPr algn="ctr">
              <a:defRPr sz="1125" b="0">
                <a:solidFill>
                  <a:srgbClr val="161616"/>
                </a:solidFill>
                <a:latin typeface="Microsoft YaHei UI" panose="020B0503020204020204" charset="-122"/>
                <a:ea typeface="Microsoft YaHei UI" panose="020B0503020204020204" charset="-122"/>
                <a:cs typeface="Microsoft YaHei UI" panose="020B0503020204020204" charset="-122"/>
              </a:defRPr>
            </a:pPr>
            <a:r>
              <a:rPr sz="1125" b="0">
                <a:solidFill>
                  <a:srgbClr val="161616"/>
                </a:solidFill>
                <a:latin typeface="Microsoft YaHei UI" panose="020B0503020204020204" charset="-122"/>
                <a:ea typeface="Microsoft YaHei UI" panose="020B0503020204020204" charset="-122"/>
                <a:cs typeface="Microsoft YaHei UI" panose="020B0503020204020204" charset="-122"/>
              </a:rPr>
              <a:t>现实问题</a:t>
            </a:r>
            <a:endParaRPr sz="1125" b="0">
              <a:solidFill>
                <a:srgbClr val="161616"/>
              </a:solidFill>
              <a:latin typeface="Microsoft YaHei UI" panose="020B0503020204020204" charset="-122"/>
              <a:ea typeface="Microsoft YaHei UI" panose="020B0503020204020204" charset="-122"/>
              <a:cs typeface="Microsoft YaHei UI" panose="020B0503020204020204" charset="-122"/>
            </a:endParaRPr>
          </a:p>
        </p:txBody>
      </p:sp>
      <p:sp>
        <p:nvSpPr>
          <p:cNvPr id="15" name="矩形 14"/>
          <p:cNvSpPr>
            <a:spLocks noGrp="1"/>
          </p:cNvSpPr>
          <p:nvPr/>
        </p:nvSpPr>
        <p:spPr>
          <a:xfrm>
            <a:off x="5200650" y="295275"/>
            <a:ext cx="1123950" cy="323850"/>
          </a:xfrm>
          <a:prstGeom prst="rect">
            <a:avLst/>
          </a:prstGeom>
          <a:noFill/>
          <a:ln w="0">
            <a:solidFill>
              <a:srgbClr val="FFFFFF"/>
            </a:solidFill>
          </a:ln>
        </p:spPr>
        <p:txBody>
          <a:bodyPr lIns="76200" tIns="38100" rIns="76200" bIns="38100" anchor="ctr"/>
          <a:lstStyle/>
          <a:p>
            <a:pPr algn="ctr">
              <a:defRPr sz="1125" b="0">
                <a:solidFill>
                  <a:srgbClr val="161616"/>
                </a:solidFill>
                <a:latin typeface="Microsoft YaHei UI" panose="020B0503020204020204" charset="-122"/>
                <a:ea typeface="Microsoft YaHei UI" panose="020B0503020204020204" charset="-122"/>
                <a:cs typeface="Microsoft YaHei UI" panose="020B0503020204020204" charset="-122"/>
              </a:defRPr>
            </a:pPr>
            <a:r>
              <a:rPr sz="1125" b="0">
                <a:solidFill>
                  <a:srgbClr val="161616"/>
                </a:solidFill>
                <a:latin typeface="Microsoft YaHei UI" panose="020B0503020204020204" charset="-122"/>
                <a:ea typeface="Microsoft YaHei UI" panose="020B0503020204020204" charset="-122"/>
                <a:cs typeface="Microsoft YaHei UI" panose="020B0503020204020204" charset="-122"/>
              </a:rPr>
              <a:t>科学问题</a:t>
            </a:r>
            <a:endParaRPr sz="1125" b="0">
              <a:solidFill>
                <a:srgbClr val="161616"/>
              </a:solidFill>
              <a:latin typeface="Microsoft YaHei UI" panose="020B0503020204020204" charset="-122"/>
              <a:ea typeface="Microsoft YaHei UI" panose="020B0503020204020204" charset="-122"/>
              <a:cs typeface="Microsoft YaHei UI" panose="020B0503020204020204" charset="-122"/>
            </a:endParaRPr>
          </a:p>
        </p:txBody>
      </p:sp>
      <p:sp>
        <p:nvSpPr>
          <p:cNvPr id="16" name="矩形 15"/>
          <p:cNvSpPr>
            <a:spLocks noGrp="1"/>
          </p:cNvSpPr>
          <p:nvPr/>
        </p:nvSpPr>
        <p:spPr>
          <a:xfrm>
            <a:off x="6400800" y="295275"/>
            <a:ext cx="1123950" cy="323850"/>
          </a:xfrm>
          <a:prstGeom prst="rect">
            <a:avLst/>
          </a:prstGeom>
          <a:noFill/>
          <a:ln w="0">
            <a:solidFill>
              <a:srgbClr val="FFFFFF"/>
            </a:solidFill>
          </a:ln>
        </p:spPr>
        <p:txBody>
          <a:bodyPr lIns="76200" tIns="38100" rIns="76200" bIns="38100" anchor="ctr"/>
          <a:lstStyle/>
          <a:p>
            <a:pPr algn="ctr">
              <a:defRPr sz="1125" b="0">
                <a:solidFill>
                  <a:srgbClr val="161616"/>
                </a:solidFill>
                <a:latin typeface="Microsoft YaHei UI" panose="020B0503020204020204" charset="-122"/>
                <a:ea typeface="Microsoft YaHei UI" panose="020B0503020204020204" charset="-122"/>
                <a:cs typeface="Microsoft YaHei UI" panose="020B0503020204020204" charset="-122"/>
              </a:defRPr>
            </a:pPr>
            <a:r>
              <a:rPr sz="1125" b="0">
                <a:solidFill>
                  <a:srgbClr val="161616"/>
                </a:solidFill>
                <a:latin typeface="Microsoft YaHei UI" panose="020B0503020204020204" charset="-122"/>
                <a:ea typeface="Microsoft YaHei UI" panose="020B0503020204020204" charset="-122"/>
                <a:cs typeface="Microsoft YaHei UI" panose="020B0503020204020204" charset="-122"/>
              </a:rPr>
              <a:t>理论机制</a:t>
            </a:r>
            <a:endParaRPr sz="1125" b="0">
              <a:solidFill>
                <a:srgbClr val="161616"/>
              </a:solidFill>
              <a:latin typeface="Microsoft YaHei UI" panose="020B0503020204020204" charset="-122"/>
              <a:ea typeface="Microsoft YaHei UI" panose="020B0503020204020204" charset="-122"/>
              <a:cs typeface="Microsoft YaHei UI" panose="020B0503020204020204" charset="-122"/>
            </a:endParaRPr>
          </a:p>
        </p:txBody>
      </p:sp>
      <p:sp>
        <p:nvSpPr>
          <p:cNvPr id="17" name="矩形 16"/>
          <p:cNvSpPr>
            <a:spLocks noGrp="1"/>
          </p:cNvSpPr>
          <p:nvPr/>
        </p:nvSpPr>
        <p:spPr>
          <a:xfrm>
            <a:off x="7600950" y="295275"/>
            <a:ext cx="1123950" cy="323850"/>
          </a:xfrm>
          <a:prstGeom prst="rect">
            <a:avLst/>
          </a:prstGeom>
          <a:noFill/>
          <a:ln w="0">
            <a:solidFill>
              <a:srgbClr val="FFFFFF"/>
            </a:solidFill>
          </a:ln>
        </p:spPr>
        <p:txBody>
          <a:bodyPr lIns="76200" tIns="38100" rIns="76200" bIns="38100" anchor="ctr"/>
          <a:lstStyle/>
          <a:p>
            <a:pPr algn="ctr">
              <a:defRPr sz="1125" b="0">
                <a:solidFill>
                  <a:srgbClr val="161616"/>
                </a:solidFill>
                <a:latin typeface="Microsoft YaHei UI" panose="020B0503020204020204" charset="-122"/>
                <a:ea typeface="Microsoft YaHei UI" panose="020B0503020204020204" charset="-122"/>
                <a:cs typeface="Microsoft YaHei UI" panose="020B0503020204020204" charset="-122"/>
              </a:defRPr>
            </a:pPr>
            <a:r>
              <a:rPr sz="1125" b="0">
                <a:solidFill>
                  <a:srgbClr val="161616"/>
                </a:solidFill>
                <a:latin typeface="Microsoft YaHei UI" panose="020B0503020204020204" charset="-122"/>
                <a:ea typeface="Microsoft YaHei UI" panose="020B0503020204020204" charset="-122"/>
                <a:cs typeface="Microsoft YaHei UI" panose="020B0503020204020204" charset="-122"/>
              </a:rPr>
              <a:t>数据变量</a:t>
            </a:r>
            <a:endParaRPr sz="1125" b="0">
              <a:solidFill>
                <a:srgbClr val="161616"/>
              </a:solidFill>
              <a:latin typeface="Microsoft YaHei UI" panose="020B0503020204020204" charset="-122"/>
              <a:ea typeface="Microsoft YaHei UI" panose="020B0503020204020204" charset="-122"/>
              <a:cs typeface="Microsoft YaHei UI" panose="020B0503020204020204" charset="-122"/>
            </a:endParaRPr>
          </a:p>
        </p:txBody>
      </p:sp>
      <p:sp>
        <p:nvSpPr>
          <p:cNvPr id="18" name="矩形 17"/>
          <p:cNvSpPr>
            <a:spLocks noGrp="1"/>
          </p:cNvSpPr>
          <p:nvPr/>
        </p:nvSpPr>
        <p:spPr>
          <a:xfrm>
            <a:off x="8801100" y="228600"/>
            <a:ext cx="1123950" cy="323850"/>
          </a:xfrm>
          <a:prstGeom prst="rect">
            <a:avLst/>
          </a:prstGeom>
          <a:noFill/>
          <a:ln w="0">
            <a:solidFill>
              <a:srgbClr val="FFFFFF"/>
            </a:solidFill>
          </a:ln>
        </p:spPr>
        <p:txBody>
          <a:bodyPr lIns="76200" tIns="38100" rIns="76200" bIns="38100" anchor="ctr"/>
          <a:lstStyle/>
          <a:p>
            <a:pPr algn="ctr">
              <a:defRPr sz="1500" b="1">
                <a:solidFill>
                  <a:srgbClr val="206040"/>
                </a:solidFill>
                <a:latin typeface="Microsoft YaHei UI" panose="020B0503020204020204" charset="-122"/>
                <a:ea typeface="Microsoft YaHei UI" panose="020B0503020204020204" charset="-122"/>
                <a:cs typeface="Microsoft YaHei UI" panose="020B0503020204020204" charset="-122"/>
              </a:defRPr>
            </a:pPr>
            <a:r>
              <a:rPr sz="1500" b="1">
                <a:solidFill>
                  <a:srgbClr val="206040"/>
                </a:solidFill>
                <a:latin typeface="Microsoft YaHei UI" panose="020B0503020204020204" charset="-122"/>
                <a:ea typeface="Microsoft YaHei UI" panose="020B0503020204020204" charset="-122"/>
                <a:cs typeface="Microsoft YaHei UI" panose="020B0503020204020204" charset="-122"/>
              </a:rPr>
              <a:t>模型识别</a:t>
            </a:r>
            <a:endParaRPr sz="1500" b="1">
              <a:solidFill>
                <a:srgbClr val="206040"/>
              </a:solidFill>
              <a:latin typeface="Microsoft YaHei UI" panose="020B0503020204020204" charset="-122"/>
              <a:ea typeface="Microsoft YaHei UI" panose="020B0503020204020204" charset="-122"/>
              <a:cs typeface="Microsoft YaHei UI" panose="020B0503020204020204" charset="-122"/>
            </a:endParaRPr>
          </a:p>
        </p:txBody>
      </p:sp>
      <p:sp>
        <p:nvSpPr>
          <p:cNvPr id="19" name="圆角矩形 18"/>
          <p:cNvSpPr>
            <a:spLocks noGrp="1"/>
          </p:cNvSpPr>
          <p:nvPr/>
        </p:nvSpPr>
        <p:spPr>
          <a:xfrm>
            <a:off x="8972550" y="657225"/>
            <a:ext cx="781050" cy="38100"/>
          </a:xfrm>
          <a:prstGeom prst="roundRect">
            <a:avLst>
              <a:gd name="adj" fmla="val 25000"/>
            </a:avLst>
          </a:prstGeom>
          <a:solidFill>
            <a:srgbClr val="206040"/>
          </a:solidFill>
          <a:ln w="0">
            <a:solidFill>
              <a:srgbClr val="FFFFFF"/>
            </a:solidFill>
          </a:ln>
        </p:spPr>
      </p:sp>
      <p:sp>
        <p:nvSpPr>
          <p:cNvPr id="20" name="矩形 19"/>
          <p:cNvSpPr>
            <a:spLocks noGrp="1"/>
          </p:cNvSpPr>
          <p:nvPr/>
        </p:nvSpPr>
        <p:spPr>
          <a:xfrm>
            <a:off x="10001250" y="295275"/>
            <a:ext cx="1123950" cy="323850"/>
          </a:xfrm>
          <a:prstGeom prst="rect">
            <a:avLst/>
          </a:prstGeom>
          <a:noFill/>
          <a:ln w="0">
            <a:solidFill>
              <a:srgbClr val="FFFFFF"/>
            </a:solidFill>
          </a:ln>
        </p:spPr>
        <p:txBody>
          <a:bodyPr lIns="76200" tIns="38100" rIns="76200" bIns="38100" anchor="ctr"/>
          <a:lstStyle/>
          <a:p>
            <a:pPr algn="ctr">
              <a:defRPr sz="1125" b="0">
                <a:solidFill>
                  <a:srgbClr val="161616"/>
                </a:solidFill>
                <a:latin typeface="Microsoft YaHei UI" panose="020B0503020204020204" charset="-122"/>
                <a:ea typeface="Microsoft YaHei UI" panose="020B0503020204020204" charset="-122"/>
                <a:cs typeface="Microsoft YaHei UI" panose="020B0503020204020204" charset="-122"/>
              </a:defRPr>
            </a:pPr>
            <a:r>
              <a:rPr sz="1125" b="0">
                <a:solidFill>
                  <a:srgbClr val="161616"/>
                </a:solidFill>
                <a:latin typeface="Microsoft YaHei UI" panose="020B0503020204020204" charset="-122"/>
                <a:ea typeface="Microsoft YaHei UI" panose="020B0503020204020204" charset="-122"/>
                <a:cs typeface="Microsoft YaHei UI" panose="020B0503020204020204" charset="-122"/>
              </a:rPr>
              <a:t>预期贡献</a:t>
            </a:r>
            <a:endParaRPr sz="1125" b="0">
              <a:solidFill>
                <a:srgbClr val="161616"/>
              </a:solidFill>
              <a:latin typeface="Microsoft YaHei UI" panose="020B0503020204020204" charset="-122"/>
              <a:ea typeface="Microsoft YaHei UI" panose="020B0503020204020204" charset="-122"/>
              <a:cs typeface="Microsoft YaHei UI" panose="020B0503020204020204" charset="-122"/>
            </a:endParaRPr>
          </a:p>
        </p:txBody>
      </p:sp>
      <p:sp>
        <p:nvSpPr>
          <p:cNvPr id="21" name="圆角矩形 20"/>
          <p:cNvSpPr>
            <a:spLocks noGrp="1"/>
          </p:cNvSpPr>
          <p:nvPr/>
        </p:nvSpPr>
        <p:spPr>
          <a:xfrm>
            <a:off x="3905250" y="742950"/>
            <a:ext cx="8001000" cy="9525"/>
          </a:xfrm>
          <a:prstGeom prst="roundRect">
            <a:avLst>
              <a:gd name="adj" fmla="val 50000"/>
            </a:avLst>
          </a:prstGeom>
          <a:solidFill>
            <a:srgbClr val="D7DFDA"/>
          </a:solidFill>
          <a:ln w="0">
            <a:solidFill>
              <a:srgbClr val="FFFFFF"/>
            </a:solidFill>
          </a:ln>
        </p:spPr>
      </p:sp>
      <p:sp>
        <p:nvSpPr>
          <p:cNvPr id="22" name="矩形 21"/>
          <p:cNvSpPr>
            <a:spLocks noGrp="1"/>
          </p:cNvSpPr>
          <p:nvPr/>
        </p:nvSpPr>
        <p:spPr>
          <a:xfrm>
            <a:off x="11334750" y="6286500"/>
            <a:ext cx="495300" cy="266700"/>
          </a:xfrm>
          <a:prstGeom prst="rect">
            <a:avLst/>
          </a:prstGeom>
          <a:noFill/>
          <a:ln w="0">
            <a:solidFill>
              <a:srgbClr val="FFFFFF"/>
            </a:solidFill>
          </a:ln>
        </p:spPr>
        <p:txBody>
          <a:bodyPr lIns="76200" tIns="38100" rIns="76200" bIns="38100" anchor="ctr"/>
          <a:lstStyle/>
          <a:p>
            <a:pPr algn="r">
              <a:defRPr sz="975" b="0">
                <a:solidFill>
                  <a:srgbClr val="80A090"/>
                </a:solidFill>
                <a:latin typeface="Microsoft YaHei UI" panose="020B0503020204020204" charset="-122"/>
                <a:ea typeface="Microsoft YaHei UI" panose="020B0503020204020204" charset="-122"/>
                <a:cs typeface="Microsoft YaHei UI" panose="020B0503020204020204" charset="-122"/>
              </a:defRPr>
            </a:pPr>
            <a:r>
              <a:rPr sz="975" b="0">
                <a:solidFill>
                  <a:srgbClr val="80A090"/>
                </a:solidFill>
                <a:latin typeface="Microsoft YaHei UI" panose="020B0503020204020204" charset="-122"/>
                <a:ea typeface="Microsoft YaHei UI" panose="020B0503020204020204" charset="-122"/>
                <a:cs typeface="Microsoft YaHei UI" panose="020B0503020204020204" charset="-122"/>
              </a:rPr>
              <a:t>14</a:t>
            </a:r>
            <a:endParaRPr sz="975" b="0">
              <a:solidFill>
                <a:srgbClr val="80A090"/>
              </a:solidFill>
              <a:latin typeface="Microsoft YaHei UI" panose="020B0503020204020204" charset="-122"/>
              <a:ea typeface="Microsoft YaHei UI" panose="020B0503020204020204" charset="-122"/>
              <a:cs typeface="Microsoft YaHei UI" panose="020B0503020204020204" charset="-122"/>
            </a:endParaRPr>
          </a:p>
        </p:txBody>
      </p:sp>
      <p:sp>
        <p:nvSpPr>
          <p:cNvPr id="23" name="圆角矩形 22"/>
          <p:cNvSpPr>
            <a:spLocks noGrp="1"/>
          </p:cNvSpPr>
          <p:nvPr/>
        </p:nvSpPr>
        <p:spPr>
          <a:xfrm>
            <a:off x="1000125" y="1257300"/>
            <a:ext cx="10191750" cy="1219200"/>
          </a:xfrm>
          <a:prstGeom prst="roundRect">
            <a:avLst>
              <a:gd name="adj" fmla="val 9375"/>
            </a:avLst>
          </a:prstGeom>
          <a:solidFill>
            <a:srgbClr val="FFFFFF"/>
          </a:solidFill>
          <a:ln w="11430">
            <a:solidFill>
              <a:srgbClr val="206040"/>
            </a:solidFill>
          </a:ln>
        </p:spPr>
      </p:sp>
      <p:sp>
        <p:nvSpPr>
          <p:cNvPr id="24" name="矩形 23"/>
          <p:cNvSpPr>
            <a:spLocks noGrp="1"/>
          </p:cNvSpPr>
          <p:nvPr/>
        </p:nvSpPr>
        <p:spPr>
          <a:xfrm>
            <a:off x="1190625" y="1466850"/>
            <a:ext cx="9810750" cy="514350"/>
          </a:xfrm>
          <a:prstGeom prst="rect">
            <a:avLst/>
          </a:prstGeom>
          <a:noFill/>
          <a:ln w="0">
            <a:solidFill>
              <a:srgbClr val="FFFFFF"/>
            </a:solidFill>
          </a:ln>
        </p:spPr>
        <p:txBody>
          <a:bodyPr lIns="76200" tIns="38100" rIns="76200" bIns="38100" anchor="ctr"/>
          <a:lstStyle/>
          <a:p>
            <a:pPr algn="ctr">
              <a:defRPr sz="1800" b="1">
                <a:solidFill>
                  <a:srgbClr val="111111"/>
                </a:solidFill>
                <a:latin typeface="Cambria Math" panose="02040503050406030204"/>
                <a:ea typeface="Cambria Math" panose="02040503050406030204"/>
                <a:cs typeface="Cambria Math" panose="02040503050406030204"/>
              </a:defRPr>
            </a:pPr>
            <a:r>
              <a:rPr sz="1800" b="1">
                <a:solidFill>
                  <a:srgbClr val="111111"/>
                </a:solidFill>
                <a:latin typeface="Cambria Math" panose="02040503050406030204"/>
                <a:ea typeface="Cambria Math" panose="02040503050406030204"/>
                <a:cs typeface="Cambria Math" panose="02040503050406030204"/>
              </a:rPr>
              <a:t>GTFP_ict = α + β₁ER_ct + β₂(ER_ct × SOE_i) + γX_ict + μ_i + λ_t + ε_ict</a:t>
            </a:r>
            <a:endParaRPr sz="1800" b="1">
              <a:solidFill>
                <a:srgbClr val="111111"/>
              </a:solidFill>
              <a:latin typeface="Cambria Math" panose="02040503050406030204"/>
              <a:ea typeface="Cambria Math" panose="02040503050406030204"/>
              <a:cs typeface="Cambria Math" panose="02040503050406030204"/>
            </a:endParaRPr>
          </a:p>
        </p:txBody>
      </p:sp>
      <p:sp>
        <p:nvSpPr>
          <p:cNvPr id="25" name="矩形 24"/>
          <p:cNvSpPr>
            <a:spLocks noGrp="1"/>
          </p:cNvSpPr>
          <p:nvPr/>
        </p:nvSpPr>
        <p:spPr>
          <a:xfrm>
            <a:off x="1266825" y="2095500"/>
            <a:ext cx="9658350" cy="228600"/>
          </a:xfrm>
          <a:prstGeom prst="rect">
            <a:avLst/>
          </a:prstGeom>
          <a:noFill/>
          <a:ln w="0">
            <a:solidFill>
              <a:srgbClr val="FFFFFF"/>
            </a:solidFill>
          </a:ln>
        </p:spPr>
        <p:txBody>
          <a:bodyPr lIns="76200" tIns="38100" rIns="76200" bIns="38100" anchor="t"/>
          <a:lstStyle/>
          <a:p>
            <a:pPr algn="l">
              <a:defRPr sz="1125" b="0">
                <a:solidFill>
                  <a:srgbClr val="5D6763"/>
                </a:solidFill>
                <a:latin typeface="Microsoft YaHei UI" panose="020B0503020204020204" charset="-122"/>
                <a:ea typeface="Microsoft YaHei UI" panose="020B0503020204020204" charset="-122"/>
                <a:cs typeface="Microsoft YaHei UI" panose="020B0503020204020204" charset="-122"/>
              </a:defRPr>
            </a:pPr>
            <a:r>
              <a:rPr sz="1125" b="0">
                <a:solidFill>
                  <a:srgbClr val="5D6763"/>
                </a:solidFill>
                <a:latin typeface="Microsoft YaHei UI" panose="020B0503020204020204" charset="-122"/>
                <a:ea typeface="Microsoft YaHei UI" panose="020B0503020204020204" charset="-122"/>
                <a:cs typeface="Microsoft YaHei UI" panose="020B0503020204020204" charset="-122"/>
              </a:rPr>
              <a:t>交互项检验产权性质是否调节环境规制对GTFP的影响。</a:t>
            </a:r>
            <a:endParaRPr sz="1125" b="0">
              <a:solidFill>
                <a:srgbClr val="5D6763"/>
              </a:solidFill>
              <a:latin typeface="Microsoft YaHei UI" panose="020B0503020204020204" charset="-122"/>
              <a:ea typeface="Microsoft YaHei UI" panose="020B0503020204020204" charset="-122"/>
              <a:cs typeface="Microsoft YaHei UI" panose="020B0503020204020204" charset="-122"/>
            </a:endParaRPr>
          </a:p>
        </p:txBody>
      </p:sp>
      <p:sp>
        <p:nvSpPr>
          <p:cNvPr id="26" name="圆角矩形 25"/>
          <p:cNvSpPr>
            <a:spLocks noGrp="1"/>
          </p:cNvSpPr>
          <p:nvPr/>
        </p:nvSpPr>
        <p:spPr>
          <a:xfrm>
            <a:off x="1123950" y="3143250"/>
            <a:ext cx="4238625" cy="1447800"/>
          </a:xfrm>
          <a:prstGeom prst="roundRect">
            <a:avLst>
              <a:gd name="adj" fmla="val 7895"/>
            </a:avLst>
          </a:prstGeom>
          <a:solidFill>
            <a:srgbClr val="FFFFFF"/>
          </a:solidFill>
          <a:ln w="11430">
            <a:solidFill>
              <a:srgbClr val="D7DFDA"/>
            </a:solidFill>
          </a:ln>
        </p:spPr>
      </p:sp>
      <p:sp>
        <p:nvSpPr>
          <p:cNvPr id="27" name="矩形 26"/>
          <p:cNvSpPr>
            <a:spLocks noGrp="1"/>
          </p:cNvSpPr>
          <p:nvPr/>
        </p:nvSpPr>
        <p:spPr>
          <a:xfrm>
            <a:off x="1295400" y="3276600"/>
            <a:ext cx="3895725" cy="323850"/>
          </a:xfrm>
          <a:prstGeom prst="rect">
            <a:avLst/>
          </a:prstGeom>
          <a:noFill/>
          <a:ln w="0">
            <a:solidFill>
              <a:srgbClr val="FFFFFF"/>
            </a:solidFill>
          </a:ln>
        </p:spPr>
        <p:txBody>
          <a:bodyPr lIns="76200" tIns="38100" rIns="76200" bIns="38100" anchor="ctr"/>
          <a:lstStyle/>
          <a:p>
            <a:pPr algn="l">
              <a:defRPr sz="1650" b="1">
                <a:solidFill>
                  <a:srgbClr val="206040"/>
                </a:solidFill>
                <a:latin typeface="Microsoft YaHei UI" panose="020B0503020204020204" charset="-122"/>
                <a:ea typeface="Microsoft YaHei UI" panose="020B0503020204020204" charset="-122"/>
                <a:cs typeface="Microsoft YaHei UI" panose="020B0503020204020204" charset="-122"/>
              </a:defRPr>
            </a:pPr>
            <a:r>
              <a:rPr sz="1650" b="1">
                <a:solidFill>
                  <a:srgbClr val="206040"/>
                </a:solidFill>
                <a:latin typeface="Microsoft YaHei UI" panose="020B0503020204020204" charset="-122"/>
                <a:ea typeface="Microsoft YaHei UI" panose="020B0503020204020204" charset="-122"/>
                <a:cs typeface="Microsoft YaHei UI" panose="020B0503020204020204" charset="-122"/>
              </a:rPr>
              <a:t>国有企业</a:t>
            </a:r>
            <a:endParaRPr sz="1650" b="1">
              <a:solidFill>
                <a:srgbClr val="206040"/>
              </a:solidFill>
              <a:latin typeface="Microsoft YaHei UI" panose="020B0503020204020204" charset="-122"/>
              <a:ea typeface="Microsoft YaHei UI" panose="020B0503020204020204" charset="-122"/>
              <a:cs typeface="Microsoft YaHei UI" panose="020B0503020204020204" charset="-122"/>
            </a:endParaRPr>
          </a:p>
        </p:txBody>
      </p:sp>
      <p:sp>
        <p:nvSpPr>
          <p:cNvPr id="28" name="矩形 27"/>
          <p:cNvSpPr>
            <a:spLocks noGrp="1"/>
          </p:cNvSpPr>
          <p:nvPr/>
        </p:nvSpPr>
        <p:spPr>
          <a:xfrm>
            <a:off x="1295400" y="3657600"/>
            <a:ext cx="3895725" cy="800100"/>
          </a:xfrm>
          <a:prstGeom prst="rect">
            <a:avLst/>
          </a:prstGeom>
          <a:noFill/>
          <a:ln w="0">
            <a:solidFill>
              <a:srgbClr val="FFFFFF"/>
            </a:solidFill>
          </a:ln>
        </p:spPr>
        <p:txBody>
          <a:bodyPr lIns="76200" tIns="38100" rIns="76200" bIns="38100" anchor="t"/>
          <a:lstStyle/>
          <a:p>
            <a:pPr algn="l">
              <a:defRPr sz="1275" b="0">
                <a:solidFill>
                  <a:srgbClr val="111111"/>
                </a:solidFill>
                <a:latin typeface="Microsoft YaHei UI" panose="020B0503020204020204" charset="-122"/>
                <a:ea typeface="Microsoft YaHei UI" panose="020B0503020204020204" charset="-122"/>
                <a:cs typeface="Microsoft YaHei UI" panose="020B0503020204020204" charset="-122"/>
              </a:defRPr>
            </a:pPr>
            <a:r>
              <a:rPr sz="1275" b="0">
                <a:solidFill>
                  <a:srgbClr val="111111"/>
                </a:solidFill>
                <a:latin typeface="Microsoft YaHei UI" panose="020B0503020204020204" charset="-122"/>
                <a:ea typeface="Microsoft YaHei UI" panose="020B0503020204020204" charset="-122"/>
                <a:cs typeface="Microsoft YaHei UI" panose="020B0503020204020204" charset="-122"/>
              </a:rPr>
              <a:t>政策响应能力、融资可得性和长期投资能力通常更强，可能更容易将规制压力转化为绿色投资。</a:t>
            </a:r>
            <a:endParaRPr sz="1275"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29" name="圆角矩形 28"/>
          <p:cNvSpPr>
            <a:spLocks noGrp="1"/>
          </p:cNvSpPr>
          <p:nvPr/>
        </p:nvSpPr>
        <p:spPr>
          <a:xfrm>
            <a:off x="6172200" y="3143250"/>
            <a:ext cx="4238625" cy="1447800"/>
          </a:xfrm>
          <a:prstGeom prst="roundRect">
            <a:avLst>
              <a:gd name="adj" fmla="val 7895"/>
            </a:avLst>
          </a:prstGeom>
          <a:solidFill>
            <a:srgbClr val="FFFFFF"/>
          </a:solidFill>
          <a:ln w="11430">
            <a:solidFill>
              <a:srgbClr val="D7DFDA"/>
            </a:solidFill>
          </a:ln>
        </p:spPr>
      </p:sp>
      <p:sp>
        <p:nvSpPr>
          <p:cNvPr id="30" name="矩形 29"/>
          <p:cNvSpPr>
            <a:spLocks noGrp="1"/>
          </p:cNvSpPr>
          <p:nvPr/>
        </p:nvSpPr>
        <p:spPr>
          <a:xfrm>
            <a:off x="6343650" y="3276600"/>
            <a:ext cx="3895725" cy="323850"/>
          </a:xfrm>
          <a:prstGeom prst="rect">
            <a:avLst/>
          </a:prstGeom>
          <a:noFill/>
          <a:ln w="0">
            <a:solidFill>
              <a:srgbClr val="FFFFFF"/>
            </a:solidFill>
          </a:ln>
        </p:spPr>
        <p:txBody>
          <a:bodyPr lIns="76200" tIns="38100" rIns="76200" bIns="38100" anchor="ctr"/>
          <a:lstStyle/>
          <a:p>
            <a:pPr algn="l">
              <a:defRPr sz="1650" b="1">
                <a:solidFill>
                  <a:srgbClr val="206040"/>
                </a:solidFill>
                <a:latin typeface="Microsoft YaHei UI" panose="020B0503020204020204" charset="-122"/>
                <a:ea typeface="Microsoft YaHei UI" panose="020B0503020204020204" charset="-122"/>
                <a:cs typeface="Microsoft YaHei UI" panose="020B0503020204020204" charset="-122"/>
              </a:defRPr>
            </a:pPr>
            <a:r>
              <a:rPr sz="1650" b="1">
                <a:solidFill>
                  <a:srgbClr val="206040"/>
                </a:solidFill>
                <a:latin typeface="Microsoft YaHei UI" panose="020B0503020204020204" charset="-122"/>
                <a:ea typeface="Microsoft YaHei UI" panose="020B0503020204020204" charset="-122"/>
                <a:cs typeface="Microsoft YaHei UI" panose="020B0503020204020204" charset="-122"/>
              </a:rPr>
              <a:t>非国有企业</a:t>
            </a:r>
            <a:endParaRPr sz="1650" b="1">
              <a:solidFill>
                <a:srgbClr val="206040"/>
              </a:solidFill>
              <a:latin typeface="Microsoft YaHei UI" panose="020B0503020204020204" charset="-122"/>
              <a:ea typeface="Microsoft YaHei UI" panose="020B0503020204020204" charset="-122"/>
              <a:cs typeface="Microsoft YaHei UI" panose="020B0503020204020204" charset="-122"/>
            </a:endParaRPr>
          </a:p>
        </p:txBody>
      </p:sp>
      <p:sp>
        <p:nvSpPr>
          <p:cNvPr id="31" name="矩形 30"/>
          <p:cNvSpPr>
            <a:spLocks noGrp="1"/>
          </p:cNvSpPr>
          <p:nvPr/>
        </p:nvSpPr>
        <p:spPr>
          <a:xfrm>
            <a:off x="6343650" y="3657600"/>
            <a:ext cx="3895725" cy="800100"/>
          </a:xfrm>
          <a:prstGeom prst="rect">
            <a:avLst/>
          </a:prstGeom>
          <a:noFill/>
          <a:ln w="0">
            <a:solidFill>
              <a:srgbClr val="FFFFFF"/>
            </a:solidFill>
          </a:ln>
        </p:spPr>
        <p:txBody>
          <a:bodyPr lIns="76200" tIns="38100" rIns="76200" bIns="38100" anchor="t"/>
          <a:lstStyle/>
          <a:p>
            <a:pPr algn="l">
              <a:defRPr sz="1275" b="0">
                <a:solidFill>
                  <a:srgbClr val="111111"/>
                </a:solidFill>
                <a:latin typeface="Microsoft YaHei UI" panose="020B0503020204020204" charset="-122"/>
                <a:ea typeface="Microsoft YaHei UI" panose="020B0503020204020204" charset="-122"/>
                <a:cs typeface="Microsoft YaHei UI" panose="020B0503020204020204" charset="-122"/>
              </a:defRPr>
            </a:pPr>
            <a:r>
              <a:rPr sz="1275" b="0">
                <a:solidFill>
                  <a:srgbClr val="111111"/>
                </a:solidFill>
                <a:latin typeface="Microsoft YaHei UI" panose="020B0503020204020204" charset="-122"/>
                <a:ea typeface="Microsoft YaHei UI" panose="020B0503020204020204" charset="-122"/>
                <a:cs typeface="Microsoft YaHei UI" panose="020B0503020204020204" charset="-122"/>
              </a:rPr>
              <a:t>对合规成本和融资约束更敏感，短期内可能承受更强成本挤出；高成长企业也可能通过绿色创新弯道超车。</a:t>
            </a:r>
            <a:endParaRPr sz="1275"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32" name="圆角矩形 31"/>
          <p:cNvSpPr>
            <a:spLocks noGrp="1"/>
          </p:cNvSpPr>
          <p:nvPr/>
        </p:nvSpPr>
        <p:spPr>
          <a:xfrm>
            <a:off x="666750" y="5981700"/>
            <a:ext cx="9906000" cy="400050"/>
          </a:xfrm>
          <a:prstGeom prst="roundRect">
            <a:avLst>
              <a:gd name="adj" fmla="val 23810"/>
            </a:avLst>
          </a:prstGeom>
          <a:solidFill>
            <a:srgbClr val="FFF8DA"/>
          </a:solidFill>
          <a:ln w="11430">
            <a:solidFill>
              <a:srgbClr val="E9D47A"/>
            </a:solidFill>
          </a:ln>
        </p:spPr>
      </p:sp>
      <p:sp>
        <p:nvSpPr>
          <p:cNvPr id="33" name="矩形 32"/>
          <p:cNvSpPr>
            <a:spLocks noGrp="1"/>
          </p:cNvSpPr>
          <p:nvPr/>
        </p:nvSpPr>
        <p:spPr>
          <a:xfrm>
            <a:off x="876300" y="6048375"/>
            <a:ext cx="9477375" cy="266700"/>
          </a:xfrm>
          <a:prstGeom prst="rect">
            <a:avLst/>
          </a:prstGeom>
          <a:noFill/>
          <a:ln w="0">
            <a:solidFill>
              <a:srgbClr val="FFFFFF"/>
            </a:solidFill>
          </a:ln>
        </p:spPr>
        <p:txBody>
          <a:bodyPr lIns="76200" tIns="38100" rIns="76200" bIns="38100" anchor="ctr"/>
          <a:lstStyle/>
          <a:p>
            <a:pPr algn="l">
              <a:defRPr sz="1200" b="1">
                <a:solidFill>
                  <a:srgbClr val="206040"/>
                </a:solidFill>
                <a:latin typeface="Microsoft YaHei UI" panose="020B0503020204020204" charset="-122"/>
                <a:ea typeface="Microsoft YaHei UI" panose="020B0503020204020204" charset="-122"/>
                <a:cs typeface="Microsoft YaHei UI" panose="020B0503020204020204" charset="-122"/>
              </a:defRPr>
            </a:pPr>
            <a:r>
              <a:rPr sz="1200" b="1">
                <a:solidFill>
                  <a:srgbClr val="206040"/>
                </a:solidFill>
                <a:latin typeface="Microsoft YaHei UI" panose="020B0503020204020204" charset="-122"/>
                <a:ea typeface="Microsoft YaHei UI" panose="020B0503020204020204" charset="-122"/>
                <a:cs typeface="Microsoft YaHei UI" panose="020B0503020204020204" charset="-122"/>
              </a:rPr>
              <a:t>异质性不是附加分析，而是理解成本压力能否转为绿色能力的关键边界。</a:t>
            </a:r>
            <a:endParaRPr sz="1200" b="1">
              <a:solidFill>
                <a:srgbClr val="206040"/>
              </a:solidFill>
              <a:latin typeface="Microsoft YaHei UI" panose="020B0503020204020204" charset="-122"/>
              <a:ea typeface="Microsoft YaHei UI" panose="020B0503020204020204" charset="-122"/>
              <a:cs typeface="Microsoft YaHei UI" panose="020B0503020204020204"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a:spLocks noGrp="1"/>
          </p:cNvSpPr>
          <p:nvPr/>
        </p:nvSpPr>
        <p:spPr>
          <a:xfrm>
            <a:off x="0" y="0"/>
            <a:ext cx="12192000" cy="6858000"/>
          </a:xfrm>
          <a:prstGeom prst="rect">
            <a:avLst/>
          </a:prstGeom>
          <a:solidFill>
            <a:srgbClr val="F4F6F5"/>
          </a:solidFill>
          <a:ln w="0">
            <a:solidFill>
              <a:srgbClr val="FFFFFF"/>
            </a:solidFill>
          </a:ln>
        </p:spPr>
      </p:sp>
      <p:sp>
        <p:nvSpPr>
          <p:cNvPr id="3" name="矩形 2"/>
          <p:cNvSpPr>
            <a:spLocks noGrp="1"/>
          </p:cNvSpPr>
          <p:nvPr/>
        </p:nvSpPr>
        <p:spPr>
          <a:xfrm>
            <a:off x="0" y="0"/>
            <a:ext cx="12192000" cy="6858000"/>
          </a:xfrm>
          <a:prstGeom prst="rect">
            <a:avLst/>
          </a:prstGeom>
          <a:solidFill>
            <a:srgbClr val="F9FAF9"/>
          </a:solidFill>
          <a:ln w="0">
            <a:solidFill>
              <a:srgbClr val="FFFFFF"/>
            </a:solidFill>
          </a:ln>
        </p:spPr>
      </p:sp>
      <p:sp>
        <p:nvSpPr>
          <p:cNvPr id="4" name="矩形 3"/>
          <p:cNvSpPr>
            <a:spLocks noGrp="1"/>
          </p:cNvSpPr>
          <p:nvPr/>
        </p:nvSpPr>
        <p:spPr>
          <a:xfrm>
            <a:off x="8858250" y="0"/>
            <a:ext cx="3333750" cy="6858000"/>
          </a:xfrm>
          <a:prstGeom prst="rect">
            <a:avLst/>
          </a:prstGeom>
          <a:solidFill>
            <a:srgbClr val="F7F9F8"/>
          </a:solidFill>
          <a:ln w="0">
            <a:solidFill>
              <a:srgbClr val="FFFFFF"/>
            </a:solidFill>
          </a:ln>
        </p:spPr>
      </p:sp>
      <p:sp>
        <p:nvSpPr>
          <p:cNvPr id="5" name="矩形 4"/>
          <p:cNvSpPr>
            <a:spLocks noGrp="1"/>
          </p:cNvSpPr>
          <p:nvPr/>
        </p:nvSpPr>
        <p:spPr>
          <a:xfrm>
            <a:off x="0" y="6115050"/>
            <a:ext cx="12192000" cy="742950"/>
          </a:xfrm>
          <a:prstGeom prst="rect">
            <a:avLst/>
          </a:prstGeom>
          <a:solidFill>
            <a:srgbClr val="F8FAF9"/>
          </a:solidFill>
          <a:ln w="0">
            <a:solidFill>
              <a:srgbClr val="FFFFFF"/>
            </a:solidFill>
          </a:ln>
        </p:spPr>
      </p:sp>
      <p:sp>
        <p:nvSpPr>
          <p:cNvPr id="6" name="等腰三角形 5"/>
          <p:cNvSpPr>
            <a:spLocks noGrp="1"/>
          </p:cNvSpPr>
          <p:nvPr/>
        </p:nvSpPr>
        <p:spPr>
          <a:xfrm>
            <a:off x="1524000" y="904875"/>
            <a:ext cx="2476500" cy="1714500"/>
          </a:xfrm>
          <a:prstGeom prst="triangle">
            <a:avLst/>
          </a:prstGeom>
          <a:solidFill>
            <a:srgbClr val="FFFFFF"/>
          </a:solidFill>
          <a:ln w="0">
            <a:solidFill>
              <a:srgbClr val="FFFFFF"/>
            </a:solidFill>
          </a:ln>
        </p:spPr>
      </p:sp>
      <p:sp>
        <p:nvSpPr>
          <p:cNvPr id="7" name="等腰三角形 6"/>
          <p:cNvSpPr>
            <a:spLocks noGrp="1"/>
          </p:cNvSpPr>
          <p:nvPr/>
        </p:nvSpPr>
        <p:spPr>
          <a:xfrm>
            <a:off x="3857625" y="1762125"/>
            <a:ext cx="2476500" cy="1714500"/>
          </a:xfrm>
          <a:prstGeom prst="triangle">
            <a:avLst/>
          </a:prstGeom>
          <a:solidFill>
            <a:srgbClr val="F8FBFA"/>
          </a:solidFill>
          <a:ln w="0">
            <a:solidFill>
              <a:srgbClr val="FFFFFF"/>
            </a:solidFill>
          </a:ln>
        </p:spPr>
      </p:sp>
      <p:sp>
        <p:nvSpPr>
          <p:cNvPr id="8" name="等腰三角形 7"/>
          <p:cNvSpPr>
            <a:spLocks noGrp="1"/>
          </p:cNvSpPr>
          <p:nvPr/>
        </p:nvSpPr>
        <p:spPr>
          <a:xfrm>
            <a:off x="6191250" y="904875"/>
            <a:ext cx="2476500" cy="1714500"/>
          </a:xfrm>
          <a:prstGeom prst="triangle">
            <a:avLst/>
          </a:prstGeom>
          <a:solidFill>
            <a:srgbClr val="FFFFFF"/>
          </a:solidFill>
          <a:ln w="0">
            <a:solidFill>
              <a:srgbClr val="FFFFFF"/>
            </a:solidFill>
          </a:ln>
        </p:spPr>
      </p:sp>
      <p:sp>
        <p:nvSpPr>
          <p:cNvPr id="9" name="等腰三角形 8"/>
          <p:cNvSpPr>
            <a:spLocks noGrp="1"/>
          </p:cNvSpPr>
          <p:nvPr/>
        </p:nvSpPr>
        <p:spPr>
          <a:xfrm>
            <a:off x="8524875" y="1762125"/>
            <a:ext cx="2476500" cy="1714500"/>
          </a:xfrm>
          <a:prstGeom prst="triangle">
            <a:avLst/>
          </a:prstGeom>
          <a:solidFill>
            <a:srgbClr val="F8FBFA"/>
          </a:solidFill>
          <a:ln w="0">
            <a:solidFill>
              <a:srgbClr val="FFFFFF"/>
            </a:solidFill>
          </a:ln>
        </p:spPr>
      </p:sp>
      <p:sp>
        <p:nvSpPr>
          <p:cNvPr id="10" name="等腰三角形 9"/>
          <p:cNvSpPr>
            <a:spLocks noGrp="1"/>
          </p:cNvSpPr>
          <p:nvPr/>
        </p:nvSpPr>
        <p:spPr>
          <a:xfrm>
            <a:off x="10858500" y="904875"/>
            <a:ext cx="2476500" cy="1714500"/>
          </a:xfrm>
          <a:prstGeom prst="triangle">
            <a:avLst/>
          </a:prstGeom>
          <a:solidFill>
            <a:srgbClr val="FFFFFF"/>
          </a:solidFill>
          <a:ln w="0">
            <a:solidFill>
              <a:srgbClr val="FFFFFF"/>
            </a:solidFill>
          </a:ln>
        </p:spPr>
      </p:sp>
      <p:sp>
        <p:nvSpPr>
          <p:cNvPr id="11" name="等腰三角形 10"/>
          <p:cNvSpPr>
            <a:spLocks noGrp="1"/>
          </p:cNvSpPr>
          <p:nvPr/>
        </p:nvSpPr>
        <p:spPr>
          <a:xfrm rot="5400000">
            <a:off x="152400" y="266700"/>
            <a:ext cx="533400" cy="476250"/>
          </a:xfrm>
          <a:prstGeom prst="triangle">
            <a:avLst/>
          </a:prstGeom>
          <a:solidFill>
            <a:srgbClr val="206040"/>
          </a:solidFill>
          <a:ln w="0">
            <a:solidFill>
              <a:srgbClr val="FFFFFF"/>
            </a:solidFill>
          </a:ln>
        </p:spPr>
      </p:sp>
      <p:sp>
        <p:nvSpPr>
          <p:cNvPr id="12" name="等腰三角形 11"/>
          <p:cNvSpPr>
            <a:spLocks noGrp="1"/>
          </p:cNvSpPr>
          <p:nvPr/>
        </p:nvSpPr>
        <p:spPr>
          <a:xfrm rot="5400000">
            <a:off x="381000" y="304800"/>
            <a:ext cx="457200" cy="419100"/>
          </a:xfrm>
          <a:prstGeom prst="triangle">
            <a:avLst/>
          </a:prstGeom>
          <a:solidFill>
            <a:srgbClr val="80A090"/>
          </a:solidFill>
          <a:ln w="0">
            <a:solidFill>
              <a:srgbClr val="FFFFFF"/>
            </a:solidFill>
          </a:ln>
        </p:spPr>
      </p:sp>
      <p:sp>
        <p:nvSpPr>
          <p:cNvPr id="13" name="矩形 12"/>
          <p:cNvSpPr>
            <a:spLocks noGrp="1"/>
          </p:cNvSpPr>
          <p:nvPr/>
        </p:nvSpPr>
        <p:spPr>
          <a:xfrm>
            <a:off x="857250" y="228600"/>
            <a:ext cx="2857500" cy="457200"/>
          </a:xfrm>
          <a:prstGeom prst="rect">
            <a:avLst/>
          </a:prstGeom>
          <a:noFill/>
          <a:ln w="0">
            <a:solidFill>
              <a:srgbClr val="FFFFFF"/>
            </a:solidFill>
          </a:ln>
        </p:spPr>
        <p:txBody>
          <a:bodyPr lIns="76200" tIns="38100" rIns="76200" bIns="38100" anchor="ctr"/>
          <a:lstStyle/>
          <a:p>
            <a:pPr algn="l">
              <a:defRPr sz="2550" b="1">
                <a:solidFill>
                  <a:srgbClr val="206040"/>
                </a:solidFill>
                <a:latin typeface="黑体" panose="02010609060101010101" charset="-122"/>
                <a:ea typeface="黑体" panose="02010609060101010101" charset="-122"/>
                <a:cs typeface="黑体" panose="02010609060101010101" charset="-122"/>
              </a:defRPr>
            </a:pPr>
            <a:r>
              <a:rPr sz="2550" b="1">
                <a:solidFill>
                  <a:srgbClr val="206040"/>
                </a:solidFill>
                <a:latin typeface="黑体" panose="02010609060101010101" charset="-122"/>
                <a:ea typeface="黑体" panose="02010609060101010101" charset="-122"/>
                <a:cs typeface="黑体" panose="02010609060101010101" charset="-122"/>
              </a:rPr>
              <a:t>内生性挑战</a:t>
            </a:r>
            <a:endParaRPr sz="2550" b="1">
              <a:solidFill>
                <a:srgbClr val="206040"/>
              </a:solidFill>
              <a:latin typeface="黑体" panose="02010609060101010101" charset="-122"/>
              <a:ea typeface="黑体" panose="02010609060101010101" charset="-122"/>
              <a:cs typeface="黑体" panose="02010609060101010101" charset="-122"/>
            </a:endParaRPr>
          </a:p>
        </p:txBody>
      </p:sp>
      <p:sp>
        <p:nvSpPr>
          <p:cNvPr id="14" name="矩形 13"/>
          <p:cNvSpPr>
            <a:spLocks noGrp="1"/>
          </p:cNvSpPr>
          <p:nvPr/>
        </p:nvSpPr>
        <p:spPr>
          <a:xfrm>
            <a:off x="4000500" y="295275"/>
            <a:ext cx="1123950" cy="323850"/>
          </a:xfrm>
          <a:prstGeom prst="rect">
            <a:avLst/>
          </a:prstGeom>
          <a:noFill/>
          <a:ln w="0">
            <a:solidFill>
              <a:srgbClr val="FFFFFF"/>
            </a:solidFill>
          </a:ln>
        </p:spPr>
        <p:txBody>
          <a:bodyPr lIns="76200" tIns="38100" rIns="76200" bIns="38100" anchor="ctr"/>
          <a:lstStyle/>
          <a:p>
            <a:pPr algn="ctr">
              <a:defRPr sz="1125" b="0">
                <a:solidFill>
                  <a:srgbClr val="161616"/>
                </a:solidFill>
                <a:latin typeface="Microsoft YaHei UI" panose="020B0503020204020204" charset="-122"/>
                <a:ea typeface="Microsoft YaHei UI" panose="020B0503020204020204" charset="-122"/>
                <a:cs typeface="Microsoft YaHei UI" panose="020B0503020204020204" charset="-122"/>
              </a:defRPr>
            </a:pPr>
            <a:r>
              <a:rPr sz="1125" b="0">
                <a:solidFill>
                  <a:srgbClr val="161616"/>
                </a:solidFill>
                <a:latin typeface="Microsoft YaHei UI" panose="020B0503020204020204" charset="-122"/>
                <a:ea typeface="Microsoft YaHei UI" panose="020B0503020204020204" charset="-122"/>
                <a:cs typeface="Microsoft YaHei UI" panose="020B0503020204020204" charset="-122"/>
              </a:rPr>
              <a:t>现实问题</a:t>
            </a:r>
            <a:endParaRPr sz="1125" b="0">
              <a:solidFill>
                <a:srgbClr val="161616"/>
              </a:solidFill>
              <a:latin typeface="Microsoft YaHei UI" panose="020B0503020204020204" charset="-122"/>
              <a:ea typeface="Microsoft YaHei UI" panose="020B0503020204020204" charset="-122"/>
              <a:cs typeface="Microsoft YaHei UI" panose="020B0503020204020204" charset="-122"/>
            </a:endParaRPr>
          </a:p>
        </p:txBody>
      </p:sp>
      <p:sp>
        <p:nvSpPr>
          <p:cNvPr id="15" name="矩形 14"/>
          <p:cNvSpPr>
            <a:spLocks noGrp="1"/>
          </p:cNvSpPr>
          <p:nvPr/>
        </p:nvSpPr>
        <p:spPr>
          <a:xfrm>
            <a:off x="5200650" y="295275"/>
            <a:ext cx="1123950" cy="323850"/>
          </a:xfrm>
          <a:prstGeom prst="rect">
            <a:avLst/>
          </a:prstGeom>
          <a:noFill/>
          <a:ln w="0">
            <a:solidFill>
              <a:srgbClr val="FFFFFF"/>
            </a:solidFill>
          </a:ln>
        </p:spPr>
        <p:txBody>
          <a:bodyPr lIns="76200" tIns="38100" rIns="76200" bIns="38100" anchor="ctr"/>
          <a:lstStyle/>
          <a:p>
            <a:pPr algn="ctr">
              <a:defRPr sz="1125" b="0">
                <a:solidFill>
                  <a:srgbClr val="161616"/>
                </a:solidFill>
                <a:latin typeface="Microsoft YaHei UI" panose="020B0503020204020204" charset="-122"/>
                <a:ea typeface="Microsoft YaHei UI" panose="020B0503020204020204" charset="-122"/>
                <a:cs typeface="Microsoft YaHei UI" panose="020B0503020204020204" charset="-122"/>
              </a:defRPr>
            </a:pPr>
            <a:r>
              <a:rPr sz="1125" b="0">
                <a:solidFill>
                  <a:srgbClr val="161616"/>
                </a:solidFill>
                <a:latin typeface="Microsoft YaHei UI" panose="020B0503020204020204" charset="-122"/>
                <a:ea typeface="Microsoft YaHei UI" panose="020B0503020204020204" charset="-122"/>
                <a:cs typeface="Microsoft YaHei UI" panose="020B0503020204020204" charset="-122"/>
              </a:rPr>
              <a:t>科学问题</a:t>
            </a:r>
            <a:endParaRPr sz="1125" b="0">
              <a:solidFill>
                <a:srgbClr val="161616"/>
              </a:solidFill>
              <a:latin typeface="Microsoft YaHei UI" panose="020B0503020204020204" charset="-122"/>
              <a:ea typeface="Microsoft YaHei UI" panose="020B0503020204020204" charset="-122"/>
              <a:cs typeface="Microsoft YaHei UI" panose="020B0503020204020204" charset="-122"/>
            </a:endParaRPr>
          </a:p>
        </p:txBody>
      </p:sp>
      <p:sp>
        <p:nvSpPr>
          <p:cNvPr id="16" name="矩形 15"/>
          <p:cNvSpPr>
            <a:spLocks noGrp="1"/>
          </p:cNvSpPr>
          <p:nvPr/>
        </p:nvSpPr>
        <p:spPr>
          <a:xfrm>
            <a:off x="6400800" y="295275"/>
            <a:ext cx="1123950" cy="323850"/>
          </a:xfrm>
          <a:prstGeom prst="rect">
            <a:avLst/>
          </a:prstGeom>
          <a:noFill/>
          <a:ln w="0">
            <a:solidFill>
              <a:srgbClr val="FFFFFF"/>
            </a:solidFill>
          </a:ln>
        </p:spPr>
        <p:txBody>
          <a:bodyPr lIns="76200" tIns="38100" rIns="76200" bIns="38100" anchor="ctr"/>
          <a:lstStyle/>
          <a:p>
            <a:pPr algn="ctr">
              <a:defRPr sz="1125" b="0">
                <a:solidFill>
                  <a:srgbClr val="161616"/>
                </a:solidFill>
                <a:latin typeface="Microsoft YaHei UI" panose="020B0503020204020204" charset="-122"/>
                <a:ea typeface="Microsoft YaHei UI" panose="020B0503020204020204" charset="-122"/>
                <a:cs typeface="Microsoft YaHei UI" panose="020B0503020204020204" charset="-122"/>
              </a:defRPr>
            </a:pPr>
            <a:r>
              <a:rPr sz="1125" b="0">
                <a:solidFill>
                  <a:srgbClr val="161616"/>
                </a:solidFill>
                <a:latin typeface="Microsoft YaHei UI" panose="020B0503020204020204" charset="-122"/>
                <a:ea typeface="Microsoft YaHei UI" panose="020B0503020204020204" charset="-122"/>
                <a:cs typeface="Microsoft YaHei UI" panose="020B0503020204020204" charset="-122"/>
              </a:rPr>
              <a:t>理论机制</a:t>
            </a:r>
            <a:endParaRPr sz="1125" b="0">
              <a:solidFill>
                <a:srgbClr val="161616"/>
              </a:solidFill>
              <a:latin typeface="Microsoft YaHei UI" panose="020B0503020204020204" charset="-122"/>
              <a:ea typeface="Microsoft YaHei UI" panose="020B0503020204020204" charset="-122"/>
              <a:cs typeface="Microsoft YaHei UI" panose="020B0503020204020204" charset="-122"/>
            </a:endParaRPr>
          </a:p>
        </p:txBody>
      </p:sp>
      <p:sp>
        <p:nvSpPr>
          <p:cNvPr id="17" name="矩形 16"/>
          <p:cNvSpPr>
            <a:spLocks noGrp="1"/>
          </p:cNvSpPr>
          <p:nvPr/>
        </p:nvSpPr>
        <p:spPr>
          <a:xfrm>
            <a:off x="7600950" y="295275"/>
            <a:ext cx="1123950" cy="323850"/>
          </a:xfrm>
          <a:prstGeom prst="rect">
            <a:avLst/>
          </a:prstGeom>
          <a:noFill/>
          <a:ln w="0">
            <a:solidFill>
              <a:srgbClr val="FFFFFF"/>
            </a:solidFill>
          </a:ln>
        </p:spPr>
        <p:txBody>
          <a:bodyPr lIns="76200" tIns="38100" rIns="76200" bIns="38100" anchor="ctr"/>
          <a:lstStyle/>
          <a:p>
            <a:pPr algn="ctr">
              <a:defRPr sz="1125" b="0">
                <a:solidFill>
                  <a:srgbClr val="161616"/>
                </a:solidFill>
                <a:latin typeface="Microsoft YaHei UI" panose="020B0503020204020204" charset="-122"/>
                <a:ea typeface="Microsoft YaHei UI" panose="020B0503020204020204" charset="-122"/>
                <a:cs typeface="Microsoft YaHei UI" panose="020B0503020204020204" charset="-122"/>
              </a:defRPr>
            </a:pPr>
            <a:r>
              <a:rPr sz="1125" b="0">
                <a:solidFill>
                  <a:srgbClr val="161616"/>
                </a:solidFill>
                <a:latin typeface="Microsoft YaHei UI" panose="020B0503020204020204" charset="-122"/>
                <a:ea typeface="Microsoft YaHei UI" panose="020B0503020204020204" charset="-122"/>
                <a:cs typeface="Microsoft YaHei UI" panose="020B0503020204020204" charset="-122"/>
              </a:rPr>
              <a:t>数据变量</a:t>
            </a:r>
            <a:endParaRPr sz="1125" b="0">
              <a:solidFill>
                <a:srgbClr val="161616"/>
              </a:solidFill>
              <a:latin typeface="Microsoft YaHei UI" panose="020B0503020204020204" charset="-122"/>
              <a:ea typeface="Microsoft YaHei UI" panose="020B0503020204020204" charset="-122"/>
              <a:cs typeface="Microsoft YaHei UI" panose="020B0503020204020204" charset="-122"/>
            </a:endParaRPr>
          </a:p>
        </p:txBody>
      </p:sp>
      <p:sp>
        <p:nvSpPr>
          <p:cNvPr id="18" name="矩形 17"/>
          <p:cNvSpPr>
            <a:spLocks noGrp="1"/>
          </p:cNvSpPr>
          <p:nvPr/>
        </p:nvSpPr>
        <p:spPr>
          <a:xfrm>
            <a:off x="8801100" y="228600"/>
            <a:ext cx="1123950" cy="323850"/>
          </a:xfrm>
          <a:prstGeom prst="rect">
            <a:avLst/>
          </a:prstGeom>
          <a:noFill/>
          <a:ln w="0">
            <a:solidFill>
              <a:srgbClr val="FFFFFF"/>
            </a:solidFill>
          </a:ln>
        </p:spPr>
        <p:txBody>
          <a:bodyPr lIns="76200" tIns="38100" rIns="76200" bIns="38100" anchor="ctr"/>
          <a:lstStyle/>
          <a:p>
            <a:pPr algn="ctr">
              <a:defRPr sz="1500" b="1">
                <a:solidFill>
                  <a:srgbClr val="206040"/>
                </a:solidFill>
                <a:latin typeface="Microsoft YaHei UI" panose="020B0503020204020204" charset="-122"/>
                <a:ea typeface="Microsoft YaHei UI" panose="020B0503020204020204" charset="-122"/>
                <a:cs typeface="Microsoft YaHei UI" panose="020B0503020204020204" charset="-122"/>
              </a:defRPr>
            </a:pPr>
            <a:r>
              <a:rPr sz="1500" b="1">
                <a:solidFill>
                  <a:srgbClr val="206040"/>
                </a:solidFill>
                <a:latin typeface="Microsoft YaHei UI" panose="020B0503020204020204" charset="-122"/>
                <a:ea typeface="Microsoft YaHei UI" panose="020B0503020204020204" charset="-122"/>
                <a:cs typeface="Microsoft YaHei UI" panose="020B0503020204020204" charset="-122"/>
              </a:rPr>
              <a:t>模型识别</a:t>
            </a:r>
            <a:endParaRPr sz="1500" b="1">
              <a:solidFill>
                <a:srgbClr val="206040"/>
              </a:solidFill>
              <a:latin typeface="Microsoft YaHei UI" panose="020B0503020204020204" charset="-122"/>
              <a:ea typeface="Microsoft YaHei UI" panose="020B0503020204020204" charset="-122"/>
              <a:cs typeface="Microsoft YaHei UI" panose="020B0503020204020204" charset="-122"/>
            </a:endParaRPr>
          </a:p>
        </p:txBody>
      </p:sp>
      <p:sp>
        <p:nvSpPr>
          <p:cNvPr id="19" name="圆角矩形 18"/>
          <p:cNvSpPr>
            <a:spLocks noGrp="1"/>
          </p:cNvSpPr>
          <p:nvPr/>
        </p:nvSpPr>
        <p:spPr>
          <a:xfrm>
            <a:off x="8972550" y="657225"/>
            <a:ext cx="781050" cy="38100"/>
          </a:xfrm>
          <a:prstGeom prst="roundRect">
            <a:avLst>
              <a:gd name="adj" fmla="val 25000"/>
            </a:avLst>
          </a:prstGeom>
          <a:solidFill>
            <a:srgbClr val="206040"/>
          </a:solidFill>
          <a:ln w="0">
            <a:solidFill>
              <a:srgbClr val="FFFFFF"/>
            </a:solidFill>
          </a:ln>
        </p:spPr>
      </p:sp>
      <p:sp>
        <p:nvSpPr>
          <p:cNvPr id="20" name="矩形 19"/>
          <p:cNvSpPr>
            <a:spLocks noGrp="1"/>
          </p:cNvSpPr>
          <p:nvPr/>
        </p:nvSpPr>
        <p:spPr>
          <a:xfrm>
            <a:off x="10001250" y="295275"/>
            <a:ext cx="1123950" cy="323850"/>
          </a:xfrm>
          <a:prstGeom prst="rect">
            <a:avLst/>
          </a:prstGeom>
          <a:noFill/>
          <a:ln w="0">
            <a:solidFill>
              <a:srgbClr val="FFFFFF"/>
            </a:solidFill>
          </a:ln>
        </p:spPr>
        <p:txBody>
          <a:bodyPr lIns="76200" tIns="38100" rIns="76200" bIns="38100" anchor="ctr"/>
          <a:lstStyle/>
          <a:p>
            <a:pPr algn="ctr">
              <a:defRPr sz="1125" b="0">
                <a:solidFill>
                  <a:srgbClr val="161616"/>
                </a:solidFill>
                <a:latin typeface="Microsoft YaHei UI" panose="020B0503020204020204" charset="-122"/>
                <a:ea typeface="Microsoft YaHei UI" panose="020B0503020204020204" charset="-122"/>
                <a:cs typeface="Microsoft YaHei UI" panose="020B0503020204020204" charset="-122"/>
              </a:defRPr>
            </a:pPr>
            <a:r>
              <a:rPr sz="1125" b="0">
                <a:solidFill>
                  <a:srgbClr val="161616"/>
                </a:solidFill>
                <a:latin typeface="Microsoft YaHei UI" panose="020B0503020204020204" charset="-122"/>
                <a:ea typeface="Microsoft YaHei UI" panose="020B0503020204020204" charset="-122"/>
                <a:cs typeface="Microsoft YaHei UI" panose="020B0503020204020204" charset="-122"/>
              </a:rPr>
              <a:t>预期贡献</a:t>
            </a:r>
            <a:endParaRPr sz="1125" b="0">
              <a:solidFill>
                <a:srgbClr val="161616"/>
              </a:solidFill>
              <a:latin typeface="Microsoft YaHei UI" panose="020B0503020204020204" charset="-122"/>
              <a:ea typeface="Microsoft YaHei UI" panose="020B0503020204020204" charset="-122"/>
              <a:cs typeface="Microsoft YaHei UI" panose="020B0503020204020204" charset="-122"/>
            </a:endParaRPr>
          </a:p>
        </p:txBody>
      </p:sp>
      <p:sp>
        <p:nvSpPr>
          <p:cNvPr id="21" name="圆角矩形 20"/>
          <p:cNvSpPr>
            <a:spLocks noGrp="1"/>
          </p:cNvSpPr>
          <p:nvPr/>
        </p:nvSpPr>
        <p:spPr>
          <a:xfrm>
            <a:off x="3905250" y="742950"/>
            <a:ext cx="8001000" cy="9525"/>
          </a:xfrm>
          <a:prstGeom prst="roundRect">
            <a:avLst>
              <a:gd name="adj" fmla="val 50000"/>
            </a:avLst>
          </a:prstGeom>
          <a:solidFill>
            <a:srgbClr val="D7DFDA"/>
          </a:solidFill>
          <a:ln w="0">
            <a:solidFill>
              <a:srgbClr val="FFFFFF"/>
            </a:solidFill>
          </a:ln>
        </p:spPr>
      </p:sp>
      <p:sp>
        <p:nvSpPr>
          <p:cNvPr id="22" name="矩形 21"/>
          <p:cNvSpPr>
            <a:spLocks noGrp="1"/>
          </p:cNvSpPr>
          <p:nvPr/>
        </p:nvSpPr>
        <p:spPr>
          <a:xfrm>
            <a:off x="11334750" y="6286500"/>
            <a:ext cx="495300" cy="266700"/>
          </a:xfrm>
          <a:prstGeom prst="rect">
            <a:avLst/>
          </a:prstGeom>
          <a:noFill/>
          <a:ln w="0">
            <a:solidFill>
              <a:srgbClr val="FFFFFF"/>
            </a:solidFill>
          </a:ln>
        </p:spPr>
        <p:txBody>
          <a:bodyPr lIns="76200" tIns="38100" rIns="76200" bIns="38100" anchor="ctr"/>
          <a:lstStyle/>
          <a:p>
            <a:pPr algn="r">
              <a:defRPr sz="975" b="0">
                <a:solidFill>
                  <a:srgbClr val="80A090"/>
                </a:solidFill>
                <a:latin typeface="Microsoft YaHei UI" panose="020B0503020204020204" charset="-122"/>
                <a:ea typeface="Microsoft YaHei UI" panose="020B0503020204020204" charset="-122"/>
                <a:cs typeface="Microsoft YaHei UI" panose="020B0503020204020204" charset="-122"/>
              </a:defRPr>
            </a:pPr>
            <a:r>
              <a:rPr sz="975" b="0">
                <a:solidFill>
                  <a:srgbClr val="80A090"/>
                </a:solidFill>
                <a:latin typeface="Microsoft YaHei UI" panose="020B0503020204020204" charset="-122"/>
                <a:ea typeface="Microsoft YaHei UI" panose="020B0503020204020204" charset="-122"/>
                <a:cs typeface="Microsoft YaHei UI" panose="020B0503020204020204" charset="-122"/>
              </a:rPr>
              <a:t>15</a:t>
            </a:r>
            <a:endParaRPr sz="975" b="0">
              <a:solidFill>
                <a:srgbClr val="80A090"/>
              </a:solidFill>
              <a:latin typeface="Microsoft YaHei UI" panose="020B0503020204020204" charset="-122"/>
              <a:ea typeface="Microsoft YaHei UI" panose="020B0503020204020204" charset="-122"/>
              <a:cs typeface="Microsoft YaHei UI" panose="020B0503020204020204" charset="-122"/>
            </a:endParaRPr>
          </a:p>
        </p:txBody>
      </p:sp>
      <p:sp>
        <p:nvSpPr>
          <p:cNvPr id="23" name="圆角矩形 22"/>
          <p:cNvSpPr>
            <a:spLocks noGrp="1"/>
          </p:cNvSpPr>
          <p:nvPr/>
        </p:nvSpPr>
        <p:spPr>
          <a:xfrm>
            <a:off x="952500" y="1619250"/>
            <a:ext cx="2952750" cy="2381250"/>
          </a:xfrm>
          <a:prstGeom prst="roundRect">
            <a:avLst>
              <a:gd name="adj" fmla="val 4800"/>
            </a:avLst>
          </a:prstGeom>
          <a:solidFill>
            <a:srgbClr val="FFFFFF"/>
          </a:solidFill>
          <a:ln w="11430">
            <a:solidFill>
              <a:srgbClr val="D7DFDA"/>
            </a:solidFill>
          </a:ln>
        </p:spPr>
      </p:sp>
      <p:sp>
        <p:nvSpPr>
          <p:cNvPr id="24" name="矩形 23"/>
          <p:cNvSpPr>
            <a:spLocks noGrp="1"/>
          </p:cNvSpPr>
          <p:nvPr/>
        </p:nvSpPr>
        <p:spPr>
          <a:xfrm>
            <a:off x="1123950" y="1752600"/>
            <a:ext cx="2609850" cy="323850"/>
          </a:xfrm>
          <a:prstGeom prst="rect">
            <a:avLst/>
          </a:prstGeom>
          <a:noFill/>
          <a:ln w="0">
            <a:solidFill>
              <a:srgbClr val="FFFFFF"/>
            </a:solidFill>
          </a:ln>
        </p:spPr>
        <p:txBody>
          <a:bodyPr lIns="76200" tIns="38100" rIns="76200" bIns="38100" anchor="ctr"/>
          <a:lstStyle/>
          <a:p>
            <a:pPr algn="l">
              <a:defRPr sz="1800" b="1">
                <a:solidFill>
                  <a:srgbClr val="206040"/>
                </a:solidFill>
                <a:latin typeface="Microsoft YaHei UI" panose="020B0503020204020204" charset="-122"/>
                <a:ea typeface="Microsoft YaHei UI" panose="020B0503020204020204" charset="-122"/>
                <a:cs typeface="Microsoft YaHei UI" panose="020B0503020204020204" charset="-122"/>
              </a:defRPr>
            </a:pPr>
            <a:r>
              <a:rPr sz="1800" b="1">
                <a:solidFill>
                  <a:srgbClr val="206040"/>
                </a:solidFill>
                <a:latin typeface="Microsoft YaHei UI" panose="020B0503020204020204" charset="-122"/>
                <a:ea typeface="Microsoft YaHei UI" panose="020B0503020204020204" charset="-122"/>
                <a:cs typeface="Microsoft YaHei UI" panose="020B0503020204020204" charset="-122"/>
              </a:rPr>
              <a:t>反向因果</a:t>
            </a:r>
            <a:endParaRPr sz="1800" b="1">
              <a:solidFill>
                <a:srgbClr val="206040"/>
              </a:solidFill>
              <a:latin typeface="Microsoft YaHei UI" panose="020B0503020204020204" charset="-122"/>
              <a:ea typeface="Microsoft YaHei UI" panose="020B0503020204020204" charset="-122"/>
              <a:cs typeface="Microsoft YaHei UI" panose="020B0503020204020204" charset="-122"/>
            </a:endParaRPr>
          </a:p>
        </p:txBody>
      </p:sp>
      <p:sp>
        <p:nvSpPr>
          <p:cNvPr id="25" name="矩形 24"/>
          <p:cNvSpPr>
            <a:spLocks noGrp="1"/>
          </p:cNvSpPr>
          <p:nvPr/>
        </p:nvSpPr>
        <p:spPr>
          <a:xfrm>
            <a:off x="1123950" y="2133600"/>
            <a:ext cx="2609850" cy="1733550"/>
          </a:xfrm>
          <a:prstGeom prst="rect">
            <a:avLst/>
          </a:prstGeom>
          <a:noFill/>
          <a:ln w="0">
            <a:solidFill>
              <a:srgbClr val="FFFFFF"/>
            </a:solidFill>
          </a:ln>
        </p:spPr>
        <p:txBody>
          <a:bodyPr lIns="76200" tIns="38100" rIns="76200" bIns="38100" anchor="t"/>
          <a:lstStyle/>
          <a:p>
            <a:pPr algn="l">
              <a:defRPr sz="1350" b="0">
                <a:solidFill>
                  <a:srgbClr val="111111"/>
                </a:solidFill>
                <a:latin typeface="Microsoft YaHei UI" panose="020B0503020204020204" charset="-122"/>
                <a:ea typeface="Microsoft YaHei UI" panose="020B0503020204020204" charset="-122"/>
                <a:cs typeface="Microsoft YaHei UI" panose="020B0503020204020204" charset="-122"/>
              </a:defRPr>
            </a:pPr>
            <a:r>
              <a:rPr sz="1350" b="0">
                <a:solidFill>
                  <a:srgbClr val="111111"/>
                </a:solidFill>
                <a:latin typeface="Microsoft YaHei UI" panose="020B0503020204020204" charset="-122"/>
                <a:ea typeface="Microsoft YaHei UI" panose="020B0503020204020204" charset="-122"/>
                <a:cs typeface="Microsoft YaHei UI" panose="020B0503020204020204" charset="-122"/>
              </a:rPr>
              <a:t>绿色生产率较高的城市或企业可能更容易获得政府绿色政策关注。</a:t>
            </a:r>
            <a:endParaRPr sz="1350"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26" name="圆角矩形 25"/>
          <p:cNvSpPr>
            <a:spLocks noGrp="1"/>
          </p:cNvSpPr>
          <p:nvPr/>
        </p:nvSpPr>
        <p:spPr>
          <a:xfrm>
            <a:off x="1428750" y="4381500"/>
            <a:ext cx="2000250" cy="381000"/>
          </a:xfrm>
          <a:prstGeom prst="roundRect">
            <a:avLst>
              <a:gd name="adj" fmla="val 50000"/>
            </a:avLst>
          </a:prstGeom>
          <a:solidFill>
            <a:srgbClr val="FFC000"/>
          </a:solidFill>
          <a:ln w="0">
            <a:solidFill>
              <a:srgbClr val="FFFFFF"/>
            </a:solidFill>
          </a:ln>
        </p:spPr>
      </p:sp>
      <p:sp>
        <p:nvSpPr>
          <p:cNvPr id="27" name="矩形 26"/>
          <p:cNvSpPr>
            <a:spLocks noGrp="1"/>
          </p:cNvSpPr>
          <p:nvPr/>
        </p:nvSpPr>
        <p:spPr>
          <a:xfrm>
            <a:off x="1428750" y="4381500"/>
            <a:ext cx="2000250" cy="381000"/>
          </a:xfrm>
          <a:prstGeom prst="rect">
            <a:avLst/>
          </a:prstGeom>
          <a:noFill/>
          <a:ln w="0">
            <a:solidFill>
              <a:srgbClr val="FFFFFF"/>
            </a:solidFill>
          </a:ln>
        </p:spPr>
        <p:txBody>
          <a:bodyPr lIns="76200" tIns="38100" rIns="76200" bIns="38100" anchor="ctr"/>
          <a:lstStyle/>
          <a:p>
            <a:pPr algn="ctr">
              <a:defRPr sz="1200" b="1">
                <a:solidFill>
                  <a:srgbClr val="111111"/>
                </a:solidFill>
                <a:latin typeface="Microsoft YaHei UI" panose="020B0503020204020204" charset="-122"/>
                <a:ea typeface="Microsoft YaHei UI" panose="020B0503020204020204" charset="-122"/>
                <a:cs typeface="Microsoft YaHei UI" panose="020B0503020204020204" charset="-122"/>
              </a:defRPr>
            </a:pPr>
            <a:r>
              <a:rPr sz="1200" b="1">
                <a:solidFill>
                  <a:srgbClr val="111111"/>
                </a:solidFill>
                <a:latin typeface="Microsoft YaHei UI" panose="020B0503020204020204" charset="-122"/>
                <a:ea typeface="Microsoft YaHei UI" panose="020B0503020204020204" charset="-122"/>
                <a:cs typeface="Microsoft YaHei UI" panose="020B0503020204020204" charset="-122"/>
              </a:rPr>
              <a:t>需要外生冲击</a:t>
            </a:r>
            <a:endParaRPr sz="1200" b="1">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28" name="圆角矩形 27"/>
          <p:cNvSpPr>
            <a:spLocks noGrp="1"/>
          </p:cNvSpPr>
          <p:nvPr/>
        </p:nvSpPr>
        <p:spPr>
          <a:xfrm>
            <a:off x="4476750" y="1619250"/>
            <a:ext cx="2952750" cy="2381250"/>
          </a:xfrm>
          <a:prstGeom prst="roundRect">
            <a:avLst>
              <a:gd name="adj" fmla="val 4800"/>
            </a:avLst>
          </a:prstGeom>
          <a:solidFill>
            <a:srgbClr val="FFFFFF"/>
          </a:solidFill>
          <a:ln w="11430">
            <a:solidFill>
              <a:srgbClr val="D7DFDA"/>
            </a:solidFill>
          </a:ln>
        </p:spPr>
      </p:sp>
      <p:sp>
        <p:nvSpPr>
          <p:cNvPr id="29" name="矩形 28"/>
          <p:cNvSpPr>
            <a:spLocks noGrp="1"/>
          </p:cNvSpPr>
          <p:nvPr/>
        </p:nvSpPr>
        <p:spPr>
          <a:xfrm>
            <a:off x="4648200" y="1752600"/>
            <a:ext cx="2609850" cy="323850"/>
          </a:xfrm>
          <a:prstGeom prst="rect">
            <a:avLst/>
          </a:prstGeom>
          <a:noFill/>
          <a:ln w="0">
            <a:solidFill>
              <a:srgbClr val="FFFFFF"/>
            </a:solidFill>
          </a:ln>
        </p:spPr>
        <p:txBody>
          <a:bodyPr lIns="76200" tIns="38100" rIns="76200" bIns="38100" anchor="ctr"/>
          <a:lstStyle/>
          <a:p>
            <a:pPr algn="l">
              <a:defRPr sz="1800" b="1">
                <a:solidFill>
                  <a:srgbClr val="206040"/>
                </a:solidFill>
                <a:latin typeface="Microsoft YaHei UI" panose="020B0503020204020204" charset="-122"/>
                <a:ea typeface="Microsoft YaHei UI" panose="020B0503020204020204" charset="-122"/>
                <a:cs typeface="Microsoft YaHei UI" panose="020B0503020204020204" charset="-122"/>
              </a:defRPr>
            </a:pPr>
            <a:r>
              <a:rPr sz="1800" b="1">
                <a:solidFill>
                  <a:srgbClr val="206040"/>
                </a:solidFill>
                <a:latin typeface="Microsoft YaHei UI" panose="020B0503020204020204" charset="-122"/>
                <a:ea typeface="Microsoft YaHei UI" panose="020B0503020204020204" charset="-122"/>
                <a:cs typeface="Microsoft YaHei UI" panose="020B0503020204020204" charset="-122"/>
              </a:rPr>
              <a:t>遗漏变量</a:t>
            </a:r>
            <a:endParaRPr sz="1800" b="1">
              <a:solidFill>
                <a:srgbClr val="206040"/>
              </a:solidFill>
              <a:latin typeface="Microsoft YaHei UI" panose="020B0503020204020204" charset="-122"/>
              <a:ea typeface="Microsoft YaHei UI" panose="020B0503020204020204" charset="-122"/>
              <a:cs typeface="Microsoft YaHei UI" panose="020B0503020204020204" charset="-122"/>
            </a:endParaRPr>
          </a:p>
        </p:txBody>
      </p:sp>
      <p:sp>
        <p:nvSpPr>
          <p:cNvPr id="30" name="矩形 29"/>
          <p:cNvSpPr>
            <a:spLocks noGrp="1"/>
          </p:cNvSpPr>
          <p:nvPr/>
        </p:nvSpPr>
        <p:spPr>
          <a:xfrm>
            <a:off x="4648200" y="2133600"/>
            <a:ext cx="2609850" cy="1733550"/>
          </a:xfrm>
          <a:prstGeom prst="rect">
            <a:avLst/>
          </a:prstGeom>
          <a:noFill/>
          <a:ln w="0">
            <a:solidFill>
              <a:srgbClr val="FFFFFF"/>
            </a:solidFill>
          </a:ln>
        </p:spPr>
        <p:txBody>
          <a:bodyPr lIns="76200" tIns="38100" rIns="76200" bIns="38100" anchor="t"/>
          <a:lstStyle/>
          <a:p>
            <a:pPr algn="l">
              <a:defRPr sz="1350" b="0">
                <a:solidFill>
                  <a:srgbClr val="111111"/>
                </a:solidFill>
                <a:latin typeface="Microsoft YaHei UI" panose="020B0503020204020204" charset="-122"/>
                <a:ea typeface="Microsoft YaHei UI" panose="020B0503020204020204" charset="-122"/>
                <a:cs typeface="Microsoft YaHei UI" panose="020B0503020204020204" charset="-122"/>
              </a:defRPr>
            </a:pPr>
            <a:r>
              <a:rPr sz="1350" b="0">
                <a:solidFill>
                  <a:srgbClr val="111111"/>
                </a:solidFill>
                <a:latin typeface="Microsoft YaHei UI" panose="020B0503020204020204" charset="-122"/>
                <a:ea typeface="Microsoft YaHei UI" panose="020B0503020204020204" charset="-122"/>
                <a:cs typeface="Microsoft YaHei UI" panose="020B0503020204020204" charset="-122"/>
              </a:rPr>
              <a:t>治理能力、公众环保关注、绿色金融、产业升级可能同时影响ER与GTFP。</a:t>
            </a:r>
            <a:endParaRPr sz="1350"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31" name="圆角矩形 30"/>
          <p:cNvSpPr>
            <a:spLocks noGrp="1"/>
          </p:cNvSpPr>
          <p:nvPr/>
        </p:nvSpPr>
        <p:spPr>
          <a:xfrm>
            <a:off x="4953000" y="4381500"/>
            <a:ext cx="2000250" cy="381000"/>
          </a:xfrm>
          <a:prstGeom prst="roundRect">
            <a:avLst>
              <a:gd name="adj" fmla="val 50000"/>
            </a:avLst>
          </a:prstGeom>
          <a:solidFill>
            <a:srgbClr val="206040"/>
          </a:solidFill>
          <a:ln w="0">
            <a:solidFill>
              <a:srgbClr val="FFFFFF"/>
            </a:solidFill>
          </a:ln>
        </p:spPr>
      </p:sp>
      <p:sp>
        <p:nvSpPr>
          <p:cNvPr id="32" name="矩形 31"/>
          <p:cNvSpPr>
            <a:spLocks noGrp="1"/>
          </p:cNvSpPr>
          <p:nvPr/>
        </p:nvSpPr>
        <p:spPr>
          <a:xfrm>
            <a:off x="4953000" y="4381500"/>
            <a:ext cx="2000250" cy="381000"/>
          </a:xfrm>
          <a:prstGeom prst="rect">
            <a:avLst/>
          </a:prstGeom>
          <a:noFill/>
          <a:ln w="0">
            <a:solidFill>
              <a:srgbClr val="FFFFFF"/>
            </a:solidFill>
          </a:ln>
        </p:spPr>
        <p:txBody>
          <a:bodyPr lIns="76200" tIns="38100" rIns="76200" bIns="38100" anchor="ctr"/>
          <a:lstStyle/>
          <a:p>
            <a:pPr algn="ctr">
              <a:defRPr sz="1200" b="1">
                <a:solidFill>
                  <a:srgbClr val="FFFFFF"/>
                </a:solidFill>
                <a:latin typeface="Microsoft YaHei UI" panose="020B0503020204020204" charset="-122"/>
                <a:ea typeface="Microsoft YaHei UI" panose="020B0503020204020204" charset="-122"/>
                <a:cs typeface="Microsoft YaHei UI" panose="020B0503020204020204" charset="-122"/>
              </a:defRPr>
            </a:pPr>
            <a:r>
              <a:rPr sz="1200" b="1">
                <a:solidFill>
                  <a:srgbClr val="FFFFFF"/>
                </a:solidFill>
                <a:latin typeface="Microsoft YaHei UI" panose="020B0503020204020204" charset="-122"/>
                <a:ea typeface="Microsoft YaHei UI" panose="020B0503020204020204" charset="-122"/>
                <a:cs typeface="Microsoft YaHei UI" panose="020B0503020204020204" charset="-122"/>
              </a:rPr>
              <a:t>需要更多控制</a:t>
            </a:r>
            <a:endParaRPr sz="1200" b="1">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33" name="圆角矩形 32"/>
          <p:cNvSpPr>
            <a:spLocks noGrp="1"/>
          </p:cNvSpPr>
          <p:nvPr/>
        </p:nvSpPr>
        <p:spPr>
          <a:xfrm>
            <a:off x="8001000" y="1619250"/>
            <a:ext cx="2952750" cy="2381250"/>
          </a:xfrm>
          <a:prstGeom prst="roundRect">
            <a:avLst>
              <a:gd name="adj" fmla="val 4800"/>
            </a:avLst>
          </a:prstGeom>
          <a:solidFill>
            <a:srgbClr val="FFFFFF"/>
          </a:solidFill>
          <a:ln w="11430">
            <a:solidFill>
              <a:srgbClr val="D7DFDA"/>
            </a:solidFill>
          </a:ln>
        </p:spPr>
      </p:sp>
      <p:sp>
        <p:nvSpPr>
          <p:cNvPr id="34" name="矩形 33"/>
          <p:cNvSpPr>
            <a:spLocks noGrp="1"/>
          </p:cNvSpPr>
          <p:nvPr/>
        </p:nvSpPr>
        <p:spPr>
          <a:xfrm>
            <a:off x="8172450" y="1752600"/>
            <a:ext cx="2609850" cy="323850"/>
          </a:xfrm>
          <a:prstGeom prst="rect">
            <a:avLst/>
          </a:prstGeom>
          <a:noFill/>
          <a:ln w="0">
            <a:solidFill>
              <a:srgbClr val="FFFFFF"/>
            </a:solidFill>
          </a:ln>
        </p:spPr>
        <p:txBody>
          <a:bodyPr lIns="76200" tIns="38100" rIns="76200" bIns="38100" anchor="ctr"/>
          <a:lstStyle/>
          <a:p>
            <a:pPr algn="l">
              <a:defRPr sz="1800" b="1">
                <a:solidFill>
                  <a:srgbClr val="206040"/>
                </a:solidFill>
                <a:latin typeface="Microsoft YaHei UI" panose="020B0503020204020204" charset="-122"/>
                <a:ea typeface="Microsoft YaHei UI" panose="020B0503020204020204" charset="-122"/>
                <a:cs typeface="Microsoft YaHei UI" panose="020B0503020204020204" charset="-122"/>
              </a:defRPr>
            </a:pPr>
            <a:r>
              <a:rPr sz="1800" b="1">
                <a:solidFill>
                  <a:srgbClr val="206040"/>
                </a:solidFill>
                <a:latin typeface="Microsoft YaHei UI" panose="020B0503020204020204" charset="-122"/>
                <a:ea typeface="Microsoft YaHei UI" panose="020B0503020204020204" charset="-122"/>
                <a:cs typeface="Microsoft YaHei UI" panose="020B0503020204020204" charset="-122"/>
              </a:rPr>
              <a:t>测量误差</a:t>
            </a:r>
            <a:endParaRPr sz="1800" b="1">
              <a:solidFill>
                <a:srgbClr val="206040"/>
              </a:solidFill>
              <a:latin typeface="Microsoft YaHei UI" panose="020B0503020204020204" charset="-122"/>
              <a:ea typeface="Microsoft YaHei UI" panose="020B0503020204020204" charset="-122"/>
              <a:cs typeface="Microsoft YaHei UI" panose="020B0503020204020204" charset="-122"/>
            </a:endParaRPr>
          </a:p>
        </p:txBody>
      </p:sp>
      <p:sp>
        <p:nvSpPr>
          <p:cNvPr id="35" name="矩形 34"/>
          <p:cNvSpPr>
            <a:spLocks noGrp="1"/>
          </p:cNvSpPr>
          <p:nvPr/>
        </p:nvSpPr>
        <p:spPr>
          <a:xfrm>
            <a:off x="8172450" y="2133600"/>
            <a:ext cx="2609850" cy="1733550"/>
          </a:xfrm>
          <a:prstGeom prst="rect">
            <a:avLst/>
          </a:prstGeom>
          <a:noFill/>
          <a:ln w="0">
            <a:solidFill>
              <a:srgbClr val="FFFFFF"/>
            </a:solidFill>
          </a:ln>
        </p:spPr>
        <p:txBody>
          <a:bodyPr lIns="76200" tIns="38100" rIns="76200" bIns="38100" anchor="t"/>
          <a:lstStyle/>
          <a:p>
            <a:pPr algn="l">
              <a:defRPr sz="1350" b="0">
                <a:solidFill>
                  <a:srgbClr val="111111"/>
                </a:solidFill>
                <a:latin typeface="Microsoft YaHei UI" panose="020B0503020204020204" charset="-122"/>
                <a:ea typeface="Microsoft YaHei UI" panose="020B0503020204020204" charset="-122"/>
                <a:cs typeface="Microsoft YaHei UI" panose="020B0503020204020204" charset="-122"/>
              </a:defRPr>
            </a:pPr>
            <a:r>
              <a:rPr sz="1350" b="0">
                <a:solidFill>
                  <a:srgbClr val="111111"/>
                </a:solidFill>
                <a:latin typeface="Microsoft YaHei UI" panose="020B0503020204020204" charset="-122"/>
                <a:ea typeface="Microsoft YaHei UI" panose="020B0503020204020204" charset="-122"/>
                <a:cs typeface="Microsoft YaHei UI" panose="020B0503020204020204" charset="-122"/>
              </a:rPr>
              <a:t>政府工作报告词频反映政策关注度，不完全等同实际执行强度。</a:t>
            </a:r>
            <a:endParaRPr sz="1350"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36" name="圆角矩形 35"/>
          <p:cNvSpPr>
            <a:spLocks noGrp="1"/>
          </p:cNvSpPr>
          <p:nvPr/>
        </p:nvSpPr>
        <p:spPr>
          <a:xfrm>
            <a:off x="8477250" y="4381500"/>
            <a:ext cx="2000250" cy="381000"/>
          </a:xfrm>
          <a:prstGeom prst="roundRect">
            <a:avLst>
              <a:gd name="adj" fmla="val 50000"/>
            </a:avLst>
          </a:prstGeom>
          <a:solidFill>
            <a:srgbClr val="206040"/>
          </a:solidFill>
          <a:ln w="0">
            <a:solidFill>
              <a:srgbClr val="FFFFFF"/>
            </a:solidFill>
          </a:ln>
        </p:spPr>
      </p:sp>
      <p:sp>
        <p:nvSpPr>
          <p:cNvPr id="37" name="矩形 36"/>
          <p:cNvSpPr>
            <a:spLocks noGrp="1"/>
          </p:cNvSpPr>
          <p:nvPr/>
        </p:nvSpPr>
        <p:spPr>
          <a:xfrm>
            <a:off x="8477250" y="4381500"/>
            <a:ext cx="2000250" cy="381000"/>
          </a:xfrm>
          <a:prstGeom prst="rect">
            <a:avLst/>
          </a:prstGeom>
          <a:noFill/>
          <a:ln w="0">
            <a:solidFill>
              <a:srgbClr val="FFFFFF"/>
            </a:solidFill>
          </a:ln>
        </p:spPr>
        <p:txBody>
          <a:bodyPr lIns="76200" tIns="38100" rIns="76200" bIns="38100" anchor="ctr"/>
          <a:lstStyle/>
          <a:p>
            <a:pPr algn="ctr">
              <a:defRPr sz="1200" b="1">
                <a:solidFill>
                  <a:srgbClr val="FFFFFF"/>
                </a:solidFill>
                <a:latin typeface="Microsoft YaHei UI" panose="020B0503020204020204" charset="-122"/>
                <a:ea typeface="Microsoft YaHei UI" panose="020B0503020204020204" charset="-122"/>
                <a:cs typeface="Microsoft YaHei UI" panose="020B0503020204020204" charset="-122"/>
              </a:defRPr>
            </a:pPr>
            <a:r>
              <a:rPr sz="1200" b="1">
                <a:solidFill>
                  <a:srgbClr val="FFFFFF"/>
                </a:solidFill>
                <a:latin typeface="Microsoft YaHei UI" panose="020B0503020204020204" charset="-122"/>
                <a:ea typeface="Microsoft YaHei UI" panose="020B0503020204020204" charset="-122"/>
                <a:cs typeface="Microsoft YaHei UI" panose="020B0503020204020204" charset="-122"/>
              </a:rPr>
              <a:t>需要替代测度</a:t>
            </a:r>
            <a:endParaRPr sz="1200" b="1">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38" name="圆角矩形 37"/>
          <p:cNvSpPr>
            <a:spLocks noGrp="1"/>
          </p:cNvSpPr>
          <p:nvPr/>
        </p:nvSpPr>
        <p:spPr>
          <a:xfrm>
            <a:off x="666750" y="5981700"/>
            <a:ext cx="9906000" cy="400050"/>
          </a:xfrm>
          <a:prstGeom prst="roundRect">
            <a:avLst>
              <a:gd name="adj" fmla="val 23810"/>
            </a:avLst>
          </a:prstGeom>
          <a:solidFill>
            <a:srgbClr val="FFF8DA"/>
          </a:solidFill>
          <a:ln w="11430">
            <a:solidFill>
              <a:srgbClr val="E9D47A"/>
            </a:solidFill>
          </a:ln>
        </p:spPr>
      </p:sp>
      <p:sp>
        <p:nvSpPr>
          <p:cNvPr id="39" name="矩形 38"/>
          <p:cNvSpPr>
            <a:spLocks noGrp="1"/>
          </p:cNvSpPr>
          <p:nvPr/>
        </p:nvSpPr>
        <p:spPr>
          <a:xfrm>
            <a:off x="876300" y="6048375"/>
            <a:ext cx="9477375" cy="266700"/>
          </a:xfrm>
          <a:prstGeom prst="rect">
            <a:avLst/>
          </a:prstGeom>
          <a:noFill/>
          <a:ln w="0">
            <a:solidFill>
              <a:srgbClr val="FFFFFF"/>
            </a:solidFill>
          </a:ln>
        </p:spPr>
        <p:txBody>
          <a:bodyPr lIns="76200" tIns="38100" rIns="76200" bIns="38100" anchor="ctr"/>
          <a:lstStyle/>
          <a:p>
            <a:pPr algn="l">
              <a:defRPr sz="1200" b="1">
                <a:solidFill>
                  <a:srgbClr val="206040"/>
                </a:solidFill>
                <a:latin typeface="Microsoft YaHei UI" panose="020B0503020204020204" charset="-122"/>
                <a:ea typeface="Microsoft YaHei UI" panose="020B0503020204020204" charset="-122"/>
                <a:cs typeface="Microsoft YaHei UI" panose="020B0503020204020204" charset="-122"/>
              </a:defRPr>
            </a:pPr>
            <a:r>
              <a:rPr sz="1200" b="1">
                <a:solidFill>
                  <a:srgbClr val="206040"/>
                </a:solidFill>
                <a:latin typeface="Microsoft YaHei UI" panose="020B0503020204020204" charset="-122"/>
                <a:ea typeface="Microsoft YaHei UI" panose="020B0503020204020204" charset="-122"/>
                <a:cs typeface="Microsoft YaHei UI" panose="020B0503020204020204" charset="-122"/>
              </a:rPr>
              <a:t>识别策略的目标，是把“政策关注度”与企业自身绿色能力的共同变化尽量拆开。</a:t>
            </a:r>
            <a:endParaRPr sz="1200" b="1">
              <a:solidFill>
                <a:srgbClr val="206040"/>
              </a:solidFill>
              <a:latin typeface="Microsoft YaHei UI" panose="020B0503020204020204" charset="-122"/>
              <a:ea typeface="Microsoft YaHei UI" panose="020B0503020204020204" charset="-122"/>
              <a:cs typeface="Microsoft YaHei UI" panose="020B0503020204020204"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a:spLocks noGrp="1"/>
          </p:cNvSpPr>
          <p:nvPr/>
        </p:nvSpPr>
        <p:spPr>
          <a:xfrm>
            <a:off x="0" y="0"/>
            <a:ext cx="12192000" cy="6858000"/>
          </a:xfrm>
          <a:prstGeom prst="rect">
            <a:avLst/>
          </a:prstGeom>
          <a:solidFill>
            <a:srgbClr val="F4F6F5"/>
          </a:solidFill>
          <a:ln w="0">
            <a:solidFill>
              <a:srgbClr val="FFFFFF"/>
            </a:solidFill>
          </a:ln>
        </p:spPr>
      </p:sp>
      <p:sp>
        <p:nvSpPr>
          <p:cNvPr id="3" name="矩形 2"/>
          <p:cNvSpPr>
            <a:spLocks noGrp="1"/>
          </p:cNvSpPr>
          <p:nvPr/>
        </p:nvSpPr>
        <p:spPr>
          <a:xfrm>
            <a:off x="0" y="0"/>
            <a:ext cx="12192000" cy="6858000"/>
          </a:xfrm>
          <a:prstGeom prst="rect">
            <a:avLst/>
          </a:prstGeom>
          <a:solidFill>
            <a:srgbClr val="F9FAF9"/>
          </a:solidFill>
          <a:ln w="0">
            <a:solidFill>
              <a:srgbClr val="FFFFFF"/>
            </a:solidFill>
          </a:ln>
        </p:spPr>
      </p:sp>
      <p:sp>
        <p:nvSpPr>
          <p:cNvPr id="4" name="矩形 3"/>
          <p:cNvSpPr>
            <a:spLocks noGrp="1"/>
          </p:cNvSpPr>
          <p:nvPr/>
        </p:nvSpPr>
        <p:spPr>
          <a:xfrm>
            <a:off x="8858250" y="0"/>
            <a:ext cx="3333750" cy="6858000"/>
          </a:xfrm>
          <a:prstGeom prst="rect">
            <a:avLst/>
          </a:prstGeom>
          <a:solidFill>
            <a:srgbClr val="F7F9F8"/>
          </a:solidFill>
          <a:ln w="0">
            <a:solidFill>
              <a:srgbClr val="FFFFFF"/>
            </a:solidFill>
          </a:ln>
        </p:spPr>
      </p:sp>
      <p:sp>
        <p:nvSpPr>
          <p:cNvPr id="5" name="矩形 4"/>
          <p:cNvSpPr>
            <a:spLocks noGrp="1"/>
          </p:cNvSpPr>
          <p:nvPr/>
        </p:nvSpPr>
        <p:spPr>
          <a:xfrm>
            <a:off x="0" y="6115050"/>
            <a:ext cx="12192000" cy="742950"/>
          </a:xfrm>
          <a:prstGeom prst="rect">
            <a:avLst/>
          </a:prstGeom>
          <a:solidFill>
            <a:srgbClr val="F8FAF9"/>
          </a:solidFill>
          <a:ln w="0">
            <a:solidFill>
              <a:srgbClr val="FFFFFF"/>
            </a:solidFill>
          </a:ln>
        </p:spPr>
      </p:sp>
      <p:sp>
        <p:nvSpPr>
          <p:cNvPr id="6" name="等腰三角形 5"/>
          <p:cNvSpPr>
            <a:spLocks noGrp="1"/>
          </p:cNvSpPr>
          <p:nvPr/>
        </p:nvSpPr>
        <p:spPr>
          <a:xfrm>
            <a:off x="1524000" y="904875"/>
            <a:ext cx="2476500" cy="1714500"/>
          </a:xfrm>
          <a:prstGeom prst="triangle">
            <a:avLst/>
          </a:prstGeom>
          <a:solidFill>
            <a:srgbClr val="FFFFFF"/>
          </a:solidFill>
          <a:ln w="0">
            <a:solidFill>
              <a:srgbClr val="FFFFFF"/>
            </a:solidFill>
          </a:ln>
        </p:spPr>
      </p:sp>
      <p:sp>
        <p:nvSpPr>
          <p:cNvPr id="7" name="等腰三角形 6"/>
          <p:cNvSpPr>
            <a:spLocks noGrp="1"/>
          </p:cNvSpPr>
          <p:nvPr/>
        </p:nvSpPr>
        <p:spPr>
          <a:xfrm>
            <a:off x="3857625" y="1762125"/>
            <a:ext cx="2476500" cy="1714500"/>
          </a:xfrm>
          <a:prstGeom prst="triangle">
            <a:avLst/>
          </a:prstGeom>
          <a:solidFill>
            <a:srgbClr val="F8FBFA"/>
          </a:solidFill>
          <a:ln w="0">
            <a:solidFill>
              <a:srgbClr val="FFFFFF"/>
            </a:solidFill>
          </a:ln>
        </p:spPr>
      </p:sp>
      <p:sp>
        <p:nvSpPr>
          <p:cNvPr id="8" name="等腰三角形 7"/>
          <p:cNvSpPr>
            <a:spLocks noGrp="1"/>
          </p:cNvSpPr>
          <p:nvPr/>
        </p:nvSpPr>
        <p:spPr>
          <a:xfrm>
            <a:off x="6191250" y="904875"/>
            <a:ext cx="2476500" cy="1714500"/>
          </a:xfrm>
          <a:prstGeom prst="triangle">
            <a:avLst/>
          </a:prstGeom>
          <a:solidFill>
            <a:srgbClr val="FFFFFF"/>
          </a:solidFill>
          <a:ln w="0">
            <a:solidFill>
              <a:srgbClr val="FFFFFF"/>
            </a:solidFill>
          </a:ln>
        </p:spPr>
      </p:sp>
      <p:sp>
        <p:nvSpPr>
          <p:cNvPr id="9" name="等腰三角形 8"/>
          <p:cNvSpPr>
            <a:spLocks noGrp="1"/>
          </p:cNvSpPr>
          <p:nvPr/>
        </p:nvSpPr>
        <p:spPr>
          <a:xfrm>
            <a:off x="8524875" y="1762125"/>
            <a:ext cx="2476500" cy="1714500"/>
          </a:xfrm>
          <a:prstGeom prst="triangle">
            <a:avLst/>
          </a:prstGeom>
          <a:solidFill>
            <a:srgbClr val="F8FBFA"/>
          </a:solidFill>
          <a:ln w="0">
            <a:solidFill>
              <a:srgbClr val="FFFFFF"/>
            </a:solidFill>
          </a:ln>
        </p:spPr>
      </p:sp>
      <p:sp>
        <p:nvSpPr>
          <p:cNvPr id="10" name="等腰三角形 9"/>
          <p:cNvSpPr>
            <a:spLocks noGrp="1"/>
          </p:cNvSpPr>
          <p:nvPr/>
        </p:nvSpPr>
        <p:spPr>
          <a:xfrm>
            <a:off x="10858500" y="904875"/>
            <a:ext cx="2476500" cy="1714500"/>
          </a:xfrm>
          <a:prstGeom prst="triangle">
            <a:avLst/>
          </a:prstGeom>
          <a:solidFill>
            <a:srgbClr val="FFFFFF"/>
          </a:solidFill>
          <a:ln w="0">
            <a:solidFill>
              <a:srgbClr val="FFFFFF"/>
            </a:solidFill>
          </a:ln>
        </p:spPr>
      </p:sp>
      <p:sp>
        <p:nvSpPr>
          <p:cNvPr id="11" name="等腰三角形 10"/>
          <p:cNvSpPr>
            <a:spLocks noGrp="1"/>
          </p:cNvSpPr>
          <p:nvPr/>
        </p:nvSpPr>
        <p:spPr>
          <a:xfrm rot="5400000">
            <a:off x="152400" y="266700"/>
            <a:ext cx="533400" cy="476250"/>
          </a:xfrm>
          <a:prstGeom prst="triangle">
            <a:avLst/>
          </a:prstGeom>
          <a:solidFill>
            <a:srgbClr val="206040"/>
          </a:solidFill>
          <a:ln w="0">
            <a:solidFill>
              <a:srgbClr val="FFFFFF"/>
            </a:solidFill>
          </a:ln>
        </p:spPr>
      </p:sp>
      <p:sp>
        <p:nvSpPr>
          <p:cNvPr id="12" name="等腰三角形 11"/>
          <p:cNvSpPr>
            <a:spLocks noGrp="1"/>
          </p:cNvSpPr>
          <p:nvPr/>
        </p:nvSpPr>
        <p:spPr>
          <a:xfrm rot="5400000">
            <a:off x="381000" y="304800"/>
            <a:ext cx="457200" cy="419100"/>
          </a:xfrm>
          <a:prstGeom prst="triangle">
            <a:avLst/>
          </a:prstGeom>
          <a:solidFill>
            <a:srgbClr val="80A090"/>
          </a:solidFill>
          <a:ln w="0">
            <a:solidFill>
              <a:srgbClr val="FFFFFF"/>
            </a:solidFill>
          </a:ln>
        </p:spPr>
      </p:sp>
      <p:sp>
        <p:nvSpPr>
          <p:cNvPr id="13" name="矩形 12"/>
          <p:cNvSpPr>
            <a:spLocks noGrp="1"/>
          </p:cNvSpPr>
          <p:nvPr/>
        </p:nvSpPr>
        <p:spPr>
          <a:xfrm>
            <a:off x="857250" y="228600"/>
            <a:ext cx="2857500" cy="457200"/>
          </a:xfrm>
          <a:prstGeom prst="rect">
            <a:avLst/>
          </a:prstGeom>
          <a:noFill/>
          <a:ln w="0">
            <a:solidFill>
              <a:srgbClr val="FFFFFF"/>
            </a:solidFill>
          </a:ln>
        </p:spPr>
        <p:txBody>
          <a:bodyPr lIns="76200" tIns="38100" rIns="76200" bIns="38100" anchor="ctr"/>
          <a:lstStyle/>
          <a:p>
            <a:pPr algn="l">
              <a:defRPr sz="2550" b="1">
                <a:solidFill>
                  <a:srgbClr val="206040"/>
                </a:solidFill>
                <a:latin typeface="黑体" panose="02010609060101010101" charset="-122"/>
                <a:ea typeface="黑体" panose="02010609060101010101" charset="-122"/>
                <a:cs typeface="黑体" panose="02010609060101010101" charset="-122"/>
              </a:defRPr>
            </a:pPr>
            <a:r>
              <a:rPr sz="2550" b="1">
                <a:solidFill>
                  <a:srgbClr val="206040"/>
                </a:solidFill>
                <a:latin typeface="黑体" panose="02010609060101010101" charset="-122"/>
                <a:ea typeface="黑体" panose="02010609060101010101" charset="-122"/>
                <a:cs typeface="黑体" panose="02010609060101010101" charset="-122"/>
              </a:rPr>
              <a:t>识别与稳健性</a:t>
            </a:r>
            <a:endParaRPr sz="2550" b="1">
              <a:solidFill>
                <a:srgbClr val="206040"/>
              </a:solidFill>
              <a:latin typeface="黑体" panose="02010609060101010101" charset="-122"/>
              <a:ea typeface="黑体" panose="02010609060101010101" charset="-122"/>
              <a:cs typeface="黑体" panose="02010609060101010101" charset="-122"/>
            </a:endParaRPr>
          </a:p>
        </p:txBody>
      </p:sp>
      <p:sp>
        <p:nvSpPr>
          <p:cNvPr id="14" name="矩形 13"/>
          <p:cNvSpPr>
            <a:spLocks noGrp="1"/>
          </p:cNvSpPr>
          <p:nvPr/>
        </p:nvSpPr>
        <p:spPr>
          <a:xfrm>
            <a:off x="4000500" y="295275"/>
            <a:ext cx="1123950" cy="323850"/>
          </a:xfrm>
          <a:prstGeom prst="rect">
            <a:avLst/>
          </a:prstGeom>
          <a:noFill/>
          <a:ln w="0">
            <a:solidFill>
              <a:srgbClr val="FFFFFF"/>
            </a:solidFill>
          </a:ln>
        </p:spPr>
        <p:txBody>
          <a:bodyPr lIns="76200" tIns="38100" rIns="76200" bIns="38100" anchor="ctr"/>
          <a:lstStyle/>
          <a:p>
            <a:pPr algn="ctr">
              <a:defRPr sz="1125" b="0">
                <a:solidFill>
                  <a:srgbClr val="161616"/>
                </a:solidFill>
                <a:latin typeface="Microsoft YaHei UI" panose="020B0503020204020204" charset="-122"/>
                <a:ea typeface="Microsoft YaHei UI" panose="020B0503020204020204" charset="-122"/>
                <a:cs typeface="Microsoft YaHei UI" panose="020B0503020204020204" charset="-122"/>
              </a:defRPr>
            </a:pPr>
            <a:r>
              <a:rPr sz="1125" b="0">
                <a:solidFill>
                  <a:srgbClr val="161616"/>
                </a:solidFill>
                <a:latin typeface="Microsoft YaHei UI" panose="020B0503020204020204" charset="-122"/>
                <a:ea typeface="Microsoft YaHei UI" panose="020B0503020204020204" charset="-122"/>
                <a:cs typeface="Microsoft YaHei UI" panose="020B0503020204020204" charset="-122"/>
              </a:rPr>
              <a:t>现实问题</a:t>
            </a:r>
            <a:endParaRPr sz="1125" b="0">
              <a:solidFill>
                <a:srgbClr val="161616"/>
              </a:solidFill>
              <a:latin typeface="Microsoft YaHei UI" panose="020B0503020204020204" charset="-122"/>
              <a:ea typeface="Microsoft YaHei UI" panose="020B0503020204020204" charset="-122"/>
              <a:cs typeface="Microsoft YaHei UI" panose="020B0503020204020204" charset="-122"/>
            </a:endParaRPr>
          </a:p>
        </p:txBody>
      </p:sp>
      <p:sp>
        <p:nvSpPr>
          <p:cNvPr id="15" name="矩形 14"/>
          <p:cNvSpPr>
            <a:spLocks noGrp="1"/>
          </p:cNvSpPr>
          <p:nvPr/>
        </p:nvSpPr>
        <p:spPr>
          <a:xfrm>
            <a:off x="5200650" y="295275"/>
            <a:ext cx="1123950" cy="323850"/>
          </a:xfrm>
          <a:prstGeom prst="rect">
            <a:avLst/>
          </a:prstGeom>
          <a:noFill/>
          <a:ln w="0">
            <a:solidFill>
              <a:srgbClr val="FFFFFF"/>
            </a:solidFill>
          </a:ln>
        </p:spPr>
        <p:txBody>
          <a:bodyPr lIns="76200" tIns="38100" rIns="76200" bIns="38100" anchor="ctr"/>
          <a:lstStyle/>
          <a:p>
            <a:pPr algn="ctr">
              <a:defRPr sz="1125" b="0">
                <a:solidFill>
                  <a:srgbClr val="161616"/>
                </a:solidFill>
                <a:latin typeface="Microsoft YaHei UI" panose="020B0503020204020204" charset="-122"/>
                <a:ea typeface="Microsoft YaHei UI" panose="020B0503020204020204" charset="-122"/>
                <a:cs typeface="Microsoft YaHei UI" panose="020B0503020204020204" charset="-122"/>
              </a:defRPr>
            </a:pPr>
            <a:r>
              <a:rPr sz="1125" b="0">
                <a:solidFill>
                  <a:srgbClr val="161616"/>
                </a:solidFill>
                <a:latin typeface="Microsoft YaHei UI" panose="020B0503020204020204" charset="-122"/>
                <a:ea typeface="Microsoft YaHei UI" panose="020B0503020204020204" charset="-122"/>
                <a:cs typeface="Microsoft YaHei UI" panose="020B0503020204020204" charset="-122"/>
              </a:rPr>
              <a:t>科学问题</a:t>
            </a:r>
            <a:endParaRPr sz="1125" b="0">
              <a:solidFill>
                <a:srgbClr val="161616"/>
              </a:solidFill>
              <a:latin typeface="Microsoft YaHei UI" panose="020B0503020204020204" charset="-122"/>
              <a:ea typeface="Microsoft YaHei UI" panose="020B0503020204020204" charset="-122"/>
              <a:cs typeface="Microsoft YaHei UI" panose="020B0503020204020204" charset="-122"/>
            </a:endParaRPr>
          </a:p>
        </p:txBody>
      </p:sp>
      <p:sp>
        <p:nvSpPr>
          <p:cNvPr id="16" name="矩形 15"/>
          <p:cNvSpPr>
            <a:spLocks noGrp="1"/>
          </p:cNvSpPr>
          <p:nvPr/>
        </p:nvSpPr>
        <p:spPr>
          <a:xfrm>
            <a:off x="6400800" y="295275"/>
            <a:ext cx="1123950" cy="323850"/>
          </a:xfrm>
          <a:prstGeom prst="rect">
            <a:avLst/>
          </a:prstGeom>
          <a:noFill/>
          <a:ln w="0">
            <a:solidFill>
              <a:srgbClr val="FFFFFF"/>
            </a:solidFill>
          </a:ln>
        </p:spPr>
        <p:txBody>
          <a:bodyPr lIns="76200" tIns="38100" rIns="76200" bIns="38100" anchor="ctr"/>
          <a:lstStyle/>
          <a:p>
            <a:pPr algn="ctr">
              <a:defRPr sz="1125" b="0">
                <a:solidFill>
                  <a:srgbClr val="161616"/>
                </a:solidFill>
                <a:latin typeface="Microsoft YaHei UI" panose="020B0503020204020204" charset="-122"/>
                <a:ea typeface="Microsoft YaHei UI" panose="020B0503020204020204" charset="-122"/>
                <a:cs typeface="Microsoft YaHei UI" panose="020B0503020204020204" charset="-122"/>
              </a:defRPr>
            </a:pPr>
            <a:r>
              <a:rPr sz="1125" b="0">
                <a:solidFill>
                  <a:srgbClr val="161616"/>
                </a:solidFill>
                <a:latin typeface="Microsoft YaHei UI" panose="020B0503020204020204" charset="-122"/>
                <a:ea typeface="Microsoft YaHei UI" panose="020B0503020204020204" charset="-122"/>
                <a:cs typeface="Microsoft YaHei UI" panose="020B0503020204020204" charset="-122"/>
              </a:rPr>
              <a:t>理论机制</a:t>
            </a:r>
            <a:endParaRPr sz="1125" b="0">
              <a:solidFill>
                <a:srgbClr val="161616"/>
              </a:solidFill>
              <a:latin typeface="Microsoft YaHei UI" panose="020B0503020204020204" charset="-122"/>
              <a:ea typeface="Microsoft YaHei UI" panose="020B0503020204020204" charset="-122"/>
              <a:cs typeface="Microsoft YaHei UI" panose="020B0503020204020204" charset="-122"/>
            </a:endParaRPr>
          </a:p>
        </p:txBody>
      </p:sp>
      <p:sp>
        <p:nvSpPr>
          <p:cNvPr id="17" name="矩形 16"/>
          <p:cNvSpPr>
            <a:spLocks noGrp="1"/>
          </p:cNvSpPr>
          <p:nvPr/>
        </p:nvSpPr>
        <p:spPr>
          <a:xfrm>
            <a:off x="7600950" y="295275"/>
            <a:ext cx="1123950" cy="323850"/>
          </a:xfrm>
          <a:prstGeom prst="rect">
            <a:avLst/>
          </a:prstGeom>
          <a:noFill/>
          <a:ln w="0">
            <a:solidFill>
              <a:srgbClr val="FFFFFF"/>
            </a:solidFill>
          </a:ln>
        </p:spPr>
        <p:txBody>
          <a:bodyPr lIns="76200" tIns="38100" rIns="76200" bIns="38100" anchor="ctr"/>
          <a:lstStyle/>
          <a:p>
            <a:pPr algn="ctr">
              <a:defRPr sz="1125" b="0">
                <a:solidFill>
                  <a:srgbClr val="161616"/>
                </a:solidFill>
                <a:latin typeface="Microsoft YaHei UI" panose="020B0503020204020204" charset="-122"/>
                <a:ea typeface="Microsoft YaHei UI" panose="020B0503020204020204" charset="-122"/>
                <a:cs typeface="Microsoft YaHei UI" panose="020B0503020204020204" charset="-122"/>
              </a:defRPr>
            </a:pPr>
            <a:r>
              <a:rPr sz="1125" b="0">
                <a:solidFill>
                  <a:srgbClr val="161616"/>
                </a:solidFill>
                <a:latin typeface="Microsoft YaHei UI" panose="020B0503020204020204" charset="-122"/>
                <a:ea typeface="Microsoft YaHei UI" panose="020B0503020204020204" charset="-122"/>
                <a:cs typeface="Microsoft YaHei UI" panose="020B0503020204020204" charset="-122"/>
              </a:rPr>
              <a:t>数据变量</a:t>
            </a:r>
            <a:endParaRPr sz="1125" b="0">
              <a:solidFill>
                <a:srgbClr val="161616"/>
              </a:solidFill>
              <a:latin typeface="Microsoft YaHei UI" panose="020B0503020204020204" charset="-122"/>
              <a:ea typeface="Microsoft YaHei UI" panose="020B0503020204020204" charset="-122"/>
              <a:cs typeface="Microsoft YaHei UI" panose="020B0503020204020204" charset="-122"/>
            </a:endParaRPr>
          </a:p>
        </p:txBody>
      </p:sp>
      <p:sp>
        <p:nvSpPr>
          <p:cNvPr id="18" name="矩形 17"/>
          <p:cNvSpPr>
            <a:spLocks noGrp="1"/>
          </p:cNvSpPr>
          <p:nvPr/>
        </p:nvSpPr>
        <p:spPr>
          <a:xfrm>
            <a:off x="8801100" y="228600"/>
            <a:ext cx="1123950" cy="323850"/>
          </a:xfrm>
          <a:prstGeom prst="rect">
            <a:avLst/>
          </a:prstGeom>
          <a:noFill/>
          <a:ln w="0">
            <a:solidFill>
              <a:srgbClr val="FFFFFF"/>
            </a:solidFill>
          </a:ln>
        </p:spPr>
        <p:txBody>
          <a:bodyPr lIns="76200" tIns="38100" rIns="76200" bIns="38100" anchor="ctr"/>
          <a:lstStyle/>
          <a:p>
            <a:pPr algn="ctr">
              <a:defRPr sz="1500" b="1">
                <a:solidFill>
                  <a:srgbClr val="206040"/>
                </a:solidFill>
                <a:latin typeface="Microsoft YaHei UI" panose="020B0503020204020204" charset="-122"/>
                <a:ea typeface="Microsoft YaHei UI" panose="020B0503020204020204" charset="-122"/>
                <a:cs typeface="Microsoft YaHei UI" panose="020B0503020204020204" charset="-122"/>
              </a:defRPr>
            </a:pPr>
            <a:r>
              <a:rPr sz="1500" b="1">
                <a:solidFill>
                  <a:srgbClr val="206040"/>
                </a:solidFill>
                <a:latin typeface="Microsoft YaHei UI" panose="020B0503020204020204" charset="-122"/>
                <a:ea typeface="Microsoft YaHei UI" panose="020B0503020204020204" charset="-122"/>
                <a:cs typeface="Microsoft YaHei UI" panose="020B0503020204020204" charset="-122"/>
              </a:rPr>
              <a:t>模型识别</a:t>
            </a:r>
            <a:endParaRPr sz="1500" b="1">
              <a:solidFill>
                <a:srgbClr val="206040"/>
              </a:solidFill>
              <a:latin typeface="Microsoft YaHei UI" panose="020B0503020204020204" charset="-122"/>
              <a:ea typeface="Microsoft YaHei UI" panose="020B0503020204020204" charset="-122"/>
              <a:cs typeface="Microsoft YaHei UI" panose="020B0503020204020204" charset="-122"/>
            </a:endParaRPr>
          </a:p>
        </p:txBody>
      </p:sp>
      <p:sp>
        <p:nvSpPr>
          <p:cNvPr id="19" name="圆角矩形 18"/>
          <p:cNvSpPr>
            <a:spLocks noGrp="1"/>
          </p:cNvSpPr>
          <p:nvPr/>
        </p:nvSpPr>
        <p:spPr>
          <a:xfrm>
            <a:off x="8972550" y="657225"/>
            <a:ext cx="781050" cy="38100"/>
          </a:xfrm>
          <a:prstGeom prst="roundRect">
            <a:avLst>
              <a:gd name="adj" fmla="val 25000"/>
            </a:avLst>
          </a:prstGeom>
          <a:solidFill>
            <a:srgbClr val="206040"/>
          </a:solidFill>
          <a:ln w="0">
            <a:solidFill>
              <a:srgbClr val="FFFFFF"/>
            </a:solidFill>
          </a:ln>
        </p:spPr>
      </p:sp>
      <p:sp>
        <p:nvSpPr>
          <p:cNvPr id="20" name="矩形 19"/>
          <p:cNvSpPr>
            <a:spLocks noGrp="1"/>
          </p:cNvSpPr>
          <p:nvPr/>
        </p:nvSpPr>
        <p:spPr>
          <a:xfrm>
            <a:off x="10001250" y="295275"/>
            <a:ext cx="1123950" cy="323850"/>
          </a:xfrm>
          <a:prstGeom prst="rect">
            <a:avLst/>
          </a:prstGeom>
          <a:noFill/>
          <a:ln w="0">
            <a:solidFill>
              <a:srgbClr val="FFFFFF"/>
            </a:solidFill>
          </a:ln>
        </p:spPr>
        <p:txBody>
          <a:bodyPr lIns="76200" tIns="38100" rIns="76200" bIns="38100" anchor="ctr"/>
          <a:lstStyle/>
          <a:p>
            <a:pPr algn="ctr">
              <a:defRPr sz="1125" b="0">
                <a:solidFill>
                  <a:srgbClr val="161616"/>
                </a:solidFill>
                <a:latin typeface="Microsoft YaHei UI" panose="020B0503020204020204" charset="-122"/>
                <a:ea typeface="Microsoft YaHei UI" panose="020B0503020204020204" charset="-122"/>
                <a:cs typeface="Microsoft YaHei UI" panose="020B0503020204020204" charset="-122"/>
              </a:defRPr>
            </a:pPr>
            <a:r>
              <a:rPr sz="1125" b="0">
                <a:solidFill>
                  <a:srgbClr val="161616"/>
                </a:solidFill>
                <a:latin typeface="Microsoft YaHei UI" panose="020B0503020204020204" charset="-122"/>
                <a:ea typeface="Microsoft YaHei UI" panose="020B0503020204020204" charset="-122"/>
                <a:cs typeface="Microsoft YaHei UI" panose="020B0503020204020204" charset="-122"/>
              </a:rPr>
              <a:t>预期贡献</a:t>
            </a:r>
            <a:endParaRPr sz="1125" b="0">
              <a:solidFill>
                <a:srgbClr val="161616"/>
              </a:solidFill>
              <a:latin typeface="Microsoft YaHei UI" panose="020B0503020204020204" charset="-122"/>
              <a:ea typeface="Microsoft YaHei UI" panose="020B0503020204020204" charset="-122"/>
              <a:cs typeface="Microsoft YaHei UI" panose="020B0503020204020204" charset="-122"/>
            </a:endParaRPr>
          </a:p>
        </p:txBody>
      </p:sp>
      <p:sp>
        <p:nvSpPr>
          <p:cNvPr id="21" name="圆角矩形 20"/>
          <p:cNvSpPr>
            <a:spLocks noGrp="1"/>
          </p:cNvSpPr>
          <p:nvPr/>
        </p:nvSpPr>
        <p:spPr>
          <a:xfrm>
            <a:off x="3905250" y="742950"/>
            <a:ext cx="8001000" cy="9525"/>
          </a:xfrm>
          <a:prstGeom prst="roundRect">
            <a:avLst>
              <a:gd name="adj" fmla="val 50000"/>
            </a:avLst>
          </a:prstGeom>
          <a:solidFill>
            <a:srgbClr val="D7DFDA"/>
          </a:solidFill>
          <a:ln w="0">
            <a:solidFill>
              <a:srgbClr val="FFFFFF"/>
            </a:solidFill>
          </a:ln>
        </p:spPr>
      </p:sp>
      <p:sp>
        <p:nvSpPr>
          <p:cNvPr id="22" name="矩形 21"/>
          <p:cNvSpPr>
            <a:spLocks noGrp="1"/>
          </p:cNvSpPr>
          <p:nvPr/>
        </p:nvSpPr>
        <p:spPr>
          <a:xfrm>
            <a:off x="11334750" y="6286500"/>
            <a:ext cx="495300" cy="266700"/>
          </a:xfrm>
          <a:prstGeom prst="rect">
            <a:avLst/>
          </a:prstGeom>
          <a:noFill/>
          <a:ln w="0">
            <a:solidFill>
              <a:srgbClr val="FFFFFF"/>
            </a:solidFill>
          </a:ln>
        </p:spPr>
        <p:txBody>
          <a:bodyPr lIns="76200" tIns="38100" rIns="76200" bIns="38100" anchor="ctr"/>
          <a:lstStyle/>
          <a:p>
            <a:pPr algn="r">
              <a:defRPr sz="975" b="0">
                <a:solidFill>
                  <a:srgbClr val="80A090"/>
                </a:solidFill>
                <a:latin typeface="Microsoft YaHei UI" panose="020B0503020204020204" charset="-122"/>
                <a:ea typeface="Microsoft YaHei UI" panose="020B0503020204020204" charset="-122"/>
                <a:cs typeface="Microsoft YaHei UI" panose="020B0503020204020204" charset="-122"/>
              </a:defRPr>
            </a:pPr>
            <a:r>
              <a:rPr sz="975" b="0">
                <a:solidFill>
                  <a:srgbClr val="80A090"/>
                </a:solidFill>
                <a:latin typeface="Microsoft YaHei UI" panose="020B0503020204020204" charset="-122"/>
                <a:ea typeface="Microsoft YaHei UI" panose="020B0503020204020204" charset="-122"/>
                <a:cs typeface="Microsoft YaHei UI" panose="020B0503020204020204" charset="-122"/>
              </a:rPr>
              <a:t>16</a:t>
            </a:r>
            <a:endParaRPr sz="975" b="0">
              <a:solidFill>
                <a:srgbClr val="80A090"/>
              </a:solidFill>
              <a:latin typeface="Microsoft YaHei UI" panose="020B0503020204020204" charset="-122"/>
              <a:ea typeface="Microsoft YaHei UI" panose="020B0503020204020204" charset="-122"/>
              <a:cs typeface="Microsoft YaHei UI" panose="020B0503020204020204" charset="-122"/>
            </a:endParaRPr>
          </a:p>
        </p:txBody>
      </p:sp>
      <p:sp>
        <p:nvSpPr>
          <p:cNvPr id="23" name="矩形 22"/>
          <p:cNvSpPr>
            <a:spLocks noGrp="1"/>
          </p:cNvSpPr>
          <p:nvPr/>
        </p:nvSpPr>
        <p:spPr>
          <a:xfrm>
            <a:off x="666750" y="1123950"/>
            <a:ext cx="3619500" cy="581025"/>
          </a:xfrm>
          <a:prstGeom prst="rect">
            <a:avLst/>
          </a:prstGeom>
          <a:solidFill>
            <a:srgbClr val="206040"/>
          </a:solidFill>
          <a:ln w="11430">
            <a:solidFill>
              <a:srgbClr val="C9D5CE"/>
            </a:solidFill>
          </a:ln>
        </p:spPr>
      </p:sp>
      <p:sp>
        <p:nvSpPr>
          <p:cNvPr id="24" name="矩形 23"/>
          <p:cNvSpPr>
            <a:spLocks noGrp="1"/>
          </p:cNvSpPr>
          <p:nvPr/>
        </p:nvSpPr>
        <p:spPr>
          <a:xfrm>
            <a:off x="695325" y="1143000"/>
            <a:ext cx="3562350" cy="542925"/>
          </a:xfrm>
          <a:prstGeom prst="rect">
            <a:avLst/>
          </a:prstGeom>
          <a:noFill/>
          <a:ln w="0">
            <a:solidFill>
              <a:srgbClr val="FFFFFF"/>
            </a:solidFill>
          </a:ln>
        </p:spPr>
        <p:txBody>
          <a:bodyPr lIns="76200" tIns="38100" rIns="76200" bIns="38100" anchor="ctr"/>
          <a:lstStyle/>
          <a:p>
            <a:pPr algn="ctr">
              <a:defRPr sz="1050" b="1">
                <a:solidFill>
                  <a:srgbClr val="FFFFFF"/>
                </a:solidFill>
                <a:latin typeface="Microsoft YaHei UI" panose="020B0503020204020204" charset="-122"/>
                <a:ea typeface="Microsoft YaHei UI" panose="020B0503020204020204" charset="-122"/>
                <a:cs typeface="Microsoft YaHei UI" panose="020B0503020204020204" charset="-122"/>
              </a:defRPr>
            </a:pPr>
            <a:r>
              <a:rPr sz="1050" b="1">
                <a:solidFill>
                  <a:srgbClr val="FFFFFF"/>
                </a:solidFill>
                <a:latin typeface="Microsoft YaHei UI" panose="020B0503020204020204" charset="-122"/>
                <a:ea typeface="Microsoft YaHei UI" panose="020B0503020204020204" charset="-122"/>
                <a:cs typeface="Microsoft YaHei UI" panose="020B0503020204020204" charset="-122"/>
              </a:rPr>
              <a:t>检验类型</a:t>
            </a:r>
            <a:endParaRPr sz="1050" b="1">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25" name="矩形 24"/>
          <p:cNvSpPr>
            <a:spLocks noGrp="1"/>
          </p:cNvSpPr>
          <p:nvPr/>
        </p:nvSpPr>
        <p:spPr>
          <a:xfrm>
            <a:off x="4286250" y="1123950"/>
            <a:ext cx="3619500" cy="581025"/>
          </a:xfrm>
          <a:prstGeom prst="rect">
            <a:avLst/>
          </a:prstGeom>
          <a:solidFill>
            <a:srgbClr val="206040"/>
          </a:solidFill>
          <a:ln w="11430">
            <a:solidFill>
              <a:srgbClr val="C9D5CE"/>
            </a:solidFill>
          </a:ln>
        </p:spPr>
      </p:sp>
      <p:sp>
        <p:nvSpPr>
          <p:cNvPr id="26" name="矩形 25"/>
          <p:cNvSpPr>
            <a:spLocks noGrp="1"/>
          </p:cNvSpPr>
          <p:nvPr/>
        </p:nvSpPr>
        <p:spPr>
          <a:xfrm>
            <a:off x="4314825" y="1143000"/>
            <a:ext cx="3562350" cy="542925"/>
          </a:xfrm>
          <a:prstGeom prst="rect">
            <a:avLst/>
          </a:prstGeom>
          <a:noFill/>
          <a:ln w="0">
            <a:solidFill>
              <a:srgbClr val="FFFFFF"/>
            </a:solidFill>
          </a:ln>
        </p:spPr>
        <p:txBody>
          <a:bodyPr lIns="76200" tIns="38100" rIns="76200" bIns="38100" anchor="ctr"/>
          <a:lstStyle/>
          <a:p>
            <a:pPr algn="ctr">
              <a:defRPr sz="1050" b="1">
                <a:solidFill>
                  <a:srgbClr val="FFFFFF"/>
                </a:solidFill>
                <a:latin typeface="Microsoft YaHei UI" panose="020B0503020204020204" charset="-122"/>
                <a:ea typeface="Microsoft YaHei UI" panose="020B0503020204020204" charset="-122"/>
                <a:cs typeface="Microsoft YaHei UI" panose="020B0503020204020204" charset="-122"/>
              </a:defRPr>
            </a:pPr>
            <a:r>
              <a:rPr sz="1050" b="1">
                <a:solidFill>
                  <a:srgbClr val="FFFFFF"/>
                </a:solidFill>
                <a:latin typeface="Microsoft YaHei UI" panose="020B0503020204020204" charset="-122"/>
                <a:ea typeface="Microsoft YaHei UI" panose="020B0503020204020204" charset="-122"/>
                <a:cs typeface="Microsoft YaHei UI" panose="020B0503020204020204" charset="-122"/>
              </a:rPr>
              <a:t>具体做法</a:t>
            </a:r>
            <a:endParaRPr sz="1050" b="1">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27" name="矩形 26"/>
          <p:cNvSpPr>
            <a:spLocks noGrp="1"/>
          </p:cNvSpPr>
          <p:nvPr/>
        </p:nvSpPr>
        <p:spPr>
          <a:xfrm>
            <a:off x="7905750" y="1123950"/>
            <a:ext cx="3619500" cy="581025"/>
          </a:xfrm>
          <a:prstGeom prst="rect">
            <a:avLst/>
          </a:prstGeom>
          <a:solidFill>
            <a:srgbClr val="206040"/>
          </a:solidFill>
          <a:ln w="11430">
            <a:solidFill>
              <a:srgbClr val="C9D5CE"/>
            </a:solidFill>
          </a:ln>
        </p:spPr>
      </p:sp>
      <p:sp>
        <p:nvSpPr>
          <p:cNvPr id="28" name="矩形 27"/>
          <p:cNvSpPr>
            <a:spLocks noGrp="1"/>
          </p:cNvSpPr>
          <p:nvPr/>
        </p:nvSpPr>
        <p:spPr>
          <a:xfrm>
            <a:off x="7934325" y="1143000"/>
            <a:ext cx="3562350" cy="542925"/>
          </a:xfrm>
          <a:prstGeom prst="rect">
            <a:avLst/>
          </a:prstGeom>
          <a:noFill/>
          <a:ln w="0">
            <a:solidFill>
              <a:srgbClr val="FFFFFF"/>
            </a:solidFill>
          </a:ln>
        </p:spPr>
        <p:txBody>
          <a:bodyPr lIns="76200" tIns="38100" rIns="76200" bIns="38100" anchor="ctr"/>
          <a:lstStyle/>
          <a:p>
            <a:pPr algn="ctr">
              <a:defRPr sz="1050" b="1">
                <a:solidFill>
                  <a:srgbClr val="FFFFFF"/>
                </a:solidFill>
                <a:latin typeface="Microsoft YaHei UI" panose="020B0503020204020204" charset="-122"/>
                <a:ea typeface="Microsoft YaHei UI" panose="020B0503020204020204" charset="-122"/>
                <a:cs typeface="Microsoft YaHei UI" panose="020B0503020204020204" charset="-122"/>
              </a:defRPr>
            </a:pPr>
            <a:r>
              <a:rPr sz="1050" b="1">
                <a:solidFill>
                  <a:srgbClr val="FFFFFF"/>
                </a:solidFill>
                <a:latin typeface="Microsoft YaHei UI" panose="020B0503020204020204" charset="-122"/>
                <a:ea typeface="Microsoft YaHei UI" panose="020B0503020204020204" charset="-122"/>
                <a:cs typeface="Microsoft YaHei UI" panose="020B0503020204020204" charset="-122"/>
              </a:rPr>
              <a:t>目的</a:t>
            </a:r>
            <a:endParaRPr sz="1050" b="1">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29" name="矩形 28"/>
          <p:cNvSpPr>
            <a:spLocks noGrp="1"/>
          </p:cNvSpPr>
          <p:nvPr/>
        </p:nvSpPr>
        <p:spPr>
          <a:xfrm>
            <a:off x="666750" y="1704975"/>
            <a:ext cx="3619500" cy="581025"/>
          </a:xfrm>
          <a:prstGeom prst="rect">
            <a:avLst/>
          </a:prstGeom>
          <a:solidFill>
            <a:srgbClr val="FFFFFF"/>
          </a:solidFill>
          <a:ln w="11430">
            <a:solidFill>
              <a:srgbClr val="C9D5CE"/>
            </a:solidFill>
          </a:ln>
        </p:spPr>
      </p:sp>
      <p:sp>
        <p:nvSpPr>
          <p:cNvPr id="30" name="矩形 29"/>
          <p:cNvSpPr>
            <a:spLocks noGrp="1"/>
          </p:cNvSpPr>
          <p:nvPr/>
        </p:nvSpPr>
        <p:spPr>
          <a:xfrm>
            <a:off x="695325" y="1724025"/>
            <a:ext cx="3562350" cy="542925"/>
          </a:xfrm>
          <a:prstGeom prst="rect">
            <a:avLst/>
          </a:prstGeom>
          <a:noFill/>
          <a:ln w="0">
            <a:solidFill>
              <a:srgbClr val="FFFFFF"/>
            </a:solidFill>
          </a:ln>
        </p:spPr>
        <p:txBody>
          <a:bodyPr lIns="76200" tIns="38100" rIns="76200" bIns="38100" anchor="ctr"/>
          <a:lstStyle/>
          <a:p>
            <a:pPr algn="ctr">
              <a:defRPr sz="900" b="0">
                <a:solidFill>
                  <a:srgbClr val="111111"/>
                </a:solidFill>
                <a:latin typeface="Microsoft YaHei UI" panose="020B0503020204020204" charset="-122"/>
                <a:ea typeface="Microsoft YaHei UI" panose="020B0503020204020204" charset="-122"/>
                <a:cs typeface="Microsoft YaHei UI" panose="020B0503020204020204" charset="-122"/>
              </a:defRPr>
            </a:pPr>
            <a:r>
              <a:rPr sz="900" b="0">
                <a:solidFill>
                  <a:srgbClr val="111111"/>
                </a:solidFill>
                <a:latin typeface="Microsoft YaHei UI" panose="020B0503020204020204" charset="-122"/>
                <a:ea typeface="Microsoft YaHei UI" panose="020B0503020204020204" charset="-122"/>
                <a:cs typeface="Microsoft YaHei UI" panose="020B0503020204020204" charset="-122"/>
              </a:rPr>
              <a:t>工具变量法</a:t>
            </a:r>
            <a:endParaRPr sz="900"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31" name="矩形 30"/>
          <p:cNvSpPr>
            <a:spLocks noGrp="1"/>
          </p:cNvSpPr>
          <p:nvPr/>
        </p:nvSpPr>
        <p:spPr>
          <a:xfrm>
            <a:off x="4286250" y="1704975"/>
            <a:ext cx="3619500" cy="581025"/>
          </a:xfrm>
          <a:prstGeom prst="rect">
            <a:avLst/>
          </a:prstGeom>
          <a:solidFill>
            <a:srgbClr val="FFFFFF"/>
          </a:solidFill>
          <a:ln w="11430">
            <a:solidFill>
              <a:srgbClr val="C9D5CE"/>
            </a:solidFill>
          </a:ln>
        </p:spPr>
      </p:sp>
      <p:sp>
        <p:nvSpPr>
          <p:cNvPr id="32" name="矩形 31"/>
          <p:cNvSpPr>
            <a:spLocks noGrp="1"/>
          </p:cNvSpPr>
          <p:nvPr/>
        </p:nvSpPr>
        <p:spPr>
          <a:xfrm>
            <a:off x="4314825" y="1724025"/>
            <a:ext cx="3562350" cy="542925"/>
          </a:xfrm>
          <a:prstGeom prst="rect">
            <a:avLst/>
          </a:prstGeom>
          <a:noFill/>
          <a:ln w="0">
            <a:solidFill>
              <a:srgbClr val="FFFFFF"/>
            </a:solidFill>
          </a:ln>
        </p:spPr>
        <p:txBody>
          <a:bodyPr lIns="76200" tIns="38100" rIns="76200" bIns="38100" anchor="ctr"/>
          <a:lstStyle/>
          <a:p>
            <a:pPr algn="ctr">
              <a:defRPr sz="900" b="0">
                <a:solidFill>
                  <a:srgbClr val="111111"/>
                </a:solidFill>
                <a:latin typeface="Microsoft YaHei UI" panose="020B0503020204020204" charset="-122"/>
                <a:ea typeface="Microsoft YaHei UI" panose="020B0503020204020204" charset="-122"/>
                <a:cs typeface="Microsoft YaHei UI" panose="020B0503020204020204" charset="-122"/>
              </a:defRPr>
            </a:pPr>
            <a:r>
              <a:rPr sz="900" b="0">
                <a:solidFill>
                  <a:srgbClr val="111111"/>
                </a:solidFill>
                <a:latin typeface="Microsoft YaHei UI" panose="020B0503020204020204" charset="-122"/>
                <a:ea typeface="Microsoft YaHei UI" panose="020B0503020204020204" charset="-122"/>
                <a:cs typeface="Microsoft YaHei UI" panose="020B0503020204020204" charset="-122"/>
              </a:rPr>
              <a:t>污染行业暴露度 × 全国环保政策冲击</a:t>
            </a:r>
            <a:endParaRPr sz="900"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33" name="矩形 32"/>
          <p:cNvSpPr>
            <a:spLocks noGrp="1"/>
          </p:cNvSpPr>
          <p:nvPr/>
        </p:nvSpPr>
        <p:spPr>
          <a:xfrm>
            <a:off x="7905750" y="1704975"/>
            <a:ext cx="3619500" cy="581025"/>
          </a:xfrm>
          <a:prstGeom prst="rect">
            <a:avLst/>
          </a:prstGeom>
          <a:solidFill>
            <a:srgbClr val="FFFFFF"/>
          </a:solidFill>
          <a:ln w="11430">
            <a:solidFill>
              <a:srgbClr val="C9D5CE"/>
            </a:solidFill>
          </a:ln>
        </p:spPr>
      </p:sp>
      <p:sp>
        <p:nvSpPr>
          <p:cNvPr id="34" name="矩形 33"/>
          <p:cNvSpPr>
            <a:spLocks noGrp="1"/>
          </p:cNvSpPr>
          <p:nvPr/>
        </p:nvSpPr>
        <p:spPr>
          <a:xfrm>
            <a:off x="7934325" y="1724025"/>
            <a:ext cx="3562350" cy="542925"/>
          </a:xfrm>
          <a:prstGeom prst="rect">
            <a:avLst/>
          </a:prstGeom>
          <a:noFill/>
          <a:ln w="0">
            <a:solidFill>
              <a:srgbClr val="FFFFFF"/>
            </a:solidFill>
          </a:ln>
        </p:spPr>
        <p:txBody>
          <a:bodyPr lIns="76200" tIns="38100" rIns="76200" bIns="38100" anchor="ctr"/>
          <a:lstStyle/>
          <a:p>
            <a:pPr algn="ctr">
              <a:defRPr sz="900" b="0">
                <a:solidFill>
                  <a:srgbClr val="111111"/>
                </a:solidFill>
                <a:latin typeface="Microsoft YaHei UI" panose="020B0503020204020204" charset="-122"/>
                <a:ea typeface="Microsoft YaHei UI" panose="020B0503020204020204" charset="-122"/>
                <a:cs typeface="Microsoft YaHei UI" panose="020B0503020204020204" charset="-122"/>
              </a:defRPr>
            </a:pPr>
            <a:r>
              <a:rPr sz="900" b="0">
                <a:solidFill>
                  <a:srgbClr val="111111"/>
                </a:solidFill>
                <a:latin typeface="Microsoft YaHei UI" panose="020B0503020204020204" charset="-122"/>
                <a:ea typeface="Microsoft YaHei UI" panose="020B0503020204020204" charset="-122"/>
                <a:cs typeface="Microsoft YaHei UI" panose="020B0503020204020204" charset="-122"/>
              </a:rPr>
              <a:t>缓解反向因果与遗漏变量</a:t>
            </a:r>
            <a:endParaRPr sz="900"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35" name="矩形 34"/>
          <p:cNvSpPr>
            <a:spLocks noGrp="1"/>
          </p:cNvSpPr>
          <p:nvPr/>
        </p:nvSpPr>
        <p:spPr>
          <a:xfrm>
            <a:off x="666750" y="2295525"/>
            <a:ext cx="3619500" cy="581025"/>
          </a:xfrm>
          <a:prstGeom prst="rect">
            <a:avLst/>
          </a:prstGeom>
          <a:solidFill>
            <a:srgbClr val="F7FAF8"/>
          </a:solidFill>
          <a:ln w="11430">
            <a:solidFill>
              <a:srgbClr val="C9D5CE"/>
            </a:solidFill>
          </a:ln>
        </p:spPr>
      </p:sp>
      <p:sp>
        <p:nvSpPr>
          <p:cNvPr id="36" name="矩形 35"/>
          <p:cNvSpPr>
            <a:spLocks noGrp="1"/>
          </p:cNvSpPr>
          <p:nvPr/>
        </p:nvSpPr>
        <p:spPr>
          <a:xfrm>
            <a:off x="695325" y="2314575"/>
            <a:ext cx="3562350" cy="542925"/>
          </a:xfrm>
          <a:prstGeom prst="rect">
            <a:avLst/>
          </a:prstGeom>
          <a:noFill/>
          <a:ln w="0">
            <a:solidFill>
              <a:srgbClr val="FFFFFF"/>
            </a:solidFill>
          </a:ln>
        </p:spPr>
        <p:txBody>
          <a:bodyPr lIns="76200" tIns="38100" rIns="76200" bIns="38100" anchor="ctr"/>
          <a:lstStyle/>
          <a:p>
            <a:pPr algn="ctr">
              <a:defRPr sz="900" b="0">
                <a:solidFill>
                  <a:srgbClr val="111111"/>
                </a:solidFill>
                <a:latin typeface="Microsoft YaHei UI" panose="020B0503020204020204" charset="-122"/>
                <a:ea typeface="Microsoft YaHei UI" panose="020B0503020204020204" charset="-122"/>
                <a:cs typeface="Microsoft YaHei UI" panose="020B0503020204020204" charset="-122"/>
              </a:defRPr>
            </a:pPr>
            <a:r>
              <a:rPr sz="900" b="0">
                <a:solidFill>
                  <a:srgbClr val="111111"/>
                </a:solidFill>
                <a:latin typeface="Microsoft YaHei UI" panose="020B0503020204020204" charset="-122"/>
                <a:ea typeface="Microsoft YaHei UI" panose="020B0503020204020204" charset="-122"/>
                <a:cs typeface="Microsoft YaHei UI" panose="020B0503020204020204" charset="-122"/>
              </a:rPr>
              <a:t>准自然实验</a:t>
            </a:r>
            <a:endParaRPr sz="900"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37" name="矩形 36"/>
          <p:cNvSpPr>
            <a:spLocks noGrp="1"/>
          </p:cNvSpPr>
          <p:nvPr/>
        </p:nvSpPr>
        <p:spPr>
          <a:xfrm>
            <a:off x="4286250" y="2295525"/>
            <a:ext cx="3619500" cy="581025"/>
          </a:xfrm>
          <a:prstGeom prst="rect">
            <a:avLst/>
          </a:prstGeom>
          <a:solidFill>
            <a:srgbClr val="F7FAF8"/>
          </a:solidFill>
          <a:ln w="11430">
            <a:solidFill>
              <a:srgbClr val="C9D5CE"/>
            </a:solidFill>
          </a:ln>
        </p:spPr>
      </p:sp>
      <p:sp>
        <p:nvSpPr>
          <p:cNvPr id="38" name="矩形 37"/>
          <p:cNvSpPr>
            <a:spLocks noGrp="1"/>
          </p:cNvSpPr>
          <p:nvPr/>
        </p:nvSpPr>
        <p:spPr>
          <a:xfrm>
            <a:off x="4314825" y="2314575"/>
            <a:ext cx="3562350" cy="542925"/>
          </a:xfrm>
          <a:prstGeom prst="rect">
            <a:avLst/>
          </a:prstGeom>
          <a:noFill/>
          <a:ln w="0">
            <a:solidFill>
              <a:srgbClr val="FFFFFF"/>
            </a:solidFill>
          </a:ln>
        </p:spPr>
        <p:txBody>
          <a:bodyPr lIns="76200" tIns="38100" rIns="76200" bIns="38100" anchor="ctr"/>
          <a:lstStyle/>
          <a:p>
            <a:pPr algn="ctr">
              <a:defRPr sz="900" b="0">
                <a:solidFill>
                  <a:srgbClr val="111111"/>
                </a:solidFill>
                <a:latin typeface="Microsoft YaHei UI" panose="020B0503020204020204" charset="-122"/>
                <a:ea typeface="Microsoft YaHei UI" panose="020B0503020204020204" charset="-122"/>
                <a:cs typeface="Microsoft YaHei UI" panose="020B0503020204020204" charset="-122"/>
              </a:defRPr>
            </a:pPr>
            <a:r>
              <a:rPr sz="900" b="0">
                <a:solidFill>
                  <a:srgbClr val="111111"/>
                </a:solidFill>
                <a:latin typeface="Microsoft YaHei UI" panose="020B0503020204020204" charset="-122"/>
                <a:ea typeface="Microsoft YaHei UI" panose="020B0503020204020204" charset="-122"/>
                <a:cs typeface="Microsoft YaHei UI" panose="020B0503020204020204" charset="-122"/>
              </a:rPr>
              <a:t>中央生态环境保护督察DID/事件研究</a:t>
            </a:r>
            <a:endParaRPr sz="900"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39" name="矩形 38"/>
          <p:cNvSpPr>
            <a:spLocks noGrp="1"/>
          </p:cNvSpPr>
          <p:nvPr/>
        </p:nvSpPr>
        <p:spPr>
          <a:xfrm>
            <a:off x="7905750" y="2295525"/>
            <a:ext cx="3619500" cy="581025"/>
          </a:xfrm>
          <a:prstGeom prst="rect">
            <a:avLst/>
          </a:prstGeom>
          <a:solidFill>
            <a:srgbClr val="F7FAF8"/>
          </a:solidFill>
          <a:ln w="11430">
            <a:solidFill>
              <a:srgbClr val="C9D5CE"/>
            </a:solidFill>
          </a:ln>
        </p:spPr>
      </p:sp>
      <p:sp>
        <p:nvSpPr>
          <p:cNvPr id="40" name="矩形 39"/>
          <p:cNvSpPr>
            <a:spLocks noGrp="1"/>
          </p:cNvSpPr>
          <p:nvPr/>
        </p:nvSpPr>
        <p:spPr>
          <a:xfrm>
            <a:off x="7934325" y="2314575"/>
            <a:ext cx="3562350" cy="542925"/>
          </a:xfrm>
          <a:prstGeom prst="rect">
            <a:avLst/>
          </a:prstGeom>
          <a:noFill/>
          <a:ln w="0">
            <a:solidFill>
              <a:srgbClr val="FFFFFF"/>
            </a:solidFill>
          </a:ln>
        </p:spPr>
        <p:txBody>
          <a:bodyPr lIns="76200" tIns="38100" rIns="76200" bIns="38100" anchor="ctr"/>
          <a:lstStyle/>
          <a:p>
            <a:pPr algn="ctr">
              <a:defRPr sz="900" b="0">
                <a:solidFill>
                  <a:srgbClr val="111111"/>
                </a:solidFill>
                <a:latin typeface="Microsoft YaHei UI" panose="020B0503020204020204" charset="-122"/>
                <a:ea typeface="Microsoft YaHei UI" panose="020B0503020204020204" charset="-122"/>
                <a:cs typeface="Microsoft YaHei UI" panose="020B0503020204020204" charset="-122"/>
              </a:defRPr>
            </a:pPr>
            <a:r>
              <a:rPr sz="900" b="0">
                <a:solidFill>
                  <a:srgbClr val="111111"/>
                </a:solidFill>
                <a:latin typeface="Microsoft YaHei UI" panose="020B0503020204020204" charset="-122"/>
                <a:ea typeface="Microsoft YaHei UI" panose="020B0503020204020204" charset="-122"/>
                <a:cs typeface="Microsoft YaHei UI" panose="020B0503020204020204" charset="-122"/>
              </a:rPr>
              <a:t>识别外生规制冲击</a:t>
            </a:r>
            <a:endParaRPr sz="900"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41" name="矩形 40"/>
          <p:cNvSpPr>
            <a:spLocks noGrp="1"/>
          </p:cNvSpPr>
          <p:nvPr/>
        </p:nvSpPr>
        <p:spPr>
          <a:xfrm>
            <a:off x="666750" y="2876550"/>
            <a:ext cx="3619500" cy="581025"/>
          </a:xfrm>
          <a:prstGeom prst="rect">
            <a:avLst/>
          </a:prstGeom>
          <a:solidFill>
            <a:srgbClr val="FFFFFF"/>
          </a:solidFill>
          <a:ln w="11430">
            <a:solidFill>
              <a:srgbClr val="C9D5CE"/>
            </a:solidFill>
          </a:ln>
        </p:spPr>
      </p:sp>
      <p:sp>
        <p:nvSpPr>
          <p:cNvPr id="42" name="矩形 41"/>
          <p:cNvSpPr>
            <a:spLocks noGrp="1"/>
          </p:cNvSpPr>
          <p:nvPr/>
        </p:nvSpPr>
        <p:spPr>
          <a:xfrm>
            <a:off x="695325" y="2895600"/>
            <a:ext cx="3562350" cy="542925"/>
          </a:xfrm>
          <a:prstGeom prst="rect">
            <a:avLst/>
          </a:prstGeom>
          <a:noFill/>
          <a:ln w="0">
            <a:solidFill>
              <a:srgbClr val="FFFFFF"/>
            </a:solidFill>
          </a:ln>
        </p:spPr>
        <p:txBody>
          <a:bodyPr lIns="76200" tIns="38100" rIns="76200" bIns="38100" anchor="ctr"/>
          <a:lstStyle/>
          <a:p>
            <a:pPr algn="ctr">
              <a:defRPr sz="900" b="0">
                <a:solidFill>
                  <a:srgbClr val="111111"/>
                </a:solidFill>
                <a:latin typeface="Microsoft YaHei UI" panose="020B0503020204020204" charset="-122"/>
                <a:ea typeface="Microsoft YaHei UI" panose="020B0503020204020204" charset="-122"/>
                <a:cs typeface="Microsoft YaHei UI" panose="020B0503020204020204" charset="-122"/>
              </a:defRPr>
            </a:pPr>
            <a:r>
              <a:rPr sz="900" b="0">
                <a:solidFill>
                  <a:srgbClr val="111111"/>
                </a:solidFill>
                <a:latin typeface="Microsoft YaHei UI" panose="020B0503020204020204" charset="-122"/>
                <a:ea typeface="Microsoft YaHei UI" panose="020B0503020204020204" charset="-122"/>
                <a:cs typeface="Microsoft YaHei UI" panose="020B0503020204020204" charset="-122"/>
              </a:rPr>
              <a:t>替换被解释变量</a:t>
            </a:r>
            <a:endParaRPr sz="900"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43" name="矩形 42"/>
          <p:cNvSpPr>
            <a:spLocks noGrp="1"/>
          </p:cNvSpPr>
          <p:nvPr/>
        </p:nvSpPr>
        <p:spPr>
          <a:xfrm>
            <a:off x="4286250" y="2876550"/>
            <a:ext cx="3619500" cy="581025"/>
          </a:xfrm>
          <a:prstGeom prst="rect">
            <a:avLst/>
          </a:prstGeom>
          <a:solidFill>
            <a:srgbClr val="FFFFFF"/>
          </a:solidFill>
          <a:ln w="11430">
            <a:solidFill>
              <a:srgbClr val="C9D5CE"/>
            </a:solidFill>
          </a:ln>
        </p:spPr>
      </p:sp>
      <p:sp>
        <p:nvSpPr>
          <p:cNvPr id="44" name="矩形 43"/>
          <p:cNvSpPr>
            <a:spLocks noGrp="1"/>
          </p:cNvSpPr>
          <p:nvPr/>
        </p:nvSpPr>
        <p:spPr>
          <a:xfrm>
            <a:off x="4314825" y="2895600"/>
            <a:ext cx="3562350" cy="542925"/>
          </a:xfrm>
          <a:prstGeom prst="rect">
            <a:avLst/>
          </a:prstGeom>
          <a:noFill/>
          <a:ln w="0">
            <a:solidFill>
              <a:srgbClr val="FFFFFF"/>
            </a:solidFill>
          </a:ln>
        </p:spPr>
        <p:txBody>
          <a:bodyPr lIns="76200" tIns="38100" rIns="76200" bIns="38100" anchor="ctr"/>
          <a:lstStyle/>
          <a:p>
            <a:pPr algn="ctr">
              <a:defRPr sz="900" b="0">
                <a:solidFill>
                  <a:srgbClr val="111111"/>
                </a:solidFill>
                <a:latin typeface="Microsoft YaHei UI" panose="020B0503020204020204" charset="-122"/>
                <a:ea typeface="Microsoft YaHei UI" panose="020B0503020204020204" charset="-122"/>
                <a:cs typeface="Microsoft YaHei UI" panose="020B0503020204020204" charset="-122"/>
              </a:defRPr>
            </a:pPr>
            <a:r>
              <a:rPr sz="900" b="0">
                <a:solidFill>
                  <a:srgbClr val="111111"/>
                </a:solidFill>
                <a:latin typeface="Microsoft YaHei UI" panose="020B0503020204020204" charset="-122"/>
                <a:ea typeface="Microsoft YaHei UI" panose="020B0503020204020204" charset="-122"/>
                <a:cs typeface="Microsoft YaHei UI" panose="020B0503020204020204" charset="-122"/>
              </a:rPr>
              <a:t>Luenberger、DEA-Malmquist等</a:t>
            </a:r>
            <a:endParaRPr sz="900"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45" name="矩形 44"/>
          <p:cNvSpPr>
            <a:spLocks noGrp="1"/>
          </p:cNvSpPr>
          <p:nvPr/>
        </p:nvSpPr>
        <p:spPr>
          <a:xfrm>
            <a:off x="7905750" y="2876550"/>
            <a:ext cx="3619500" cy="581025"/>
          </a:xfrm>
          <a:prstGeom prst="rect">
            <a:avLst/>
          </a:prstGeom>
          <a:solidFill>
            <a:srgbClr val="FFFFFF"/>
          </a:solidFill>
          <a:ln w="11430">
            <a:solidFill>
              <a:srgbClr val="C9D5CE"/>
            </a:solidFill>
          </a:ln>
        </p:spPr>
      </p:sp>
      <p:sp>
        <p:nvSpPr>
          <p:cNvPr id="46" name="矩形 45"/>
          <p:cNvSpPr>
            <a:spLocks noGrp="1"/>
          </p:cNvSpPr>
          <p:nvPr/>
        </p:nvSpPr>
        <p:spPr>
          <a:xfrm>
            <a:off x="7934325" y="2895600"/>
            <a:ext cx="3562350" cy="542925"/>
          </a:xfrm>
          <a:prstGeom prst="rect">
            <a:avLst/>
          </a:prstGeom>
          <a:noFill/>
          <a:ln w="0">
            <a:solidFill>
              <a:srgbClr val="FFFFFF"/>
            </a:solidFill>
          </a:ln>
        </p:spPr>
        <p:txBody>
          <a:bodyPr lIns="76200" tIns="38100" rIns="76200" bIns="38100" anchor="ctr"/>
          <a:lstStyle/>
          <a:p>
            <a:pPr algn="ctr">
              <a:defRPr sz="900" b="0">
                <a:solidFill>
                  <a:srgbClr val="111111"/>
                </a:solidFill>
                <a:latin typeface="Microsoft YaHei UI" panose="020B0503020204020204" charset="-122"/>
                <a:ea typeface="Microsoft YaHei UI" panose="020B0503020204020204" charset="-122"/>
                <a:cs typeface="Microsoft YaHei UI" panose="020B0503020204020204" charset="-122"/>
              </a:defRPr>
            </a:pPr>
            <a:r>
              <a:rPr sz="900" b="0">
                <a:solidFill>
                  <a:srgbClr val="111111"/>
                </a:solidFill>
                <a:latin typeface="Microsoft YaHei UI" panose="020B0503020204020204" charset="-122"/>
                <a:ea typeface="Microsoft YaHei UI" panose="020B0503020204020204" charset="-122"/>
                <a:cs typeface="Microsoft YaHei UI" panose="020B0503020204020204" charset="-122"/>
              </a:rPr>
              <a:t>检验GTFP测度稳健性</a:t>
            </a:r>
            <a:endParaRPr sz="900"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47" name="矩形 46"/>
          <p:cNvSpPr>
            <a:spLocks noGrp="1"/>
          </p:cNvSpPr>
          <p:nvPr/>
        </p:nvSpPr>
        <p:spPr>
          <a:xfrm>
            <a:off x="666750" y="3467100"/>
            <a:ext cx="3619500" cy="581025"/>
          </a:xfrm>
          <a:prstGeom prst="rect">
            <a:avLst/>
          </a:prstGeom>
          <a:solidFill>
            <a:srgbClr val="F7FAF8"/>
          </a:solidFill>
          <a:ln w="11430">
            <a:solidFill>
              <a:srgbClr val="C9D5CE"/>
            </a:solidFill>
          </a:ln>
        </p:spPr>
      </p:sp>
      <p:sp>
        <p:nvSpPr>
          <p:cNvPr id="48" name="矩形 47"/>
          <p:cNvSpPr>
            <a:spLocks noGrp="1"/>
          </p:cNvSpPr>
          <p:nvPr/>
        </p:nvSpPr>
        <p:spPr>
          <a:xfrm>
            <a:off x="695325" y="3486150"/>
            <a:ext cx="3562350" cy="542925"/>
          </a:xfrm>
          <a:prstGeom prst="rect">
            <a:avLst/>
          </a:prstGeom>
          <a:noFill/>
          <a:ln w="0">
            <a:solidFill>
              <a:srgbClr val="FFFFFF"/>
            </a:solidFill>
          </a:ln>
        </p:spPr>
        <p:txBody>
          <a:bodyPr lIns="76200" tIns="38100" rIns="76200" bIns="38100" anchor="ctr"/>
          <a:lstStyle/>
          <a:p>
            <a:pPr algn="ctr">
              <a:defRPr sz="900" b="0">
                <a:solidFill>
                  <a:srgbClr val="111111"/>
                </a:solidFill>
                <a:latin typeface="Microsoft YaHei UI" panose="020B0503020204020204" charset="-122"/>
                <a:ea typeface="Microsoft YaHei UI" panose="020B0503020204020204" charset="-122"/>
                <a:cs typeface="Microsoft YaHei UI" panose="020B0503020204020204" charset="-122"/>
              </a:defRPr>
            </a:pPr>
            <a:r>
              <a:rPr sz="900" b="0">
                <a:solidFill>
                  <a:srgbClr val="111111"/>
                </a:solidFill>
                <a:latin typeface="Microsoft YaHei UI" panose="020B0503020204020204" charset="-122"/>
                <a:ea typeface="Microsoft YaHei UI" panose="020B0503020204020204" charset="-122"/>
                <a:cs typeface="Microsoft YaHei UI" panose="020B0503020204020204" charset="-122"/>
              </a:rPr>
              <a:t>替换解释变量</a:t>
            </a:r>
            <a:endParaRPr sz="900"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49" name="矩形 48"/>
          <p:cNvSpPr>
            <a:spLocks noGrp="1"/>
          </p:cNvSpPr>
          <p:nvPr/>
        </p:nvSpPr>
        <p:spPr>
          <a:xfrm>
            <a:off x="4286250" y="3467100"/>
            <a:ext cx="3619500" cy="581025"/>
          </a:xfrm>
          <a:prstGeom prst="rect">
            <a:avLst/>
          </a:prstGeom>
          <a:solidFill>
            <a:srgbClr val="F7FAF8"/>
          </a:solidFill>
          <a:ln w="11430">
            <a:solidFill>
              <a:srgbClr val="C9D5CE"/>
            </a:solidFill>
          </a:ln>
        </p:spPr>
      </p:sp>
      <p:sp>
        <p:nvSpPr>
          <p:cNvPr id="50" name="矩形 49"/>
          <p:cNvSpPr>
            <a:spLocks noGrp="1"/>
          </p:cNvSpPr>
          <p:nvPr/>
        </p:nvSpPr>
        <p:spPr>
          <a:xfrm>
            <a:off x="4314825" y="3486150"/>
            <a:ext cx="3562350" cy="542925"/>
          </a:xfrm>
          <a:prstGeom prst="rect">
            <a:avLst/>
          </a:prstGeom>
          <a:noFill/>
          <a:ln w="0">
            <a:solidFill>
              <a:srgbClr val="FFFFFF"/>
            </a:solidFill>
          </a:ln>
        </p:spPr>
        <p:txBody>
          <a:bodyPr lIns="76200" tIns="38100" rIns="76200" bIns="38100" anchor="ctr"/>
          <a:lstStyle/>
          <a:p>
            <a:pPr algn="ctr">
              <a:defRPr sz="900" b="0">
                <a:solidFill>
                  <a:srgbClr val="111111"/>
                </a:solidFill>
                <a:latin typeface="Microsoft YaHei UI" panose="020B0503020204020204" charset="-122"/>
                <a:ea typeface="Microsoft YaHei UI" panose="020B0503020204020204" charset="-122"/>
                <a:cs typeface="Microsoft YaHei UI" panose="020B0503020204020204" charset="-122"/>
              </a:defRPr>
            </a:pPr>
            <a:r>
              <a:rPr sz="900" b="0">
                <a:solidFill>
                  <a:srgbClr val="111111"/>
                </a:solidFill>
                <a:latin typeface="Microsoft YaHei UI" panose="020B0503020204020204" charset="-122"/>
                <a:ea typeface="Microsoft YaHei UI" panose="020B0503020204020204" charset="-122"/>
                <a:cs typeface="Microsoft YaHei UI" panose="020B0503020204020204" charset="-122"/>
              </a:rPr>
              <a:t>处罚强度、财政支出、治理投资强度</a:t>
            </a:r>
            <a:endParaRPr sz="900"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51" name="矩形 50"/>
          <p:cNvSpPr>
            <a:spLocks noGrp="1"/>
          </p:cNvSpPr>
          <p:nvPr/>
        </p:nvSpPr>
        <p:spPr>
          <a:xfrm>
            <a:off x="7905750" y="3467100"/>
            <a:ext cx="3619500" cy="581025"/>
          </a:xfrm>
          <a:prstGeom prst="rect">
            <a:avLst/>
          </a:prstGeom>
          <a:solidFill>
            <a:srgbClr val="F7FAF8"/>
          </a:solidFill>
          <a:ln w="11430">
            <a:solidFill>
              <a:srgbClr val="C9D5CE"/>
            </a:solidFill>
          </a:ln>
        </p:spPr>
      </p:sp>
      <p:sp>
        <p:nvSpPr>
          <p:cNvPr id="52" name="矩形 51"/>
          <p:cNvSpPr>
            <a:spLocks noGrp="1"/>
          </p:cNvSpPr>
          <p:nvPr/>
        </p:nvSpPr>
        <p:spPr>
          <a:xfrm>
            <a:off x="7934325" y="3486150"/>
            <a:ext cx="3562350" cy="542925"/>
          </a:xfrm>
          <a:prstGeom prst="rect">
            <a:avLst/>
          </a:prstGeom>
          <a:noFill/>
          <a:ln w="0">
            <a:solidFill>
              <a:srgbClr val="FFFFFF"/>
            </a:solidFill>
          </a:ln>
        </p:spPr>
        <p:txBody>
          <a:bodyPr lIns="76200" tIns="38100" rIns="76200" bIns="38100" anchor="ctr"/>
          <a:lstStyle/>
          <a:p>
            <a:pPr algn="ctr">
              <a:defRPr sz="900" b="0">
                <a:solidFill>
                  <a:srgbClr val="111111"/>
                </a:solidFill>
                <a:latin typeface="Microsoft YaHei UI" panose="020B0503020204020204" charset="-122"/>
                <a:ea typeface="Microsoft YaHei UI" panose="020B0503020204020204" charset="-122"/>
                <a:cs typeface="Microsoft YaHei UI" panose="020B0503020204020204" charset="-122"/>
              </a:defRPr>
            </a:pPr>
            <a:r>
              <a:rPr sz="900" b="0">
                <a:solidFill>
                  <a:srgbClr val="111111"/>
                </a:solidFill>
                <a:latin typeface="Microsoft YaHei UI" panose="020B0503020204020204" charset="-122"/>
                <a:ea typeface="Microsoft YaHei UI" panose="020B0503020204020204" charset="-122"/>
                <a:cs typeface="Microsoft YaHei UI" panose="020B0503020204020204" charset="-122"/>
              </a:rPr>
              <a:t>检验ER测度稳健性</a:t>
            </a:r>
            <a:endParaRPr sz="900"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53" name="矩形 52"/>
          <p:cNvSpPr>
            <a:spLocks noGrp="1"/>
          </p:cNvSpPr>
          <p:nvPr/>
        </p:nvSpPr>
        <p:spPr>
          <a:xfrm>
            <a:off x="666750" y="4048125"/>
            <a:ext cx="3619500" cy="581025"/>
          </a:xfrm>
          <a:prstGeom prst="rect">
            <a:avLst/>
          </a:prstGeom>
          <a:solidFill>
            <a:srgbClr val="FFFFFF"/>
          </a:solidFill>
          <a:ln w="11430">
            <a:solidFill>
              <a:srgbClr val="C9D5CE"/>
            </a:solidFill>
          </a:ln>
        </p:spPr>
      </p:sp>
      <p:sp>
        <p:nvSpPr>
          <p:cNvPr id="54" name="矩形 53"/>
          <p:cNvSpPr>
            <a:spLocks noGrp="1"/>
          </p:cNvSpPr>
          <p:nvPr/>
        </p:nvSpPr>
        <p:spPr>
          <a:xfrm>
            <a:off x="695325" y="4067175"/>
            <a:ext cx="3562350" cy="542925"/>
          </a:xfrm>
          <a:prstGeom prst="rect">
            <a:avLst/>
          </a:prstGeom>
          <a:noFill/>
          <a:ln w="0">
            <a:solidFill>
              <a:srgbClr val="FFFFFF"/>
            </a:solidFill>
          </a:ln>
        </p:spPr>
        <p:txBody>
          <a:bodyPr lIns="76200" tIns="38100" rIns="76200" bIns="38100" anchor="ctr"/>
          <a:lstStyle/>
          <a:p>
            <a:pPr algn="ctr">
              <a:defRPr sz="900" b="0">
                <a:solidFill>
                  <a:srgbClr val="111111"/>
                </a:solidFill>
                <a:latin typeface="Microsoft YaHei UI" panose="020B0503020204020204" charset="-122"/>
                <a:ea typeface="Microsoft YaHei UI" panose="020B0503020204020204" charset="-122"/>
                <a:cs typeface="Microsoft YaHei UI" panose="020B0503020204020204" charset="-122"/>
              </a:defRPr>
            </a:pPr>
            <a:r>
              <a:rPr sz="900" b="0">
                <a:solidFill>
                  <a:srgbClr val="111111"/>
                </a:solidFill>
                <a:latin typeface="Microsoft YaHei UI" panose="020B0503020204020204" charset="-122"/>
                <a:ea typeface="Microsoft YaHei UI" panose="020B0503020204020204" charset="-122"/>
                <a:cs typeface="Microsoft YaHei UI" panose="020B0503020204020204" charset="-122"/>
              </a:rPr>
              <a:t>滞后处理</a:t>
            </a:r>
            <a:endParaRPr sz="900"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55" name="矩形 54"/>
          <p:cNvSpPr>
            <a:spLocks noGrp="1"/>
          </p:cNvSpPr>
          <p:nvPr/>
        </p:nvSpPr>
        <p:spPr>
          <a:xfrm>
            <a:off x="4286250" y="4048125"/>
            <a:ext cx="3619500" cy="581025"/>
          </a:xfrm>
          <a:prstGeom prst="rect">
            <a:avLst/>
          </a:prstGeom>
          <a:solidFill>
            <a:srgbClr val="FFFFFF"/>
          </a:solidFill>
          <a:ln w="11430">
            <a:solidFill>
              <a:srgbClr val="C9D5CE"/>
            </a:solidFill>
          </a:ln>
        </p:spPr>
      </p:sp>
      <p:sp>
        <p:nvSpPr>
          <p:cNvPr id="56" name="矩形 55"/>
          <p:cNvSpPr>
            <a:spLocks noGrp="1"/>
          </p:cNvSpPr>
          <p:nvPr/>
        </p:nvSpPr>
        <p:spPr>
          <a:xfrm>
            <a:off x="4314825" y="4067175"/>
            <a:ext cx="3562350" cy="542925"/>
          </a:xfrm>
          <a:prstGeom prst="rect">
            <a:avLst/>
          </a:prstGeom>
          <a:noFill/>
          <a:ln w="0">
            <a:solidFill>
              <a:srgbClr val="FFFFFF"/>
            </a:solidFill>
          </a:ln>
        </p:spPr>
        <p:txBody>
          <a:bodyPr lIns="76200" tIns="38100" rIns="76200" bIns="38100" anchor="ctr"/>
          <a:lstStyle/>
          <a:p>
            <a:pPr algn="ctr">
              <a:defRPr sz="900" b="0">
                <a:solidFill>
                  <a:srgbClr val="111111"/>
                </a:solidFill>
                <a:latin typeface="Microsoft YaHei UI" panose="020B0503020204020204" charset="-122"/>
                <a:ea typeface="Microsoft YaHei UI" panose="020B0503020204020204" charset="-122"/>
                <a:cs typeface="Microsoft YaHei UI" panose="020B0503020204020204" charset="-122"/>
              </a:defRPr>
            </a:pPr>
            <a:r>
              <a:rPr sz="900" b="0">
                <a:solidFill>
                  <a:srgbClr val="111111"/>
                </a:solidFill>
                <a:latin typeface="Microsoft YaHei UI" panose="020B0503020204020204" charset="-122"/>
                <a:ea typeface="Microsoft YaHei UI" panose="020B0503020204020204" charset="-122"/>
                <a:cs typeface="Microsoft YaHei UI" panose="020B0503020204020204" charset="-122"/>
              </a:rPr>
              <a:t>滞后一期或两期环境规制</a:t>
            </a:r>
            <a:endParaRPr sz="900"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57" name="矩形 56"/>
          <p:cNvSpPr>
            <a:spLocks noGrp="1"/>
          </p:cNvSpPr>
          <p:nvPr/>
        </p:nvSpPr>
        <p:spPr>
          <a:xfrm>
            <a:off x="7905750" y="4048125"/>
            <a:ext cx="3619500" cy="581025"/>
          </a:xfrm>
          <a:prstGeom prst="rect">
            <a:avLst/>
          </a:prstGeom>
          <a:solidFill>
            <a:srgbClr val="FFFFFF"/>
          </a:solidFill>
          <a:ln w="11430">
            <a:solidFill>
              <a:srgbClr val="C9D5CE"/>
            </a:solidFill>
          </a:ln>
        </p:spPr>
      </p:sp>
      <p:sp>
        <p:nvSpPr>
          <p:cNvPr id="58" name="矩形 57"/>
          <p:cNvSpPr>
            <a:spLocks noGrp="1"/>
          </p:cNvSpPr>
          <p:nvPr/>
        </p:nvSpPr>
        <p:spPr>
          <a:xfrm>
            <a:off x="7934325" y="4067175"/>
            <a:ext cx="3562350" cy="542925"/>
          </a:xfrm>
          <a:prstGeom prst="rect">
            <a:avLst/>
          </a:prstGeom>
          <a:noFill/>
          <a:ln w="0">
            <a:solidFill>
              <a:srgbClr val="FFFFFF"/>
            </a:solidFill>
          </a:ln>
        </p:spPr>
        <p:txBody>
          <a:bodyPr lIns="76200" tIns="38100" rIns="76200" bIns="38100" anchor="ctr"/>
          <a:lstStyle/>
          <a:p>
            <a:pPr algn="ctr">
              <a:defRPr sz="900" b="0">
                <a:solidFill>
                  <a:srgbClr val="111111"/>
                </a:solidFill>
                <a:latin typeface="Microsoft YaHei UI" panose="020B0503020204020204" charset="-122"/>
                <a:ea typeface="Microsoft YaHei UI" panose="020B0503020204020204" charset="-122"/>
                <a:cs typeface="Microsoft YaHei UI" panose="020B0503020204020204" charset="-122"/>
              </a:defRPr>
            </a:pPr>
            <a:r>
              <a:rPr sz="900" b="0">
                <a:solidFill>
                  <a:srgbClr val="111111"/>
                </a:solidFill>
                <a:latin typeface="Microsoft YaHei UI" panose="020B0503020204020204" charset="-122"/>
                <a:ea typeface="Microsoft YaHei UI" panose="020B0503020204020204" charset="-122"/>
                <a:cs typeface="Microsoft YaHei UI" panose="020B0503020204020204" charset="-122"/>
              </a:rPr>
              <a:t>缓解动态调整与反向因果</a:t>
            </a:r>
            <a:endParaRPr sz="900"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59" name="矩形 58"/>
          <p:cNvSpPr>
            <a:spLocks noGrp="1"/>
          </p:cNvSpPr>
          <p:nvPr/>
        </p:nvSpPr>
        <p:spPr>
          <a:xfrm>
            <a:off x="666750" y="4638675"/>
            <a:ext cx="3619500" cy="581025"/>
          </a:xfrm>
          <a:prstGeom prst="rect">
            <a:avLst/>
          </a:prstGeom>
          <a:solidFill>
            <a:srgbClr val="F7FAF8"/>
          </a:solidFill>
          <a:ln w="11430">
            <a:solidFill>
              <a:srgbClr val="C9D5CE"/>
            </a:solidFill>
          </a:ln>
        </p:spPr>
      </p:sp>
      <p:sp>
        <p:nvSpPr>
          <p:cNvPr id="60" name="矩形 59"/>
          <p:cNvSpPr>
            <a:spLocks noGrp="1"/>
          </p:cNvSpPr>
          <p:nvPr/>
        </p:nvSpPr>
        <p:spPr>
          <a:xfrm>
            <a:off x="695325" y="4657725"/>
            <a:ext cx="3562350" cy="542925"/>
          </a:xfrm>
          <a:prstGeom prst="rect">
            <a:avLst/>
          </a:prstGeom>
          <a:noFill/>
          <a:ln w="0">
            <a:solidFill>
              <a:srgbClr val="FFFFFF"/>
            </a:solidFill>
          </a:ln>
        </p:spPr>
        <p:txBody>
          <a:bodyPr lIns="76200" tIns="38100" rIns="76200" bIns="38100" anchor="ctr"/>
          <a:lstStyle/>
          <a:p>
            <a:pPr algn="ctr">
              <a:defRPr sz="900" b="0">
                <a:solidFill>
                  <a:srgbClr val="111111"/>
                </a:solidFill>
                <a:latin typeface="Microsoft YaHei UI" panose="020B0503020204020204" charset="-122"/>
                <a:ea typeface="Microsoft YaHei UI" panose="020B0503020204020204" charset="-122"/>
                <a:cs typeface="Microsoft YaHei UI" panose="020B0503020204020204" charset="-122"/>
              </a:defRPr>
            </a:pPr>
            <a:r>
              <a:rPr sz="900" b="0">
                <a:solidFill>
                  <a:srgbClr val="111111"/>
                </a:solidFill>
                <a:latin typeface="Microsoft YaHei UI" panose="020B0503020204020204" charset="-122"/>
                <a:ea typeface="Microsoft YaHei UI" panose="020B0503020204020204" charset="-122"/>
                <a:cs typeface="Microsoft YaHei UI" panose="020B0503020204020204" charset="-122"/>
              </a:rPr>
              <a:t>样本处理</a:t>
            </a:r>
            <a:endParaRPr sz="900"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61" name="矩形 60"/>
          <p:cNvSpPr>
            <a:spLocks noGrp="1"/>
          </p:cNvSpPr>
          <p:nvPr/>
        </p:nvSpPr>
        <p:spPr>
          <a:xfrm>
            <a:off x="4286250" y="4638675"/>
            <a:ext cx="3619500" cy="581025"/>
          </a:xfrm>
          <a:prstGeom prst="rect">
            <a:avLst/>
          </a:prstGeom>
          <a:solidFill>
            <a:srgbClr val="F7FAF8"/>
          </a:solidFill>
          <a:ln w="11430">
            <a:solidFill>
              <a:srgbClr val="C9D5CE"/>
            </a:solidFill>
          </a:ln>
        </p:spPr>
      </p:sp>
      <p:sp>
        <p:nvSpPr>
          <p:cNvPr id="62" name="矩形 61"/>
          <p:cNvSpPr>
            <a:spLocks noGrp="1"/>
          </p:cNvSpPr>
          <p:nvPr/>
        </p:nvSpPr>
        <p:spPr>
          <a:xfrm>
            <a:off x="4314825" y="4657725"/>
            <a:ext cx="3562350" cy="542925"/>
          </a:xfrm>
          <a:prstGeom prst="rect">
            <a:avLst/>
          </a:prstGeom>
          <a:noFill/>
          <a:ln w="0">
            <a:solidFill>
              <a:srgbClr val="FFFFFF"/>
            </a:solidFill>
          </a:ln>
        </p:spPr>
        <p:txBody>
          <a:bodyPr lIns="76200" tIns="38100" rIns="76200" bIns="38100" anchor="ctr"/>
          <a:lstStyle/>
          <a:p>
            <a:pPr algn="ctr">
              <a:defRPr sz="900" b="0">
                <a:solidFill>
                  <a:srgbClr val="111111"/>
                </a:solidFill>
                <a:latin typeface="Microsoft YaHei UI" panose="020B0503020204020204" charset="-122"/>
                <a:ea typeface="Microsoft YaHei UI" panose="020B0503020204020204" charset="-122"/>
                <a:cs typeface="Microsoft YaHei UI" panose="020B0503020204020204" charset="-122"/>
              </a:defRPr>
            </a:pPr>
            <a:r>
              <a:rPr sz="900" b="0">
                <a:solidFill>
                  <a:srgbClr val="111111"/>
                </a:solidFill>
                <a:latin typeface="Microsoft YaHei UI" panose="020B0503020204020204" charset="-122"/>
                <a:ea typeface="Microsoft YaHei UI" panose="020B0503020204020204" charset="-122"/>
                <a:cs typeface="Microsoft YaHei UI" panose="020B0503020204020204" charset="-122"/>
              </a:rPr>
              <a:t>剔除直辖市、资源型城市、重污染行业</a:t>
            </a:r>
            <a:endParaRPr sz="900"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63" name="矩形 62"/>
          <p:cNvSpPr>
            <a:spLocks noGrp="1"/>
          </p:cNvSpPr>
          <p:nvPr/>
        </p:nvSpPr>
        <p:spPr>
          <a:xfrm>
            <a:off x="7905750" y="4638675"/>
            <a:ext cx="3619500" cy="581025"/>
          </a:xfrm>
          <a:prstGeom prst="rect">
            <a:avLst/>
          </a:prstGeom>
          <a:solidFill>
            <a:srgbClr val="F7FAF8"/>
          </a:solidFill>
          <a:ln w="11430">
            <a:solidFill>
              <a:srgbClr val="C9D5CE"/>
            </a:solidFill>
          </a:ln>
        </p:spPr>
      </p:sp>
      <p:sp>
        <p:nvSpPr>
          <p:cNvPr id="64" name="矩形 63"/>
          <p:cNvSpPr>
            <a:spLocks noGrp="1"/>
          </p:cNvSpPr>
          <p:nvPr/>
        </p:nvSpPr>
        <p:spPr>
          <a:xfrm>
            <a:off x="7934325" y="4657725"/>
            <a:ext cx="3562350" cy="542925"/>
          </a:xfrm>
          <a:prstGeom prst="rect">
            <a:avLst/>
          </a:prstGeom>
          <a:noFill/>
          <a:ln w="0">
            <a:solidFill>
              <a:srgbClr val="FFFFFF"/>
            </a:solidFill>
          </a:ln>
        </p:spPr>
        <p:txBody>
          <a:bodyPr lIns="76200" tIns="38100" rIns="76200" bIns="38100" anchor="ctr"/>
          <a:lstStyle/>
          <a:p>
            <a:pPr algn="ctr">
              <a:defRPr sz="900" b="0">
                <a:solidFill>
                  <a:srgbClr val="111111"/>
                </a:solidFill>
                <a:latin typeface="Microsoft YaHei UI" panose="020B0503020204020204" charset="-122"/>
                <a:ea typeface="Microsoft YaHei UI" panose="020B0503020204020204" charset="-122"/>
                <a:cs typeface="Microsoft YaHei UI" panose="020B0503020204020204" charset="-122"/>
              </a:defRPr>
            </a:pPr>
            <a:r>
              <a:rPr sz="900" b="0">
                <a:solidFill>
                  <a:srgbClr val="111111"/>
                </a:solidFill>
                <a:latin typeface="Microsoft YaHei UI" panose="020B0503020204020204" charset="-122"/>
                <a:ea typeface="Microsoft YaHei UI" panose="020B0503020204020204" charset="-122"/>
                <a:cs typeface="Microsoft YaHei UI" panose="020B0503020204020204" charset="-122"/>
              </a:rPr>
              <a:t>检验样本选择敏感性</a:t>
            </a:r>
            <a:endParaRPr sz="900"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65" name="圆角矩形 64"/>
          <p:cNvSpPr>
            <a:spLocks noGrp="1"/>
          </p:cNvSpPr>
          <p:nvPr/>
        </p:nvSpPr>
        <p:spPr>
          <a:xfrm>
            <a:off x="1162050" y="5476875"/>
            <a:ext cx="9334500" cy="495300"/>
          </a:xfrm>
          <a:prstGeom prst="roundRect">
            <a:avLst>
              <a:gd name="adj" fmla="val 23077"/>
            </a:avLst>
          </a:prstGeom>
          <a:solidFill>
            <a:srgbClr val="FFFFFF"/>
          </a:solidFill>
          <a:ln w="11430">
            <a:solidFill>
              <a:srgbClr val="D7DFDA"/>
            </a:solidFill>
          </a:ln>
        </p:spPr>
      </p:sp>
      <p:sp>
        <p:nvSpPr>
          <p:cNvPr id="66" name="矩形 65"/>
          <p:cNvSpPr>
            <a:spLocks noGrp="1"/>
          </p:cNvSpPr>
          <p:nvPr/>
        </p:nvSpPr>
        <p:spPr>
          <a:xfrm>
            <a:off x="1333500" y="5610225"/>
            <a:ext cx="8991600" cy="323850"/>
          </a:xfrm>
          <a:prstGeom prst="rect">
            <a:avLst/>
          </a:prstGeom>
          <a:noFill/>
          <a:ln w="0">
            <a:solidFill>
              <a:srgbClr val="FFFFFF"/>
            </a:solidFill>
          </a:ln>
        </p:spPr>
        <p:txBody>
          <a:bodyPr lIns="76200" tIns="38100" rIns="76200" bIns="38100" anchor="ctr"/>
          <a:lstStyle/>
          <a:p>
            <a:pPr algn="l">
              <a:defRPr sz="1125" b="1">
                <a:solidFill>
                  <a:srgbClr val="206040"/>
                </a:solidFill>
                <a:latin typeface="Microsoft YaHei UI" panose="020B0503020204020204" charset="-122"/>
                <a:ea typeface="Microsoft YaHei UI" panose="020B0503020204020204" charset="-122"/>
                <a:cs typeface="Microsoft YaHei UI" panose="020B0503020204020204" charset="-122"/>
              </a:defRPr>
            </a:pPr>
            <a:r>
              <a:rPr sz="1125" b="1">
                <a:solidFill>
                  <a:srgbClr val="206040"/>
                </a:solidFill>
                <a:latin typeface="Microsoft YaHei UI" panose="020B0503020204020204" charset="-122"/>
                <a:ea typeface="Microsoft YaHei UI" panose="020B0503020204020204" charset="-122"/>
                <a:cs typeface="Microsoft YaHei UI" panose="020B0503020204020204" charset="-122"/>
              </a:rPr>
              <a:t>报告口径</a:t>
            </a:r>
            <a:endParaRPr sz="1125" b="1">
              <a:solidFill>
                <a:srgbClr val="206040"/>
              </a:solidFill>
              <a:latin typeface="Microsoft YaHei UI" panose="020B0503020204020204" charset="-122"/>
              <a:ea typeface="Microsoft YaHei UI" panose="020B0503020204020204" charset="-122"/>
              <a:cs typeface="Microsoft YaHei UI" panose="020B0503020204020204" charset="-122"/>
            </a:endParaRPr>
          </a:p>
        </p:txBody>
      </p:sp>
      <p:sp>
        <p:nvSpPr>
          <p:cNvPr id="67" name="矩形 66"/>
          <p:cNvSpPr>
            <a:spLocks noGrp="1"/>
          </p:cNvSpPr>
          <p:nvPr/>
        </p:nvSpPr>
        <p:spPr>
          <a:xfrm>
            <a:off x="1333500" y="5991225"/>
            <a:ext cx="8991600" cy="9525"/>
          </a:xfrm>
          <a:prstGeom prst="rect">
            <a:avLst/>
          </a:prstGeom>
          <a:noFill/>
          <a:ln w="0">
            <a:solidFill>
              <a:srgbClr val="FFFFFF"/>
            </a:solidFill>
          </a:ln>
        </p:spPr>
        <p:txBody>
          <a:bodyPr lIns="76200" tIns="38100" rIns="76200" bIns="38100" anchor="t"/>
          <a:lstStyle/>
          <a:p>
            <a:pPr algn="l">
              <a:defRPr sz="975" b="0">
                <a:solidFill>
                  <a:srgbClr val="111111"/>
                </a:solidFill>
                <a:latin typeface="Microsoft YaHei UI" panose="020B0503020204020204" charset="-122"/>
                <a:ea typeface="Microsoft YaHei UI" panose="020B0503020204020204" charset="-122"/>
                <a:cs typeface="Microsoft YaHei UI" panose="020B0503020204020204" charset="-122"/>
              </a:defRPr>
            </a:pPr>
            <a:r>
              <a:rPr sz="975" b="0">
                <a:solidFill>
                  <a:srgbClr val="111111"/>
                </a:solidFill>
                <a:latin typeface="Microsoft YaHei UI" panose="020B0503020204020204" charset="-122"/>
                <a:ea typeface="Microsoft YaHei UI" panose="020B0503020204020204" charset="-122"/>
                <a:cs typeface="Microsoft YaHei UI" panose="020B0503020204020204" charset="-122"/>
              </a:rPr>
              <a:t>所有识别与稳健性均作为拟执行研究安排展示，优先报告主回归样本，并在扩展样本中检验数据更新影响。</a:t>
            </a:r>
            <a:endParaRPr sz="975"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a:spLocks noGrp="1"/>
          </p:cNvSpPr>
          <p:nvPr/>
        </p:nvSpPr>
        <p:spPr>
          <a:xfrm>
            <a:off x="0" y="0"/>
            <a:ext cx="12192000" cy="6858000"/>
          </a:xfrm>
          <a:prstGeom prst="rect">
            <a:avLst/>
          </a:prstGeom>
          <a:solidFill>
            <a:srgbClr val="F4F6F5"/>
          </a:solidFill>
          <a:ln w="0">
            <a:solidFill>
              <a:srgbClr val="FFFFFF"/>
            </a:solidFill>
          </a:ln>
        </p:spPr>
      </p:sp>
      <p:sp>
        <p:nvSpPr>
          <p:cNvPr id="3" name="矩形 2"/>
          <p:cNvSpPr>
            <a:spLocks noGrp="1"/>
          </p:cNvSpPr>
          <p:nvPr/>
        </p:nvSpPr>
        <p:spPr>
          <a:xfrm>
            <a:off x="0" y="0"/>
            <a:ext cx="12192000" cy="6858000"/>
          </a:xfrm>
          <a:prstGeom prst="rect">
            <a:avLst/>
          </a:prstGeom>
          <a:solidFill>
            <a:srgbClr val="F9FAF9"/>
          </a:solidFill>
          <a:ln w="0">
            <a:solidFill>
              <a:srgbClr val="FFFFFF"/>
            </a:solidFill>
          </a:ln>
        </p:spPr>
      </p:sp>
      <p:sp>
        <p:nvSpPr>
          <p:cNvPr id="4" name="矩形 3"/>
          <p:cNvSpPr>
            <a:spLocks noGrp="1"/>
          </p:cNvSpPr>
          <p:nvPr/>
        </p:nvSpPr>
        <p:spPr>
          <a:xfrm>
            <a:off x="8858250" y="0"/>
            <a:ext cx="3333750" cy="6858000"/>
          </a:xfrm>
          <a:prstGeom prst="rect">
            <a:avLst/>
          </a:prstGeom>
          <a:solidFill>
            <a:srgbClr val="F7F9F8"/>
          </a:solidFill>
          <a:ln w="0">
            <a:solidFill>
              <a:srgbClr val="FFFFFF"/>
            </a:solidFill>
          </a:ln>
        </p:spPr>
      </p:sp>
      <p:sp>
        <p:nvSpPr>
          <p:cNvPr id="5" name="矩形 4"/>
          <p:cNvSpPr>
            <a:spLocks noGrp="1"/>
          </p:cNvSpPr>
          <p:nvPr/>
        </p:nvSpPr>
        <p:spPr>
          <a:xfrm>
            <a:off x="0" y="6115050"/>
            <a:ext cx="12192000" cy="742950"/>
          </a:xfrm>
          <a:prstGeom prst="rect">
            <a:avLst/>
          </a:prstGeom>
          <a:solidFill>
            <a:srgbClr val="F8FAF9"/>
          </a:solidFill>
          <a:ln w="0">
            <a:solidFill>
              <a:srgbClr val="FFFFFF"/>
            </a:solidFill>
          </a:ln>
        </p:spPr>
      </p:sp>
      <p:sp>
        <p:nvSpPr>
          <p:cNvPr id="6" name="等腰三角形 5"/>
          <p:cNvSpPr>
            <a:spLocks noGrp="1"/>
          </p:cNvSpPr>
          <p:nvPr/>
        </p:nvSpPr>
        <p:spPr>
          <a:xfrm>
            <a:off x="1524000" y="904875"/>
            <a:ext cx="2476500" cy="1714500"/>
          </a:xfrm>
          <a:prstGeom prst="triangle">
            <a:avLst/>
          </a:prstGeom>
          <a:solidFill>
            <a:srgbClr val="FFFFFF"/>
          </a:solidFill>
          <a:ln w="0">
            <a:solidFill>
              <a:srgbClr val="FFFFFF"/>
            </a:solidFill>
          </a:ln>
        </p:spPr>
      </p:sp>
      <p:sp>
        <p:nvSpPr>
          <p:cNvPr id="7" name="等腰三角形 6"/>
          <p:cNvSpPr>
            <a:spLocks noGrp="1"/>
          </p:cNvSpPr>
          <p:nvPr/>
        </p:nvSpPr>
        <p:spPr>
          <a:xfrm>
            <a:off x="3857625" y="1762125"/>
            <a:ext cx="2476500" cy="1714500"/>
          </a:xfrm>
          <a:prstGeom prst="triangle">
            <a:avLst/>
          </a:prstGeom>
          <a:solidFill>
            <a:srgbClr val="F8FBFA"/>
          </a:solidFill>
          <a:ln w="0">
            <a:solidFill>
              <a:srgbClr val="FFFFFF"/>
            </a:solidFill>
          </a:ln>
        </p:spPr>
      </p:sp>
      <p:sp>
        <p:nvSpPr>
          <p:cNvPr id="8" name="等腰三角形 7"/>
          <p:cNvSpPr>
            <a:spLocks noGrp="1"/>
          </p:cNvSpPr>
          <p:nvPr/>
        </p:nvSpPr>
        <p:spPr>
          <a:xfrm>
            <a:off x="6191250" y="904875"/>
            <a:ext cx="2476500" cy="1714500"/>
          </a:xfrm>
          <a:prstGeom prst="triangle">
            <a:avLst/>
          </a:prstGeom>
          <a:solidFill>
            <a:srgbClr val="FFFFFF"/>
          </a:solidFill>
          <a:ln w="0">
            <a:solidFill>
              <a:srgbClr val="FFFFFF"/>
            </a:solidFill>
          </a:ln>
        </p:spPr>
      </p:sp>
      <p:sp>
        <p:nvSpPr>
          <p:cNvPr id="9" name="等腰三角形 8"/>
          <p:cNvSpPr>
            <a:spLocks noGrp="1"/>
          </p:cNvSpPr>
          <p:nvPr/>
        </p:nvSpPr>
        <p:spPr>
          <a:xfrm>
            <a:off x="8524875" y="1762125"/>
            <a:ext cx="2476500" cy="1714500"/>
          </a:xfrm>
          <a:prstGeom prst="triangle">
            <a:avLst/>
          </a:prstGeom>
          <a:solidFill>
            <a:srgbClr val="F8FBFA"/>
          </a:solidFill>
          <a:ln w="0">
            <a:solidFill>
              <a:srgbClr val="FFFFFF"/>
            </a:solidFill>
          </a:ln>
        </p:spPr>
      </p:sp>
      <p:sp>
        <p:nvSpPr>
          <p:cNvPr id="10" name="等腰三角形 9"/>
          <p:cNvSpPr>
            <a:spLocks noGrp="1"/>
          </p:cNvSpPr>
          <p:nvPr/>
        </p:nvSpPr>
        <p:spPr>
          <a:xfrm>
            <a:off x="10858500" y="904875"/>
            <a:ext cx="2476500" cy="1714500"/>
          </a:xfrm>
          <a:prstGeom prst="triangle">
            <a:avLst/>
          </a:prstGeom>
          <a:solidFill>
            <a:srgbClr val="FFFFFF"/>
          </a:solidFill>
          <a:ln w="0">
            <a:solidFill>
              <a:srgbClr val="FFFFFF"/>
            </a:solidFill>
          </a:ln>
        </p:spPr>
      </p:sp>
      <p:sp>
        <p:nvSpPr>
          <p:cNvPr id="11" name="等腰三角形 10"/>
          <p:cNvSpPr>
            <a:spLocks noGrp="1"/>
          </p:cNvSpPr>
          <p:nvPr/>
        </p:nvSpPr>
        <p:spPr>
          <a:xfrm rot="5400000">
            <a:off x="152400" y="266700"/>
            <a:ext cx="533400" cy="476250"/>
          </a:xfrm>
          <a:prstGeom prst="triangle">
            <a:avLst/>
          </a:prstGeom>
          <a:solidFill>
            <a:srgbClr val="206040"/>
          </a:solidFill>
          <a:ln w="0">
            <a:solidFill>
              <a:srgbClr val="FFFFFF"/>
            </a:solidFill>
          </a:ln>
        </p:spPr>
      </p:sp>
      <p:sp>
        <p:nvSpPr>
          <p:cNvPr id="12" name="等腰三角形 11"/>
          <p:cNvSpPr>
            <a:spLocks noGrp="1"/>
          </p:cNvSpPr>
          <p:nvPr/>
        </p:nvSpPr>
        <p:spPr>
          <a:xfrm rot="5400000">
            <a:off x="381000" y="304800"/>
            <a:ext cx="457200" cy="419100"/>
          </a:xfrm>
          <a:prstGeom prst="triangle">
            <a:avLst/>
          </a:prstGeom>
          <a:solidFill>
            <a:srgbClr val="80A090"/>
          </a:solidFill>
          <a:ln w="0">
            <a:solidFill>
              <a:srgbClr val="FFFFFF"/>
            </a:solidFill>
          </a:ln>
        </p:spPr>
      </p:sp>
      <p:sp>
        <p:nvSpPr>
          <p:cNvPr id="13" name="矩形 12"/>
          <p:cNvSpPr>
            <a:spLocks noGrp="1"/>
          </p:cNvSpPr>
          <p:nvPr/>
        </p:nvSpPr>
        <p:spPr>
          <a:xfrm>
            <a:off x="857250" y="228600"/>
            <a:ext cx="2857500" cy="457200"/>
          </a:xfrm>
          <a:prstGeom prst="rect">
            <a:avLst/>
          </a:prstGeom>
          <a:noFill/>
          <a:ln w="0">
            <a:solidFill>
              <a:srgbClr val="FFFFFF"/>
            </a:solidFill>
          </a:ln>
        </p:spPr>
        <p:txBody>
          <a:bodyPr lIns="76200" tIns="38100" rIns="76200" bIns="38100" anchor="ctr"/>
          <a:lstStyle/>
          <a:p>
            <a:pPr algn="l">
              <a:defRPr sz="2550" b="1">
                <a:solidFill>
                  <a:srgbClr val="206040"/>
                </a:solidFill>
                <a:latin typeface="黑体" panose="02010609060101010101" charset="-122"/>
                <a:ea typeface="黑体" panose="02010609060101010101" charset="-122"/>
                <a:cs typeface="黑体" panose="02010609060101010101" charset="-122"/>
              </a:defRPr>
            </a:pPr>
            <a:r>
              <a:rPr sz="2550" b="1">
                <a:solidFill>
                  <a:srgbClr val="206040"/>
                </a:solidFill>
                <a:latin typeface="黑体" panose="02010609060101010101" charset="-122"/>
                <a:ea typeface="黑体" panose="02010609060101010101" charset="-122"/>
                <a:cs typeface="黑体" panose="02010609060101010101" charset="-122"/>
              </a:rPr>
              <a:t>预期创新与政策含义</a:t>
            </a:r>
            <a:endParaRPr sz="2550" b="1">
              <a:solidFill>
                <a:srgbClr val="206040"/>
              </a:solidFill>
              <a:latin typeface="黑体" panose="02010609060101010101" charset="-122"/>
              <a:ea typeface="黑体" panose="02010609060101010101" charset="-122"/>
              <a:cs typeface="黑体" panose="02010609060101010101" charset="-122"/>
            </a:endParaRPr>
          </a:p>
        </p:txBody>
      </p:sp>
      <p:sp>
        <p:nvSpPr>
          <p:cNvPr id="14" name="矩形 13"/>
          <p:cNvSpPr>
            <a:spLocks noGrp="1"/>
          </p:cNvSpPr>
          <p:nvPr/>
        </p:nvSpPr>
        <p:spPr>
          <a:xfrm>
            <a:off x="4000500" y="295275"/>
            <a:ext cx="1123950" cy="323850"/>
          </a:xfrm>
          <a:prstGeom prst="rect">
            <a:avLst/>
          </a:prstGeom>
          <a:noFill/>
          <a:ln w="0">
            <a:solidFill>
              <a:srgbClr val="FFFFFF"/>
            </a:solidFill>
          </a:ln>
        </p:spPr>
        <p:txBody>
          <a:bodyPr lIns="76200" tIns="38100" rIns="76200" bIns="38100" anchor="ctr"/>
          <a:lstStyle/>
          <a:p>
            <a:pPr algn="ctr">
              <a:defRPr sz="1125" b="0">
                <a:solidFill>
                  <a:srgbClr val="161616"/>
                </a:solidFill>
                <a:latin typeface="Microsoft YaHei UI" panose="020B0503020204020204" charset="-122"/>
                <a:ea typeface="Microsoft YaHei UI" panose="020B0503020204020204" charset="-122"/>
                <a:cs typeface="Microsoft YaHei UI" panose="020B0503020204020204" charset="-122"/>
              </a:defRPr>
            </a:pPr>
            <a:r>
              <a:rPr sz="1125" b="0">
                <a:solidFill>
                  <a:srgbClr val="161616"/>
                </a:solidFill>
                <a:latin typeface="Microsoft YaHei UI" panose="020B0503020204020204" charset="-122"/>
                <a:ea typeface="Microsoft YaHei UI" panose="020B0503020204020204" charset="-122"/>
                <a:cs typeface="Microsoft YaHei UI" panose="020B0503020204020204" charset="-122"/>
              </a:rPr>
              <a:t>现实问题</a:t>
            </a:r>
            <a:endParaRPr sz="1125" b="0">
              <a:solidFill>
                <a:srgbClr val="161616"/>
              </a:solidFill>
              <a:latin typeface="Microsoft YaHei UI" panose="020B0503020204020204" charset="-122"/>
              <a:ea typeface="Microsoft YaHei UI" panose="020B0503020204020204" charset="-122"/>
              <a:cs typeface="Microsoft YaHei UI" panose="020B0503020204020204" charset="-122"/>
            </a:endParaRPr>
          </a:p>
        </p:txBody>
      </p:sp>
      <p:sp>
        <p:nvSpPr>
          <p:cNvPr id="15" name="矩形 14"/>
          <p:cNvSpPr>
            <a:spLocks noGrp="1"/>
          </p:cNvSpPr>
          <p:nvPr/>
        </p:nvSpPr>
        <p:spPr>
          <a:xfrm>
            <a:off x="5200650" y="295275"/>
            <a:ext cx="1123950" cy="323850"/>
          </a:xfrm>
          <a:prstGeom prst="rect">
            <a:avLst/>
          </a:prstGeom>
          <a:noFill/>
          <a:ln w="0">
            <a:solidFill>
              <a:srgbClr val="FFFFFF"/>
            </a:solidFill>
          </a:ln>
        </p:spPr>
        <p:txBody>
          <a:bodyPr lIns="76200" tIns="38100" rIns="76200" bIns="38100" anchor="ctr"/>
          <a:lstStyle/>
          <a:p>
            <a:pPr algn="ctr">
              <a:defRPr sz="1125" b="0">
                <a:solidFill>
                  <a:srgbClr val="161616"/>
                </a:solidFill>
                <a:latin typeface="Microsoft YaHei UI" panose="020B0503020204020204" charset="-122"/>
                <a:ea typeface="Microsoft YaHei UI" panose="020B0503020204020204" charset="-122"/>
                <a:cs typeface="Microsoft YaHei UI" panose="020B0503020204020204" charset="-122"/>
              </a:defRPr>
            </a:pPr>
            <a:r>
              <a:rPr sz="1125" b="0">
                <a:solidFill>
                  <a:srgbClr val="161616"/>
                </a:solidFill>
                <a:latin typeface="Microsoft YaHei UI" panose="020B0503020204020204" charset="-122"/>
                <a:ea typeface="Microsoft YaHei UI" panose="020B0503020204020204" charset="-122"/>
                <a:cs typeface="Microsoft YaHei UI" panose="020B0503020204020204" charset="-122"/>
              </a:rPr>
              <a:t>科学问题</a:t>
            </a:r>
            <a:endParaRPr sz="1125" b="0">
              <a:solidFill>
                <a:srgbClr val="161616"/>
              </a:solidFill>
              <a:latin typeface="Microsoft YaHei UI" panose="020B0503020204020204" charset="-122"/>
              <a:ea typeface="Microsoft YaHei UI" panose="020B0503020204020204" charset="-122"/>
              <a:cs typeface="Microsoft YaHei UI" panose="020B0503020204020204" charset="-122"/>
            </a:endParaRPr>
          </a:p>
        </p:txBody>
      </p:sp>
      <p:sp>
        <p:nvSpPr>
          <p:cNvPr id="16" name="矩形 15"/>
          <p:cNvSpPr>
            <a:spLocks noGrp="1"/>
          </p:cNvSpPr>
          <p:nvPr/>
        </p:nvSpPr>
        <p:spPr>
          <a:xfrm>
            <a:off x="6400800" y="295275"/>
            <a:ext cx="1123950" cy="323850"/>
          </a:xfrm>
          <a:prstGeom prst="rect">
            <a:avLst/>
          </a:prstGeom>
          <a:noFill/>
          <a:ln w="0">
            <a:solidFill>
              <a:srgbClr val="FFFFFF"/>
            </a:solidFill>
          </a:ln>
        </p:spPr>
        <p:txBody>
          <a:bodyPr lIns="76200" tIns="38100" rIns="76200" bIns="38100" anchor="ctr"/>
          <a:lstStyle/>
          <a:p>
            <a:pPr algn="ctr">
              <a:defRPr sz="1125" b="0">
                <a:solidFill>
                  <a:srgbClr val="161616"/>
                </a:solidFill>
                <a:latin typeface="Microsoft YaHei UI" panose="020B0503020204020204" charset="-122"/>
                <a:ea typeface="Microsoft YaHei UI" panose="020B0503020204020204" charset="-122"/>
                <a:cs typeface="Microsoft YaHei UI" panose="020B0503020204020204" charset="-122"/>
              </a:defRPr>
            </a:pPr>
            <a:r>
              <a:rPr sz="1125" b="0">
                <a:solidFill>
                  <a:srgbClr val="161616"/>
                </a:solidFill>
                <a:latin typeface="Microsoft YaHei UI" panose="020B0503020204020204" charset="-122"/>
                <a:ea typeface="Microsoft YaHei UI" panose="020B0503020204020204" charset="-122"/>
                <a:cs typeface="Microsoft YaHei UI" panose="020B0503020204020204" charset="-122"/>
              </a:rPr>
              <a:t>理论机制</a:t>
            </a:r>
            <a:endParaRPr sz="1125" b="0">
              <a:solidFill>
                <a:srgbClr val="161616"/>
              </a:solidFill>
              <a:latin typeface="Microsoft YaHei UI" panose="020B0503020204020204" charset="-122"/>
              <a:ea typeface="Microsoft YaHei UI" panose="020B0503020204020204" charset="-122"/>
              <a:cs typeface="Microsoft YaHei UI" panose="020B0503020204020204" charset="-122"/>
            </a:endParaRPr>
          </a:p>
        </p:txBody>
      </p:sp>
      <p:sp>
        <p:nvSpPr>
          <p:cNvPr id="17" name="矩形 16"/>
          <p:cNvSpPr>
            <a:spLocks noGrp="1"/>
          </p:cNvSpPr>
          <p:nvPr/>
        </p:nvSpPr>
        <p:spPr>
          <a:xfrm>
            <a:off x="7600950" y="295275"/>
            <a:ext cx="1123950" cy="323850"/>
          </a:xfrm>
          <a:prstGeom prst="rect">
            <a:avLst/>
          </a:prstGeom>
          <a:noFill/>
          <a:ln w="0">
            <a:solidFill>
              <a:srgbClr val="FFFFFF"/>
            </a:solidFill>
          </a:ln>
        </p:spPr>
        <p:txBody>
          <a:bodyPr lIns="76200" tIns="38100" rIns="76200" bIns="38100" anchor="ctr"/>
          <a:lstStyle/>
          <a:p>
            <a:pPr algn="ctr">
              <a:defRPr sz="1125" b="0">
                <a:solidFill>
                  <a:srgbClr val="161616"/>
                </a:solidFill>
                <a:latin typeface="Microsoft YaHei UI" panose="020B0503020204020204" charset="-122"/>
                <a:ea typeface="Microsoft YaHei UI" panose="020B0503020204020204" charset="-122"/>
                <a:cs typeface="Microsoft YaHei UI" panose="020B0503020204020204" charset="-122"/>
              </a:defRPr>
            </a:pPr>
            <a:r>
              <a:rPr sz="1125" b="0">
                <a:solidFill>
                  <a:srgbClr val="161616"/>
                </a:solidFill>
                <a:latin typeface="Microsoft YaHei UI" panose="020B0503020204020204" charset="-122"/>
                <a:ea typeface="Microsoft YaHei UI" panose="020B0503020204020204" charset="-122"/>
                <a:cs typeface="Microsoft YaHei UI" panose="020B0503020204020204" charset="-122"/>
              </a:rPr>
              <a:t>数据变量</a:t>
            </a:r>
            <a:endParaRPr sz="1125" b="0">
              <a:solidFill>
                <a:srgbClr val="161616"/>
              </a:solidFill>
              <a:latin typeface="Microsoft YaHei UI" panose="020B0503020204020204" charset="-122"/>
              <a:ea typeface="Microsoft YaHei UI" panose="020B0503020204020204" charset="-122"/>
              <a:cs typeface="Microsoft YaHei UI" panose="020B0503020204020204" charset="-122"/>
            </a:endParaRPr>
          </a:p>
        </p:txBody>
      </p:sp>
      <p:sp>
        <p:nvSpPr>
          <p:cNvPr id="18" name="矩形 17"/>
          <p:cNvSpPr>
            <a:spLocks noGrp="1"/>
          </p:cNvSpPr>
          <p:nvPr/>
        </p:nvSpPr>
        <p:spPr>
          <a:xfrm>
            <a:off x="8801100" y="295275"/>
            <a:ext cx="1123950" cy="323850"/>
          </a:xfrm>
          <a:prstGeom prst="rect">
            <a:avLst/>
          </a:prstGeom>
          <a:noFill/>
          <a:ln w="0">
            <a:solidFill>
              <a:srgbClr val="FFFFFF"/>
            </a:solidFill>
          </a:ln>
        </p:spPr>
        <p:txBody>
          <a:bodyPr lIns="76200" tIns="38100" rIns="76200" bIns="38100" anchor="ctr"/>
          <a:lstStyle/>
          <a:p>
            <a:pPr algn="ctr">
              <a:defRPr sz="1125" b="0">
                <a:solidFill>
                  <a:srgbClr val="161616"/>
                </a:solidFill>
                <a:latin typeface="Microsoft YaHei UI" panose="020B0503020204020204" charset="-122"/>
                <a:ea typeface="Microsoft YaHei UI" panose="020B0503020204020204" charset="-122"/>
                <a:cs typeface="Microsoft YaHei UI" panose="020B0503020204020204" charset="-122"/>
              </a:defRPr>
            </a:pPr>
            <a:r>
              <a:rPr sz="1125" b="0">
                <a:solidFill>
                  <a:srgbClr val="161616"/>
                </a:solidFill>
                <a:latin typeface="Microsoft YaHei UI" panose="020B0503020204020204" charset="-122"/>
                <a:ea typeface="Microsoft YaHei UI" panose="020B0503020204020204" charset="-122"/>
                <a:cs typeface="Microsoft YaHei UI" panose="020B0503020204020204" charset="-122"/>
              </a:rPr>
              <a:t>模型识别</a:t>
            </a:r>
            <a:endParaRPr sz="1125" b="0">
              <a:solidFill>
                <a:srgbClr val="161616"/>
              </a:solidFill>
              <a:latin typeface="Microsoft YaHei UI" panose="020B0503020204020204" charset="-122"/>
              <a:ea typeface="Microsoft YaHei UI" panose="020B0503020204020204" charset="-122"/>
              <a:cs typeface="Microsoft YaHei UI" panose="020B0503020204020204" charset="-122"/>
            </a:endParaRPr>
          </a:p>
        </p:txBody>
      </p:sp>
      <p:sp>
        <p:nvSpPr>
          <p:cNvPr id="19" name="矩形 18"/>
          <p:cNvSpPr>
            <a:spLocks noGrp="1"/>
          </p:cNvSpPr>
          <p:nvPr/>
        </p:nvSpPr>
        <p:spPr>
          <a:xfrm>
            <a:off x="10001250" y="228600"/>
            <a:ext cx="1123950" cy="323850"/>
          </a:xfrm>
          <a:prstGeom prst="rect">
            <a:avLst/>
          </a:prstGeom>
          <a:noFill/>
          <a:ln w="0">
            <a:solidFill>
              <a:srgbClr val="FFFFFF"/>
            </a:solidFill>
          </a:ln>
        </p:spPr>
        <p:txBody>
          <a:bodyPr lIns="76200" tIns="38100" rIns="76200" bIns="38100" anchor="ctr"/>
          <a:lstStyle/>
          <a:p>
            <a:pPr algn="ctr">
              <a:defRPr sz="1500" b="1">
                <a:solidFill>
                  <a:srgbClr val="206040"/>
                </a:solidFill>
                <a:latin typeface="Microsoft YaHei UI" panose="020B0503020204020204" charset="-122"/>
                <a:ea typeface="Microsoft YaHei UI" panose="020B0503020204020204" charset="-122"/>
                <a:cs typeface="Microsoft YaHei UI" panose="020B0503020204020204" charset="-122"/>
              </a:defRPr>
            </a:pPr>
            <a:r>
              <a:rPr sz="1500" b="1">
                <a:solidFill>
                  <a:srgbClr val="206040"/>
                </a:solidFill>
                <a:latin typeface="Microsoft YaHei UI" panose="020B0503020204020204" charset="-122"/>
                <a:ea typeface="Microsoft YaHei UI" panose="020B0503020204020204" charset="-122"/>
                <a:cs typeface="Microsoft YaHei UI" panose="020B0503020204020204" charset="-122"/>
              </a:rPr>
              <a:t>预期贡献</a:t>
            </a:r>
            <a:endParaRPr sz="1500" b="1">
              <a:solidFill>
                <a:srgbClr val="206040"/>
              </a:solidFill>
              <a:latin typeface="Microsoft YaHei UI" panose="020B0503020204020204" charset="-122"/>
              <a:ea typeface="Microsoft YaHei UI" panose="020B0503020204020204" charset="-122"/>
              <a:cs typeface="Microsoft YaHei UI" panose="020B0503020204020204" charset="-122"/>
            </a:endParaRPr>
          </a:p>
        </p:txBody>
      </p:sp>
      <p:sp>
        <p:nvSpPr>
          <p:cNvPr id="20" name="圆角矩形 19"/>
          <p:cNvSpPr>
            <a:spLocks noGrp="1"/>
          </p:cNvSpPr>
          <p:nvPr/>
        </p:nvSpPr>
        <p:spPr>
          <a:xfrm>
            <a:off x="10172700" y="657225"/>
            <a:ext cx="781050" cy="38100"/>
          </a:xfrm>
          <a:prstGeom prst="roundRect">
            <a:avLst>
              <a:gd name="adj" fmla="val 25000"/>
            </a:avLst>
          </a:prstGeom>
          <a:solidFill>
            <a:srgbClr val="206040"/>
          </a:solidFill>
          <a:ln w="0">
            <a:solidFill>
              <a:srgbClr val="FFFFFF"/>
            </a:solidFill>
          </a:ln>
        </p:spPr>
      </p:sp>
      <p:sp>
        <p:nvSpPr>
          <p:cNvPr id="21" name="圆角矩形 20"/>
          <p:cNvSpPr>
            <a:spLocks noGrp="1"/>
          </p:cNvSpPr>
          <p:nvPr/>
        </p:nvSpPr>
        <p:spPr>
          <a:xfrm>
            <a:off x="3905250" y="742950"/>
            <a:ext cx="8001000" cy="9525"/>
          </a:xfrm>
          <a:prstGeom prst="roundRect">
            <a:avLst>
              <a:gd name="adj" fmla="val 50000"/>
            </a:avLst>
          </a:prstGeom>
          <a:solidFill>
            <a:srgbClr val="D7DFDA"/>
          </a:solidFill>
          <a:ln w="0">
            <a:solidFill>
              <a:srgbClr val="FFFFFF"/>
            </a:solidFill>
          </a:ln>
        </p:spPr>
      </p:sp>
      <p:sp>
        <p:nvSpPr>
          <p:cNvPr id="22" name="矩形 21"/>
          <p:cNvSpPr>
            <a:spLocks noGrp="1"/>
          </p:cNvSpPr>
          <p:nvPr/>
        </p:nvSpPr>
        <p:spPr>
          <a:xfrm>
            <a:off x="11334750" y="6286500"/>
            <a:ext cx="495300" cy="266700"/>
          </a:xfrm>
          <a:prstGeom prst="rect">
            <a:avLst/>
          </a:prstGeom>
          <a:noFill/>
          <a:ln w="0">
            <a:solidFill>
              <a:srgbClr val="FFFFFF"/>
            </a:solidFill>
          </a:ln>
        </p:spPr>
        <p:txBody>
          <a:bodyPr lIns="76200" tIns="38100" rIns="76200" bIns="38100" anchor="ctr"/>
          <a:lstStyle/>
          <a:p>
            <a:pPr algn="r">
              <a:defRPr sz="975" b="0">
                <a:solidFill>
                  <a:srgbClr val="80A090"/>
                </a:solidFill>
                <a:latin typeface="Microsoft YaHei UI" panose="020B0503020204020204" charset="-122"/>
                <a:ea typeface="Microsoft YaHei UI" panose="020B0503020204020204" charset="-122"/>
                <a:cs typeface="Microsoft YaHei UI" panose="020B0503020204020204" charset="-122"/>
              </a:defRPr>
            </a:pPr>
            <a:r>
              <a:rPr sz="975" b="0">
                <a:solidFill>
                  <a:srgbClr val="80A090"/>
                </a:solidFill>
                <a:latin typeface="Microsoft YaHei UI" panose="020B0503020204020204" charset="-122"/>
                <a:ea typeface="Microsoft YaHei UI" panose="020B0503020204020204" charset="-122"/>
                <a:cs typeface="Microsoft YaHei UI" panose="020B0503020204020204" charset="-122"/>
              </a:rPr>
              <a:t>17</a:t>
            </a:r>
            <a:endParaRPr sz="975" b="0">
              <a:solidFill>
                <a:srgbClr val="80A090"/>
              </a:solidFill>
              <a:latin typeface="Microsoft YaHei UI" panose="020B0503020204020204" charset="-122"/>
              <a:ea typeface="Microsoft YaHei UI" panose="020B0503020204020204" charset="-122"/>
              <a:cs typeface="Microsoft YaHei UI" panose="020B0503020204020204" charset="-122"/>
            </a:endParaRPr>
          </a:p>
        </p:txBody>
      </p:sp>
      <p:sp>
        <p:nvSpPr>
          <p:cNvPr id="23" name="圆角矩形 22"/>
          <p:cNvSpPr>
            <a:spLocks noGrp="1"/>
          </p:cNvSpPr>
          <p:nvPr/>
        </p:nvSpPr>
        <p:spPr>
          <a:xfrm>
            <a:off x="762000" y="1381125"/>
            <a:ext cx="3143250" cy="2238375"/>
          </a:xfrm>
          <a:prstGeom prst="roundRect">
            <a:avLst>
              <a:gd name="adj" fmla="val 5106"/>
            </a:avLst>
          </a:prstGeom>
          <a:solidFill>
            <a:srgbClr val="FFFFFF"/>
          </a:solidFill>
          <a:ln w="11430">
            <a:solidFill>
              <a:srgbClr val="D7DFDA"/>
            </a:solidFill>
          </a:ln>
        </p:spPr>
      </p:sp>
      <p:sp>
        <p:nvSpPr>
          <p:cNvPr id="24" name="矩形 23"/>
          <p:cNvSpPr>
            <a:spLocks noGrp="1"/>
          </p:cNvSpPr>
          <p:nvPr/>
        </p:nvSpPr>
        <p:spPr>
          <a:xfrm>
            <a:off x="933450" y="1514475"/>
            <a:ext cx="2800350" cy="323850"/>
          </a:xfrm>
          <a:prstGeom prst="rect">
            <a:avLst/>
          </a:prstGeom>
          <a:noFill/>
          <a:ln w="0">
            <a:solidFill>
              <a:srgbClr val="FFFFFF"/>
            </a:solidFill>
          </a:ln>
        </p:spPr>
        <p:txBody>
          <a:bodyPr lIns="76200" tIns="38100" rIns="76200" bIns="38100" anchor="ctr"/>
          <a:lstStyle/>
          <a:p>
            <a:pPr algn="l">
              <a:defRPr sz="1650" b="1">
                <a:solidFill>
                  <a:srgbClr val="206040"/>
                </a:solidFill>
                <a:latin typeface="Microsoft YaHei UI" panose="020B0503020204020204" charset="-122"/>
                <a:ea typeface="Microsoft YaHei UI" panose="020B0503020204020204" charset="-122"/>
                <a:cs typeface="Microsoft YaHei UI" panose="020B0503020204020204" charset="-122"/>
              </a:defRPr>
            </a:pPr>
            <a:r>
              <a:rPr sz="1650" b="1">
                <a:solidFill>
                  <a:srgbClr val="206040"/>
                </a:solidFill>
                <a:latin typeface="Microsoft YaHei UI" panose="020B0503020204020204" charset="-122"/>
                <a:ea typeface="Microsoft YaHei UI" panose="020B0503020204020204" charset="-122"/>
                <a:cs typeface="Microsoft YaHei UI" panose="020B0503020204020204" charset="-122"/>
              </a:rPr>
              <a:t>理论贡献</a:t>
            </a:r>
            <a:endParaRPr sz="1650" b="1">
              <a:solidFill>
                <a:srgbClr val="206040"/>
              </a:solidFill>
              <a:latin typeface="Microsoft YaHei UI" panose="020B0503020204020204" charset="-122"/>
              <a:ea typeface="Microsoft YaHei UI" panose="020B0503020204020204" charset="-122"/>
              <a:cs typeface="Microsoft YaHei UI" panose="020B0503020204020204" charset="-122"/>
            </a:endParaRPr>
          </a:p>
        </p:txBody>
      </p:sp>
      <p:sp>
        <p:nvSpPr>
          <p:cNvPr id="25" name="矩形 24"/>
          <p:cNvSpPr>
            <a:spLocks noGrp="1"/>
          </p:cNvSpPr>
          <p:nvPr/>
        </p:nvSpPr>
        <p:spPr>
          <a:xfrm>
            <a:off x="933450" y="1895475"/>
            <a:ext cx="2800350" cy="1590675"/>
          </a:xfrm>
          <a:prstGeom prst="rect">
            <a:avLst/>
          </a:prstGeom>
          <a:noFill/>
          <a:ln w="0">
            <a:solidFill>
              <a:srgbClr val="FFFFFF"/>
            </a:solidFill>
          </a:ln>
        </p:spPr>
        <p:txBody>
          <a:bodyPr lIns="76200" tIns="38100" rIns="76200" bIns="38100" anchor="t"/>
          <a:lstStyle/>
          <a:p>
            <a:pPr algn="l">
              <a:defRPr sz="1275" b="0">
                <a:solidFill>
                  <a:srgbClr val="111111"/>
                </a:solidFill>
                <a:latin typeface="Microsoft YaHei UI" panose="020B0503020204020204" charset="-122"/>
                <a:ea typeface="Microsoft YaHei UI" panose="020B0503020204020204" charset="-122"/>
                <a:cs typeface="Microsoft YaHei UI" panose="020B0503020204020204" charset="-122"/>
              </a:defRPr>
            </a:pPr>
            <a:r>
              <a:rPr sz="1275" b="0">
                <a:solidFill>
                  <a:srgbClr val="111111"/>
                </a:solidFill>
                <a:latin typeface="Microsoft YaHei UI" panose="020B0503020204020204" charset="-122"/>
                <a:ea typeface="Microsoft YaHei UI" panose="020B0503020204020204" charset="-122"/>
                <a:cs typeface="Microsoft YaHei UI" panose="020B0503020204020204" charset="-122"/>
              </a:rPr>
              <a:t>把环境规制、企业合规成本和GTFP放入同一框架，解释平均影响背后的财务传导。</a:t>
            </a:r>
            <a:endParaRPr sz="1275"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26" name="圆角矩形 25"/>
          <p:cNvSpPr>
            <a:spLocks noGrp="1"/>
          </p:cNvSpPr>
          <p:nvPr/>
        </p:nvSpPr>
        <p:spPr>
          <a:xfrm>
            <a:off x="4524375" y="1381125"/>
            <a:ext cx="3143250" cy="2238375"/>
          </a:xfrm>
          <a:prstGeom prst="roundRect">
            <a:avLst>
              <a:gd name="adj" fmla="val 5106"/>
            </a:avLst>
          </a:prstGeom>
          <a:solidFill>
            <a:srgbClr val="FFFFFF"/>
          </a:solidFill>
          <a:ln w="11430">
            <a:solidFill>
              <a:srgbClr val="D7DFDA"/>
            </a:solidFill>
          </a:ln>
        </p:spPr>
      </p:sp>
      <p:sp>
        <p:nvSpPr>
          <p:cNvPr id="27" name="矩形 26"/>
          <p:cNvSpPr>
            <a:spLocks noGrp="1"/>
          </p:cNvSpPr>
          <p:nvPr/>
        </p:nvSpPr>
        <p:spPr>
          <a:xfrm>
            <a:off x="4695825" y="1514475"/>
            <a:ext cx="2800350" cy="323850"/>
          </a:xfrm>
          <a:prstGeom prst="rect">
            <a:avLst/>
          </a:prstGeom>
          <a:noFill/>
          <a:ln w="0">
            <a:solidFill>
              <a:srgbClr val="FFFFFF"/>
            </a:solidFill>
          </a:ln>
        </p:spPr>
        <p:txBody>
          <a:bodyPr lIns="76200" tIns="38100" rIns="76200" bIns="38100" anchor="ctr"/>
          <a:lstStyle/>
          <a:p>
            <a:pPr algn="l">
              <a:defRPr sz="1650" b="1">
                <a:solidFill>
                  <a:srgbClr val="206040"/>
                </a:solidFill>
                <a:latin typeface="Microsoft YaHei UI" panose="020B0503020204020204" charset="-122"/>
                <a:ea typeface="Microsoft YaHei UI" panose="020B0503020204020204" charset="-122"/>
                <a:cs typeface="Microsoft YaHei UI" panose="020B0503020204020204" charset="-122"/>
              </a:defRPr>
            </a:pPr>
            <a:r>
              <a:rPr sz="1650" b="1">
                <a:solidFill>
                  <a:srgbClr val="206040"/>
                </a:solidFill>
                <a:latin typeface="Microsoft YaHei UI" panose="020B0503020204020204" charset="-122"/>
                <a:ea typeface="Microsoft YaHei UI" panose="020B0503020204020204" charset="-122"/>
                <a:cs typeface="Microsoft YaHei UI" panose="020B0503020204020204" charset="-122"/>
              </a:rPr>
              <a:t>金融学视角</a:t>
            </a:r>
            <a:endParaRPr sz="1650" b="1">
              <a:solidFill>
                <a:srgbClr val="206040"/>
              </a:solidFill>
              <a:latin typeface="Microsoft YaHei UI" panose="020B0503020204020204" charset="-122"/>
              <a:ea typeface="Microsoft YaHei UI" panose="020B0503020204020204" charset="-122"/>
              <a:cs typeface="Microsoft YaHei UI" panose="020B0503020204020204" charset="-122"/>
            </a:endParaRPr>
          </a:p>
        </p:txBody>
      </p:sp>
      <p:sp>
        <p:nvSpPr>
          <p:cNvPr id="28" name="矩形 27"/>
          <p:cNvSpPr>
            <a:spLocks noGrp="1"/>
          </p:cNvSpPr>
          <p:nvPr/>
        </p:nvSpPr>
        <p:spPr>
          <a:xfrm>
            <a:off x="4695825" y="1895475"/>
            <a:ext cx="2800350" cy="1590675"/>
          </a:xfrm>
          <a:prstGeom prst="rect">
            <a:avLst/>
          </a:prstGeom>
          <a:noFill/>
          <a:ln w="0">
            <a:solidFill>
              <a:srgbClr val="FFFFFF"/>
            </a:solidFill>
          </a:ln>
        </p:spPr>
        <p:txBody>
          <a:bodyPr lIns="76200" tIns="38100" rIns="76200" bIns="38100" anchor="t"/>
          <a:lstStyle/>
          <a:p>
            <a:pPr algn="l">
              <a:defRPr sz="1275" b="0">
                <a:solidFill>
                  <a:srgbClr val="111111"/>
                </a:solidFill>
                <a:latin typeface="Microsoft YaHei UI" panose="020B0503020204020204" charset="-122"/>
                <a:ea typeface="Microsoft YaHei UI" panose="020B0503020204020204" charset="-122"/>
                <a:cs typeface="Microsoft YaHei UI" panose="020B0503020204020204" charset="-122"/>
              </a:defRPr>
            </a:pPr>
            <a:r>
              <a:rPr sz="1275" b="0">
                <a:solidFill>
                  <a:srgbClr val="111111"/>
                </a:solidFill>
                <a:latin typeface="Microsoft YaHei UI" panose="020B0503020204020204" charset="-122"/>
                <a:ea typeface="Microsoft YaHei UI" panose="020B0503020204020204" charset="-122"/>
                <a:cs typeface="Microsoft YaHei UI" panose="020B0503020204020204" charset="-122"/>
              </a:rPr>
              <a:t>突出环保投资、税费、现金流占用、绿色融资可得性与资本配置逻辑。</a:t>
            </a:r>
            <a:endParaRPr sz="1275"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29" name="圆角矩形 28"/>
          <p:cNvSpPr>
            <a:spLocks noGrp="1"/>
          </p:cNvSpPr>
          <p:nvPr/>
        </p:nvSpPr>
        <p:spPr>
          <a:xfrm>
            <a:off x="8286750" y="1381125"/>
            <a:ext cx="3143250" cy="2238375"/>
          </a:xfrm>
          <a:prstGeom prst="roundRect">
            <a:avLst>
              <a:gd name="adj" fmla="val 5106"/>
            </a:avLst>
          </a:prstGeom>
          <a:solidFill>
            <a:srgbClr val="FFFFFF"/>
          </a:solidFill>
          <a:ln w="11430">
            <a:solidFill>
              <a:srgbClr val="D7DFDA"/>
            </a:solidFill>
          </a:ln>
        </p:spPr>
      </p:sp>
      <p:sp>
        <p:nvSpPr>
          <p:cNvPr id="30" name="矩形 29"/>
          <p:cNvSpPr>
            <a:spLocks noGrp="1"/>
          </p:cNvSpPr>
          <p:nvPr/>
        </p:nvSpPr>
        <p:spPr>
          <a:xfrm>
            <a:off x="8458200" y="1514475"/>
            <a:ext cx="2800350" cy="323850"/>
          </a:xfrm>
          <a:prstGeom prst="rect">
            <a:avLst/>
          </a:prstGeom>
          <a:noFill/>
          <a:ln w="0">
            <a:solidFill>
              <a:srgbClr val="FFFFFF"/>
            </a:solidFill>
          </a:ln>
        </p:spPr>
        <p:txBody>
          <a:bodyPr lIns="76200" tIns="38100" rIns="76200" bIns="38100" anchor="ctr"/>
          <a:lstStyle/>
          <a:p>
            <a:pPr algn="l">
              <a:defRPr sz="1650" b="1">
                <a:solidFill>
                  <a:srgbClr val="206040"/>
                </a:solidFill>
                <a:latin typeface="Microsoft YaHei UI" panose="020B0503020204020204" charset="-122"/>
                <a:ea typeface="Microsoft YaHei UI" panose="020B0503020204020204" charset="-122"/>
                <a:cs typeface="Microsoft YaHei UI" panose="020B0503020204020204" charset="-122"/>
              </a:defRPr>
            </a:pPr>
            <a:r>
              <a:rPr sz="1650" b="1">
                <a:solidFill>
                  <a:srgbClr val="206040"/>
                </a:solidFill>
                <a:latin typeface="Microsoft YaHei UI" panose="020B0503020204020204" charset="-122"/>
                <a:ea typeface="Microsoft YaHei UI" panose="020B0503020204020204" charset="-122"/>
                <a:cs typeface="Microsoft YaHei UI" panose="020B0503020204020204" charset="-122"/>
              </a:rPr>
              <a:t>政策含义</a:t>
            </a:r>
            <a:endParaRPr sz="1650" b="1">
              <a:solidFill>
                <a:srgbClr val="206040"/>
              </a:solidFill>
              <a:latin typeface="Microsoft YaHei UI" panose="020B0503020204020204" charset="-122"/>
              <a:ea typeface="Microsoft YaHei UI" panose="020B0503020204020204" charset="-122"/>
              <a:cs typeface="Microsoft YaHei UI" panose="020B0503020204020204" charset="-122"/>
            </a:endParaRPr>
          </a:p>
        </p:txBody>
      </p:sp>
      <p:sp>
        <p:nvSpPr>
          <p:cNvPr id="31" name="矩形 30"/>
          <p:cNvSpPr>
            <a:spLocks noGrp="1"/>
          </p:cNvSpPr>
          <p:nvPr/>
        </p:nvSpPr>
        <p:spPr>
          <a:xfrm>
            <a:off x="8458200" y="1895475"/>
            <a:ext cx="2800350" cy="1590675"/>
          </a:xfrm>
          <a:prstGeom prst="rect">
            <a:avLst/>
          </a:prstGeom>
          <a:noFill/>
          <a:ln w="0">
            <a:solidFill>
              <a:srgbClr val="FFFFFF"/>
            </a:solidFill>
          </a:ln>
        </p:spPr>
        <p:txBody>
          <a:bodyPr lIns="76200" tIns="38100" rIns="76200" bIns="38100" anchor="t"/>
          <a:lstStyle/>
          <a:p>
            <a:pPr algn="l">
              <a:defRPr sz="1200" b="0">
                <a:solidFill>
                  <a:srgbClr val="111111"/>
                </a:solidFill>
                <a:latin typeface="Microsoft YaHei UI" panose="020B0503020204020204" charset="-122"/>
                <a:ea typeface="Microsoft YaHei UI" panose="020B0503020204020204" charset="-122"/>
                <a:cs typeface="Microsoft YaHei UI" panose="020B0503020204020204" charset="-122"/>
              </a:defRPr>
            </a:pPr>
            <a:r>
              <a:rPr sz="1200" b="0">
                <a:solidFill>
                  <a:srgbClr val="111111"/>
                </a:solidFill>
                <a:latin typeface="Microsoft YaHei UI" panose="020B0503020204020204" charset="-122"/>
                <a:ea typeface="Microsoft YaHei UI" panose="020B0503020204020204" charset="-122"/>
                <a:cs typeface="Microsoft YaHei UI" panose="020B0503020204020204" charset="-122"/>
              </a:rPr>
              <a:t>若短期成本抑制GTFP，应强化绿色金融、税收抵扣与转型融资；若创新补偿成立，稳定规制可培育新质生产力。</a:t>
            </a:r>
            <a:endParaRPr sz="1200" b="0">
              <a:solidFill>
                <a:srgbClr val="111111"/>
              </a:solidFill>
              <a:latin typeface="Microsoft YaHei UI" panose="020B0503020204020204" charset="-122"/>
              <a:ea typeface="Microsoft YaHei UI" panose="020B0503020204020204" charset="-122"/>
              <a:cs typeface="Microsoft YaHei UI" panose="020B0503020204020204" charset="-122"/>
            </a:endParaRPr>
          </a:p>
        </p:txBody>
      </p:sp>
      <p:sp>
        <p:nvSpPr>
          <p:cNvPr id="32" name="圆角矩形 31"/>
          <p:cNvSpPr>
            <a:spLocks noGrp="1"/>
          </p:cNvSpPr>
          <p:nvPr/>
        </p:nvSpPr>
        <p:spPr>
          <a:xfrm>
            <a:off x="1666875" y="4333875"/>
            <a:ext cx="8096250" cy="819150"/>
          </a:xfrm>
          <a:prstGeom prst="roundRect">
            <a:avLst>
              <a:gd name="adj" fmla="val 18605"/>
            </a:avLst>
          </a:prstGeom>
          <a:solidFill>
            <a:srgbClr val="206040"/>
          </a:solidFill>
          <a:ln w="0">
            <a:solidFill>
              <a:srgbClr val="FFFFFF"/>
            </a:solidFill>
          </a:ln>
        </p:spPr>
      </p:sp>
      <p:sp>
        <p:nvSpPr>
          <p:cNvPr id="33" name="矩形 32"/>
          <p:cNvSpPr>
            <a:spLocks noGrp="1"/>
          </p:cNvSpPr>
          <p:nvPr/>
        </p:nvSpPr>
        <p:spPr>
          <a:xfrm>
            <a:off x="1952625" y="4572000"/>
            <a:ext cx="7524750" cy="342900"/>
          </a:xfrm>
          <a:prstGeom prst="rect">
            <a:avLst/>
          </a:prstGeom>
          <a:noFill/>
          <a:ln w="0">
            <a:solidFill>
              <a:srgbClr val="FFFFFF"/>
            </a:solidFill>
          </a:ln>
        </p:spPr>
        <p:txBody>
          <a:bodyPr lIns="76200" tIns="38100" rIns="76200" bIns="38100" anchor="ctr"/>
          <a:lstStyle/>
          <a:p>
            <a:pPr algn="ctr">
              <a:defRPr sz="1725" b="1">
                <a:solidFill>
                  <a:srgbClr val="FFFFFF"/>
                </a:solidFill>
                <a:latin typeface="Microsoft YaHei UI" panose="020B0503020204020204" charset="-122"/>
                <a:ea typeface="Microsoft YaHei UI" panose="020B0503020204020204" charset="-122"/>
                <a:cs typeface="Microsoft YaHei UI" panose="020B0503020204020204" charset="-122"/>
              </a:defRPr>
            </a:pPr>
            <a:r>
              <a:rPr sz="1725" b="1">
                <a:solidFill>
                  <a:srgbClr val="FFFFFF"/>
                </a:solidFill>
                <a:latin typeface="Microsoft YaHei UI" panose="020B0503020204020204" charset="-122"/>
                <a:ea typeface="Microsoft YaHei UI" panose="020B0503020204020204" charset="-122"/>
                <a:cs typeface="Microsoft YaHei UI" panose="020B0503020204020204" charset="-122"/>
              </a:rPr>
              <a:t>预期贡献：从“规制压力”走向“企业绿色能力形成机制”的微观解释</a:t>
            </a:r>
            <a:endParaRPr sz="1725" b="1">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
        <p:nvSpPr>
          <p:cNvPr id="34" name="圆角矩形 33"/>
          <p:cNvSpPr>
            <a:spLocks noGrp="1"/>
          </p:cNvSpPr>
          <p:nvPr/>
        </p:nvSpPr>
        <p:spPr>
          <a:xfrm>
            <a:off x="666750" y="5981700"/>
            <a:ext cx="9906000" cy="400050"/>
          </a:xfrm>
          <a:prstGeom prst="roundRect">
            <a:avLst>
              <a:gd name="adj" fmla="val 23810"/>
            </a:avLst>
          </a:prstGeom>
          <a:solidFill>
            <a:srgbClr val="FFF8DA"/>
          </a:solidFill>
          <a:ln w="11430">
            <a:solidFill>
              <a:srgbClr val="E9D47A"/>
            </a:solidFill>
          </a:ln>
        </p:spPr>
      </p:sp>
      <p:sp>
        <p:nvSpPr>
          <p:cNvPr id="35" name="矩形 34"/>
          <p:cNvSpPr>
            <a:spLocks noGrp="1"/>
          </p:cNvSpPr>
          <p:nvPr/>
        </p:nvSpPr>
        <p:spPr>
          <a:xfrm>
            <a:off x="876300" y="6048375"/>
            <a:ext cx="9477375" cy="266700"/>
          </a:xfrm>
          <a:prstGeom prst="rect">
            <a:avLst/>
          </a:prstGeom>
          <a:noFill/>
          <a:ln w="0">
            <a:solidFill>
              <a:srgbClr val="FFFFFF"/>
            </a:solidFill>
          </a:ln>
        </p:spPr>
        <p:txBody>
          <a:bodyPr lIns="76200" tIns="38100" rIns="76200" bIns="38100" anchor="ctr"/>
          <a:lstStyle/>
          <a:p>
            <a:pPr algn="l">
              <a:defRPr sz="1200" b="1">
                <a:solidFill>
                  <a:srgbClr val="206040"/>
                </a:solidFill>
                <a:latin typeface="Microsoft YaHei UI" panose="020B0503020204020204" charset="-122"/>
                <a:ea typeface="Microsoft YaHei UI" panose="020B0503020204020204" charset="-122"/>
                <a:cs typeface="Microsoft YaHei UI" panose="020B0503020204020204" charset="-122"/>
              </a:defRPr>
            </a:pPr>
            <a:r>
              <a:rPr sz="1200" b="1">
                <a:solidFill>
                  <a:srgbClr val="206040"/>
                </a:solidFill>
                <a:latin typeface="Microsoft YaHei UI" panose="020B0503020204020204" charset="-122"/>
                <a:ea typeface="Microsoft YaHei UI" panose="020B0503020204020204" charset="-122"/>
                <a:cs typeface="Microsoft YaHei UI" panose="020B0503020204020204" charset="-122"/>
              </a:rPr>
              <a:t>政策建议使用“若研究发现”表述，保持研究计划阶段的谨慎边界。</a:t>
            </a:r>
            <a:endParaRPr sz="1200" b="1">
              <a:solidFill>
                <a:srgbClr val="206040"/>
              </a:solidFill>
              <a:latin typeface="Microsoft YaHei UI" panose="020B0503020204020204" charset="-122"/>
              <a:ea typeface="Microsoft YaHei UI" panose="020B0503020204020204" charset="-122"/>
              <a:cs typeface="Microsoft YaHei UI" panose="020B0503020204020204"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a:spLocks noGrp="1"/>
          </p:cNvSpPr>
          <p:nvPr/>
        </p:nvSpPr>
        <p:spPr>
          <a:xfrm>
            <a:off x="0" y="0"/>
            <a:ext cx="12192000" cy="6858000"/>
          </a:xfrm>
          <a:prstGeom prst="rect">
            <a:avLst/>
          </a:prstGeom>
          <a:solidFill>
            <a:srgbClr val="0A3F40"/>
          </a:solidFill>
          <a:ln w="0">
            <a:solidFill>
              <a:srgbClr val="FFFFFF"/>
            </a:solidFill>
          </a:ln>
        </p:spPr>
      </p:sp>
      <p:sp>
        <p:nvSpPr>
          <p:cNvPr id="3" name="矩形 2"/>
          <p:cNvSpPr>
            <a:spLocks noGrp="1"/>
          </p:cNvSpPr>
          <p:nvPr/>
        </p:nvSpPr>
        <p:spPr>
          <a:xfrm>
            <a:off x="0" y="0"/>
            <a:ext cx="12192000" cy="6858000"/>
          </a:xfrm>
          <a:prstGeom prst="rect">
            <a:avLst/>
          </a:prstGeom>
          <a:solidFill>
            <a:srgbClr val="2F7150"/>
          </a:solidFill>
          <a:ln w="0">
            <a:solidFill>
              <a:srgbClr val="FFFFFF"/>
            </a:solidFill>
          </a:ln>
        </p:spPr>
      </p:sp>
      <p:sp>
        <p:nvSpPr>
          <p:cNvPr id="4" name="圆角矩形 3"/>
          <p:cNvSpPr>
            <a:spLocks noGrp="1"/>
          </p:cNvSpPr>
          <p:nvPr/>
        </p:nvSpPr>
        <p:spPr>
          <a:xfrm>
            <a:off x="-666750" y="381000"/>
            <a:ext cx="2286000" cy="4000500"/>
          </a:xfrm>
          <a:prstGeom prst="roundRect">
            <a:avLst>
              <a:gd name="adj" fmla="val 8333"/>
            </a:avLst>
          </a:prstGeom>
          <a:solidFill>
            <a:srgbClr val="174A33"/>
          </a:solidFill>
          <a:ln w="0">
            <a:solidFill>
              <a:srgbClr val="FFFFFF"/>
            </a:solidFill>
          </a:ln>
        </p:spPr>
      </p:sp>
      <p:sp>
        <p:nvSpPr>
          <p:cNvPr id="5" name="圆角矩形 4"/>
          <p:cNvSpPr>
            <a:spLocks noGrp="1"/>
          </p:cNvSpPr>
          <p:nvPr/>
        </p:nvSpPr>
        <p:spPr>
          <a:xfrm>
            <a:off x="952500" y="1219200"/>
            <a:ext cx="2286000" cy="4000500"/>
          </a:xfrm>
          <a:prstGeom prst="roundRect">
            <a:avLst>
              <a:gd name="adj" fmla="val 8333"/>
            </a:avLst>
          </a:prstGeom>
          <a:solidFill>
            <a:srgbClr val="6E966E"/>
          </a:solidFill>
          <a:ln w="0">
            <a:solidFill>
              <a:srgbClr val="FFFFFF"/>
            </a:solidFill>
          </a:ln>
        </p:spPr>
      </p:sp>
      <p:sp>
        <p:nvSpPr>
          <p:cNvPr id="6" name="圆角矩形 5"/>
          <p:cNvSpPr>
            <a:spLocks noGrp="1"/>
          </p:cNvSpPr>
          <p:nvPr/>
        </p:nvSpPr>
        <p:spPr>
          <a:xfrm>
            <a:off x="2571750" y="2057400"/>
            <a:ext cx="2286000" cy="4000500"/>
          </a:xfrm>
          <a:prstGeom prst="roundRect">
            <a:avLst>
              <a:gd name="adj" fmla="val 8333"/>
            </a:avLst>
          </a:prstGeom>
          <a:solidFill>
            <a:srgbClr val="174A33"/>
          </a:solidFill>
          <a:ln w="0">
            <a:solidFill>
              <a:srgbClr val="FFFFFF"/>
            </a:solidFill>
          </a:ln>
        </p:spPr>
      </p:sp>
      <p:sp>
        <p:nvSpPr>
          <p:cNvPr id="7" name="圆角矩形 6"/>
          <p:cNvSpPr>
            <a:spLocks noGrp="1"/>
          </p:cNvSpPr>
          <p:nvPr/>
        </p:nvSpPr>
        <p:spPr>
          <a:xfrm>
            <a:off x="4191000" y="381000"/>
            <a:ext cx="2286000" cy="4000500"/>
          </a:xfrm>
          <a:prstGeom prst="roundRect">
            <a:avLst>
              <a:gd name="adj" fmla="val 8333"/>
            </a:avLst>
          </a:prstGeom>
          <a:solidFill>
            <a:srgbClr val="6E966E"/>
          </a:solidFill>
          <a:ln w="0">
            <a:solidFill>
              <a:srgbClr val="FFFFFF"/>
            </a:solidFill>
          </a:ln>
        </p:spPr>
      </p:sp>
      <p:sp>
        <p:nvSpPr>
          <p:cNvPr id="8" name="圆角矩形 7"/>
          <p:cNvSpPr>
            <a:spLocks noGrp="1"/>
          </p:cNvSpPr>
          <p:nvPr/>
        </p:nvSpPr>
        <p:spPr>
          <a:xfrm>
            <a:off x="5810250" y="1219200"/>
            <a:ext cx="2286000" cy="4000500"/>
          </a:xfrm>
          <a:prstGeom prst="roundRect">
            <a:avLst>
              <a:gd name="adj" fmla="val 8333"/>
            </a:avLst>
          </a:prstGeom>
          <a:solidFill>
            <a:srgbClr val="174A33"/>
          </a:solidFill>
          <a:ln w="0">
            <a:solidFill>
              <a:srgbClr val="FFFFFF"/>
            </a:solidFill>
          </a:ln>
        </p:spPr>
      </p:sp>
      <p:sp>
        <p:nvSpPr>
          <p:cNvPr id="9" name="圆角矩形 8"/>
          <p:cNvSpPr>
            <a:spLocks noGrp="1"/>
          </p:cNvSpPr>
          <p:nvPr/>
        </p:nvSpPr>
        <p:spPr>
          <a:xfrm>
            <a:off x="7429500" y="2057400"/>
            <a:ext cx="2286000" cy="4000500"/>
          </a:xfrm>
          <a:prstGeom prst="roundRect">
            <a:avLst>
              <a:gd name="adj" fmla="val 8333"/>
            </a:avLst>
          </a:prstGeom>
          <a:solidFill>
            <a:srgbClr val="6E966E"/>
          </a:solidFill>
          <a:ln w="0">
            <a:solidFill>
              <a:srgbClr val="FFFFFF"/>
            </a:solidFill>
          </a:ln>
        </p:spPr>
      </p:sp>
      <p:sp>
        <p:nvSpPr>
          <p:cNvPr id="10" name="圆角矩形 9"/>
          <p:cNvSpPr>
            <a:spLocks noGrp="1"/>
          </p:cNvSpPr>
          <p:nvPr/>
        </p:nvSpPr>
        <p:spPr>
          <a:xfrm>
            <a:off x="9048750" y="381000"/>
            <a:ext cx="2286000" cy="4000500"/>
          </a:xfrm>
          <a:prstGeom prst="roundRect">
            <a:avLst>
              <a:gd name="adj" fmla="val 8333"/>
            </a:avLst>
          </a:prstGeom>
          <a:solidFill>
            <a:srgbClr val="174A33"/>
          </a:solidFill>
          <a:ln w="0">
            <a:solidFill>
              <a:srgbClr val="FFFFFF"/>
            </a:solidFill>
          </a:ln>
        </p:spPr>
      </p:sp>
      <p:sp>
        <p:nvSpPr>
          <p:cNvPr id="11" name="圆角矩形 10"/>
          <p:cNvSpPr>
            <a:spLocks noGrp="1"/>
          </p:cNvSpPr>
          <p:nvPr/>
        </p:nvSpPr>
        <p:spPr>
          <a:xfrm>
            <a:off x="10668000" y="1219200"/>
            <a:ext cx="2286000" cy="4000500"/>
          </a:xfrm>
          <a:prstGeom prst="roundRect">
            <a:avLst>
              <a:gd name="adj" fmla="val 8333"/>
            </a:avLst>
          </a:prstGeom>
          <a:solidFill>
            <a:srgbClr val="6E966E"/>
          </a:solidFill>
          <a:ln w="0">
            <a:solidFill>
              <a:srgbClr val="FFFFFF"/>
            </a:solidFill>
          </a:ln>
        </p:spPr>
      </p:sp>
      <p:sp>
        <p:nvSpPr>
          <p:cNvPr id="12" name="矩形 11"/>
          <p:cNvSpPr>
            <a:spLocks noGrp="1"/>
          </p:cNvSpPr>
          <p:nvPr/>
        </p:nvSpPr>
        <p:spPr>
          <a:xfrm>
            <a:off x="0" y="2333625"/>
            <a:ext cx="12192000" cy="1809750"/>
          </a:xfrm>
          <a:prstGeom prst="rect">
            <a:avLst/>
          </a:prstGeom>
          <a:solidFill>
            <a:srgbClr val="062C20"/>
          </a:solidFill>
          <a:ln w="0">
            <a:solidFill>
              <a:srgbClr val="FFFFFF"/>
            </a:solidFill>
          </a:ln>
        </p:spPr>
      </p:sp>
      <p:sp>
        <p:nvSpPr>
          <p:cNvPr id="13" name="矩形 12"/>
          <p:cNvSpPr>
            <a:spLocks noGrp="1"/>
          </p:cNvSpPr>
          <p:nvPr/>
        </p:nvSpPr>
        <p:spPr>
          <a:xfrm>
            <a:off x="1190625" y="2476500"/>
            <a:ext cx="9810750" cy="914400"/>
          </a:xfrm>
          <a:prstGeom prst="rect">
            <a:avLst/>
          </a:prstGeom>
          <a:noFill/>
          <a:ln w="0">
            <a:solidFill>
              <a:srgbClr val="FFFFFF"/>
            </a:solidFill>
          </a:ln>
        </p:spPr>
        <p:txBody>
          <a:bodyPr lIns="76200" tIns="38100" rIns="76200" bIns="38100" anchor="ctr"/>
          <a:lstStyle/>
          <a:p>
            <a:pPr algn="ctr">
              <a:defRPr sz="2775" b="1">
                <a:solidFill>
                  <a:srgbClr val="FFFFFF"/>
                </a:solidFill>
                <a:latin typeface="黑体" panose="02010609060101010101" charset="-122"/>
                <a:ea typeface="黑体" panose="02010609060101010101" charset="-122"/>
                <a:cs typeface="黑体" panose="02010609060101010101" charset="-122"/>
              </a:defRPr>
            </a:pPr>
            <a:r>
              <a:rPr sz="2775" b="1">
                <a:solidFill>
                  <a:srgbClr val="FFFFFF"/>
                </a:solidFill>
                <a:latin typeface="黑体" panose="02010609060101010101" charset="-122"/>
                <a:ea typeface="黑体" panose="02010609060101010101" charset="-122"/>
                <a:cs typeface="黑体" panose="02010609060101010101" charset="-122"/>
              </a:rPr>
              <a:t>研究计划总结与 Q&amp;A</a:t>
            </a:r>
            <a:endParaRPr sz="2775" b="1">
              <a:solidFill>
                <a:srgbClr val="FFFFFF"/>
              </a:solidFill>
              <a:latin typeface="黑体" panose="02010609060101010101" charset="-122"/>
              <a:ea typeface="黑体" panose="02010609060101010101" charset="-122"/>
              <a:cs typeface="黑体" panose="02010609060101010101" charset="-122"/>
            </a:endParaRPr>
          </a:p>
        </p:txBody>
      </p:sp>
      <p:sp>
        <p:nvSpPr>
          <p:cNvPr id="14" name="矩形 13"/>
          <p:cNvSpPr>
            <a:spLocks noGrp="1"/>
          </p:cNvSpPr>
          <p:nvPr/>
        </p:nvSpPr>
        <p:spPr>
          <a:xfrm>
            <a:off x="2190750" y="3409950"/>
            <a:ext cx="7810500" cy="438150"/>
          </a:xfrm>
          <a:prstGeom prst="rect">
            <a:avLst/>
          </a:prstGeom>
          <a:noFill/>
          <a:ln w="0">
            <a:solidFill>
              <a:srgbClr val="FFFFFF"/>
            </a:solidFill>
          </a:ln>
        </p:spPr>
        <p:txBody>
          <a:bodyPr lIns="76200" tIns="38100" rIns="76200" bIns="38100" anchor="ctr"/>
          <a:lstStyle/>
          <a:p>
            <a:pPr algn="ctr">
              <a:defRPr sz="1725" b="0">
                <a:solidFill>
                  <a:srgbClr val="F4F5F0"/>
                </a:solidFill>
                <a:latin typeface="宋体" panose="02010600030101010101" pitchFamily="2" charset="-122"/>
                <a:ea typeface="宋体" panose="02010600030101010101" pitchFamily="2" charset="-122"/>
                <a:cs typeface="宋体" panose="02010600030101010101" pitchFamily="2" charset="-122"/>
              </a:defRPr>
            </a:pPr>
            <a:r>
              <a:rPr sz="1725" b="0">
                <a:solidFill>
                  <a:srgbClr val="F4F5F0"/>
                </a:solidFill>
                <a:latin typeface="宋体" panose="02010600030101010101" pitchFamily="2" charset="-122"/>
                <a:ea typeface="宋体" panose="02010600030101010101" pitchFamily="2" charset="-122"/>
                <a:cs typeface="宋体" panose="02010600030101010101" pitchFamily="2" charset="-122"/>
              </a:rPr>
              <a:t>从合规成本传导理解环境规制的绿色效率效应</a:t>
            </a:r>
            <a:endParaRPr sz="1725" b="0">
              <a:solidFill>
                <a:srgbClr val="F4F5F0"/>
              </a:solidFill>
              <a:latin typeface="宋体" panose="02010600030101010101" pitchFamily="2" charset="-122"/>
              <a:ea typeface="宋体" panose="02010600030101010101" pitchFamily="2" charset="-122"/>
              <a:cs typeface="宋体" panose="02010600030101010101" pitchFamily="2" charset="-122"/>
            </a:endParaRPr>
          </a:p>
        </p:txBody>
      </p:sp>
      <p:sp>
        <p:nvSpPr>
          <p:cNvPr id="15" name="矩形 14"/>
          <p:cNvSpPr>
            <a:spLocks noGrp="1"/>
          </p:cNvSpPr>
          <p:nvPr/>
        </p:nvSpPr>
        <p:spPr>
          <a:xfrm>
            <a:off x="3143250" y="5219700"/>
            <a:ext cx="5905500" cy="723900"/>
          </a:xfrm>
          <a:prstGeom prst="rect">
            <a:avLst/>
          </a:prstGeom>
          <a:noFill/>
          <a:ln w="0">
            <a:solidFill>
              <a:srgbClr val="FFFFFF"/>
            </a:solidFill>
          </a:ln>
        </p:spPr>
        <p:txBody>
          <a:bodyPr lIns="76200" tIns="38100" rIns="76200" bIns="38100" anchor="ctr"/>
          <a:lstStyle/>
          <a:p>
            <a:pPr algn="ctr">
              <a:defRPr sz="1350" b="0">
                <a:solidFill>
                  <a:srgbClr val="FFFFFF"/>
                </a:solidFill>
                <a:latin typeface="Microsoft YaHei UI" panose="020B0503020204020204" charset="-122"/>
                <a:ea typeface="Microsoft YaHei UI" panose="020B0503020204020204" charset="-122"/>
                <a:cs typeface="Microsoft YaHei UI" panose="020B0503020204020204" charset="-122"/>
              </a:defRPr>
            </a:pPr>
            <a:r>
              <a:rPr sz="1350" b="0">
                <a:solidFill>
                  <a:srgbClr val="FFFFFF"/>
                </a:solidFill>
                <a:latin typeface="Microsoft YaHei UI" panose="020B0503020204020204" charset="-122"/>
                <a:ea typeface="Microsoft YaHei UI" panose="020B0503020204020204" charset="-122"/>
                <a:cs typeface="Microsoft YaHei UI" panose="020B0503020204020204" charset="-122"/>
              </a:rPr>
              <a:t>研究选题计划答辩｜谢谢聆听</a:t>
            </a:r>
            <a:endParaRPr sz="1350" b="0">
              <a:solidFill>
                <a:srgbClr val="FFFFFF"/>
              </a:solidFill>
              <a:latin typeface="Microsoft YaHei UI" panose="020B0503020204020204" charset="-122"/>
              <a:ea typeface="Microsoft YaHei UI" panose="020B0503020204020204" charset="-122"/>
              <a:cs typeface="Microsoft YaHei UI" panose="020B0503020204020204" charset="-122"/>
            </a:endParaRP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4172</Words>
  <Application>WPS 演示</Application>
  <PresentationFormat>Converted Presentation</PresentationFormat>
  <Paragraphs>728</Paragraphs>
  <Slides>18</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18</vt:i4>
      </vt:variant>
    </vt:vector>
  </HeadingPairs>
  <TitlesOfParts>
    <vt:vector size="28" baseType="lpstr">
      <vt:lpstr>Arial</vt:lpstr>
      <vt:lpstr>宋体</vt:lpstr>
      <vt:lpstr>Wingdings</vt:lpstr>
      <vt:lpstr>黑体</vt:lpstr>
      <vt:lpstr>Microsoft YaHei UI</vt:lpstr>
      <vt:lpstr>Cambria Math</vt:lpstr>
      <vt:lpstr>微软雅黑</vt:lpstr>
      <vt:lpstr>Arial Unicode MS</vt:lpstr>
      <vt:lpstr>Calibri</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今天的海风甚是喧嚣</cp:lastModifiedBy>
  <cp:revision>1</cp:revision>
  <dcterms:created xsi:type="dcterms:W3CDTF">2026-06-05T08:01:01Z</dcterms:created>
  <dcterms:modified xsi:type="dcterms:W3CDTF">2026-06-05T08:01:01Z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14CD3F67190545E7913217656EF1621F_12</vt:lpwstr>
  </property>
  <property fmtid="{D5CDD505-2E9C-101B-9397-08002B2CF9AE}" pid="3" name="KSOProductBuildVer">
    <vt:lpwstr>2052-12.1.0.26895</vt:lpwstr>
  </property>
</Properties>
</file>