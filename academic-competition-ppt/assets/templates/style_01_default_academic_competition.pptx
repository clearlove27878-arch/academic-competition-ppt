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065758"/>
          </a:solidFill>
          <a:ln w="0">
            <a:solidFill>
              <a:srgbClr val="000000">
                <a:alpha val="0"/>
              </a:srgbClr>
            </a:solidFill>
            <a:prstDash val="solid"/>
          </a:ln>
        </p:spPr>
        <p:txBody>
          <a:bodyPr/>
          <a:p/>
        </p:txBody>
      </p:sp>
      <p:sp>
        <p:nvSpPr>
          <p:cNvPr id="3" name="矩形 2"/>
          <p:cNvSpPr>
            <a:spLocks noGrp="1"/>
          </p:cNvSpPr>
          <p:nvPr/>
        </p:nvSpPr>
        <p:spPr>
          <a:xfrm>
            <a:off x="0" y="5695950"/>
            <a:ext cx="12192000" cy="1162050"/>
          </a:xfrm>
          <a:prstGeom prst="rect">
            <a:avLst/>
          </a:prstGeom>
          <a:solidFill>
            <a:srgbClr val="0A3F40"/>
          </a:solidFill>
          <a:ln w="0">
            <a:solidFill>
              <a:srgbClr val="000000">
                <a:alpha val="0"/>
              </a:srgbClr>
            </a:solidFill>
            <a:prstDash val="solid"/>
          </a:ln>
        </p:spPr>
        <p:txBody>
          <a:bodyPr/>
          <a:p/>
        </p:txBody>
      </p:sp>
      <p:sp>
        <p:nvSpPr>
          <p:cNvPr id="4" name="矩形 3"/>
          <p:cNvSpPr>
            <a:spLocks noGrp="1"/>
          </p:cNvSpPr>
          <p:nvPr/>
        </p:nvSpPr>
        <p:spPr>
          <a:xfrm>
            <a:off x="0" y="5286375"/>
            <a:ext cx="12192000" cy="323850"/>
          </a:xfrm>
          <a:prstGeom prst="rect">
            <a:avLst/>
          </a:prstGeom>
          <a:solidFill>
            <a:srgbClr val="61A298"/>
          </a:solidFill>
          <a:ln w="0">
            <a:solidFill>
              <a:srgbClr val="000000">
                <a:alpha val="0"/>
              </a:srgbClr>
            </a:solidFill>
            <a:prstDash val="solid"/>
          </a:ln>
        </p:spPr>
        <p:txBody>
          <a:bodyPr/>
          <a:p/>
        </p:txBody>
      </p:sp>
      <p:sp>
        <p:nvSpPr>
          <p:cNvPr id="5" name="圆角矩形 4"/>
          <p:cNvSpPr>
            <a:spLocks noGrp="1"/>
          </p:cNvSpPr>
          <p:nvPr/>
        </p:nvSpPr>
        <p:spPr>
          <a:xfrm>
            <a:off x="628650" y="685800"/>
            <a:ext cx="1885950" cy="114300"/>
          </a:xfrm>
          <a:prstGeom prst="roundRect">
            <a:avLst>
              <a:gd name="adj" fmla="val 50000"/>
            </a:avLst>
          </a:prstGeom>
          <a:solidFill>
            <a:srgbClr val="FFC819"/>
          </a:solidFill>
          <a:ln w="0">
            <a:solidFill>
              <a:srgbClr val="FFC819"/>
            </a:solidFill>
            <a:prstDash val="solid"/>
          </a:ln>
        </p:spPr>
        <p:txBody>
          <a:bodyPr/>
          <a:p/>
        </p:txBody>
      </p:sp>
      <p:sp>
        <p:nvSpPr>
          <p:cNvPr id="6" name="矩形 5"/>
          <p:cNvSpPr>
            <a:spLocks noGrp="1"/>
          </p:cNvSpPr>
          <p:nvPr/>
        </p:nvSpPr>
        <p:spPr>
          <a:xfrm>
            <a:off x="666750" y="933450"/>
            <a:ext cx="60960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425" b="0">
                <a:solidFill>
                  <a:srgbClr val="DDF1EF"/>
                </a:solidFill>
                <a:latin typeface="Microsoft YaHei UI" panose="020B0503020204020204" charset="-122"/>
                <a:ea typeface="Microsoft YaHei UI" panose="020B0503020204020204" charset="-122"/>
                <a:cs typeface="Microsoft YaHei UI" panose="020B0503020204020204" charset="-122"/>
              </a:defRPr>
            </a:pPr>
            <a:r>
              <a:rPr sz="1425" b="0">
                <a:solidFill>
                  <a:srgbClr val="DDF1EF"/>
                </a:solidFill>
                <a:latin typeface="Microsoft YaHei UI" panose="020B0503020204020204" charset="-122"/>
                <a:ea typeface="Microsoft YaHei UI" panose="020B0503020204020204" charset="-122"/>
                <a:cs typeface="Microsoft YaHei UI" panose="020B0503020204020204" charset="-122"/>
              </a:rPr>
              <a:t>课程/项目名称 · 学术汇报</a:t>
            </a:r>
            <a:endParaRPr sz="1425" b="0">
              <a:solidFill>
                <a:srgbClr val="DDF1EF"/>
              </a:solidFill>
              <a:latin typeface="Microsoft YaHei UI" panose="020B0503020204020204" charset="-122"/>
              <a:ea typeface="Microsoft YaHei UI" panose="020B0503020204020204" charset="-122"/>
              <a:cs typeface="Microsoft YaHei UI" panose="020B0503020204020204" charset="-122"/>
            </a:endParaRPr>
          </a:p>
        </p:txBody>
      </p:sp>
      <p:sp>
        <p:nvSpPr>
          <p:cNvPr id="7" name="矩形 6"/>
          <p:cNvSpPr>
            <a:spLocks noGrp="1"/>
          </p:cNvSpPr>
          <p:nvPr/>
        </p:nvSpPr>
        <p:spPr>
          <a:xfrm>
            <a:off x="1066800" y="1790700"/>
            <a:ext cx="8858250" cy="13144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3375"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3375" b="1">
                <a:solidFill>
                  <a:srgbClr val="FFFFFF"/>
                </a:solidFill>
                <a:latin typeface="宋体" panose="02010600030101010101" pitchFamily="2" charset="-122"/>
                <a:ea typeface="宋体" panose="02010600030101010101" pitchFamily="2" charset="-122"/>
                <a:cs typeface="宋体" panose="02010600030101010101" pitchFamily="2" charset="-122"/>
              </a:rPr>
              <a:t>AI服务中的反向代理套利、平台治理与市场失灵研究</a:t>
            </a:r>
            <a:endParaRPr sz="3375"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8" name="矩形 7"/>
          <p:cNvSpPr>
            <a:spLocks noGrp="1"/>
          </p:cNvSpPr>
          <p:nvPr/>
        </p:nvSpPr>
        <p:spPr>
          <a:xfrm>
            <a:off x="1619250" y="3181350"/>
            <a:ext cx="8953500" cy="4000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875" b="0">
                <a:solidFill>
                  <a:srgbClr val="F2CB88"/>
                </a:solidFill>
                <a:latin typeface="Microsoft YaHei UI" panose="020B0503020204020204" charset="-122"/>
                <a:ea typeface="Microsoft YaHei UI" panose="020B0503020204020204" charset="-122"/>
                <a:cs typeface="Microsoft YaHei UI" panose="020B0503020204020204" charset="-122"/>
              </a:defRPr>
            </a:pPr>
            <a:r>
              <a:rPr sz="1875" b="0">
                <a:solidFill>
                  <a:srgbClr val="F2CB88"/>
                </a:solidFill>
                <a:latin typeface="Microsoft YaHei UI" panose="020B0503020204020204" charset="-122"/>
                <a:ea typeface="Microsoft YaHei UI" panose="020B0503020204020204" charset="-122"/>
                <a:cs typeface="Microsoft YaHei UI" panose="020B0503020204020204" charset="-122"/>
              </a:rPr>
              <a:t>基于主流大模型平台的应用经济学研究计划</a:t>
            </a:r>
            <a:endParaRPr sz="1875" b="0">
              <a:solidFill>
                <a:srgbClr val="F2CB88"/>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3238500" y="4229100"/>
            <a:ext cx="5715000" cy="323850"/>
          </a:xfrm>
          <a:prstGeom prst="roundRect">
            <a:avLst>
              <a:gd name="adj" fmla="val 23529"/>
            </a:avLst>
          </a:prstGeom>
          <a:solidFill>
            <a:srgbClr val="0B6B6B"/>
          </a:solidFill>
          <a:ln w="9525">
            <a:solidFill>
              <a:srgbClr val="2B8280"/>
            </a:solidFill>
            <a:prstDash val="solid"/>
          </a:ln>
        </p:spPr>
        <p:txBody>
          <a:bodyPr/>
          <a:p/>
        </p:txBody>
      </p:sp>
      <p:sp>
        <p:nvSpPr>
          <p:cNvPr id="10" name="矩形 9"/>
          <p:cNvSpPr>
            <a:spLocks noGrp="1"/>
          </p:cNvSpPr>
          <p:nvPr/>
        </p:nvSpPr>
        <p:spPr>
          <a:xfrm>
            <a:off x="3333750" y="4286250"/>
            <a:ext cx="55245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3238500" y="4648200"/>
            <a:ext cx="5715000" cy="323850"/>
          </a:xfrm>
          <a:prstGeom prst="roundRect">
            <a:avLst>
              <a:gd name="adj" fmla="val 23529"/>
            </a:avLst>
          </a:prstGeom>
          <a:solidFill>
            <a:srgbClr val="0A4A4B"/>
          </a:solidFill>
          <a:ln w="9525">
            <a:solidFill>
              <a:srgbClr val="2B8280"/>
            </a:solidFill>
            <a:prstDash val="solid"/>
          </a:ln>
        </p:spPr>
        <p:txBody>
          <a:bodyPr/>
          <a:p/>
        </p:txBody>
      </p:sp>
      <p:sp>
        <p:nvSpPr>
          <p:cNvPr id="12" name="矩形 11"/>
          <p:cNvSpPr>
            <a:spLocks noGrp="1"/>
          </p:cNvSpPr>
          <p:nvPr/>
        </p:nvSpPr>
        <p:spPr>
          <a:xfrm>
            <a:off x="3333750" y="4705350"/>
            <a:ext cx="55245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r>
              <a:rPr sz="1350" b="0">
                <a:solidFill>
                  <a:srgbClr val="EEF8F6"/>
                </a:solidFill>
                <a:latin typeface="Microsoft YaHei UI" panose="020B0503020204020204" charset="-122"/>
                <a:ea typeface="Microsoft YaHei UI" panose="020B0503020204020204" charset="-122"/>
                <a:cs typeface="Microsoft YaHei UI" panose="020B0503020204020204" charset="-122"/>
              </a:rPr>
              <a:t>学科方向 · 汇报日期</a:t>
            </a: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3238500" y="5067300"/>
            <a:ext cx="5715000" cy="323850"/>
          </a:xfrm>
          <a:prstGeom prst="roundRect">
            <a:avLst>
              <a:gd name="adj" fmla="val 23529"/>
            </a:avLst>
          </a:prstGeom>
          <a:solidFill>
            <a:srgbClr val="0A4A4B"/>
          </a:solidFill>
          <a:ln w="9525">
            <a:solidFill>
              <a:srgbClr val="2B8280"/>
            </a:solidFill>
            <a:prstDash val="solid"/>
          </a:ln>
        </p:spPr>
        <p:txBody>
          <a:bodyPr/>
          <a:p/>
        </p:txBody>
      </p:sp>
      <p:sp>
        <p:nvSpPr>
          <p:cNvPr id="14" name="矩形 13"/>
          <p:cNvSpPr>
            <a:spLocks noGrp="1"/>
          </p:cNvSpPr>
          <p:nvPr/>
        </p:nvSpPr>
        <p:spPr>
          <a:xfrm>
            <a:off x="3333750" y="5124450"/>
            <a:ext cx="55245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r>
              <a:rPr sz="1350" b="0">
                <a:solidFill>
                  <a:srgbClr val="EEF8F6"/>
                </a:solidFill>
                <a:latin typeface="Microsoft YaHei UI" panose="020B0503020204020204" charset="-122"/>
                <a:ea typeface="Microsoft YaHei UI" panose="020B0503020204020204" charset="-122"/>
                <a:cs typeface="Microsoft YaHei UI" panose="020B0503020204020204" charset="-122"/>
              </a:rPr>
              <a:t>问题导向：从低价入口看见AI服务市场的制度摩擦</a:t>
            </a: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667875" y="3829050"/>
            <a:ext cx="1447800" cy="1447800"/>
          </a:xfrm>
          <a:prstGeom prst="roundRect">
            <a:avLst>
              <a:gd name="adj" fmla="val 5263"/>
            </a:avLst>
          </a:prstGeom>
          <a:solidFill>
            <a:srgbClr val="0B6B6B"/>
          </a:solidFill>
          <a:ln w="19050">
            <a:solidFill>
              <a:srgbClr val="FFC819"/>
            </a:solidFill>
            <a:prstDash val="solid"/>
          </a:ln>
        </p:spPr>
        <p:txBody>
          <a:bodyPr/>
          <a:p/>
        </p:txBody>
      </p:sp>
      <p:sp>
        <p:nvSpPr>
          <p:cNvPr id="16" name="矩形 15"/>
          <p:cNvSpPr>
            <a:spLocks noGrp="1"/>
          </p:cNvSpPr>
          <p:nvPr/>
        </p:nvSpPr>
        <p:spPr>
          <a:xfrm>
            <a:off x="9877425" y="4114800"/>
            <a:ext cx="1000125" cy="9334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2400" b="1">
                <a:solidFill>
                  <a:srgbClr val="FFC819"/>
                </a:solidFill>
                <a:latin typeface="宋体" panose="02010600030101010101" pitchFamily="2" charset="-122"/>
                <a:ea typeface="宋体" panose="02010600030101010101" pitchFamily="2" charset="-122"/>
                <a:cs typeface="宋体" panose="02010600030101010101" pitchFamily="2" charset="-122"/>
              </a:defRPr>
            </a:pPr>
            <a:r>
              <a:rPr sz="2400" b="1">
                <a:solidFill>
                  <a:srgbClr val="FFC819"/>
                </a:solidFill>
                <a:latin typeface="宋体" panose="02010600030101010101" pitchFamily="2" charset="-122"/>
                <a:ea typeface="宋体" panose="02010600030101010101" pitchFamily="2" charset="-122"/>
                <a:cs typeface="宋体" panose="02010600030101010101" pitchFamily="2" charset="-122"/>
              </a:rPr>
              <a:t>研究</a:t>
            </a:r>
            <a:endParaRPr sz="2400" b="1">
              <a:solidFill>
                <a:srgbClr val="FFC819"/>
              </a:solidFill>
              <a:latin typeface="宋体" panose="02010600030101010101" pitchFamily="2" charset="-122"/>
              <a:ea typeface="宋体" panose="02010600030101010101" pitchFamily="2" charset="-122"/>
              <a:cs typeface="宋体" panose="02010600030101010101" pitchFamily="2" charset="-122"/>
            </a:endParaRPr>
          </a:p>
          <a:p>
            <a:pPr algn="ctr">
              <a:defRPr sz="2400" b="1">
                <a:solidFill>
                  <a:srgbClr val="FFC819"/>
                </a:solidFill>
                <a:latin typeface="宋体" panose="02010600030101010101" pitchFamily="2" charset="-122"/>
                <a:ea typeface="宋体" panose="02010600030101010101" pitchFamily="2" charset="-122"/>
                <a:cs typeface="宋体" panose="02010600030101010101" pitchFamily="2" charset="-122"/>
              </a:defRPr>
            </a:pPr>
            <a:r>
              <a:rPr sz="2400" b="1">
                <a:solidFill>
                  <a:srgbClr val="FFC819"/>
                </a:solidFill>
                <a:latin typeface="宋体" panose="02010600030101010101" pitchFamily="2" charset="-122"/>
                <a:ea typeface="宋体" panose="02010600030101010101" pitchFamily="2" charset="-122"/>
                <a:cs typeface="宋体" panose="02010600030101010101" pitchFamily="2" charset="-122"/>
              </a:rPr>
              <a:t>计划</a:t>
            </a:r>
            <a:endParaRPr sz="2400" b="1">
              <a:solidFill>
                <a:srgbClr val="FFC819"/>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02</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现实变化：AI平台正在从“无限使用”走向“资源计量”</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前沿大模型服务的权益边界正在变得更细：消费者不只面对“能不能用”，还面对“复杂任务消耗多少资源”。</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9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90" b="1">
                <a:solidFill>
                  <a:srgbClr val="065758"/>
                </a:solidFill>
                <a:latin typeface="Microsoft YaHei UI" panose="020B0503020204020204" charset="-122"/>
                <a:ea typeface="Microsoft YaHei UI" panose="020B0503020204020204" charset="-122"/>
                <a:cs typeface="Microsoft YaHei UI" panose="020B0503020204020204" charset="-122"/>
              </a:rPr>
              <a:t>案例一：DeepSeek网页端权益收缩争议</a:t>
            </a:r>
            <a:endParaRPr sz="139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819400"/>
            <a:ext cx="31051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1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110" b="0">
                <a:solidFill>
                  <a:srgbClr val="0F1115"/>
                </a:solidFill>
                <a:latin typeface="Microsoft YaHei UI" panose="020B0503020204020204" charset="-122"/>
                <a:ea typeface="Microsoft YaHei UI" panose="020B0503020204020204" charset="-122"/>
                <a:cs typeface="Microsoft YaHei UI" panose="020B0503020204020204" charset="-122"/>
              </a:rPr>
              <a:t>公开报道与用户反馈中曾出现关于重新生成、编辑消息次数限制等讨论；专家模式 Pro 的文件上传功能也曾被报道下线或受限。该案例不宜写成官方长期制度，而应作为高强度使用、算力压力与平台权益调整之间关系的观察性案例。</a:t>
            </a:r>
            <a:endParaRPr sz="111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9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90" b="1">
                <a:solidFill>
                  <a:srgbClr val="065758"/>
                </a:solidFill>
                <a:latin typeface="Microsoft YaHei UI" panose="020B0503020204020204" charset="-122"/>
                <a:ea typeface="Microsoft YaHei UI" panose="020B0503020204020204" charset="-122"/>
                <a:cs typeface="Microsoft YaHei UI" panose="020B0503020204020204" charset="-122"/>
              </a:rPr>
              <a:t>案例二：Gemini从次数限制转向计算量限制</a:t>
            </a:r>
            <a:endParaRPr sz="139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819400"/>
            <a:ext cx="31051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1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110" b="0">
                <a:solidFill>
                  <a:srgbClr val="0F1115"/>
                </a:solidFill>
                <a:latin typeface="Microsoft YaHei UI" panose="020B0503020204020204" charset="-122"/>
                <a:ea typeface="Microsoft YaHei UI" panose="020B0503020204020204" charset="-122"/>
                <a:cs typeface="Microsoft YaHei UI" panose="020B0503020204020204" charset="-122"/>
              </a:rPr>
              <a:t>Google官方帮助文档显示，Gemini Apps 已采用 compute-based usage limits，额度消耗与提示复杂度、使用模型与功能、聊天长度等因素有关，并存在五小时刷新和周额度约束。消费者面对的不再只是“问几次”，而是任务消耗多少资源。</a:t>
            </a:r>
            <a:endParaRPr sz="111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9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90" b="1">
                <a:solidFill>
                  <a:srgbClr val="065758"/>
                </a:solidFill>
                <a:latin typeface="Microsoft YaHei UI" panose="020B0503020204020204" charset="-122"/>
                <a:ea typeface="Microsoft YaHei UI" panose="020B0503020204020204" charset="-122"/>
                <a:cs typeface="Microsoft YaHei UI" panose="020B0503020204020204" charset="-122"/>
              </a:rPr>
              <a:t>案例三：Gemini API资源计量更细化</a:t>
            </a:r>
            <a:endParaRPr sz="139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819400"/>
            <a:ext cx="31051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1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110" b="0">
                <a:solidFill>
                  <a:srgbClr val="0F1115"/>
                </a:solidFill>
                <a:latin typeface="Microsoft YaHei UI" panose="020B0503020204020204" charset="-122"/>
                <a:ea typeface="Microsoft YaHei UI" panose="020B0503020204020204" charset="-122"/>
                <a:cs typeface="Microsoft YaHei UI" panose="020B0503020204020204" charset="-122"/>
              </a:rPr>
              <a:t>Google Gemini API 文档显示，API限额通常按 RPM、TPM、RPD 等维度衡量，部分模型还涉及 TPD，且限额与项目、模型和使用层级有关。这表明主流AI服务正在向更细的资源计量逻辑发展。</a:t>
            </a:r>
            <a:endParaRPr sz="111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这些变化共同说明：大模型服务不是传统互联网式“零边际成本免费产品”，而是越来越接近云计算式资源计量产品。</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781050" y="5981700"/>
            <a:ext cx="10287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5" b="0">
                <a:solidFill>
                  <a:srgbClr val="4B5563"/>
                </a:solidFill>
                <a:latin typeface="Microsoft YaHei UI" panose="020B0503020204020204" charset="-122"/>
                <a:ea typeface="Microsoft YaHei UI" panose="020B0503020204020204" charset="-122"/>
                <a:cs typeface="Microsoft YaHei UI" panose="020B0503020204020204" charset="-122"/>
              </a:defRPr>
            </a:pPr>
            <a:r>
              <a:rPr sz="865" b="0">
                <a:solidFill>
                  <a:srgbClr val="4B5563"/>
                </a:solidFill>
                <a:latin typeface="Microsoft YaHei UI" panose="020B0503020204020204" charset="-122"/>
                <a:ea typeface="Microsoft YaHei UI" panose="020B0503020204020204" charset="-122"/>
                <a:cs typeface="Microsoft YaHei UI" panose="020B0503020204020204" charset="-122"/>
              </a:rPr>
              <a:t>资料来源：Google Gemini Apps 官方帮助中心、Google Gemini API 官方文档、公开报道与用户反馈整理。</a:t>
            </a:r>
            <a:endParaRPr sz="86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5" name="矩形: 圆角 44"/>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47" name="矩形: 圆角 46"/>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49" name="矩形: 圆角 48"/>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1" name="矩形: 圆角 50"/>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3" name="矩形: 圆角 52"/>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5" name="矩形: 圆角 54"/>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7" name="矩形 56"/>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02</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03</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产品定价视角：AI服务正在从会员制走向资源计量制</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不同入口不是同一种“免费或付费”的简单差别，而是同一AI服务能力在不同权益凭证中的定价方式。</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572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609600" y="2000250"/>
            <a:ext cx="3476625" cy="1295400"/>
          </a:xfrm>
          <a:prstGeom prst="roundRect">
            <a:avLst>
              <a:gd name="adj" fmla="val 5882"/>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723900" y="21145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811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免费网页端：获客与普惠</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8191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免费网页端降低普通用户接触先进模型的门槛，但其背后仍然消耗推理算力、带宽、存储和安全审核资源</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4817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40055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51485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7205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学生认证与设备赠送权益：定向补贴</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61010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学生认证、Pixel或类似设备赠送会员、试用权益等，本质上是面向特定群体或场景的定向补贴，而不是无限制商业转售权。</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订阅会员：固定价格下的使用权</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订阅会员通常通过月费获得更高模型能力或更多使用额度，但在高强度使用场景下，平台仍可能通过额度窗口、功能限制或资源计量控制成本。</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5722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0960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72390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118110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API计费：按Token、并发和调用量计价</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81915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API更接近正式商业接口，通常按输入/输出Token、并发限制、RPM、TPM、RPD等方式计量，价格与使用规模更直接挂钩。</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444817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44" name="圆角矩形 43"/>
          <p:cNvSpPr>
            <a:spLocks noGrp="1"/>
          </p:cNvSpPr>
          <p:nvPr/>
        </p:nvSpPr>
        <p:spPr>
          <a:xfrm>
            <a:off x="440055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5" name="圆角矩形 44"/>
          <p:cNvSpPr>
            <a:spLocks noGrp="1"/>
          </p:cNvSpPr>
          <p:nvPr/>
        </p:nvSpPr>
        <p:spPr>
          <a:xfrm>
            <a:off x="451485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6" name="矩形 45"/>
          <p:cNvSpPr>
            <a:spLocks noGrp="1"/>
          </p:cNvSpPr>
          <p:nvPr/>
        </p:nvSpPr>
        <p:spPr>
          <a:xfrm>
            <a:off x="497205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Compute-based limits：资源消耗型约束</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461010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Gemini等平台的compute-based usage limits说明，复杂任务、长对话、多模态功能和高级模型会消耗更多额度，AI服务定价逻辑正在从“会员权益”转向“资源消耗”。</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8" name="圆角矩形 4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9" name="矩形 4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50" name="矩形 4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从金融学视角看，不同入口对应的是同一AI服务能力的不同权益凭证；当凭证之间存在有效价格差，反向代理套利就具备经济基础。</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781050" y="5981700"/>
            <a:ext cx="10287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5" b="0">
                <a:solidFill>
                  <a:srgbClr val="4B5563"/>
                </a:solidFill>
                <a:latin typeface="Microsoft YaHei UI" panose="020B0503020204020204" charset="-122"/>
                <a:ea typeface="Microsoft YaHei UI" panose="020B0503020204020204" charset="-122"/>
                <a:cs typeface="Microsoft YaHei UI" panose="020B0503020204020204" charset="-122"/>
              </a:defRPr>
            </a:pPr>
            <a:r>
              <a:rPr sz="865" b="0">
                <a:solidFill>
                  <a:srgbClr val="4B5563"/>
                </a:solidFill>
                <a:latin typeface="Microsoft YaHei UI" panose="020B0503020204020204" charset="-122"/>
                <a:ea typeface="Microsoft YaHei UI" panose="020B0503020204020204" charset="-122"/>
                <a:cs typeface="Microsoft YaHei UI" panose="020B0503020204020204" charset="-122"/>
              </a:rPr>
              <a:t>资料来源：Google Gemini Apps 官方帮助中心、Google Gemini API 官方文档。</a:t>
            </a:r>
            <a:endParaRPr sz="86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52" name="矩形 51"/>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5" name="矩形: 圆角 54"/>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57" name="矩形: 圆角 56"/>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9" name="矩形: 圆角 58"/>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61" name="矩形: 圆角 60"/>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63" name="矩形: 圆角 62"/>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5" name="矩形: 圆角 64"/>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7" name="矩形 66"/>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03</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04</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现实场景：低价入口如何被包装成收费服务</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灰色代理常见的叙事不是“我在转售权益”，而是把服务包装为会员、镜像、共享账号或第三方入口。</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第一步：找低成本入口</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套利主体寻找免费试用、学生资格、设备赠送会员、地区价差或低价订阅等入口，获得低成本的AI服务能力。</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第二步：重新包装</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把原本有身份限制或使用边界的能力，改写成“AI会员”“官方平替”“不限次工具”等更容易售卖的商品话术。</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第三步：面向不知情用户收费</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用户以为买到的是稳定服务，却可能买到来源不透明、随时中断、隐私责任不清的转接能力。</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第四步：风险向市场外溢</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当规模扩大，平台承担额外算力和风控成本，正规API生态被挤压，普通用户也可能面对权益收缩。</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通俗地说，这像是把“定向补贴票”拆出来再卖；表面便宜，实质上改变了补贴对象和风险承担者。</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04</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05</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消费者为什么会购买灰色代理？</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消费者购买灰色代理并不一定是主动偏好风险，而是在价格敏感、信息不对称和风险低估共同作用下形成的选择。</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572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609600" y="2000250"/>
            <a:ext cx="3476625" cy="1295400"/>
          </a:xfrm>
          <a:prstGeom prst="roundRect">
            <a:avLst>
              <a:gd name="adj" fmla="val 5882"/>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723900" y="21145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811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官方订阅价格感知较高</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8191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消费者并不总是按照Token成本理解AI服务，而是按照月费、单次任务和短期预算判断“贵不贵”。当官方订阅价格高于心理预算时，低价代理更容易被注意到。</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4817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40055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51485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7205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低价代理降低短期支付门槛</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61010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灰色代理往往以低价、短期、免登录、即开即用等方式降低使用门槛，让消费者更容易产生尝试性购买。</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用户难以识别官方与非官方</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普通用户往往难以判断服务是否官方授权、是否使用API、是否经过第三方服务器、服务中断后由谁负责。</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5722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0960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72390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118110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营销词制造信任错觉</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81915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“无限制”“满血版”“官方平替”等表达会把注意力集中在模型能力和低价上，弱化消费者对隐私、封号、售后责任和稳定性的感知。</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444817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44" name="圆角矩形 43"/>
          <p:cNvSpPr>
            <a:spLocks noGrp="1"/>
          </p:cNvSpPr>
          <p:nvPr/>
        </p:nvSpPr>
        <p:spPr>
          <a:xfrm>
            <a:off x="440055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5" name="圆角矩形 44"/>
          <p:cNvSpPr>
            <a:spLocks noGrp="1"/>
          </p:cNvSpPr>
          <p:nvPr/>
        </p:nvSpPr>
        <p:spPr>
          <a:xfrm>
            <a:off x="451485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6" name="矩形 45"/>
          <p:cNvSpPr>
            <a:spLocks noGrp="1"/>
          </p:cNvSpPr>
          <p:nvPr/>
        </p:nvSpPr>
        <p:spPr>
          <a:xfrm>
            <a:off x="497205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隐私泄露和中断风险被低估</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461010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消费者在购买前往往低估数据流向、服务失效、账号封禁、无法退款等风险，导致低价代理的表面效用被高估。</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8" name="圆角矩形 4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9" name="矩形 4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50" name="矩形 4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这也是本文将消费者福利纳入分析的重要原因：低价代理的表面效用可能高估，真实风险却被低估。</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4" name="矩形: 圆角 53"/>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56" name="矩形: 圆角 5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8" name="矩形: 圆角 5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60" name="矩形: 圆角 5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62" name="矩形: 圆角 6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4" name="矩形: 圆角 6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6" name="矩形 6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05</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06</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本文把反向代理套利拆成三个科学问题</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问题导向：先问套利为什么形成，再问它怎样外溢，最后问治理如何前瞻评估。</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Q1 形成机制</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有效价格差是否诱发非授权反向代理强度上升？如果价格楔子越大，代理活动越多，就说明套利空间是关键触发器。</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Q2 外溢后果</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代理强度是否推高平台权益收缩，并影响消费者情绪？这一步把灰色套利从个体选择扩展到平台治理与福利损失。</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Q3 治理评估</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没有清晰政策冲击时，如何用预测模型评估来源披露、平台反制和协同治理的潜在效果？</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三问对应一条链：为什么出现、伤害了谁、该怎样治理。</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4" name="矩形: 圆角 43"/>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46" name="矩形: 圆角 4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48" name="矩形: 圆角 4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0" name="矩形: 圆角 4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2" name="矩形: 圆角 5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4" name="矩形: 圆角 5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6" name="矩形 5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06</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07</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研究边界：只研究市场组织，不提供任何操作路径</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论文把对象限定在消费者、中小企业和开发者面对的大模型服务市场。</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研究什么</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价格分层、消费者福利、平台治理、信息效率、正规API生态与市场失灵机制。</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不研究什么</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不讨论搭建、绕过风控、转售服务、账号共享或任何可执行操作路径。</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时间与颗粒度</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计划使用2024至2026年公开信息，构造平台-周度或平台-月度面板。</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伦理原则</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只采集公开、非敏感、可复核的信息；文本处理用于经济变量构造，而不是追踪个人行为。</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边界先说清楚，是为了让研究聚焦在经济机制和治理含义，而不是技术操作。</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07</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08</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整篇报告的故事线：价格楔子如何一路传导到福利损失</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把灰色代理看成市场失灵的外显症状，而不是孤立的违规事件。</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25" name="圆角矩形 24"/>
          <p:cNvSpPr>
            <a:spLocks noGrp="1"/>
          </p:cNvSpPr>
          <p:nvPr/>
        </p:nvSpPr>
        <p:spPr>
          <a:xfrm>
            <a:off x="666750" y="2638425"/>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239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01</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620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多入口价格差</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22860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24860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30" name="圆角矩形 29"/>
          <p:cNvSpPr>
            <a:spLocks noGrp="1"/>
          </p:cNvSpPr>
          <p:nvPr/>
        </p:nvSpPr>
        <p:spPr>
          <a:xfrm>
            <a:off x="24384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31" name="圆角矩形 30"/>
          <p:cNvSpPr>
            <a:spLocks noGrp="1"/>
          </p:cNvSpPr>
          <p:nvPr/>
        </p:nvSpPr>
        <p:spPr>
          <a:xfrm>
            <a:off x="25527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32" name="矩形 31"/>
          <p:cNvSpPr>
            <a:spLocks noGrp="1"/>
          </p:cNvSpPr>
          <p:nvPr/>
        </p:nvSpPr>
        <p:spPr>
          <a:xfrm>
            <a:off x="30099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02</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26479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非授权代理进入</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4" name="矩形 33"/>
          <p:cNvSpPr>
            <a:spLocks noGrp="1"/>
          </p:cNvSpPr>
          <p:nvPr/>
        </p:nvSpPr>
        <p:spPr>
          <a:xfrm>
            <a:off x="4171950" y="33528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5" name="圆角矩形 34"/>
          <p:cNvSpPr>
            <a:spLocks noGrp="1"/>
          </p:cNvSpPr>
          <p:nvPr/>
        </p:nvSpPr>
        <p:spPr>
          <a:xfrm>
            <a:off x="43719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36" name="圆角矩形 35"/>
          <p:cNvSpPr>
            <a:spLocks noGrp="1"/>
          </p:cNvSpPr>
          <p:nvPr/>
        </p:nvSpPr>
        <p:spPr>
          <a:xfrm>
            <a:off x="43243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37" name="圆角矩形 36"/>
          <p:cNvSpPr>
            <a:spLocks noGrp="1"/>
          </p:cNvSpPr>
          <p:nvPr/>
        </p:nvSpPr>
        <p:spPr>
          <a:xfrm>
            <a:off x="4438650" y="2638425"/>
            <a:ext cx="361950" cy="266700"/>
          </a:xfrm>
          <a:prstGeom prst="roundRect">
            <a:avLst>
              <a:gd name="adj" fmla="val 28571"/>
            </a:avLst>
          </a:prstGeom>
          <a:solidFill>
            <a:srgbClr val="61A298"/>
          </a:solidFill>
          <a:ln w="0">
            <a:solidFill>
              <a:srgbClr val="61A298"/>
            </a:solidFill>
            <a:prstDash val="solid"/>
          </a:ln>
        </p:spPr>
        <p:txBody>
          <a:bodyPr/>
          <a:p/>
        </p:txBody>
      </p:sp>
      <p:sp>
        <p:nvSpPr>
          <p:cNvPr id="38" name="矩形 37"/>
          <p:cNvSpPr>
            <a:spLocks noGrp="1"/>
          </p:cNvSpPr>
          <p:nvPr/>
        </p:nvSpPr>
        <p:spPr>
          <a:xfrm>
            <a:off x="48958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03</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9" name="矩形 38"/>
          <p:cNvSpPr>
            <a:spLocks noGrp="1"/>
          </p:cNvSpPr>
          <p:nvPr/>
        </p:nvSpPr>
        <p:spPr>
          <a:xfrm>
            <a:off x="45339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算力补贴被占用</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0" name="矩形 39"/>
          <p:cNvSpPr>
            <a:spLocks noGrp="1"/>
          </p:cNvSpPr>
          <p:nvPr/>
        </p:nvSpPr>
        <p:spPr>
          <a:xfrm>
            <a:off x="60579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圆角矩形 40"/>
          <p:cNvSpPr>
            <a:spLocks noGrp="1"/>
          </p:cNvSpPr>
          <p:nvPr/>
        </p:nvSpPr>
        <p:spPr>
          <a:xfrm>
            <a:off x="62579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42" name="圆角矩形 41"/>
          <p:cNvSpPr>
            <a:spLocks noGrp="1"/>
          </p:cNvSpPr>
          <p:nvPr/>
        </p:nvSpPr>
        <p:spPr>
          <a:xfrm>
            <a:off x="62103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43" name="圆角矩形 42"/>
          <p:cNvSpPr>
            <a:spLocks noGrp="1"/>
          </p:cNvSpPr>
          <p:nvPr/>
        </p:nvSpPr>
        <p:spPr>
          <a:xfrm>
            <a:off x="63246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44" name="矩形 43"/>
          <p:cNvSpPr>
            <a:spLocks noGrp="1"/>
          </p:cNvSpPr>
          <p:nvPr/>
        </p:nvSpPr>
        <p:spPr>
          <a:xfrm>
            <a:off x="67818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04</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64198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平台风控与权益收缩</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a:spLocks noGrp="1"/>
          </p:cNvSpPr>
          <p:nvPr/>
        </p:nvSpPr>
        <p:spPr>
          <a:xfrm>
            <a:off x="7943850" y="33528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圆角矩形 46"/>
          <p:cNvSpPr>
            <a:spLocks noGrp="1"/>
          </p:cNvSpPr>
          <p:nvPr/>
        </p:nvSpPr>
        <p:spPr>
          <a:xfrm>
            <a:off x="81438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48" name="圆角矩形 47"/>
          <p:cNvSpPr>
            <a:spLocks noGrp="1"/>
          </p:cNvSpPr>
          <p:nvPr/>
        </p:nvSpPr>
        <p:spPr>
          <a:xfrm>
            <a:off x="80962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49" name="圆角矩形 48"/>
          <p:cNvSpPr>
            <a:spLocks noGrp="1"/>
          </p:cNvSpPr>
          <p:nvPr/>
        </p:nvSpPr>
        <p:spPr>
          <a:xfrm>
            <a:off x="8210550" y="2638425"/>
            <a:ext cx="361950" cy="266700"/>
          </a:xfrm>
          <a:prstGeom prst="roundRect">
            <a:avLst>
              <a:gd name="adj" fmla="val 28571"/>
            </a:avLst>
          </a:prstGeom>
          <a:solidFill>
            <a:srgbClr val="61A298"/>
          </a:solidFill>
          <a:ln w="0">
            <a:solidFill>
              <a:srgbClr val="61A298"/>
            </a:solidFill>
            <a:prstDash val="solid"/>
          </a:ln>
        </p:spPr>
        <p:txBody>
          <a:bodyPr/>
          <a:p/>
        </p:txBody>
      </p:sp>
      <p:sp>
        <p:nvSpPr>
          <p:cNvPr id="50" name="矩形 49"/>
          <p:cNvSpPr>
            <a:spLocks noGrp="1"/>
          </p:cNvSpPr>
          <p:nvPr/>
        </p:nvSpPr>
        <p:spPr>
          <a:xfrm>
            <a:off x="86677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05</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83058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消费者负面情绪</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52" name="矩形 51"/>
          <p:cNvSpPr>
            <a:spLocks noGrp="1"/>
          </p:cNvSpPr>
          <p:nvPr/>
        </p:nvSpPr>
        <p:spPr>
          <a:xfrm>
            <a:off x="98298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3" name="圆角矩形 52"/>
          <p:cNvSpPr>
            <a:spLocks noGrp="1"/>
          </p:cNvSpPr>
          <p:nvPr/>
        </p:nvSpPr>
        <p:spPr>
          <a:xfrm>
            <a:off x="100298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54" name="圆角矩形 53"/>
          <p:cNvSpPr>
            <a:spLocks noGrp="1"/>
          </p:cNvSpPr>
          <p:nvPr/>
        </p:nvSpPr>
        <p:spPr>
          <a:xfrm>
            <a:off x="99822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55" name="圆角矩形 54"/>
          <p:cNvSpPr>
            <a:spLocks noGrp="1"/>
          </p:cNvSpPr>
          <p:nvPr/>
        </p:nvSpPr>
        <p:spPr>
          <a:xfrm>
            <a:off x="100965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56" name="矩形 55"/>
          <p:cNvSpPr>
            <a:spLocks noGrp="1"/>
          </p:cNvSpPr>
          <p:nvPr/>
        </p:nvSpPr>
        <p:spPr>
          <a:xfrm>
            <a:off x="105537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06</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7" name="矩形 56"/>
          <p:cNvSpPr>
            <a:spLocks noGrp="1"/>
          </p:cNvSpPr>
          <p:nvPr/>
        </p:nvSpPr>
        <p:spPr>
          <a:xfrm>
            <a:off x="101917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协同治理提高信息效率</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58" name="圆角矩形 57"/>
          <p:cNvSpPr>
            <a:spLocks noGrp="1"/>
          </p:cNvSpPr>
          <p:nvPr/>
        </p:nvSpPr>
        <p:spPr>
          <a:xfrm>
            <a:off x="895350" y="4762500"/>
            <a:ext cx="10401300" cy="438150"/>
          </a:xfrm>
          <a:prstGeom prst="roundRect">
            <a:avLst>
              <a:gd name="adj" fmla="val 17391"/>
            </a:avLst>
          </a:prstGeom>
          <a:solidFill>
            <a:srgbClr val="FFFFFF"/>
          </a:solidFill>
          <a:ln w="9525">
            <a:solidFill>
              <a:srgbClr val="B8D8D3"/>
            </a:solidFill>
            <a:prstDash val="solid"/>
          </a:ln>
        </p:spPr>
        <p:txBody>
          <a:bodyPr/>
          <a:p/>
        </p:txBody>
      </p:sp>
      <p:sp>
        <p:nvSpPr>
          <p:cNvPr id="59" name="矩形 58"/>
          <p:cNvSpPr>
            <a:spLocks noGrp="1"/>
          </p:cNvSpPr>
          <p:nvPr/>
        </p:nvSpPr>
        <p:spPr>
          <a:xfrm>
            <a:off x="1143000" y="4876800"/>
            <a:ext cx="12382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讲述逻辑</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60" name="矩形 59"/>
          <p:cNvSpPr>
            <a:spLocks noGrp="1"/>
          </p:cNvSpPr>
          <p:nvPr/>
        </p:nvSpPr>
        <p:spPr>
          <a:xfrm>
            <a:off x="2381250" y="4857750"/>
            <a:ext cx="8572500" cy="2476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这一页是全篇地图：前半段解释失灵如何形成，后半段解释治理为什么不能只靠单点封堵。</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61" name="矩形 6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6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64" name="矩形: 圆角 63"/>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66" name="矩形: 圆角 6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68" name="矩形: 圆角 6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70" name="矩形: 圆角 6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72" name="矩形: 圆角 7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74" name="矩形: 圆角 7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76" name="矩形 7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08</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09</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理论来源不是堆概念，而是分别解释一个环节</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五类理论共同解释“为什么会套利、为什么能持续、为什么会伤害福利”。</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572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609600" y="2000250"/>
            <a:ext cx="3476625" cy="1295400"/>
          </a:xfrm>
          <a:prstGeom prst="roundRect">
            <a:avLst>
              <a:gd name="adj" fmla="val 5882"/>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723900" y="21145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811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套利定价</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8191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同一服务能力在不同凭证形态中出现价格偏离，形成可被转卖包装的价格楔子。</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4817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40055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51485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7205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有效市场</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61010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来源披露不足导致消费者误判，搜索成本和验证成本阻碍价格回归合理区间。</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一般均衡</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平台、用户、开发者、代理商和监管者同时反应，局部低价会改变整体均衡。</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5722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0960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72390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118110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柠檬市场</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81915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服务来源不可见时，低质或不透明服务挤出可信服务，消费者平均信任下降。</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444817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44" name="圆角矩形 43"/>
          <p:cNvSpPr>
            <a:spLocks noGrp="1"/>
          </p:cNvSpPr>
          <p:nvPr/>
        </p:nvSpPr>
        <p:spPr>
          <a:xfrm>
            <a:off x="440055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5" name="圆角矩形 44"/>
          <p:cNvSpPr>
            <a:spLocks noGrp="1"/>
          </p:cNvSpPr>
          <p:nvPr/>
        </p:nvSpPr>
        <p:spPr>
          <a:xfrm>
            <a:off x="451485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6" name="矩形 45"/>
          <p:cNvSpPr>
            <a:spLocks noGrp="1"/>
          </p:cNvSpPr>
          <p:nvPr/>
        </p:nvSpPr>
        <p:spPr>
          <a:xfrm>
            <a:off x="497205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双边平台</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461010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平台在补贴用户、培育开发者和控制算力成本之间存在多边权衡。</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8" name="圆角矩形 4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9" name="矩形 4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50" name="矩形 4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每个理论只服务一个问题：价格为什么偏离、信息为什么失真、治理为什么有外溢。</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4" name="矩形: 圆角 53"/>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56" name="矩形: 圆角 5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8" name="矩形: 圆角 5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60" name="矩形: 圆角 5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62" name="矩形: 圆角 6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4" name="矩形: 圆角 6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6" name="矩形 6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09</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10</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贡献集中在三点：解释一个新现象，设计一套可检验框架</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由于研究对象新，PPT会把“拟检验”与“已发生因果识别”严格区分。</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理论贡献</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把反向代理解释为价格楔子、信息不对称、算力补贴泄漏和制度摩擦共同作用，而不是简单违规。</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方法贡献</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将公开文本、平台规则、价格数据和治理情景转为面板变量与预测变量，形成可复核的研究设计。</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政策贡献</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提出低成本协同治理组合：来源披露、支付审核、应用商店规则、广告平台审核与平台反制相互配合。</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本文的价值不在于宣称已经得到最终结果，而在于把一个新问题转化为可估计、可讨论、可治理的研究对象。</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4" name="矩形: 圆角 43"/>
          <p:cNvSpPr/>
          <p:nvPr/>
        </p:nvSpPr>
        <p:spPr>
          <a:xfrm>
            <a:off x="4381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0F1115"/>
              </a:solidFill>
              <a:latin typeface="Microsoft YaHei UI" panose="020B0503020204020204" charset="-122"/>
            </a:endParaRPr>
          </a:p>
        </p:txBody>
      </p:sp>
      <p:sp>
        <p:nvSpPr>
          <p:cNvPr id="46" name="矩形: 圆角 4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48" name="矩形: 圆角 4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0" name="矩形: 圆角 4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2" name="矩形: 圆角 5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4" name="矩形: 圆角 5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6" name="矩形 5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10</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11</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概念界定：什么是AI服务中的非授权反向代理套利？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不是讨论“怎么做”，而是刻画一种市场组织现象。</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基础资产</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大模型服务能力与背后的算力权益。</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权益凭证</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免费端、学生认证、订阅优惠、设备赠送会员、API额度。</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套利条件</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价格差足够大，身份约束与来源识别不足，消费者验证成本较高。</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专业地说，这是服务能力与权益凭证错配；通俗地说，是把原本有使用边界的入口变成可转卖商品。</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4" name="矩形: 圆角 43"/>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6" name="矩形: 圆角 45"/>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8" name="矩形: 圆角 4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0" name="矩形: 圆角 4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2" name="矩形: 圆角 5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4" name="矩形: 圆角 5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6" name="矩形 5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11</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12</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理论机制图：反向代理套利如何形成市场失灵</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原报告机制图显示：价格楔子推动代理进入，平台治理反应又可能影响普通消费者与正规API生态。</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476250" y="2019300"/>
            <a:ext cx="8286750" cy="3429000"/>
          </a:xfrm>
          <a:prstGeom prst="roundRect">
            <a:avLst>
              <a:gd name="adj" fmla="val 2222"/>
            </a:avLst>
          </a:prstGeom>
          <a:solidFill>
            <a:srgbClr val="FFFFFF"/>
          </a:solidFill>
          <a:ln w="11430">
            <a:solidFill>
              <a:srgbClr val="C9DBD7"/>
            </a:solidFill>
            <a:prstDash val="solid"/>
          </a:ln>
        </p:spPr>
        <p:txBody>
          <a:bodyPr/>
          <a:p/>
        </p:txBody>
      </p:sp>
      <p:pic>
        <p:nvPicPr>
          <p:cNvPr id="24" name="图片 23"/>
          <p:cNvPicPr>
            <a:picLocks noChangeAspect="1"/>
          </p:cNvPicPr>
          <p:nvPr/>
        </p:nvPicPr>
        <p:blipFill>
          <a:blip r:embed="rId1"/>
          <a:stretch>
            <a:fillRect/>
          </a:stretch>
        </p:blipFill>
        <p:spPr>
          <a:xfrm>
            <a:off x="2195853" y="2171700"/>
            <a:ext cx="4847545" cy="2857500"/>
          </a:xfrm>
          <a:prstGeom prst="rect">
            <a:avLst/>
          </a:prstGeom>
        </p:spPr>
      </p:pic>
      <p:sp>
        <p:nvSpPr>
          <p:cNvPr id="25" name="矩形 24"/>
          <p:cNvSpPr>
            <a:spLocks noGrp="1"/>
          </p:cNvSpPr>
          <p:nvPr/>
        </p:nvSpPr>
        <p:spPr>
          <a:xfrm>
            <a:off x="781050" y="5095875"/>
            <a:ext cx="76200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975" b="0">
                <a:solidFill>
                  <a:srgbClr val="4B5563"/>
                </a:solidFill>
                <a:latin typeface="Microsoft YaHei UI" panose="020B0503020204020204" charset="-122"/>
                <a:ea typeface="Microsoft YaHei UI" panose="020B0503020204020204" charset="-122"/>
                <a:cs typeface="Microsoft YaHei UI" panose="020B0503020204020204" charset="-122"/>
              </a:rPr>
              <a:t>注：机制图用于呈现研究逻辑与变量关系，不构成已发生政策冲击的因果评估。</a:t>
            </a:r>
            <a:endParaRPr sz="9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9096375" y="2133600"/>
            <a:ext cx="2524125"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7" name="圆角矩形 26"/>
          <p:cNvSpPr>
            <a:spLocks noGrp="1"/>
          </p:cNvSpPr>
          <p:nvPr/>
        </p:nvSpPr>
        <p:spPr>
          <a:xfrm>
            <a:off x="9048750" y="2076450"/>
            <a:ext cx="2524125" cy="876300"/>
          </a:xfrm>
          <a:prstGeom prst="roundRect">
            <a:avLst>
              <a:gd name="adj" fmla="val 8696"/>
            </a:avLst>
          </a:prstGeom>
          <a:solidFill>
            <a:srgbClr val="FFF3C2"/>
          </a:solidFill>
          <a:ln w="11430">
            <a:solidFill>
              <a:srgbClr val="BED7D2"/>
            </a:solidFill>
            <a:prstDash val="solid"/>
          </a:ln>
        </p:spPr>
        <p:txBody>
          <a:bodyPr/>
          <a:p/>
        </p:txBody>
      </p:sp>
      <p:sp>
        <p:nvSpPr>
          <p:cNvPr id="28" name="圆角矩形 27"/>
          <p:cNvSpPr>
            <a:spLocks noGrp="1"/>
          </p:cNvSpPr>
          <p:nvPr/>
        </p:nvSpPr>
        <p:spPr>
          <a:xfrm>
            <a:off x="91630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9" name="矩形 28"/>
          <p:cNvSpPr>
            <a:spLocks noGrp="1"/>
          </p:cNvSpPr>
          <p:nvPr/>
        </p:nvSpPr>
        <p:spPr>
          <a:xfrm>
            <a:off x="9620250" y="2200275"/>
            <a:ext cx="178117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价格楔子</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0" name="矩形 29"/>
          <p:cNvSpPr>
            <a:spLocks noGrp="1"/>
          </p:cNvSpPr>
          <p:nvPr/>
        </p:nvSpPr>
        <p:spPr>
          <a:xfrm>
            <a:off x="9258300" y="2495550"/>
            <a:ext cx="212407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80" b="0">
                <a:solidFill>
                  <a:srgbClr val="0F1115"/>
                </a:solidFill>
                <a:latin typeface="Microsoft YaHei UI" panose="020B0503020204020204" charset="-122"/>
                <a:ea typeface="Microsoft YaHei UI" panose="020B0503020204020204" charset="-122"/>
                <a:cs typeface="Microsoft YaHei UI" panose="020B0503020204020204" charset="-122"/>
              </a:rPr>
              <a:t>多入口价格差扩大后，非授权代理有进入动机。</a:t>
            </a:r>
            <a:endParaRPr sz="108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9096375" y="3200400"/>
            <a:ext cx="2524125"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2" name="圆角矩形 31"/>
          <p:cNvSpPr>
            <a:spLocks noGrp="1"/>
          </p:cNvSpPr>
          <p:nvPr/>
        </p:nvSpPr>
        <p:spPr>
          <a:xfrm>
            <a:off x="9048750" y="3143250"/>
            <a:ext cx="2524125" cy="876300"/>
          </a:xfrm>
          <a:prstGeom prst="roundRect">
            <a:avLst>
              <a:gd name="adj" fmla="val 8696"/>
            </a:avLst>
          </a:prstGeom>
          <a:solidFill>
            <a:srgbClr val="FFFFFF"/>
          </a:solidFill>
          <a:ln w="11430">
            <a:solidFill>
              <a:srgbClr val="BED7D2"/>
            </a:solidFill>
            <a:prstDash val="solid"/>
          </a:ln>
        </p:spPr>
        <p:txBody>
          <a:bodyPr/>
          <a:p/>
        </p:txBody>
      </p:sp>
      <p:sp>
        <p:nvSpPr>
          <p:cNvPr id="33" name="圆角矩形 32"/>
          <p:cNvSpPr>
            <a:spLocks noGrp="1"/>
          </p:cNvSpPr>
          <p:nvPr/>
        </p:nvSpPr>
        <p:spPr>
          <a:xfrm>
            <a:off x="9163050" y="3257550"/>
            <a:ext cx="361950" cy="266700"/>
          </a:xfrm>
          <a:prstGeom prst="roundRect">
            <a:avLst>
              <a:gd name="adj" fmla="val 28571"/>
            </a:avLst>
          </a:prstGeom>
          <a:solidFill>
            <a:srgbClr val="61A298"/>
          </a:solidFill>
          <a:ln w="0">
            <a:solidFill>
              <a:srgbClr val="61A298"/>
            </a:solidFill>
            <a:prstDash val="solid"/>
          </a:ln>
        </p:spPr>
        <p:txBody>
          <a:bodyPr/>
          <a:p/>
        </p:txBody>
      </p:sp>
      <p:sp>
        <p:nvSpPr>
          <p:cNvPr id="34" name="矩形 33"/>
          <p:cNvSpPr>
            <a:spLocks noGrp="1"/>
          </p:cNvSpPr>
          <p:nvPr/>
        </p:nvSpPr>
        <p:spPr>
          <a:xfrm>
            <a:off x="9620250" y="3267075"/>
            <a:ext cx="178117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平台反应</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9258300" y="3562350"/>
            <a:ext cx="212407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80" b="0">
                <a:solidFill>
                  <a:srgbClr val="0F1115"/>
                </a:solidFill>
                <a:latin typeface="Microsoft YaHei UI" panose="020B0503020204020204" charset="-122"/>
                <a:ea typeface="Microsoft YaHei UI" panose="020B0503020204020204" charset="-122"/>
                <a:cs typeface="Microsoft YaHei UI" panose="020B0503020204020204" charset="-122"/>
              </a:rPr>
              <a:t>平台面对额外调用与品牌混淆，会提高风控强度并调整权益规则。</a:t>
            </a:r>
            <a:endParaRPr sz="108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6" name="圆角矩形 35"/>
          <p:cNvSpPr>
            <a:spLocks noGrp="1"/>
          </p:cNvSpPr>
          <p:nvPr/>
        </p:nvSpPr>
        <p:spPr>
          <a:xfrm>
            <a:off x="9096375" y="4267200"/>
            <a:ext cx="2524125"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7" name="圆角矩形 36"/>
          <p:cNvSpPr>
            <a:spLocks noGrp="1"/>
          </p:cNvSpPr>
          <p:nvPr/>
        </p:nvSpPr>
        <p:spPr>
          <a:xfrm>
            <a:off x="9048750" y="4210050"/>
            <a:ext cx="2524125" cy="876300"/>
          </a:xfrm>
          <a:prstGeom prst="roundRect">
            <a:avLst>
              <a:gd name="adj" fmla="val 8696"/>
            </a:avLst>
          </a:prstGeom>
          <a:solidFill>
            <a:srgbClr val="FFFFFF"/>
          </a:solidFill>
          <a:ln w="11430">
            <a:solidFill>
              <a:srgbClr val="BED7D2"/>
            </a:solidFill>
            <a:prstDash val="solid"/>
          </a:ln>
        </p:spPr>
        <p:txBody>
          <a:bodyPr/>
          <a:p/>
        </p:txBody>
      </p:sp>
      <p:sp>
        <p:nvSpPr>
          <p:cNvPr id="38" name="圆角矩形 37"/>
          <p:cNvSpPr>
            <a:spLocks noGrp="1"/>
          </p:cNvSpPr>
          <p:nvPr/>
        </p:nvSpPr>
        <p:spPr>
          <a:xfrm>
            <a:off x="9163050" y="4324350"/>
            <a:ext cx="361950" cy="266700"/>
          </a:xfrm>
          <a:prstGeom prst="roundRect">
            <a:avLst>
              <a:gd name="adj" fmla="val 28571"/>
            </a:avLst>
          </a:prstGeom>
          <a:solidFill>
            <a:srgbClr val="61A298"/>
          </a:solidFill>
          <a:ln w="0">
            <a:solidFill>
              <a:srgbClr val="61A298"/>
            </a:solidFill>
            <a:prstDash val="solid"/>
          </a:ln>
        </p:spPr>
        <p:txBody>
          <a:bodyPr/>
          <a:p/>
        </p:txBody>
      </p:sp>
      <p:sp>
        <p:nvSpPr>
          <p:cNvPr id="39" name="矩形 38"/>
          <p:cNvSpPr>
            <a:spLocks noGrp="1"/>
          </p:cNvSpPr>
          <p:nvPr/>
        </p:nvSpPr>
        <p:spPr>
          <a:xfrm>
            <a:off x="9620250" y="4333875"/>
            <a:ext cx="178117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福利评价</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0" name="矩形 39"/>
          <p:cNvSpPr>
            <a:spLocks noGrp="1"/>
          </p:cNvSpPr>
          <p:nvPr/>
        </p:nvSpPr>
        <p:spPr>
          <a:xfrm>
            <a:off x="9258300" y="4629150"/>
            <a:ext cx="212407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80" b="0">
                <a:solidFill>
                  <a:srgbClr val="0F1115"/>
                </a:solidFill>
                <a:latin typeface="Microsoft YaHei UI" panose="020B0503020204020204" charset="-122"/>
                <a:ea typeface="Microsoft YaHei UI" panose="020B0503020204020204" charset="-122"/>
                <a:cs typeface="Microsoft YaHei UI" panose="020B0503020204020204" charset="-122"/>
              </a:rPr>
              <a:t>最终要看消费者情绪、正规API生态和社会福利是否受损。</a:t>
            </a:r>
            <a:endParaRPr sz="108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1" name="圆角矩形 40"/>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2" name="矩形 41"/>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3" name="矩形 42"/>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机制图的核心不是“有人套利”，而是套利改变了平台、用户和开发者之间的成本分担。</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矩形 43"/>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7" name="矩形: 圆角 46"/>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9" name="矩形: 圆角 48"/>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1" name="矩形: 圆角 50"/>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3" name="矩形: 圆角 52"/>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5" name="矩形: 圆角 54"/>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7" name="矩形: 圆角 56"/>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9" name="矩形 58"/>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12</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13</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市场失灵链条：不是单点违规，而是多方激励扭曲</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反向代理之所以值得研究，是因为它把多个市场失灵环节压缩到同一个AI服务场景里。</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信息不对称</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消费者难以判断服务来源和授权状态，低价信号可能遮蔽隐私、封号和中断风险。</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逆向选择</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来源透明、成本真实的正规服务在价格上不占优势，低透明度服务反而更容易获客。</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道德风险</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代理商获得收入，但算力成本、服务中断和平台风控副作用由平台和消费者承担。</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外部性</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个别用户购买低价代理，看似只影响自己；规模化后却可能推高全体用户的风控成本和权益收缩风险。</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这一页把“灰色服务”翻译成经济学语言：信息、激励、成本和福利没有被正确对齐。</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13</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14</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H1：有效价格楔子越大，非授权反向代理强度越高</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价格分层本身不是问题；当来源识别成本低、身份约束弱，价格分层才会变成套利空间。</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核心解释变量</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PriceGap：标准任务下不同入口单位有效价格差，重点比较官方订阅、免费权益、学生或设备入口和API计费。</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被解释变量</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ProxyIntensity：站点数、广告帖、关键词文本量、工具导航收录与价格异常等合成。</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预期方向</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β &gt; 0。价格楔子扩大时，代理商预期利润上升，进入和宣传强度随之增强。</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H1回答“为什么有套利”：不是因为AI天然灰色，而是因为同一能力在不同入口之间存在可利用的价格差。</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4" name="矩形: 圆角 43"/>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6" name="矩形: 圆角 45"/>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8" name="矩形: 圆角 4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0" name="矩形: 圆角 4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2" name="矩形: 圆角 5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4" name="矩形: 圆角 5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6" name="矩形 5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14</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15</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H2：代理强度上升，会推高平台权益收缩指数</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灰色代理占用补贴与算力，平台为了控成本和控风险，可能收紧普通用户权益。</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5619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14350" y="2114550"/>
            <a:ext cx="3505200" cy="3028950"/>
          </a:xfrm>
          <a:prstGeom prst="roundRect">
            <a:avLst>
              <a:gd name="adj" fmla="val 2516"/>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628650" y="22288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0858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冲击来源</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239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非授权调用、共享入口、品牌混淆和服务不稳定会增加平台风控压力。</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39102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34340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45770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1490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平台反应</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55295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验证码、封禁、限流、额度重算、来源识别、上传限制或重生成限制等工具被更频繁使用。</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20075" y="2171700"/>
            <a:ext cx="3505200" cy="3028950"/>
          </a:xfrm>
          <a:prstGeom prst="roundRect">
            <a:avLst>
              <a:gd name="adj" fmla="val 251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72450" y="2114550"/>
            <a:ext cx="3505200" cy="3028950"/>
          </a:xfrm>
          <a:prstGeom prst="roundRect">
            <a:avLst>
              <a:gd name="adj" fmla="val 251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286750" y="22288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43950" y="2238375"/>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575" b="1">
                <a:solidFill>
                  <a:srgbClr val="065758"/>
                </a:solidFill>
                <a:latin typeface="Microsoft YaHei UI" panose="020B0503020204020204" charset="-122"/>
                <a:ea typeface="Microsoft YaHei UI" panose="020B0503020204020204" charset="-122"/>
                <a:cs typeface="Microsoft YaHei UI" panose="020B0503020204020204" charset="-122"/>
              </a:rPr>
              <a:t>结果变量</a:t>
            </a:r>
            <a:endParaRPr sz="157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382000" y="2571750"/>
            <a:ext cx="3105150" cy="2476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15" b="0">
                <a:solidFill>
                  <a:srgbClr val="0F1115"/>
                </a:solidFill>
                <a:latin typeface="Microsoft YaHei UI" panose="020B0503020204020204" charset="-122"/>
                <a:ea typeface="Microsoft YaHei UI" panose="020B0503020204020204" charset="-122"/>
                <a:cs typeface="Microsoft YaHei UI" panose="020B0503020204020204" charset="-122"/>
              </a:rPr>
              <a:t>PERI：平台权益收缩指数，综合额度窗口、上传限制、响应失败率和透明度反向指标。</a:t>
            </a:r>
            <a:endParaRPr sz="13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39" name="矩形 3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0" name="矩形 3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H2回答“伤害如何外溢”：代理活动不是停留在灰色市场内部，而可能改变普通用户的可用权益。</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4" name="矩形: 圆角 43"/>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6" name="矩形: 圆角 45"/>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8" name="矩形: 圆角 47"/>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0" name="矩形: 圆角 4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2" name="矩形: 圆角 5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4" name="矩形: 圆角 5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6" name="矩形 5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15</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16</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H3：来源披露、平台反制和政府协同治理能够改善福利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治理目标不是压制AI普惠，而是提高信息效率、减少灰色套利并保护正规生态。</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来源披露</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让消费者知道服务来源、授权状态、售后责任和隐私风险，降低误导性购买。</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平台反制</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提高非授权代理成本，但同时要评估对普通用户体验和正规开发者的副作用。</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协同治理</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支付审核、应用商店、广告平台和平台规则共同降低误导性获客。</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福利标准</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判断治理好坏，不只看代理强度下降，还要看消费者剩余、平台成本和正规API生态。</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H3的关键词是协同：单点封堵可能有效但粗糙，协同治理更重视信息披露和成本归位。</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16</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17</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消费者选择模型：官方服务与非授权服务的效用差异</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公式（1）（2）把消费者选择拆成质量、价格、学习成本、隐私风险和来源披露。</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952750"/>
          </a:xfrm>
          <a:prstGeom prst="roundRect">
            <a:avLst>
              <a:gd name="adj" fmla="val 2581"/>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952750"/>
          </a:xfrm>
          <a:prstGeom prst="roundRect">
            <a:avLst>
              <a:gd name="adj" fmla="val 2581"/>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1076325" y="2324100"/>
            <a:ext cx="6286500" cy="876300"/>
          </a:xfrm>
          <a:prstGeom prst="rect">
            <a:avLst/>
          </a:prstGeom>
        </p:spPr>
      </p:pic>
      <p:pic>
        <p:nvPicPr>
          <p:cNvPr id="26" name="图片 25"/>
          <p:cNvPicPr>
            <a:picLocks noChangeAspect="1"/>
          </p:cNvPicPr>
          <p:nvPr/>
        </p:nvPicPr>
        <p:blipFill>
          <a:blip r:embed="rId2"/>
          <a:stretch>
            <a:fillRect/>
          </a:stretch>
        </p:blipFill>
        <p:spPr>
          <a:xfrm>
            <a:off x="842169" y="3409950"/>
            <a:ext cx="6754813" cy="876300"/>
          </a:xfrm>
          <a:prstGeom prst="rect">
            <a:avLst/>
          </a:prstGeom>
        </p:spPr>
      </p:pic>
      <p:sp>
        <p:nvSpPr>
          <p:cNvPr id="27" name="矩形 26"/>
          <p:cNvSpPr>
            <a:spLocks noGrp="1"/>
          </p:cNvSpPr>
          <p:nvPr/>
        </p:nvSpPr>
        <p:spPr>
          <a:xfrm>
            <a:off x="781050" y="468630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8239125" y="210502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8191500" y="2047875"/>
            <a:ext cx="3238500" cy="876300"/>
          </a:xfrm>
          <a:prstGeom prst="roundRect">
            <a:avLst>
              <a:gd name="adj" fmla="val 8696"/>
            </a:avLst>
          </a:prstGeom>
          <a:solidFill>
            <a:srgbClr val="FFF3C2"/>
          </a:solidFill>
          <a:ln w="11430">
            <a:solidFill>
              <a:srgbClr val="BED7D2"/>
            </a:solidFill>
            <a:prstDash val="solid"/>
          </a:ln>
        </p:spPr>
        <p:txBody>
          <a:bodyPr/>
          <a:p/>
        </p:txBody>
      </p:sp>
      <p:sp>
        <p:nvSpPr>
          <p:cNvPr id="30" name="圆角矩形 29"/>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1" name="矩形 30"/>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官方或授权服务</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8401050" y="246697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效用来自质量、稳定性、权益透明和售后责任，扣除支付价格和官方服务学习成本。</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307657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3019425"/>
            <a:ext cx="3238500" cy="876300"/>
          </a:xfrm>
          <a:prstGeom prst="roundRect">
            <a:avLst>
              <a:gd name="adj" fmla="val 869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313372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314325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非授权代理服务</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343852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表面价格可能更低，但要额外扣除隐私、封号、中断、售后缺失和披露不足风险。</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39" name="矩形 38"/>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低价不等于高福利，因为隐藏风险会进入消费者效用函数。</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0" name="圆角矩形 39"/>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1" name="矩形 40"/>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2" name="矩形 41"/>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这里把“用户为什么买低价入口”形式化：用户不是只比较标价，而是在有限信息下比较感知效用。</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3" name="矩形 42"/>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6" name="矩形: 圆角 45"/>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8" name="矩形: 圆角 47"/>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0" name="矩形: 圆角 49"/>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2" name="矩形: 圆角 51"/>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4" name="矩形: 圆角 53"/>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6" name="矩形: 圆角 55"/>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8" name="矩形 57"/>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17</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18</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平台利润函数：灰色代理把算力成本和治理成本同时推高</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公式（3）（4）把平台收益、API收入、算力成本、风控成本和代理损失放入同一账本。</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952750"/>
          </a:xfrm>
          <a:prstGeom prst="roundRect">
            <a:avLst>
              <a:gd name="adj" fmla="val 2581"/>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952750"/>
          </a:xfrm>
          <a:prstGeom prst="roundRect">
            <a:avLst>
              <a:gd name="adj" fmla="val 2581"/>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399538"/>
            <a:ext cx="6800850" cy="725424"/>
          </a:xfrm>
          <a:prstGeom prst="rect">
            <a:avLst/>
          </a:prstGeom>
        </p:spPr>
      </p:pic>
      <p:pic>
        <p:nvPicPr>
          <p:cNvPr id="26" name="图片 25"/>
          <p:cNvPicPr>
            <a:picLocks noChangeAspect="1"/>
          </p:cNvPicPr>
          <p:nvPr/>
        </p:nvPicPr>
        <p:blipFill>
          <a:blip r:embed="rId2"/>
          <a:stretch>
            <a:fillRect/>
          </a:stretch>
        </p:blipFill>
        <p:spPr>
          <a:xfrm>
            <a:off x="1552575" y="3409950"/>
            <a:ext cx="5334000" cy="876300"/>
          </a:xfrm>
          <a:prstGeom prst="rect">
            <a:avLst/>
          </a:prstGeom>
        </p:spPr>
      </p:pic>
      <p:sp>
        <p:nvSpPr>
          <p:cNvPr id="27" name="矩形 26"/>
          <p:cNvSpPr>
            <a:spLocks noGrp="1"/>
          </p:cNvSpPr>
          <p:nvPr/>
        </p:nvSpPr>
        <p:spPr>
          <a:xfrm>
            <a:off x="781050" y="468630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8239125" y="210502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8191500" y="2047875"/>
            <a:ext cx="3238500" cy="876300"/>
          </a:xfrm>
          <a:prstGeom prst="roundRect">
            <a:avLst>
              <a:gd name="adj" fmla="val 8696"/>
            </a:avLst>
          </a:prstGeom>
          <a:solidFill>
            <a:srgbClr val="FFF3C2"/>
          </a:solidFill>
          <a:ln w="11430">
            <a:solidFill>
              <a:srgbClr val="BED7D2"/>
            </a:solidFill>
            <a:prstDash val="solid"/>
          </a:ln>
        </p:spPr>
        <p:txBody>
          <a:bodyPr/>
          <a:p/>
        </p:txBody>
      </p:sp>
      <p:sp>
        <p:nvSpPr>
          <p:cNvPr id="30" name="圆角矩形 29"/>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1" name="矩形 30"/>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利润函数</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8401050" y="246697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订阅收入与API收入增加利润，算力成本、风控治理成本和代理损失降低利润。</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307657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3019425"/>
            <a:ext cx="3238500" cy="876300"/>
          </a:xfrm>
          <a:prstGeom prst="roundRect">
            <a:avLst>
              <a:gd name="adj" fmla="val 8696"/>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313372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314325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总需求分解</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343852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调用需求来自官方用户、正规开发者和非授权代理三类主体，三者的成本归属不同。</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39" name="矩形 38"/>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平台治理不是单纯封禁问题，而是收入、成本、体验与合规的共同权衡。</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0" name="圆角矩形 39"/>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1" name="矩形 40"/>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2" name="矩形 41"/>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对平台来说，问题不是“多一个用户”，而是这个调用是否由正确的价格和身份承担成本。</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3" name="矩形 42"/>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6" name="矩形: 圆角 45"/>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8" name="矩形: 圆角 47"/>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0" name="矩形: 圆角 49"/>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2" name="矩形: 圆角 51"/>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4" name="矩形: 圆角 53"/>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6" name="矩形: 圆角 55"/>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8" name="矩形 57"/>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18</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19</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权益收缩动态：为什么平台可能收紧普通用户额度？</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公式（5）描述下一期权益水平如何受代理强度、算力成本、风控和透明度影响。</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685288"/>
            <a:ext cx="6800850" cy="725424"/>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76300"/>
          </a:xfrm>
          <a:prstGeom prst="roundRect">
            <a:avLst>
              <a:gd name="adj" fmla="val 8696"/>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负向力量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代理强度 A_t 与算力成本 C(Q_t) 推动权益收缩，平台需要重新分配有限算力。</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7657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3019425"/>
            <a:ext cx="3238500" cy="876300"/>
          </a:xfrm>
          <a:prstGeom prst="roundRect">
            <a:avLst>
              <a:gd name="adj" fmla="val 8696"/>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13372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14325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保护力量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43852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有效风控 r_t 与额度透明 s_t 有助于稳定权益，减少对普通用户的误伤。</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38" name="矩形 37"/>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这一步把“灰色代理”与“普通用户权益变化”连接起来。</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9" name="圆角矩形 38"/>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0" name="矩形 39"/>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1" name="矩形 40"/>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模型讲的是动态反应：今天的代理强度，可能通过平台成本和风控压力影响下一期用户权益。</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5" name="矩形: 圆角 44"/>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7" name="矩形: 圆角 46"/>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9" name="矩形: 圆角 48"/>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1" name="矩形: 圆角 50"/>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3" name="矩形: 圆角 52"/>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5" name="矩形: 圆角 54"/>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7" name="矩形 56"/>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19</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20</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代理商进入条件：只要预期利润大于零，套利就有持续动机</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公式（6）刻画代理收入、平台风控成本、监管成本、获客维护成本之间的权衡。</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665069"/>
            <a:ext cx="6800850" cy="765861"/>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76300"/>
          </a:xfrm>
          <a:prstGeom prst="roundRect">
            <a:avLst>
              <a:gd name="adj" fmla="val 8696"/>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进入收益</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代理收入取决于收费价格与需求规模，价格楔子越大，包装低价入口越有吸引力。</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7657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3019425"/>
            <a:ext cx="3238500" cy="876300"/>
          </a:xfrm>
          <a:prstGeom prst="roundRect">
            <a:avLst>
              <a:gd name="adj" fmla="val 8696"/>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13372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14325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进入成本</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43852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平台风控、政府监管、来源披露和维护成本会压缩利润，使进入条件变得更难满足。</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38" name="矩形 37"/>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治理的关键是改变进入条件，而不是只在结果端追堵。</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9" name="圆角矩形 38"/>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0" name="矩形 39"/>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1" name="矩形 40"/>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如果只封一个入口，新的入口仍会出现；如果改变利润结构，套利动机会系统性下降。</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5" name="矩形: 圆角 44"/>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7" name="矩形: 圆角 46"/>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9" name="矩形: 圆角 48"/>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1" name="矩形: 圆角 50"/>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3" name="矩形: 圆角 52"/>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5" name="矩形: 圆角 54"/>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7" name="矩形 56"/>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20</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21</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社会福利函数：市场失灵体现在补贴泄漏、误导和权益收缩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公式（7）把消费者剩余、平台与开发者收益、代理损失、监管合规成本统一起来。</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659380"/>
            <a:ext cx="6800850" cy="777240"/>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76300"/>
          </a:xfrm>
          <a:prstGeom prst="roundRect">
            <a:avLst>
              <a:gd name="adj" fmla="val 8696"/>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福利增加项</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消费者剩余与平台、正规开发者收益，代表AI服务真实普惠和生态价值。</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76575"/>
            <a:ext cx="3238500" cy="876300"/>
          </a:xfrm>
          <a:prstGeom prst="roundRect">
            <a:avLst>
              <a:gd name="adj" fmla="val 8696"/>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3019425"/>
            <a:ext cx="3238500" cy="876300"/>
          </a:xfrm>
          <a:prstGeom prst="roundRect">
            <a:avLst>
              <a:gd name="adj" fmla="val 8696"/>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13372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14325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福利损失项</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438525"/>
            <a:ext cx="28384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7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75" b="0">
                <a:solidFill>
                  <a:srgbClr val="0F1115"/>
                </a:solidFill>
                <a:latin typeface="Microsoft YaHei UI" panose="020B0503020204020204" charset="-122"/>
                <a:ea typeface="Microsoft YaHei UI" panose="020B0503020204020204" charset="-122"/>
                <a:cs typeface="Microsoft YaHei UI" panose="020B0503020204020204" charset="-122"/>
              </a:rPr>
              <a:t>算力补贴泄漏、信息误导、权益收缩损失与治理成本，会抵消表面低价带来的短期好处。</a:t>
            </a:r>
            <a:endParaRPr sz="107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38" name="矩形 37"/>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当低价建立在隐性风险和补贴泄漏上，社会福利可能下降。</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9" name="圆角矩形 38"/>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0" name="矩形 39"/>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1" name="矩形 40"/>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福利函数提醒我们：便宜入口可能提升个体短期满意度，但如果成本被转嫁给全体用户，社会福利未必提高。</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5" name="矩形: 圆角 44"/>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47" name="矩形: 圆角 46"/>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49" name="矩形: 圆角 48"/>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1" name="矩形: 圆角 50"/>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3" name="矩形: 圆角 52"/>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5" name="矩形: 圆角 54"/>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57" name="矩形 56"/>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21</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22</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阶段回顾：理论模型回答了“为什么值得检验”</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到这里，报告已经建立从个体选择到平台反应再到社会福利的机制链条。</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消费者侧</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低价选择必须扣除风险和披露不足，消费者效用不是简单等于低标价。</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平台侧</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代理强度会改变算力成本、治理成本和权益水平，平台反应有经济基础。</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社会侧</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市场失灵表现为信息不对称、补贴泄漏、逆向选择和福利损失。</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下一步</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把理论链条转成可观测变量：价格楔子、代理强度、权益收缩、负面情绪和治理强度。</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理论部分的作用是给实证设计“定方向”：每个变量都能在机制链条中找到位置。</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0F1115"/>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22</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23</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数据来源全景：公开、可复核、最小必要</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研究计划不采集个人敏感信息，而是把公开平台规则、价格页和网络文本转化为结构化变量。</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反向代理样本</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搜索引擎、工具导航站、小程序、插件商店、公开社群广告，用于刻画代理活动的公开可见强度。</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平台规则与价格</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官方文档、帮助中心、价格页、服务条款，用于构造价格楔子和权益收缩指数。</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网络舆论文本</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新闻评论、论坛、问答社区、应用商店评论、公开社媒，用于衡量投诉、退款、失效和隐私担忧。</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监管情景</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法律法规、政策草案、支付审核、应用商店和广告平台规则，用于设定协同治理情景。</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数据设计强调可复核：所有变量尽量来自公开痕迹，避免把研究建立在不可验证的私有数据上。</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0F1115"/>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23</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24</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核心变量：把“灰色现象”翻译成可估计指标</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变量设计围绕代理强度、价格楔子、权益收缩、负面情绪和治理强度展开。</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572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609600" y="2000250"/>
            <a:ext cx="3476625" cy="1295400"/>
          </a:xfrm>
          <a:prstGeom prst="roundRect">
            <a:avLst>
              <a:gd name="adj" fmla="val 5882"/>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723900" y="21145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811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ProxyIntensity</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8191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反向代理强度：站点数、广告帖、导航收录、关键词文本量、价格异常等多维合成。</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4817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440055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451485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497205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PriceGap</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461010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价格楔子：免费端、订阅端、学生/试用端、API端单位有效价格差。</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205740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200025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2114550"/>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212407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PERI</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257175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平台权益收缩指数：额度、上传、重生成、响应失败率和透明度反向指标。</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5722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0960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72390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118110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NegativeSentiment</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81915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消费者负面情绪：投诉、退款、失效、隐私风险讨论等公开文本强度。</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4448175" y="3524250"/>
            <a:ext cx="3476625" cy="1295400"/>
          </a:xfrm>
          <a:prstGeom prst="roundRect">
            <a:avLst>
              <a:gd name="adj" fmla="val 5882"/>
            </a:avLst>
          </a:prstGeom>
          <a:solidFill>
            <a:srgbClr val="D8E8E5"/>
          </a:solidFill>
          <a:ln w="0">
            <a:solidFill>
              <a:srgbClr val="000000">
                <a:alpha val="0"/>
              </a:srgbClr>
            </a:solidFill>
            <a:prstDash val="solid"/>
          </a:ln>
        </p:spPr>
        <p:txBody>
          <a:bodyPr/>
          <a:p/>
        </p:txBody>
      </p:sp>
      <p:sp>
        <p:nvSpPr>
          <p:cNvPr id="44" name="圆角矩形 43"/>
          <p:cNvSpPr>
            <a:spLocks noGrp="1"/>
          </p:cNvSpPr>
          <p:nvPr/>
        </p:nvSpPr>
        <p:spPr>
          <a:xfrm>
            <a:off x="4400550" y="3467100"/>
            <a:ext cx="3476625" cy="1295400"/>
          </a:xfrm>
          <a:prstGeom prst="roundRect">
            <a:avLst>
              <a:gd name="adj" fmla="val 5882"/>
            </a:avLst>
          </a:prstGeom>
          <a:solidFill>
            <a:srgbClr val="FFFFFF"/>
          </a:solidFill>
          <a:ln w="11430">
            <a:solidFill>
              <a:srgbClr val="BED7D2"/>
            </a:solidFill>
            <a:prstDash val="solid"/>
          </a:ln>
        </p:spPr>
        <p:txBody>
          <a:bodyPr/>
          <a:p/>
        </p:txBody>
      </p:sp>
      <p:sp>
        <p:nvSpPr>
          <p:cNvPr id="45" name="圆角矩形 44"/>
          <p:cNvSpPr>
            <a:spLocks noGrp="1"/>
          </p:cNvSpPr>
          <p:nvPr/>
        </p:nvSpPr>
        <p:spPr>
          <a:xfrm>
            <a:off x="4514850" y="3581400"/>
            <a:ext cx="361950" cy="266700"/>
          </a:xfrm>
          <a:prstGeom prst="roundRect">
            <a:avLst>
              <a:gd name="adj" fmla="val 28571"/>
            </a:avLst>
          </a:prstGeom>
          <a:solidFill>
            <a:srgbClr val="61A298"/>
          </a:solidFill>
          <a:ln w="0">
            <a:solidFill>
              <a:srgbClr val="61A298"/>
            </a:solidFill>
            <a:prstDash val="solid"/>
          </a:ln>
        </p:spPr>
        <p:txBody>
          <a:bodyPr/>
          <a:p/>
        </p:txBody>
      </p:sp>
      <p:sp>
        <p:nvSpPr>
          <p:cNvPr id="46" name="矩形 45"/>
          <p:cNvSpPr>
            <a:spLocks noGrp="1"/>
          </p:cNvSpPr>
          <p:nvPr/>
        </p:nvSpPr>
        <p:spPr>
          <a:xfrm>
            <a:off x="4972050" y="3590925"/>
            <a:ext cx="27336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1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15" b="1">
                <a:solidFill>
                  <a:srgbClr val="065758"/>
                </a:solidFill>
                <a:latin typeface="Microsoft YaHei UI" panose="020B0503020204020204" charset="-122"/>
                <a:ea typeface="Microsoft YaHei UI" panose="020B0503020204020204" charset="-122"/>
                <a:cs typeface="Microsoft YaHei UI" panose="020B0503020204020204" charset="-122"/>
              </a:rPr>
              <a:t>FirmGovernance</a:t>
            </a:r>
            <a:endParaRPr sz="131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4610100" y="4038600"/>
            <a:ext cx="3076575"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3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030" b="0">
                <a:solidFill>
                  <a:srgbClr val="0F1115"/>
                </a:solidFill>
                <a:latin typeface="Microsoft YaHei UI" panose="020B0503020204020204" charset="-122"/>
                <a:ea typeface="Microsoft YaHei UI" panose="020B0503020204020204" charset="-122"/>
                <a:cs typeface="Microsoft YaHei UI" panose="020B0503020204020204" charset="-122"/>
              </a:rPr>
              <a:t>平台反制强度：验证码、封禁、限流、额度重算、来源识别等规则变化。</a:t>
            </a:r>
            <a:endParaRPr sz="103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8" name="圆角矩形 47"/>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9" name="矩形 48"/>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50" name="矩形 49"/>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变量不是凭空造词，而是把论文里“看得见的市场现象”转成可以进入模型的数字。</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4" name="矩形: 圆角 53"/>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6" name="矩形: 圆角 5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8" name="矩形: 圆角 57"/>
          <p:cNvSpPr/>
          <p:nvPr/>
        </p:nvSpPr>
        <p:spPr>
          <a:xfrm>
            <a:off x="68199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0F1115"/>
              </a:solidFill>
              <a:latin typeface="Microsoft YaHei UI" panose="020B0503020204020204" charset="-122"/>
            </a:endParaRPr>
          </a:p>
        </p:txBody>
      </p:sp>
      <p:sp>
        <p:nvSpPr>
          <p:cNvPr id="60" name="矩形: 圆角 5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62" name="矩形: 圆角 6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4" name="矩形: 圆角 6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6" name="矩形 6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24</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25</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控制变量：避免把共同冲击误判为代理效应</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控制项覆盖平台热度、AI总体热度、模型更新、官方价格、免费权益和季节性。</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需求热度</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平台搜索指数、社媒讨论量、新闻报道、应用商店评论，避免把热门平台自然增长误判为代理增长。</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行业共同冲击</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AI总体热度、竞争平台降价、新模型发布，控制同一时期所有平台都可能受到的外部变化。</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服务状态</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平台可访问性、宕机、卡顿、服务器繁忙，避免把技术故障误判为权益收缩或消费者负面情绪。</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时间周期</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考试季、毕业季、节假日、周度/月度虚拟变量，处理周期性需求波动。</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控制变量的作用是让模型更谨慎：不是看到相关性就讲故事，而是先排除常见共同原因。</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0F1115"/>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25</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26</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文本处理流程：让公开文本变成可回归变量</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AI文本处理只服务于变量构造，不作为核心因果识别方法。</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25" name="圆角矩形 24"/>
          <p:cNvSpPr>
            <a:spLocks noGrp="1"/>
          </p:cNvSpPr>
          <p:nvPr/>
        </p:nvSpPr>
        <p:spPr>
          <a:xfrm>
            <a:off x="666750" y="2638425"/>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1239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01</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620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公开文本抓取</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22860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24860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30" name="圆角矩形 29"/>
          <p:cNvSpPr>
            <a:spLocks noGrp="1"/>
          </p:cNvSpPr>
          <p:nvPr/>
        </p:nvSpPr>
        <p:spPr>
          <a:xfrm>
            <a:off x="24384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31" name="圆角矩形 30"/>
          <p:cNvSpPr>
            <a:spLocks noGrp="1"/>
          </p:cNvSpPr>
          <p:nvPr/>
        </p:nvSpPr>
        <p:spPr>
          <a:xfrm>
            <a:off x="25527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32" name="矩形 31"/>
          <p:cNvSpPr>
            <a:spLocks noGrp="1"/>
          </p:cNvSpPr>
          <p:nvPr/>
        </p:nvSpPr>
        <p:spPr>
          <a:xfrm>
            <a:off x="30099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02</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26479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去重与平台归属识别</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4" name="矩形 33"/>
          <p:cNvSpPr>
            <a:spLocks noGrp="1"/>
          </p:cNvSpPr>
          <p:nvPr/>
        </p:nvSpPr>
        <p:spPr>
          <a:xfrm>
            <a:off x="4171950" y="33528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5" name="圆角矩形 34"/>
          <p:cNvSpPr>
            <a:spLocks noGrp="1"/>
          </p:cNvSpPr>
          <p:nvPr/>
        </p:nvSpPr>
        <p:spPr>
          <a:xfrm>
            <a:off x="43719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36" name="圆角矩形 35"/>
          <p:cNvSpPr>
            <a:spLocks noGrp="1"/>
          </p:cNvSpPr>
          <p:nvPr/>
        </p:nvSpPr>
        <p:spPr>
          <a:xfrm>
            <a:off x="43243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37" name="圆角矩形 36"/>
          <p:cNvSpPr>
            <a:spLocks noGrp="1"/>
          </p:cNvSpPr>
          <p:nvPr/>
        </p:nvSpPr>
        <p:spPr>
          <a:xfrm>
            <a:off x="4438650" y="2638425"/>
            <a:ext cx="361950" cy="266700"/>
          </a:xfrm>
          <a:prstGeom prst="roundRect">
            <a:avLst>
              <a:gd name="adj" fmla="val 28571"/>
            </a:avLst>
          </a:prstGeom>
          <a:solidFill>
            <a:srgbClr val="61A298"/>
          </a:solidFill>
          <a:ln w="0">
            <a:solidFill>
              <a:srgbClr val="61A298"/>
            </a:solidFill>
            <a:prstDash val="solid"/>
          </a:ln>
        </p:spPr>
        <p:txBody>
          <a:bodyPr/>
          <a:p/>
        </p:txBody>
      </p:sp>
      <p:sp>
        <p:nvSpPr>
          <p:cNvPr id="38" name="矩形 37"/>
          <p:cNvSpPr>
            <a:spLocks noGrp="1"/>
          </p:cNvSpPr>
          <p:nvPr/>
        </p:nvSpPr>
        <p:spPr>
          <a:xfrm>
            <a:off x="48958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03</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9" name="矩形 38"/>
          <p:cNvSpPr>
            <a:spLocks noGrp="1"/>
          </p:cNvSpPr>
          <p:nvPr/>
        </p:nvSpPr>
        <p:spPr>
          <a:xfrm>
            <a:off x="45339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关键词规则初筛</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0" name="矩形 39"/>
          <p:cNvSpPr>
            <a:spLocks noGrp="1"/>
          </p:cNvSpPr>
          <p:nvPr/>
        </p:nvSpPr>
        <p:spPr>
          <a:xfrm>
            <a:off x="60579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圆角矩形 40"/>
          <p:cNvSpPr>
            <a:spLocks noGrp="1"/>
          </p:cNvSpPr>
          <p:nvPr/>
        </p:nvSpPr>
        <p:spPr>
          <a:xfrm>
            <a:off x="62579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42" name="圆角矩形 41"/>
          <p:cNvSpPr>
            <a:spLocks noGrp="1"/>
          </p:cNvSpPr>
          <p:nvPr/>
        </p:nvSpPr>
        <p:spPr>
          <a:xfrm>
            <a:off x="62103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43" name="圆角矩形 42"/>
          <p:cNvSpPr>
            <a:spLocks noGrp="1"/>
          </p:cNvSpPr>
          <p:nvPr/>
        </p:nvSpPr>
        <p:spPr>
          <a:xfrm>
            <a:off x="63246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44" name="矩形 43"/>
          <p:cNvSpPr>
            <a:spLocks noGrp="1"/>
          </p:cNvSpPr>
          <p:nvPr/>
        </p:nvSpPr>
        <p:spPr>
          <a:xfrm>
            <a:off x="67818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04</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64198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大语言模型辅助分类</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a:spLocks noGrp="1"/>
          </p:cNvSpPr>
          <p:nvPr/>
        </p:nvSpPr>
        <p:spPr>
          <a:xfrm>
            <a:off x="7943850" y="33528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圆角矩形 46"/>
          <p:cNvSpPr>
            <a:spLocks noGrp="1"/>
          </p:cNvSpPr>
          <p:nvPr/>
        </p:nvSpPr>
        <p:spPr>
          <a:xfrm>
            <a:off x="8143875" y="25812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48" name="圆角矩形 47"/>
          <p:cNvSpPr>
            <a:spLocks noGrp="1"/>
          </p:cNvSpPr>
          <p:nvPr/>
        </p:nvSpPr>
        <p:spPr>
          <a:xfrm>
            <a:off x="8096250" y="2524125"/>
            <a:ext cx="1676400" cy="1219200"/>
          </a:xfrm>
          <a:prstGeom prst="roundRect">
            <a:avLst>
              <a:gd name="adj" fmla="val 6250"/>
            </a:avLst>
          </a:prstGeom>
          <a:solidFill>
            <a:srgbClr val="FFFFFF"/>
          </a:solidFill>
          <a:ln w="11430">
            <a:solidFill>
              <a:srgbClr val="BED7D2"/>
            </a:solidFill>
            <a:prstDash val="solid"/>
          </a:ln>
        </p:spPr>
        <p:txBody>
          <a:bodyPr/>
          <a:p/>
        </p:txBody>
      </p:sp>
      <p:sp>
        <p:nvSpPr>
          <p:cNvPr id="49" name="圆角矩形 48"/>
          <p:cNvSpPr>
            <a:spLocks noGrp="1"/>
          </p:cNvSpPr>
          <p:nvPr/>
        </p:nvSpPr>
        <p:spPr>
          <a:xfrm>
            <a:off x="8210550" y="2638425"/>
            <a:ext cx="361950" cy="266700"/>
          </a:xfrm>
          <a:prstGeom prst="roundRect">
            <a:avLst>
              <a:gd name="adj" fmla="val 28571"/>
            </a:avLst>
          </a:prstGeom>
          <a:solidFill>
            <a:srgbClr val="61A298"/>
          </a:solidFill>
          <a:ln w="0">
            <a:solidFill>
              <a:srgbClr val="61A298"/>
            </a:solidFill>
            <a:prstDash val="solid"/>
          </a:ln>
        </p:spPr>
        <p:txBody>
          <a:bodyPr/>
          <a:p/>
        </p:txBody>
      </p:sp>
      <p:sp>
        <p:nvSpPr>
          <p:cNvPr id="50" name="矩形 49"/>
          <p:cNvSpPr>
            <a:spLocks noGrp="1"/>
          </p:cNvSpPr>
          <p:nvPr/>
        </p:nvSpPr>
        <p:spPr>
          <a:xfrm>
            <a:off x="8667750" y="26479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05</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8305800" y="29432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人工抽样复核</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52" name="矩形 51"/>
          <p:cNvSpPr>
            <a:spLocks noGrp="1"/>
          </p:cNvSpPr>
          <p:nvPr/>
        </p:nvSpPr>
        <p:spPr>
          <a:xfrm>
            <a:off x="9829800" y="2933700"/>
            <a:ext cx="228600" cy="323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1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2100" b="1">
                <a:solidFill>
                  <a:srgbClr val="065758"/>
                </a:solidFill>
                <a:latin typeface="Microsoft YaHei UI" panose="020B0503020204020204" charset="-122"/>
                <a:ea typeface="Microsoft YaHei UI" panose="020B0503020204020204" charset="-122"/>
                <a:cs typeface="Microsoft YaHei UI" panose="020B0503020204020204" charset="-122"/>
              </a:rPr>
              <a:t>&gt;</a:t>
            </a:r>
            <a:endParaRPr sz="21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3" name="圆角矩形 52"/>
          <p:cNvSpPr>
            <a:spLocks noGrp="1"/>
          </p:cNvSpPr>
          <p:nvPr/>
        </p:nvSpPr>
        <p:spPr>
          <a:xfrm>
            <a:off x="10029825" y="3000375"/>
            <a:ext cx="1676400" cy="1219200"/>
          </a:xfrm>
          <a:prstGeom prst="roundRect">
            <a:avLst>
              <a:gd name="adj" fmla="val 6250"/>
            </a:avLst>
          </a:prstGeom>
          <a:solidFill>
            <a:srgbClr val="D8E8E5"/>
          </a:solidFill>
          <a:ln w="0">
            <a:solidFill>
              <a:srgbClr val="000000">
                <a:alpha val="0"/>
              </a:srgbClr>
            </a:solidFill>
            <a:prstDash val="solid"/>
          </a:ln>
        </p:spPr>
        <p:txBody>
          <a:bodyPr/>
          <a:p/>
        </p:txBody>
      </p:sp>
      <p:sp>
        <p:nvSpPr>
          <p:cNvPr id="54" name="圆角矩形 53"/>
          <p:cNvSpPr>
            <a:spLocks noGrp="1"/>
          </p:cNvSpPr>
          <p:nvPr/>
        </p:nvSpPr>
        <p:spPr>
          <a:xfrm>
            <a:off x="9982200" y="2943225"/>
            <a:ext cx="1676400" cy="1219200"/>
          </a:xfrm>
          <a:prstGeom prst="roundRect">
            <a:avLst>
              <a:gd name="adj" fmla="val 6250"/>
            </a:avLst>
          </a:prstGeom>
          <a:solidFill>
            <a:srgbClr val="FFF3C2"/>
          </a:solidFill>
          <a:ln w="11430">
            <a:solidFill>
              <a:srgbClr val="BED7D2"/>
            </a:solidFill>
            <a:prstDash val="solid"/>
          </a:ln>
        </p:spPr>
        <p:txBody>
          <a:bodyPr/>
          <a:p/>
        </p:txBody>
      </p:sp>
      <p:sp>
        <p:nvSpPr>
          <p:cNvPr id="55" name="圆角矩形 54"/>
          <p:cNvSpPr>
            <a:spLocks noGrp="1"/>
          </p:cNvSpPr>
          <p:nvPr/>
        </p:nvSpPr>
        <p:spPr>
          <a:xfrm>
            <a:off x="10096500" y="3057525"/>
            <a:ext cx="361950" cy="266700"/>
          </a:xfrm>
          <a:prstGeom prst="roundRect">
            <a:avLst>
              <a:gd name="adj" fmla="val 28571"/>
            </a:avLst>
          </a:prstGeom>
          <a:solidFill>
            <a:srgbClr val="61A298"/>
          </a:solidFill>
          <a:ln w="0">
            <a:solidFill>
              <a:srgbClr val="61A298"/>
            </a:solidFill>
            <a:prstDash val="solid"/>
          </a:ln>
        </p:spPr>
        <p:txBody>
          <a:bodyPr/>
          <a:p/>
        </p:txBody>
      </p:sp>
      <p:sp>
        <p:nvSpPr>
          <p:cNvPr id="56" name="矩形 55"/>
          <p:cNvSpPr>
            <a:spLocks noGrp="1"/>
          </p:cNvSpPr>
          <p:nvPr/>
        </p:nvSpPr>
        <p:spPr>
          <a:xfrm>
            <a:off x="10553700" y="3067050"/>
            <a:ext cx="93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06</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57" name="矩形 56"/>
          <p:cNvSpPr>
            <a:spLocks noGrp="1"/>
          </p:cNvSpPr>
          <p:nvPr/>
        </p:nvSpPr>
        <p:spPr>
          <a:xfrm>
            <a:off x="10191750" y="3362325"/>
            <a:ext cx="12763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指数合成进入面板</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58" name="圆角矩形 57"/>
          <p:cNvSpPr>
            <a:spLocks noGrp="1"/>
          </p:cNvSpPr>
          <p:nvPr/>
        </p:nvSpPr>
        <p:spPr>
          <a:xfrm>
            <a:off x="895350" y="4762500"/>
            <a:ext cx="10401300" cy="438150"/>
          </a:xfrm>
          <a:prstGeom prst="roundRect">
            <a:avLst>
              <a:gd name="adj" fmla="val 17391"/>
            </a:avLst>
          </a:prstGeom>
          <a:solidFill>
            <a:srgbClr val="FFFFFF"/>
          </a:solidFill>
          <a:ln w="9525">
            <a:solidFill>
              <a:srgbClr val="B8D8D3"/>
            </a:solidFill>
            <a:prstDash val="solid"/>
          </a:ln>
        </p:spPr>
        <p:txBody>
          <a:bodyPr/>
          <a:p/>
        </p:txBody>
      </p:sp>
      <p:sp>
        <p:nvSpPr>
          <p:cNvPr id="59" name="矩形 58"/>
          <p:cNvSpPr>
            <a:spLocks noGrp="1"/>
          </p:cNvSpPr>
          <p:nvPr/>
        </p:nvSpPr>
        <p:spPr>
          <a:xfrm>
            <a:off x="1143000" y="4876800"/>
            <a:ext cx="12382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讲述逻辑</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60" name="矩形 59"/>
          <p:cNvSpPr>
            <a:spLocks noGrp="1"/>
          </p:cNvSpPr>
          <p:nvPr/>
        </p:nvSpPr>
        <p:spPr>
          <a:xfrm>
            <a:off x="2381250" y="4857750"/>
            <a:ext cx="8572500" cy="2476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0">
                <a:solidFill>
                  <a:srgbClr val="0F1115"/>
                </a:solidFill>
                <a:latin typeface="Microsoft YaHei UI" panose="020B0503020204020204" charset="-122"/>
                <a:ea typeface="Microsoft YaHei UI" panose="020B0503020204020204" charset="-122"/>
                <a:cs typeface="Microsoft YaHei UI" panose="020B0503020204020204" charset="-122"/>
              </a:defRPr>
            </a:pPr>
            <a:r>
              <a:rPr sz="1350" b="0">
                <a:solidFill>
                  <a:srgbClr val="0F1115"/>
                </a:solidFill>
                <a:latin typeface="Microsoft YaHei UI" panose="020B0503020204020204" charset="-122"/>
                <a:ea typeface="Microsoft YaHei UI" panose="020B0503020204020204" charset="-122"/>
                <a:cs typeface="Microsoft YaHei UI" panose="020B0503020204020204" charset="-122"/>
              </a:rPr>
              <a:t>文本处理不是为了替代经济模型，而是把分散在网页、评论和公告里的信息整理成统一口径。</a:t>
            </a:r>
            <a:endParaRPr sz="135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61" name="矩形 60"/>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61"/>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64" name="矩形: 圆角 63"/>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66" name="矩形: 圆角 65"/>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68" name="矩形: 圆角 67"/>
          <p:cNvSpPr/>
          <p:nvPr/>
        </p:nvSpPr>
        <p:spPr>
          <a:xfrm>
            <a:off x="68199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0F1115"/>
              </a:solidFill>
              <a:latin typeface="Microsoft YaHei UI" panose="020B0503020204020204" charset="-122"/>
            </a:endParaRPr>
          </a:p>
        </p:txBody>
      </p:sp>
      <p:sp>
        <p:nvSpPr>
          <p:cNvPr id="70" name="矩形: 圆角 69"/>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72" name="矩形: 圆角 71"/>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74" name="矩形: 圆角 73"/>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76" name="矩形 75"/>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26</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27</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综合指数构建：先等权作为基准，再用多种权重检验稳健性</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避免单一权重方案主导结论，ProxyIntensity、PERI、FirmGovernance 等都要做替代构造。</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基准方案</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等权法：透明、可解释，适合研究计划初始版本，也便于评委理解指标含义。</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稳健替代</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熵权法：让信息量更大的指标获得更高权重，检验结论是否依赖主观权重。</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降维替代</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主成分分析 PCA：检验指标共同变化方向，避免多指标高度相关带来的重复计量。</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标准化求和</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统一量纲后加总，便于跨平台、跨时间比较，并保留直观解释。</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指数构建的原则是先可解释，再稳健；先让变量说清楚，再用替代口径检验是否可靠。</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0F1115"/>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27</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28</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识别思路总览：四个模型分别回答什么问题</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模型不是堆公式，而是沿着“形成、外溢、福利、治理”四个环节逐步推进。</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模型一：形成</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PriceGap 与 FreeBenefit 是否推高 ProxyIntensity，回答“套利为什么出现”。</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模型二：外溢</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滞后 ProxyIntensity 是否推高 PERI，回答“灰色代理是否影响平台权益”。</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模型三：福利</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PERI 是否推高 NegativeSentiment，回答“权益变化是否转化为消费者福利问题”。</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模型四：治理</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FirmGovernance 是否降低 ProxyIntensity，同时观察副作用，回答“平台反制是否有效且可接受”。</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先把四个模型摆在一页，评委就能知道后面的公式不是孤立出现，而是在按故事线排队。</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28</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29</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主识别策略：平台—时间双向固定效应</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核心目标是控制平台之间稳定差异，以及同期所有平台共同受到的行业冲击。</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平台固定效应</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控制品牌影响、商业模式、技术路线、用户基础等相对稳定差异。</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时间固定效应</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控制AI舆论热度、宏观需求、行业共同冲击和同期技术更新。</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滞后处理</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对关键解释变量设置滞后，缓解反向因果，比如先有代理强度，再观察后续权益收缩。</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研究定位</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当前是拟检验框架，不虚构已完成回归结果；实证结果需要后续数据落地。</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双向固定效应的直觉是：同一个平台和同一个时间背景先固定住，再观察变量的相对变化。</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29</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30</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模型一：价格楔子是否推高反向代理强度？</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对应 H1。核心看 PriceGap 与 FreeBenefit 的系数方向和稳健性。</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723773"/>
            <a:ext cx="6800850" cy="648453"/>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被解释变量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ProxyIntensity：平台 p 在时间 t 的反向代理强度。</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核心解释变量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PriceGap 与 FreeBenefit 分别刻画套利空间和低成本入口强度。</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8" name="圆角矩形 37"/>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9" name="圆角矩形 38"/>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0" name="矩形 39"/>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固定效应</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平台固定效应与时间固定效应共同控制不可观测平台差异和行业共同冲击。</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2" name="圆角矩形 41"/>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3" name="矩形 42"/>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若 β1、β2 为正，说明价格分层与免费权益越强，代理活动越容易被诱发。</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圆角矩形 43"/>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5" name="矩形 44"/>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6" name="矩形 45"/>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这页是H1的实证入口：把“价格差吸引套利”从直觉变成可估计命题。</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0" name="矩形: 圆角 49"/>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2" name="矩形: 圆角 51"/>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4" name="矩形: 圆角 53"/>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6" name="矩形: 圆角 55"/>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8" name="矩形: 圆角 57"/>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0" name="矩形: 圆角 59"/>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2" name="矩形 61"/>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30</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31</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模型二：反向代理强度是否导致平台权益收缩？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对应 H2。使用滞后一期代理强度，降低反向因果解释。</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785034"/>
            <a:ext cx="6800850" cy="525932"/>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被解释变量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PERI：平台权益收缩指数。</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关键解释</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ProxyIntensity 的滞后项用于观察代理活动是否先于权益收缩发生。</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8" name="圆角矩形 37"/>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9" name="圆角矩形 38"/>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0" name="矩形 39"/>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解释边界</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如果系数为正，说明代理强度与后续权益收缩存在一致关系，但仍需稳健性检验支持。</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2" name="圆角矩形 41"/>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3" name="矩形 42"/>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这页回答：灰色代理是否会外溢到普通用户体验。</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圆角矩形 43"/>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5" name="矩形 44"/>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6" name="矩形 45"/>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模型二把市场失灵从灰色市场内部推到平台治理层面。</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0" name="矩形: 圆角 49"/>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2" name="矩形: 圆角 51"/>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4" name="矩形: 圆角 53"/>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6" name="矩形: 圆角 55"/>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8" name="矩形: 圆角 57"/>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0" name="矩形: 圆角 59"/>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2" name="矩形 61"/>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31</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32</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模型三：权益收缩是否引发消费者负面情绪？</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把平台治理反应与消费者福利变化连接起来。</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812586"/>
            <a:ext cx="6800850" cy="470828"/>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被解释变量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NegativeSentiment：投诉、退款、失效、隐私担忧等文本强度。</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核心解释</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PERI 上升若伴随负面情绪增加，说明权益收缩存在消费者感知到的福利代价。</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8" name="圆角矩形 37"/>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9" name="圆角矩形 38"/>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0" name="矩形 39"/>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控制逻辑</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同时控制需求热度、平台服务状态和行业共同冲击，避免把普通舆情波动误判为权益效应。</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2" name="圆角矩形 41"/>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3" name="矩形 42"/>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这一步把“平台收缩权益”从规则变化转化为消费者福利问题。</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圆角矩形 43"/>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5" name="矩形 44"/>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6" name="矩形 45"/>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如果用户开始更多抱怨失效、退款和隐私风险，市场失灵就不再只是平台内部成本问题。</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0" name="矩形: 圆角 49"/>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2" name="矩形: 圆角 51"/>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4" name="矩形: 圆角 53"/>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6" name="矩形: 圆角 55"/>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8" name="矩形: 圆角 57"/>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0" name="矩形: 圆角 59"/>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2" name="矩形 61"/>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32</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33</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模型四：平台反制能否降低反向代理强度？</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平台治理不是越强越好，还要同时观察 PERI 和消费者情绪副作用。</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818758"/>
            <a:ext cx="6800850" cy="458484"/>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核心解释变量</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FirmGovernance 的滞后项表示平台反制强度。</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解释重点</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若 β 为负，说明反制可能降低代理强度；若同时推高 PERI 或负面情绪，则需评估副作用。</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8" name="圆角矩形 37"/>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9" name="圆角矩形 38"/>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0" name="矩形 39"/>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治理含义</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有效治理应降低灰色代理，同时尽量减少对普通用户和正规开发者的误伤。</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2" name="圆角矩形 41"/>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3" name="矩形 42"/>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治理评价要看“压低灰色代理”和“保护普通用户体验”两个目标。</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圆角矩形 43"/>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5" name="矩形 44"/>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6" name="矩形 45"/>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模型四避免把治理简化为封禁强度，而是把效果和副作用放在同一张桌上讨论。</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0" name="矩形: 圆角 49"/>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2" name="矩形: 圆角 51"/>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4" name="矩形: 圆角 53"/>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6" name="矩形: 圆角 55"/>
          <p:cNvSpPr/>
          <p:nvPr/>
        </p:nvSpPr>
        <p:spPr>
          <a:xfrm>
            <a:off x="80391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0F1115"/>
              </a:solidFill>
              <a:latin typeface="Microsoft YaHei UI" panose="020B0503020204020204" charset="-122"/>
            </a:endParaRPr>
          </a:p>
        </p:txBody>
      </p:sp>
      <p:sp>
        <p:nvSpPr>
          <p:cNvPr id="58" name="矩形: 圆角 57"/>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60" name="矩形: 圆角 59"/>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2" name="矩形 61"/>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33</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34</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为什么当前不直接使用 DID 或 DDD？</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论文谨慎区分：现在没有全国统一、清晰可识别的 AI 反向代理治理政策冲击。</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不能硬做DID</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缺少明确处理组、冲击时点和可验证政策事件；若强行使用，容易把普通行业变化误称为政策效应。</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当前定位</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政府介入设定为制度情景变量，用于预测性评估，而不是宣称已经发生准自然实验。</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未来扩展</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若出现明确政策事件，可扩展为事件研究、DID 或 DDD，并检验平行趋势。</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方法态度</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宁愿保守，也不把不存在的政策冲击包装成因果识别。</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这页体现论文严谨性：方法要服从事实环境，不能为了显得高级而硬套DID。</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34</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35</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预测模型：用情景变量评估政府协同治理的潜在效果</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公式（12）用于预测，不构成已发生政策冲击的因果识别。</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667000"/>
          </a:xfrm>
          <a:prstGeom prst="roundRect">
            <a:avLst>
              <a:gd name="adj" fmla="val 2857"/>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667000"/>
          </a:xfrm>
          <a:prstGeom prst="roundRect">
            <a:avLst>
              <a:gd name="adj" fmla="val 2857"/>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706504"/>
            <a:ext cx="6800850" cy="930643"/>
          </a:xfrm>
          <a:prstGeom prst="rect">
            <a:avLst/>
          </a:prstGeom>
        </p:spPr>
      </p:pic>
      <p:sp>
        <p:nvSpPr>
          <p:cNvPr id="26" name="矩形 25"/>
          <p:cNvSpPr>
            <a:spLocks noGrp="1"/>
          </p:cNvSpPr>
          <p:nvPr/>
        </p:nvSpPr>
        <p:spPr>
          <a:xfrm>
            <a:off x="781050" y="440055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8" name="圆角矩形 27"/>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29" name="圆角矩形 28"/>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0" name="矩形 29"/>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预测对象</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下一期 ProxyIntensity，即不同情景下反向代理强度可能如何变化。</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3" name="圆角矩形 32"/>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4" name="圆角矩形 33"/>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5" name="矩形 34"/>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模型选择</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动态面板为基准，随机森林或 XGBoost 捕捉非线性与变量交互。</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7" name="圆角矩形 36"/>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8" name="圆角矩形 37"/>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9" name="圆角矩形 38"/>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0" name="矩形 39"/>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治理情景</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RegulationScenario 取 0至3，表示来源披露、支付审核、应用商店和广告平台协同治理强度。</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2" name="圆角矩形 41"/>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3" name="矩形 42"/>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这页的重点是“前瞻模拟”，不是宣称政策已经产生因果效应。</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4" name="圆角矩形 43"/>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5" name="矩形 44"/>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6" name="矩形 45"/>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预测模型像政策沙盘：在没有真实冲击前，先比较不同治理组合的可能方向和相对强度。</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0" name="矩形: 圆角 49"/>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2" name="矩形: 圆角 51"/>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4" name="矩形: 圆角 53"/>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6" name="矩形: 圆角 55"/>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8" name="矩形: 圆角 57"/>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60" name="矩形: 圆角 59"/>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2" name="矩形 61"/>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35</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36</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反事实模拟：比较不同监管情景下的代理强度变化</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公式（13）（14）把各情景预测值与基准情景比较，得到潜在治理效果。</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00075" y="2133600"/>
            <a:ext cx="7334250" cy="2952750"/>
          </a:xfrm>
          <a:prstGeom prst="roundRect">
            <a:avLst>
              <a:gd name="adj" fmla="val 2581"/>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552450" y="2076450"/>
            <a:ext cx="7334250" cy="2952750"/>
          </a:xfrm>
          <a:prstGeom prst="roundRect">
            <a:avLst>
              <a:gd name="adj" fmla="val 2581"/>
            </a:avLst>
          </a:prstGeom>
          <a:solidFill>
            <a:srgbClr val="FFFFFF"/>
          </a:solidFill>
          <a:ln w="11430">
            <a:solidFill>
              <a:srgbClr val="B8D8D3"/>
            </a:solidFill>
            <a:prstDash val="solid"/>
          </a:ln>
        </p:spPr>
        <p:txBody>
          <a:bodyPr/>
          <a:p/>
        </p:txBody>
      </p:sp>
      <p:pic>
        <p:nvPicPr>
          <p:cNvPr id="25" name="图片 24"/>
          <p:cNvPicPr>
            <a:picLocks noChangeAspect="1"/>
          </p:cNvPicPr>
          <p:nvPr/>
        </p:nvPicPr>
        <p:blipFill>
          <a:blip r:embed="rId1"/>
          <a:stretch>
            <a:fillRect/>
          </a:stretch>
        </p:blipFill>
        <p:spPr>
          <a:xfrm>
            <a:off x="819150" y="2392179"/>
            <a:ext cx="6800850" cy="930643"/>
          </a:xfrm>
          <a:prstGeom prst="rect">
            <a:avLst/>
          </a:prstGeom>
        </p:spPr>
      </p:pic>
      <p:pic>
        <p:nvPicPr>
          <p:cNvPr id="26" name="图片 25"/>
          <p:cNvPicPr>
            <a:picLocks noChangeAspect="1"/>
          </p:cNvPicPr>
          <p:nvPr/>
        </p:nvPicPr>
        <p:blipFill>
          <a:blip r:embed="rId2"/>
          <a:stretch>
            <a:fillRect/>
          </a:stretch>
        </p:blipFill>
        <p:spPr>
          <a:xfrm>
            <a:off x="819150" y="3892868"/>
            <a:ext cx="6800850" cy="291465"/>
          </a:xfrm>
          <a:prstGeom prst="rect">
            <a:avLst/>
          </a:prstGeom>
        </p:spPr>
      </p:pic>
      <p:sp>
        <p:nvSpPr>
          <p:cNvPr id="27" name="矩形 26"/>
          <p:cNvSpPr>
            <a:spLocks noGrp="1"/>
          </p:cNvSpPr>
          <p:nvPr/>
        </p:nvSpPr>
        <p:spPr>
          <a:xfrm>
            <a:off x="781050" y="4686300"/>
            <a:ext cx="6877050" cy="2286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940" b="0">
                <a:solidFill>
                  <a:srgbClr val="4B5563"/>
                </a:solidFill>
                <a:latin typeface="Microsoft YaHei UI" panose="020B0503020204020204" charset="-122"/>
                <a:ea typeface="Microsoft YaHei UI" panose="020B0503020204020204" charset="-122"/>
                <a:cs typeface="Microsoft YaHei UI" panose="020B0503020204020204" charset="-122"/>
              </a:defRPr>
            </a:pPr>
            <a:r>
              <a:rPr sz="940" b="0">
                <a:solidFill>
                  <a:srgbClr val="4B5563"/>
                </a:solidFill>
                <a:latin typeface="Microsoft YaHei UI" panose="020B0503020204020204" charset="-122"/>
                <a:ea typeface="Microsoft YaHei UI" panose="020B0503020204020204" charset="-122"/>
                <a:cs typeface="Microsoft YaHei UI" panose="020B0503020204020204" charset="-122"/>
              </a:rPr>
              <a:t>源报告公式截图兜底：保留编号与数学符号，旁侧重写经济含义</a:t>
            </a:r>
            <a:endParaRPr sz="940"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8239125" y="21050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8191500" y="2047875"/>
            <a:ext cx="3238500" cy="819150"/>
          </a:xfrm>
          <a:prstGeom prst="roundRect">
            <a:avLst>
              <a:gd name="adj" fmla="val 9302"/>
            </a:avLst>
          </a:prstGeom>
          <a:solidFill>
            <a:srgbClr val="FFF3C2"/>
          </a:solidFill>
          <a:ln w="11430">
            <a:solidFill>
              <a:srgbClr val="BED7D2"/>
            </a:solidFill>
            <a:prstDash val="solid"/>
          </a:ln>
        </p:spPr>
        <p:txBody>
          <a:bodyPr/>
          <a:p/>
        </p:txBody>
      </p:sp>
      <p:sp>
        <p:nvSpPr>
          <p:cNvPr id="30" name="圆角矩形 29"/>
          <p:cNvSpPr>
            <a:spLocks noGrp="1"/>
          </p:cNvSpPr>
          <p:nvPr/>
        </p:nvSpPr>
        <p:spPr>
          <a:xfrm>
            <a:off x="8305800" y="2162175"/>
            <a:ext cx="361950" cy="266700"/>
          </a:xfrm>
          <a:prstGeom prst="roundRect">
            <a:avLst>
              <a:gd name="adj" fmla="val 28571"/>
            </a:avLst>
          </a:prstGeom>
          <a:solidFill>
            <a:srgbClr val="FFC819"/>
          </a:solidFill>
          <a:ln w="0">
            <a:solidFill>
              <a:srgbClr val="FFC819"/>
            </a:solidFill>
            <a:prstDash val="solid"/>
          </a:ln>
        </p:spPr>
        <p:txBody>
          <a:bodyPr/>
          <a:p/>
        </p:txBody>
      </p:sp>
      <p:sp>
        <p:nvSpPr>
          <p:cNvPr id="31" name="矩形 30"/>
          <p:cNvSpPr>
            <a:spLocks noGrp="1"/>
          </p:cNvSpPr>
          <p:nvPr/>
        </p:nvSpPr>
        <p:spPr>
          <a:xfrm>
            <a:off x="8763000" y="21717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情景0</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8401050" y="24669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无额外监管，作为 baseline。</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239125" y="30194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8191500" y="29622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305800" y="30765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8763000" y="30861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情景1至3</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401050" y="33813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来源披露、支付审核、应用商店和广告平台协同治理逐步叠加。</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8239125" y="3933825"/>
            <a:ext cx="3238500" cy="819150"/>
          </a:xfrm>
          <a:prstGeom prst="roundRect">
            <a:avLst>
              <a:gd name="adj" fmla="val 9302"/>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8191500" y="3876675"/>
            <a:ext cx="3238500" cy="819150"/>
          </a:xfrm>
          <a:prstGeom prst="roundRect">
            <a:avLst>
              <a:gd name="adj" fmla="val 9302"/>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8305800" y="39909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8763000" y="4000500"/>
            <a:ext cx="2495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4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40" b="1">
                <a:solidFill>
                  <a:srgbClr val="065758"/>
                </a:solidFill>
                <a:latin typeface="Microsoft YaHei UI" panose="020B0503020204020204" charset="-122"/>
                <a:ea typeface="Microsoft YaHei UI" panose="020B0503020204020204" charset="-122"/>
                <a:cs typeface="Microsoft YaHei UI" panose="020B0503020204020204" charset="-122"/>
              </a:rPr>
              <a:t>比较指标</a:t>
            </a:r>
            <a:endParaRPr sz="124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8401050" y="4295775"/>
            <a:ext cx="2838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60" b="0">
                <a:solidFill>
                  <a:srgbClr val="0F1115"/>
                </a:solidFill>
                <a:latin typeface="Microsoft YaHei UI" panose="020B0503020204020204" charset="-122"/>
                <a:ea typeface="Microsoft YaHei UI" panose="020B0503020204020204" charset="-122"/>
                <a:cs typeface="Microsoft YaHei UI" panose="020B0503020204020204" charset="-122"/>
              </a:defRPr>
            </a:pPr>
            <a:r>
              <a:rPr sz="960" b="0">
                <a:solidFill>
                  <a:srgbClr val="0F1115"/>
                </a:solidFill>
                <a:latin typeface="Microsoft YaHei UI" panose="020B0503020204020204" charset="-122"/>
                <a:ea typeface="Microsoft YaHei UI" panose="020B0503020204020204" charset="-122"/>
                <a:cs typeface="Microsoft YaHei UI" panose="020B0503020204020204" charset="-122"/>
              </a:rPr>
              <a:t>ΔProxyIntensity 越低，说明该情景下代理强度下降越明显。</a:t>
            </a:r>
            <a:endParaRPr sz="960"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8191500" y="4810125"/>
            <a:ext cx="3238500" cy="495300"/>
          </a:xfrm>
          <a:prstGeom prst="roundRect">
            <a:avLst>
              <a:gd name="adj" fmla="val 15385"/>
            </a:avLst>
          </a:prstGeom>
          <a:solidFill>
            <a:srgbClr val="EAF5F2"/>
          </a:solidFill>
          <a:ln w="10478">
            <a:solidFill>
              <a:srgbClr val="B8D8D3"/>
            </a:solidFill>
            <a:prstDash val="solid"/>
          </a:ln>
        </p:spPr>
        <p:txBody>
          <a:bodyPr/>
          <a:p/>
        </p:txBody>
      </p:sp>
      <p:sp>
        <p:nvSpPr>
          <p:cNvPr id="44" name="矩形 43"/>
          <p:cNvSpPr>
            <a:spLocks noGrp="1"/>
          </p:cNvSpPr>
          <p:nvPr/>
        </p:nvSpPr>
        <p:spPr>
          <a:xfrm>
            <a:off x="8362950" y="4895850"/>
            <a:ext cx="2895600" cy="3048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0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200" b="1">
                <a:solidFill>
                  <a:srgbClr val="065758"/>
                </a:solidFill>
                <a:latin typeface="Microsoft YaHei UI" panose="020B0503020204020204" charset="-122"/>
                <a:ea typeface="Microsoft YaHei UI" panose="020B0503020204020204" charset="-122"/>
                <a:cs typeface="Microsoft YaHei UI" panose="020B0503020204020204" charset="-122"/>
              </a:rPr>
              <a:t>治理评估的输出不是单点结论，而是不同政策组合的相对效果。</a:t>
            </a:r>
            <a:endParaRPr sz="120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5" name="圆角矩形 44"/>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6" name="矩形 45"/>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7" name="矩形 46"/>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反事实模拟回答“如果这样治理，会比不治理好多少”，但仍保留预测性质和不确定性。</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8" name="矩形 47"/>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51" name="矩形: 圆角 50"/>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3" name="矩形: 圆角 52"/>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5" name="矩形: 圆角 54"/>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7" name="矩形: 圆角 56"/>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9" name="矩形: 圆角 58"/>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61" name="矩形: 圆角 60"/>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3" name="矩形 62"/>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36</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37</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稳健性检验一：变量与指数替换，确认结论不是测度口径产物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先换核心解释变量、被解释变量，再换指数构造方法。</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替换 ProxyIntensity</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站点数量、广告帖文、搜索指数、工具导航收录、价格异常、社交媒体讨论分别进入模型。</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替换 PERI</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上传限制、重生成次数、额度窗口、透明度、响应失败率分别作为替代指标。</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替换 NegativeSentiment</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负面评论占比、投诉文本数量、退款/失效讨论强度相互替代。</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替换权重</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等权法、熵权法、PCA、标准化求和交叉验证。</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稳健性一回答：如果换一种尺子，结论还在不在。</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37</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38</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稳健性检验二：样本、模型与安慰剂检验，排除伪相关</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围绕样本窗口、模型设定、反向因果和多源交叉验证展开。</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样本窗口</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剔除重大模型发布日、宕机日、促销期、考试季或毕业季，检查结论是否由特殊时期驱动。</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模型替换</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固定效应、动态面板、Poisson、负二项、随机森林、XGBoost 形成方法互证。</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反向因果</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一期或多期滞后、Granger预测检验、滚动窗口预测，观察时间先后关系。</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安慰剂</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无关关键词、随机打乱平台-时间匹配、虚假治理时点，用于检验伪相关。</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稳健性二回答：如果换样本、换模型、做安慰剂，故事是不是还讲得通。</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38</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39</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异质性分析：不同平台、入口和用户场景可能有不同风险</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异质性不是为了“多做几组”，而是回答治理应在哪些场景更精细。</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平台类型</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国内外平台、综合型平台、开发者导向平台，比较商业模式和权益结构差异。</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入口类型</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免费网页端、学生认证、设备赠送会员、订阅优惠、API额度，比较套利空间来源。</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用户场景</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普通消费者、中小企业、教育科研、开发者应用，比较风险承受能力和验证能力。</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功能类型</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文件上传、长上下文、重生成、联网、API调用，比较高成本功能是否更易诱发代理。</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异质性让政策建议更细：不是所有平台、入口和用户都需要同一种治理强度。</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0F1115"/>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FFFFFF"/>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39</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40</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局限与落地：数据偏差、文本误判和预测外推风险需要明示</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研究计划越诚实，后续落地越稳健；局限不是削弱研究，而是告诉评委下一步怎么改进。</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数据偏差</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公开文本只能观察可见代理活动，不能完整覆盖私域交易和隐蔽转售，因此 ProxyIntensity 是可见强度而非全量规模。</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文本误判</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关键词和大语言模型分类可能误把普通讨论识别为代理广告，因此需要人工抽样复核和多口径替换。</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预测外推</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治理情景是前瞻模拟，不等同于真实政策冲击；外推结果必须报告不确定性。</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落地路径</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后续应优先完善样本库、规则变更日志和人工复核集，再逐步进入准自然实验或事件研究。</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这一页主动交代边界，能避免评委误以为本文在没有政策冲击时强行做因果结论。</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0F1115"/>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40</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7FBFA"/>
          </a:solidFill>
          <a:ln w="0">
            <a:solidFill>
              <a:srgbClr val="000000">
                <a:alpha val="0"/>
              </a:srgbClr>
            </a:solidFill>
            <a:prstDash val="solid"/>
          </a:ln>
        </p:spPr>
        <p:txBody>
          <a:bodyPr/>
          <a:p/>
        </p:txBody>
      </p:sp>
      <p:sp>
        <p:nvSpPr>
          <p:cNvPr id="3" name="矩形 2"/>
          <p:cNvSpPr>
            <a:spLocks noGrp="1"/>
          </p:cNvSpPr>
          <p:nvPr/>
        </p:nvSpPr>
        <p:spPr>
          <a:xfrm>
            <a:off x="0" y="0"/>
            <a:ext cx="12192000" cy="685800"/>
          </a:xfrm>
          <a:prstGeom prst="rect">
            <a:avLst/>
          </a:prstGeom>
          <a:solidFill>
            <a:srgbClr val="065758"/>
          </a:solidFill>
          <a:ln w="0">
            <a:solidFill>
              <a:srgbClr val="000000">
                <a:alpha val="0"/>
              </a:srgbClr>
            </a:solidFill>
            <a:prstDash val="solid"/>
          </a:ln>
        </p:spPr>
        <p:txBody>
          <a:bodyPr/>
          <a:p/>
        </p:txBody>
      </p:sp>
      <p:sp>
        <p:nvSpPr>
          <p:cNvPr id="4" name="矩形 3"/>
          <p:cNvSpPr>
            <a:spLocks noGrp="1"/>
          </p:cNvSpPr>
          <p:nvPr/>
        </p:nvSpPr>
        <p:spPr>
          <a:xfrm>
            <a:off x="0" y="6305550"/>
            <a:ext cx="12192000" cy="552450"/>
          </a:xfrm>
          <a:prstGeom prst="rect">
            <a:avLst/>
          </a:prstGeom>
          <a:solidFill>
            <a:srgbClr val="0A3F40"/>
          </a:solidFill>
          <a:ln w="0">
            <a:solidFill>
              <a:srgbClr val="000000">
                <a:alpha val="0"/>
              </a:srgbClr>
            </a:solidFill>
            <a:prstDash val="solid"/>
          </a:ln>
        </p:spPr>
        <p:txBody>
          <a:bodyPr/>
          <a:p/>
        </p:txBody>
      </p:sp>
      <p:sp>
        <p:nvSpPr>
          <p:cNvPr id="5" name="矩形 4"/>
          <p:cNvSpPr>
            <a:spLocks noGrp="1"/>
          </p:cNvSpPr>
          <p:nvPr/>
        </p:nvSpPr>
        <p:spPr>
          <a:xfrm>
            <a:off x="0" y="6124575"/>
            <a:ext cx="12192000" cy="209550"/>
          </a:xfrm>
          <a:prstGeom prst="rect">
            <a:avLst/>
          </a:prstGeom>
          <a:solidFill>
            <a:srgbClr val="61A298"/>
          </a:solidFill>
          <a:ln w="0">
            <a:solidFill>
              <a:srgbClr val="000000">
                <a:alpha val="0"/>
              </a:srgbClr>
            </a:solidFill>
            <a:prstDash val="solid"/>
          </a:ln>
        </p:spPr>
        <p:txBody>
          <a:bodyPr/>
          <a:p/>
        </p:txBody>
      </p:sp>
      <p:sp>
        <p:nvSpPr>
          <p:cNvPr id="6" name="矩形 5"/>
          <p:cNvSpPr>
            <a:spLocks noGrp="1"/>
          </p:cNvSpPr>
          <p:nvPr/>
        </p:nvSpPr>
        <p:spPr>
          <a:xfrm>
            <a:off x="342900" y="171450"/>
            <a:ext cx="304800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3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AI反向代理套利研究</a:t>
            </a:r>
            <a:endParaRPr sz="13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7" name="圆角矩形 6"/>
          <p:cNvSpPr>
            <a:spLocks noGrp="1"/>
          </p:cNvSpPr>
          <p:nvPr/>
        </p:nvSpPr>
        <p:spPr>
          <a:xfrm>
            <a:off x="43815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8" name="矩形 7"/>
          <p:cNvSpPr>
            <a:spLocks noGrp="1"/>
          </p:cNvSpPr>
          <p:nvPr/>
        </p:nvSpPr>
        <p:spPr>
          <a:xfrm>
            <a:off x="4381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56007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0" name="矩形 9"/>
          <p:cNvSpPr>
            <a:spLocks noGrp="1"/>
          </p:cNvSpPr>
          <p:nvPr/>
        </p:nvSpPr>
        <p:spPr>
          <a:xfrm>
            <a:off x="56007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68199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2" name="矩形 11"/>
          <p:cNvSpPr>
            <a:spLocks noGrp="1"/>
          </p:cNvSpPr>
          <p:nvPr/>
        </p:nvSpPr>
        <p:spPr>
          <a:xfrm>
            <a:off x="68199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3" name="圆角矩形 12"/>
          <p:cNvSpPr>
            <a:spLocks noGrp="1"/>
          </p:cNvSpPr>
          <p:nvPr/>
        </p:nvSpPr>
        <p:spPr>
          <a:xfrm>
            <a:off x="80391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4" name="矩形 13"/>
          <p:cNvSpPr>
            <a:spLocks noGrp="1"/>
          </p:cNvSpPr>
          <p:nvPr/>
        </p:nvSpPr>
        <p:spPr>
          <a:xfrm>
            <a:off x="80391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9258300" y="161925"/>
            <a:ext cx="1104900" cy="314325"/>
          </a:xfrm>
          <a:prstGeom prst="roundRect">
            <a:avLst>
              <a:gd name="adj" fmla="val 24242"/>
            </a:avLst>
          </a:prstGeom>
          <a:solidFill>
            <a:srgbClr val="0B6B6B"/>
          </a:solidFill>
          <a:ln w="9525">
            <a:solidFill>
              <a:srgbClr val="2B8280"/>
            </a:solidFill>
            <a:prstDash val="solid"/>
          </a:ln>
        </p:spPr>
        <p:txBody>
          <a:bodyPr/>
          <a:p/>
        </p:txBody>
      </p:sp>
      <p:sp>
        <p:nvSpPr>
          <p:cNvPr id="16" name="矩形 15"/>
          <p:cNvSpPr>
            <a:spLocks noGrp="1"/>
          </p:cNvSpPr>
          <p:nvPr/>
        </p:nvSpPr>
        <p:spPr>
          <a:xfrm>
            <a:off x="92583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0">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sz="975"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10477500" y="161925"/>
            <a:ext cx="1104900" cy="314325"/>
          </a:xfrm>
          <a:prstGeom prst="roundRect">
            <a:avLst>
              <a:gd name="adj" fmla="val 24242"/>
            </a:avLst>
          </a:prstGeom>
          <a:solidFill>
            <a:srgbClr val="FFC819"/>
          </a:solidFill>
          <a:ln w="9525">
            <a:solidFill>
              <a:srgbClr val="FFC819"/>
            </a:solidFill>
            <a:prstDash val="solid"/>
          </a:ln>
        </p:spPr>
        <p:txBody>
          <a:bodyPr/>
          <a:p/>
        </p:txBody>
      </p:sp>
      <p:sp>
        <p:nvSpPr>
          <p:cNvPr id="18" name="矩形 17"/>
          <p:cNvSpPr>
            <a:spLocks noGrp="1"/>
          </p:cNvSpPr>
          <p:nvPr/>
        </p:nvSpPr>
        <p:spPr>
          <a:xfrm>
            <a:off x="10477500" y="219075"/>
            <a:ext cx="1104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A3F40"/>
                </a:solidFill>
                <a:latin typeface="Microsoft YaHei UI" panose="020B0503020204020204" charset="-122"/>
                <a:ea typeface="Microsoft YaHei UI" panose="020B0503020204020204" charset="-122"/>
                <a:cs typeface="Microsoft YaHei UI" panose="020B0503020204020204" charset="-122"/>
              </a:defRPr>
            </a:pPr>
            <a:r>
              <a:rPr sz="975" b="1">
                <a:solidFill>
                  <a:srgbClr val="0A3F40"/>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sz="975" b="1">
              <a:solidFill>
                <a:srgbClr val="0A3F40"/>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1191875" y="6419850"/>
            <a:ext cx="590550" cy="2667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r">
              <a:defRPr sz="1275" b="0">
                <a:solidFill>
                  <a:srgbClr val="EAF5F2"/>
                </a:solidFill>
                <a:latin typeface="Microsoft YaHei UI" panose="020B0503020204020204" charset="-122"/>
                <a:ea typeface="Microsoft YaHei UI" panose="020B0503020204020204" charset="-122"/>
                <a:cs typeface="Microsoft YaHei UI" panose="020B0503020204020204" charset="-122"/>
              </a:defRPr>
            </a:pPr>
            <a:r>
              <a:rPr sz="1275" b="0">
                <a:solidFill>
                  <a:srgbClr val="EAF5F2"/>
                </a:solidFill>
                <a:latin typeface="Microsoft YaHei UI" panose="020B0503020204020204" charset="-122"/>
                <a:ea typeface="Microsoft YaHei UI" panose="020B0503020204020204" charset="-122"/>
                <a:cs typeface="Microsoft YaHei UI" panose="020B0503020204020204" charset="-122"/>
              </a:rPr>
              <a:t>41</a:t>
            </a:r>
            <a:endParaRPr sz="1275" b="0">
              <a:solidFill>
                <a:srgbClr val="EAF5F2"/>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514350" y="866775"/>
            <a:ext cx="10077450" cy="41910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2250" b="1">
                <a:solidFill>
                  <a:srgbClr val="065758"/>
                </a:solidFill>
                <a:latin typeface="宋体" panose="02010600030101010101" pitchFamily="2" charset="-122"/>
                <a:ea typeface="宋体" panose="02010600030101010101" pitchFamily="2" charset="-122"/>
                <a:cs typeface="宋体" panose="02010600030101010101" pitchFamily="2" charset="-122"/>
              </a:defRPr>
            </a:pPr>
            <a:r>
              <a:rPr sz="2250" b="1">
                <a:solidFill>
                  <a:srgbClr val="065758"/>
                </a:solidFill>
                <a:latin typeface="宋体" panose="02010600030101010101" pitchFamily="2" charset="-122"/>
                <a:ea typeface="宋体" panose="02010600030101010101" pitchFamily="2" charset="-122"/>
                <a:cs typeface="宋体" panose="02010600030101010101" pitchFamily="2" charset="-122"/>
              </a:rPr>
              <a:t>结论：反向代理套利是生成式AI服务市场的新型市场失灵</a:t>
            </a:r>
            <a:endParaRPr sz="2250" b="1">
              <a:solidFill>
                <a:srgbClr val="065758"/>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矩形 20"/>
          <p:cNvSpPr>
            <a:spLocks noGrp="1"/>
          </p:cNvSpPr>
          <p:nvPr/>
        </p:nvSpPr>
        <p:spPr>
          <a:xfrm>
            <a:off x="552450" y="1371600"/>
            <a:ext cx="990600" cy="57150"/>
          </a:xfrm>
          <a:prstGeom prst="rect">
            <a:avLst/>
          </a:prstGeom>
          <a:solidFill>
            <a:srgbClr val="FFC819"/>
          </a:solidFill>
          <a:ln w="0">
            <a:solidFill>
              <a:srgbClr val="000000">
                <a:alpha val="0"/>
              </a:srgbClr>
            </a:solidFill>
            <a:prstDash val="solid"/>
          </a:ln>
        </p:spPr>
        <p:txBody>
          <a:bodyPr/>
          <a:p/>
        </p:txBody>
      </p:sp>
      <p:sp>
        <p:nvSpPr>
          <p:cNvPr id="22" name="矩形 21"/>
          <p:cNvSpPr>
            <a:spLocks noGrp="1"/>
          </p:cNvSpPr>
          <p:nvPr/>
        </p:nvSpPr>
        <p:spPr>
          <a:xfrm>
            <a:off x="552450" y="1504950"/>
            <a:ext cx="10287000" cy="428625"/>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l">
              <a:defRPr sz="1275" b="0">
                <a:solidFill>
                  <a:srgbClr val="4B5563"/>
                </a:solidFill>
                <a:latin typeface="Microsoft YaHei UI" panose="020B0503020204020204" charset="-122"/>
                <a:ea typeface="Microsoft YaHei UI" panose="020B0503020204020204" charset="-122"/>
                <a:cs typeface="Microsoft YaHei UI" panose="020B0503020204020204" charset="-122"/>
              </a:defRPr>
            </a:pPr>
            <a:r>
              <a:rPr sz="1275" b="0">
                <a:solidFill>
                  <a:srgbClr val="4B5563"/>
                </a:solidFill>
                <a:latin typeface="Microsoft YaHei UI" panose="020B0503020204020204" charset="-122"/>
                <a:ea typeface="Microsoft YaHei UI" panose="020B0503020204020204" charset="-122"/>
                <a:cs typeface="Microsoft YaHei UI" panose="020B0503020204020204" charset="-122"/>
              </a:rPr>
              <a:t>它不是单一违规事件，而是价格楔子、信息低效率、算力补贴泄漏和制度摩擦共同作用的结果。</a:t>
            </a:r>
            <a:endParaRPr sz="1275" b="0">
              <a:solidFill>
                <a:srgbClr val="4B5563"/>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9057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4" name="圆角矩形 23"/>
          <p:cNvSpPr>
            <a:spLocks noGrp="1"/>
          </p:cNvSpPr>
          <p:nvPr/>
        </p:nvSpPr>
        <p:spPr>
          <a:xfrm>
            <a:off x="742950" y="2076450"/>
            <a:ext cx="5095875" cy="1333500"/>
          </a:xfrm>
          <a:prstGeom prst="roundRect">
            <a:avLst>
              <a:gd name="adj" fmla="val 5714"/>
            </a:avLst>
          </a:prstGeom>
          <a:solidFill>
            <a:srgbClr val="FFFDF2"/>
          </a:solidFill>
          <a:ln w="11430">
            <a:solidFill>
              <a:srgbClr val="BED7D2"/>
            </a:solidFill>
            <a:prstDash val="solid"/>
          </a:ln>
        </p:spPr>
        <p:txBody>
          <a:bodyPr/>
          <a:p/>
        </p:txBody>
      </p:sp>
      <p:sp>
        <p:nvSpPr>
          <p:cNvPr id="25" name="圆角矩形 24"/>
          <p:cNvSpPr>
            <a:spLocks noGrp="1"/>
          </p:cNvSpPr>
          <p:nvPr/>
        </p:nvSpPr>
        <p:spPr>
          <a:xfrm>
            <a:off x="857250" y="2190750"/>
            <a:ext cx="361950" cy="266700"/>
          </a:xfrm>
          <a:prstGeom prst="roundRect">
            <a:avLst>
              <a:gd name="adj" fmla="val 28571"/>
            </a:avLst>
          </a:prstGeom>
          <a:solidFill>
            <a:srgbClr val="FFC819"/>
          </a:solidFill>
          <a:ln w="0">
            <a:solidFill>
              <a:srgbClr val="FFC819"/>
            </a:solidFill>
            <a:prstDash val="solid"/>
          </a:ln>
        </p:spPr>
        <p:txBody>
          <a:bodyPr/>
          <a:p/>
        </p:txBody>
      </p:sp>
      <p:sp>
        <p:nvSpPr>
          <p:cNvPr id="26" name="矩形 25"/>
          <p:cNvSpPr>
            <a:spLocks noGrp="1"/>
          </p:cNvSpPr>
          <p:nvPr/>
        </p:nvSpPr>
        <p:spPr>
          <a:xfrm>
            <a:off x="131445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机制结论</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95250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价格分层与低成本入口为代理进入提供空间，来源识别不足让套利更容易被包装。</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6219825" y="2133600"/>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29" name="圆角矩形 28"/>
          <p:cNvSpPr>
            <a:spLocks noGrp="1"/>
          </p:cNvSpPr>
          <p:nvPr/>
        </p:nvSpPr>
        <p:spPr>
          <a:xfrm>
            <a:off x="6172200" y="2076450"/>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0" name="圆角矩形 29"/>
          <p:cNvSpPr>
            <a:spLocks noGrp="1"/>
          </p:cNvSpPr>
          <p:nvPr/>
        </p:nvSpPr>
        <p:spPr>
          <a:xfrm>
            <a:off x="6286500" y="2190750"/>
            <a:ext cx="361950" cy="266700"/>
          </a:xfrm>
          <a:prstGeom prst="roundRect">
            <a:avLst>
              <a:gd name="adj" fmla="val 28571"/>
            </a:avLst>
          </a:prstGeom>
          <a:solidFill>
            <a:srgbClr val="61A298"/>
          </a:solidFill>
          <a:ln w="0">
            <a:solidFill>
              <a:srgbClr val="61A298"/>
            </a:solidFill>
            <a:prstDash val="solid"/>
          </a:ln>
        </p:spPr>
        <p:txBody>
          <a:bodyPr/>
          <a:p/>
        </p:txBody>
      </p:sp>
      <p:sp>
        <p:nvSpPr>
          <p:cNvPr id="31" name="矩形 30"/>
          <p:cNvSpPr>
            <a:spLocks noGrp="1"/>
          </p:cNvSpPr>
          <p:nvPr/>
        </p:nvSpPr>
        <p:spPr>
          <a:xfrm>
            <a:off x="6743700" y="2200275"/>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平台结论</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6381750" y="2495550"/>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代理强度可能诱发风控加强和权益收缩，影响普通用户体验和正规API生态。</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79057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4" name="圆角矩形 33"/>
          <p:cNvSpPr>
            <a:spLocks noGrp="1"/>
          </p:cNvSpPr>
          <p:nvPr/>
        </p:nvSpPr>
        <p:spPr>
          <a:xfrm>
            <a:off x="74295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35" name="圆角矩形 34"/>
          <p:cNvSpPr>
            <a:spLocks noGrp="1"/>
          </p:cNvSpPr>
          <p:nvPr/>
        </p:nvSpPr>
        <p:spPr>
          <a:xfrm>
            <a:off x="85725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36" name="矩形 35"/>
          <p:cNvSpPr>
            <a:spLocks noGrp="1"/>
          </p:cNvSpPr>
          <p:nvPr/>
        </p:nvSpPr>
        <p:spPr>
          <a:xfrm>
            <a:off x="131445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福利结论</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95250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隐藏风险、服务中断、隐私责任不清和信息误导会削弱消费者福利。</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219825" y="3705225"/>
            <a:ext cx="5095875" cy="1333500"/>
          </a:xfrm>
          <a:prstGeom prst="roundRect">
            <a:avLst>
              <a:gd name="adj" fmla="val 5714"/>
            </a:avLst>
          </a:prstGeom>
          <a:solidFill>
            <a:srgbClr val="D8E8E5"/>
          </a:solidFill>
          <a:ln w="0">
            <a:solidFill>
              <a:srgbClr val="000000">
                <a:alpha val="0"/>
              </a:srgbClr>
            </a:solidFill>
            <a:prstDash val="solid"/>
          </a:ln>
        </p:spPr>
        <p:txBody>
          <a:bodyPr/>
          <a:p/>
        </p:txBody>
      </p:sp>
      <p:sp>
        <p:nvSpPr>
          <p:cNvPr id="39" name="圆角矩形 38"/>
          <p:cNvSpPr>
            <a:spLocks noGrp="1"/>
          </p:cNvSpPr>
          <p:nvPr/>
        </p:nvSpPr>
        <p:spPr>
          <a:xfrm>
            <a:off x="6172200" y="3648075"/>
            <a:ext cx="5095875" cy="1333500"/>
          </a:xfrm>
          <a:prstGeom prst="roundRect">
            <a:avLst>
              <a:gd name="adj" fmla="val 5714"/>
            </a:avLst>
          </a:prstGeom>
          <a:solidFill>
            <a:srgbClr val="FFFFFF"/>
          </a:solidFill>
          <a:ln w="11430">
            <a:solidFill>
              <a:srgbClr val="BED7D2"/>
            </a:solidFill>
            <a:prstDash val="solid"/>
          </a:ln>
        </p:spPr>
        <p:txBody>
          <a:bodyPr/>
          <a:p/>
        </p:txBody>
      </p:sp>
      <p:sp>
        <p:nvSpPr>
          <p:cNvPr id="40" name="圆角矩形 39"/>
          <p:cNvSpPr>
            <a:spLocks noGrp="1"/>
          </p:cNvSpPr>
          <p:nvPr/>
        </p:nvSpPr>
        <p:spPr>
          <a:xfrm>
            <a:off x="6286500" y="3762375"/>
            <a:ext cx="361950" cy="266700"/>
          </a:xfrm>
          <a:prstGeom prst="roundRect">
            <a:avLst>
              <a:gd name="adj" fmla="val 28571"/>
            </a:avLst>
          </a:prstGeom>
          <a:solidFill>
            <a:srgbClr val="61A298"/>
          </a:solidFill>
          <a:ln w="0">
            <a:solidFill>
              <a:srgbClr val="61A298"/>
            </a:solidFill>
            <a:prstDash val="solid"/>
          </a:ln>
        </p:spPr>
        <p:txBody>
          <a:bodyPr/>
          <a:p/>
        </p:txBody>
      </p:sp>
      <p:sp>
        <p:nvSpPr>
          <p:cNvPr id="41" name="矩形 40"/>
          <p:cNvSpPr>
            <a:spLocks noGrp="1"/>
          </p:cNvSpPr>
          <p:nvPr/>
        </p:nvSpPr>
        <p:spPr>
          <a:xfrm>
            <a:off x="6743700" y="3771900"/>
            <a:ext cx="43529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65758"/>
                </a:solidFill>
                <a:latin typeface="Microsoft YaHei UI" panose="020B0503020204020204" charset="-122"/>
                <a:ea typeface="Microsoft YaHei UI" panose="020B0503020204020204" charset="-122"/>
                <a:cs typeface="Microsoft YaHei UI" panose="020B0503020204020204" charset="-122"/>
              </a:defRPr>
            </a:pPr>
            <a:r>
              <a:rPr sz="1425" b="1">
                <a:solidFill>
                  <a:srgbClr val="065758"/>
                </a:solidFill>
                <a:latin typeface="Microsoft YaHei UI" panose="020B0503020204020204" charset="-122"/>
                <a:ea typeface="Microsoft YaHei UI" panose="020B0503020204020204" charset="-122"/>
                <a:cs typeface="Microsoft YaHei UI" panose="020B0503020204020204" charset="-122"/>
              </a:rPr>
              <a:t>治理结论</a:t>
            </a:r>
            <a:endParaRPr sz="1425"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6381750" y="4067175"/>
            <a:ext cx="46958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0F1115"/>
                </a:solidFill>
                <a:latin typeface="Microsoft YaHei UI" panose="020B0503020204020204" charset="-122"/>
                <a:ea typeface="Microsoft YaHei UI" panose="020B0503020204020204" charset="-122"/>
                <a:cs typeface="Microsoft YaHei UI" panose="020B0503020204020204" charset="-122"/>
              </a:defRPr>
            </a:pPr>
            <a:r>
              <a:rPr sz="1215" b="0">
                <a:solidFill>
                  <a:srgbClr val="0F1115"/>
                </a:solidFill>
                <a:latin typeface="Microsoft YaHei UI" panose="020B0503020204020204" charset="-122"/>
                <a:ea typeface="Microsoft YaHei UI" panose="020B0503020204020204" charset="-122"/>
                <a:cs typeface="Microsoft YaHei UI" panose="020B0503020204020204" charset="-122"/>
              </a:rPr>
              <a:t>低成本协同治理比单点封堵更适合当前阶段，重点是来源披露、成本归位和误导性获客控制。</a:t>
            </a:r>
            <a:endParaRPr sz="1215" b="0">
              <a:solidFill>
                <a:srgbClr val="0F1115"/>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742950" y="5524500"/>
            <a:ext cx="10706100" cy="523875"/>
          </a:xfrm>
          <a:prstGeom prst="roundRect">
            <a:avLst>
              <a:gd name="adj" fmla="val 14545"/>
            </a:avLst>
          </a:prstGeom>
          <a:solidFill>
            <a:srgbClr val="EAF5F2">
              <a:alpha val="97000"/>
            </a:srgbClr>
          </a:solidFill>
          <a:ln w="10160">
            <a:solidFill>
              <a:srgbClr val="61A298"/>
            </a:solidFill>
            <a:prstDash val="solid"/>
          </a:ln>
          <a:effectLst>
            <a:outerShdw blurRad="63500" dist="19838" dir="3011653" rotWithShape="0">
              <a:srgbClr val="073C3D">
                <a:alpha val="18000"/>
              </a:srgbClr>
            </a:outerShdw>
          </a:effectLst>
        </p:spPr>
        <p:txBody>
          <a:bodyPr/>
          <a:p/>
        </p:txBody>
      </p:sp>
      <p:sp>
        <p:nvSpPr>
          <p:cNvPr id="44" name="矩形 43"/>
          <p:cNvSpPr>
            <a:spLocks noGrp="1"/>
          </p:cNvSpPr>
          <p:nvPr/>
        </p:nvSpPr>
        <p:spPr>
          <a:xfrm>
            <a:off x="838200" y="5619750"/>
            <a:ext cx="57150" cy="342900"/>
          </a:xfrm>
          <a:prstGeom prst="rect">
            <a:avLst/>
          </a:prstGeom>
          <a:solidFill>
            <a:srgbClr val="FFC819"/>
          </a:solidFill>
          <a:ln w="0">
            <a:noFill/>
            <a:prstDash val="solid"/>
          </a:ln>
          <a:extLst>
            <a:ext uri="{91240B29-F687-4F45-9708-019B960494DF}">
              <a14:hiddenLine xmlns:a14="http://schemas.microsoft.com/office/drawing/2010/main" w="0">
                <a:solidFill>
                  <a:srgbClr val="000000">
                    <a:alpha val="0"/>
                  </a:srgbClr>
                </a:solidFill>
                <a:prstDash val="solid"/>
              </a14:hiddenLine>
            </a:ext>
          </a:extLst>
        </p:spPr>
        <p:txBody>
          <a:bodyPr/>
          <a:p/>
        </p:txBody>
      </p:sp>
      <p:sp>
        <p:nvSpPr>
          <p:cNvPr id="45" name="矩形 44"/>
          <p:cNvSpPr>
            <a:spLocks noGrp="1"/>
          </p:cNvSpPr>
          <p:nvPr/>
        </p:nvSpPr>
        <p:spPr>
          <a:xfrm>
            <a:off x="1028700" y="5619750"/>
            <a:ext cx="10172700" cy="323850"/>
          </a:xfrm>
          <a:prstGeom prst="rect">
            <a:avLst/>
          </a:prstGeom>
          <a:solidFill>
            <a:srgbClr val="EAF5F2">
              <a:alpha val="97000"/>
            </a:srgbClr>
          </a:solidFill>
          <a:ln w="10160">
            <a:solidFill>
              <a:srgbClr val="61A298">
                <a:alpha val="0"/>
              </a:srgbClr>
            </a:solidFill>
            <a:prstDash val="solid"/>
          </a:ln>
          <a:effectLst>
            <a:outerShdw blurRad="63500" dist="19838" dir="3011653" rotWithShape="0">
              <a:srgbClr val="073C3D">
                <a:alpha val="18000"/>
              </a:srgbClr>
            </a:outerShdw>
          </a:effectLst>
        </p:spPr>
        <p:txBody>
          <a:bodyPr lIns="0" tIns="0" rIns="0" bIns="0" anchor="t"/>
          <a:lstStyle/>
          <a:p>
            <a:pPr algn="l">
              <a:defRPr sz="1350" b="1">
                <a:solidFill>
                  <a:srgbClr val="065758"/>
                </a:solidFill>
                <a:latin typeface="Microsoft YaHei UI" panose="020B0503020204020204" charset="-122"/>
                <a:ea typeface="Microsoft YaHei UI" panose="020B0503020204020204" charset="-122"/>
                <a:cs typeface="Microsoft YaHei UI" panose="020B0503020204020204" charset="-122"/>
              </a:defRPr>
            </a:pPr>
            <a:r>
              <a:rPr sz="1350" b="1">
                <a:solidFill>
                  <a:srgbClr val="065758"/>
                </a:solidFill>
                <a:latin typeface="Microsoft YaHei UI" panose="020B0503020204020204" charset="-122"/>
                <a:ea typeface="Microsoft YaHei UI" panose="020B0503020204020204" charset="-122"/>
                <a:cs typeface="Microsoft YaHei UI" panose="020B0503020204020204" charset="-122"/>
              </a:rPr>
              <a:t>最终观点很明确：治理不是反对低价，而是让低价建立在透明授权和真实成本之上。</a:t>
            </a:r>
            <a:endParaRPr sz="1350" b="1">
              <a:solidFill>
                <a:srgbClr val="065758"/>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p:nvPr/>
        </p:nvSpPr>
        <p:spPr>
          <a:xfrm>
            <a:off x="0" y="0"/>
            <a:ext cx="12192000" cy="68580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203200" y="177800"/>
            <a:ext cx="63500" cy="228600"/>
          </a:xfrm>
          <a:prstGeom prst="roundRect">
            <a:avLst/>
          </a:prstGeom>
          <a:solidFill>
            <a:srgbClr val="FFC81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393700" y="165100"/>
            <a:ext cx="2794000" cy="215444"/>
          </a:xfrm>
          <a:prstGeom prst="rect">
            <a:avLst/>
          </a:prstGeom>
          <a:noFill/>
        </p:spPr>
        <p:txBody>
          <a:bodyPr vert="horz" lIns="0" tIns="0" rIns="0" bIns="0" rtlCol="0">
            <a:spAutoFit/>
          </a:bodyPr>
          <a:lstStyle/>
          <a:p>
            <a:r>
              <a:rPr lang="en-US" altLang="zh-CN"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AI</a:t>
            </a:r>
            <a:r>
              <a:rPr lang="zh-CN" altLang="en-US" sz="1450"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反向代理套利研究</a:t>
            </a:r>
            <a:endParaRPr lang="zh-CN" altLang="en-US" sz="1400" b="1">
              <a:solidFill>
                <a:srgbClr val="FFFFFF"/>
              </a:solidFill>
              <a:latin typeface="Microsoft YaHei UI" panose="020B0503020204020204" charset="-122"/>
            </a:endParaRPr>
          </a:p>
        </p:txBody>
      </p:sp>
      <p:sp>
        <p:nvSpPr>
          <p:cNvPr id="49" name="矩形: 圆角 48"/>
          <p:cNvSpPr/>
          <p:nvPr/>
        </p:nvSpPr>
        <p:spPr>
          <a:xfrm>
            <a:off x="43815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942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研究背景</a:t>
            </a:r>
            <a:endParaRPr lang="zh-CN" altLang="en-US" sz="900" b="1">
              <a:solidFill>
                <a:srgbClr val="FFFFFF"/>
              </a:solidFill>
              <a:latin typeface="Microsoft YaHei UI" panose="020B0503020204020204" charset="-122"/>
            </a:endParaRPr>
          </a:p>
        </p:txBody>
      </p:sp>
      <p:sp>
        <p:nvSpPr>
          <p:cNvPr id="51" name="矩形: 圆角 50"/>
          <p:cNvSpPr/>
          <p:nvPr/>
        </p:nvSpPr>
        <p:spPr>
          <a:xfrm>
            <a:off x="56007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56134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理论模型</a:t>
            </a:r>
            <a:endParaRPr lang="zh-CN" altLang="en-US" sz="900" b="1">
              <a:solidFill>
                <a:srgbClr val="FFFFFF"/>
              </a:solidFill>
              <a:latin typeface="Microsoft YaHei UI" panose="020B0503020204020204" charset="-122"/>
            </a:endParaRPr>
          </a:p>
        </p:txBody>
      </p:sp>
      <p:sp>
        <p:nvSpPr>
          <p:cNvPr id="53" name="矩形: 圆角 52"/>
          <p:cNvSpPr/>
          <p:nvPr/>
        </p:nvSpPr>
        <p:spPr>
          <a:xfrm>
            <a:off x="68199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68326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数据变量</a:t>
            </a:r>
            <a:endParaRPr lang="zh-CN" altLang="en-US" sz="900" b="1">
              <a:solidFill>
                <a:srgbClr val="FFFFFF"/>
              </a:solidFill>
              <a:latin typeface="Microsoft YaHei UI" panose="020B0503020204020204" charset="-122"/>
            </a:endParaRPr>
          </a:p>
        </p:txBody>
      </p:sp>
      <p:sp>
        <p:nvSpPr>
          <p:cNvPr id="55" name="矩形: 圆角 54"/>
          <p:cNvSpPr/>
          <p:nvPr/>
        </p:nvSpPr>
        <p:spPr>
          <a:xfrm>
            <a:off x="80391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80518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识别方法</a:t>
            </a:r>
            <a:endParaRPr lang="zh-CN" altLang="en-US" sz="900" b="1">
              <a:solidFill>
                <a:srgbClr val="FFFFFF"/>
              </a:solidFill>
              <a:latin typeface="Microsoft YaHei UI" panose="020B0503020204020204" charset="-122"/>
            </a:endParaRPr>
          </a:p>
        </p:txBody>
      </p:sp>
      <p:sp>
        <p:nvSpPr>
          <p:cNvPr id="57" name="矩形: 圆角 56"/>
          <p:cNvSpPr/>
          <p:nvPr/>
        </p:nvSpPr>
        <p:spPr>
          <a:xfrm>
            <a:off x="9258300" y="158750"/>
            <a:ext cx="1104900" cy="317500"/>
          </a:xfrm>
          <a:prstGeom prst="roundRect">
            <a:avLst/>
          </a:prstGeom>
          <a:solidFill>
            <a:srgbClr val="14716F"/>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9271000" y="217170"/>
            <a:ext cx="1079500" cy="138499"/>
          </a:xfrm>
          <a:prstGeom prst="rect">
            <a:avLst/>
          </a:prstGeom>
          <a:noFill/>
        </p:spPr>
        <p:txBody>
          <a:bodyPr vert="horz" lIns="0" tIns="0" rIns="0" bIns="0" rtlCol="0">
            <a:spAutoFit/>
          </a:bodyPr>
          <a:lstStyle/>
          <a:p>
            <a:pPr algn="ctr"/>
            <a:r>
              <a:rPr lang="zh-CN" altLang="en-US" sz="975" b="1">
                <a:solidFill>
                  <a:srgbClr val="FFFFFF"/>
                </a:solidFill>
                <a:latin typeface="思源宋体 CN Heavy" panose="02020900000000000000" pitchFamily="2" charset="-122"/>
                <a:ea typeface="思源宋体 CN Heavy" panose="02020900000000000000" pitchFamily="2" charset="-122"/>
                <a:cs typeface="思源宋体 CN Heavy" panose="02020900000000000000" pitchFamily="2" charset="-122"/>
              </a:rPr>
              <a:t>治理模拟</a:t>
            </a:r>
            <a:endParaRPr lang="zh-CN" altLang="en-US" sz="900" b="1">
              <a:solidFill>
                <a:srgbClr val="FFFFFF"/>
              </a:solidFill>
              <a:latin typeface="Microsoft YaHei UI" panose="020B0503020204020204" charset="-122"/>
            </a:endParaRPr>
          </a:p>
        </p:txBody>
      </p:sp>
      <p:sp>
        <p:nvSpPr>
          <p:cNvPr id="59" name="矩形: 圆角 58"/>
          <p:cNvSpPr/>
          <p:nvPr/>
        </p:nvSpPr>
        <p:spPr>
          <a:xfrm>
            <a:off x="10477500" y="158750"/>
            <a:ext cx="1104900" cy="317500"/>
          </a:xfrm>
          <a:prstGeom prst="roundRect">
            <a:avLst/>
          </a:prstGeom>
          <a:solidFill>
            <a:srgbClr val="FFC819"/>
          </a:solidFill>
          <a:ln w="10160">
            <a:solidFill>
              <a:srgbClr val="61A298"/>
            </a:solidFill>
          </a:ln>
          <a:effectLst>
            <a:outerShdw blurRad="50800" dist="16264" dir="3080407" rotWithShape="0">
              <a:srgbClr val="073C3D">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10490200" y="217170"/>
            <a:ext cx="1079500" cy="138499"/>
          </a:xfrm>
          <a:prstGeom prst="rect">
            <a:avLst/>
          </a:prstGeom>
          <a:noFill/>
        </p:spPr>
        <p:txBody>
          <a:bodyPr vert="horz" lIns="0" tIns="0" rIns="0" bIns="0" rtlCol="0">
            <a:spAutoFit/>
          </a:bodyPr>
          <a:lstStyle/>
          <a:p>
            <a:pPr algn="ctr"/>
            <a:r>
              <a:rPr lang="zh-CN" altLang="en-US" sz="975" b="1">
                <a:solidFill>
                  <a:srgbClr val="0F1115"/>
                </a:solidFill>
                <a:latin typeface="思源宋体 CN Heavy" panose="02020900000000000000" pitchFamily="2" charset="-122"/>
                <a:ea typeface="思源宋体 CN Heavy" panose="02020900000000000000" pitchFamily="2" charset="-122"/>
                <a:cs typeface="思源宋体 CN Heavy" panose="02020900000000000000" pitchFamily="2" charset="-122"/>
              </a:rPr>
              <a:t>结论建议</a:t>
            </a:r>
            <a:endParaRPr lang="zh-CN" altLang="en-US" sz="900" b="1">
              <a:solidFill>
                <a:srgbClr val="0F1115"/>
              </a:solidFill>
              <a:latin typeface="Microsoft YaHei UI" panose="020B0503020204020204" charset="-122"/>
            </a:endParaRPr>
          </a:p>
        </p:txBody>
      </p:sp>
      <p:sp>
        <p:nvSpPr>
          <p:cNvPr id="61" name="矩形 60"/>
          <p:cNvSpPr/>
          <p:nvPr/>
        </p:nvSpPr>
        <p:spPr>
          <a:xfrm>
            <a:off x="0" y="6123940"/>
            <a:ext cx="12192000" cy="209550"/>
          </a:xfrm>
          <a:prstGeom prst="rect">
            <a:avLst/>
          </a:prstGeom>
          <a:solidFill>
            <a:srgbClr val="61A29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0" y="6305550"/>
            <a:ext cx="12192000" cy="552450"/>
          </a:xfrm>
          <a:prstGeom prst="rect">
            <a:avLst/>
          </a:prstGeom>
          <a:solidFill>
            <a:srgbClr val="06575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11191240" y="6419850"/>
            <a:ext cx="590550" cy="184666"/>
          </a:xfrm>
          <a:prstGeom prst="rect">
            <a:avLst/>
          </a:prstGeom>
          <a:noFill/>
        </p:spPr>
        <p:txBody>
          <a:bodyPr vert="horz" lIns="0" tIns="0" rIns="0" bIns="0" rtlCol="0">
            <a:spAutoFit/>
          </a:bodyPr>
          <a:lstStyle/>
          <a:p>
            <a:pPr algn="ctr"/>
            <a:r>
              <a:rPr lang="en-US" altLang="zh-CN" sz="1200">
                <a:solidFill>
                  <a:srgbClr val="FFFFFF"/>
                </a:solidFill>
                <a:latin typeface="Arial" panose="020B0604020202020204" pitchFamily="34" charset="0"/>
              </a:rPr>
              <a:t>41</a:t>
            </a:r>
            <a:endParaRPr lang="zh-CN" altLang="en-US" sz="1200">
              <a:solidFill>
                <a:srgbClr val="FFFFFF"/>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065758"/>
          </a:solidFill>
          <a:ln w="0">
            <a:solidFill>
              <a:srgbClr val="000000">
                <a:alpha val="0"/>
              </a:srgbClr>
            </a:solidFill>
            <a:prstDash val="solid"/>
          </a:ln>
        </p:spPr>
        <p:txBody>
          <a:bodyPr/>
          <a:p/>
        </p:txBody>
      </p:sp>
      <p:sp>
        <p:nvSpPr>
          <p:cNvPr id="3" name="矩形 2"/>
          <p:cNvSpPr>
            <a:spLocks noGrp="1"/>
          </p:cNvSpPr>
          <p:nvPr/>
        </p:nvSpPr>
        <p:spPr>
          <a:xfrm>
            <a:off x="0" y="5695950"/>
            <a:ext cx="12192000" cy="1162050"/>
          </a:xfrm>
          <a:prstGeom prst="rect">
            <a:avLst/>
          </a:prstGeom>
          <a:solidFill>
            <a:srgbClr val="0A3F40"/>
          </a:solidFill>
          <a:ln w="0">
            <a:solidFill>
              <a:srgbClr val="000000">
                <a:alpha val="0"/>
              </a:srgbClr>
            </a:solidFill>
            <a:prstDash val="solid"/>
          </a:ln>
        </p:spPr>
        <p:txBody>
          <a:bodyPr/>
          <a:p/>
        </p:txBody>
      </p:sp>
      <p:sp>
        <p:nvSpPr>
          <p:cNvPr id="4" name="矩形 3"/>
          <p:cNvSpPr>
            <a:spLocks noGrp="1"/>
          </p:cNvSpPr>
          <p:nvPr/>
        </p:nvSpPr>
        <p:spPr>
          <a:xfrm>
            <a:off x="0" y="5295900"/>
            <a:ext cx="12192000" cy="323850"/>
          </a:xfrm>
          <a:prstGeom prst="rect">
            <a:avLst/>
          </a:prstGeom>
          <a:solidFill>
            <a:srgbClr val="61A298"/>
          </a:solidFill>
          <a:ln w="0">
            <a:solidFill>
              <a:srgbClr val="000000">
                <a:alpha val="0"/>
              </a:srgbClr>
            </a:solidFill>
            <a:prstDash val="solid"/>
          </a:ln>
        </p:spPr>
        <p:txBody>
          <a:bodyPr/>
          <a:p/>
        </p:txBody>
      </p:sp>
      <p:sp>
        <p:nvSpPr>
          <p:cNvPr id="5" name="矩形 4"/>
          <p:cNvSpPr>
            <a:spLocks noGrp="1"/>
          </p:cNvSpPr>
          <p:nvPr/>
        </p:nvSpPr>
        <p:spPr>
          <a:xfrm>
            <a:off x="1381125" y="2000250"/>
            <a:ext cx="9429750" cy="7048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3150" b="1">
                <a:solidFill>
                  <a:srgbClr val="FFFFFF"/>
                </a:solidFill>
                <a:latin typeface="宋体" panose="02010600030101010101" pitchFamily="2" charset="-122"/>
                <a:ea typeface="宋体" panose="02010600030101010101" pitchFamily="2" charset="-122"/>
                <a:cs typeface="宋体" panose="02010600030101010101" pitchFamily="2" charset="-122"/>
              </a:defRPr>
            </a:pPr>
            <a:r>
              <a:rPr sz="3150" b="1">
                <a:solidFill>
                  <a:srgbClr val="FFFFFF"/>
                </a:solidFill>
                <a:latin typeface="宋体" panose="02010600030101010101" pitchFamily="2" charset="-122"/>
                <a:ea typeface="宋体" panose="02010600030101010101" pitchFamily="2" charset="-122"/>
                <a:cs typeface="宋体" panose="02010600030101010101" pitchFamily="2" charset="-122"/>
              </a:rPr>
              <a:t>感谢各位老师</a:t>
            </a:r>
            <a:r>
              <a:rPr lang="zh-CN" sz="3150" b="1">
                <a:solidFill>
                  <a:srgbClr val="FFFFFF"/>
                </a:solidFill>
                <a:latin typeface="宋体" panose="02010600030101010101" pitchFamily="2" charset="-122"/>
                <a:ea typeface="宋体" panose="02010600030101010101" pitchFamily="2" charset="-122"/>
                <a:cs typeface="宋体" panose="02010600030101010101" pitchFamily="2" charset="-122"/>
              </a:rPr>
              <a:t>同学</a:t>
            </a:r>
            <a:r>
              <a:rPr sz="3150" b="1">
                <a:solidFill>
                  <a:srgbClr val="FFFFFF"/>
                </a:solidFill>
                <a:latin typeface="宋体" panose="02010600030101010101" pitchFamily="2" charset="-122"/>
                <a:ea typeface="宋体" panose="02010600030101010101" pitchFamily="2" charset="-122"/>
                <a:cs typeface="宋体" panose="02010600030101010101" pitchFamily="2" charset="-122"/>
              </a:rPr>
              <a:t>批评指正</a:t>
            </a:r>
            <a:endParaRPr sz="3150" b="1">
              <a:solidFill>
                <a:srgbClr val="FFFFFF"/>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5"/>
          <p:cNvSpPr>
            <a:spLocks noGrp="1"/>
          </p:cNvSpPr>
          <p:nvPr/>
        </p:nvSpPr>
        <p:spPr>
          <a:xfrm>
            <a:off x="2000250" y="2952750"/>
            <a:ext cx="8191500" cy="3619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725" b="0">
                <a:solidFill>
                  <a:srgbClr val="FFC819"/>
                </a:solidFill>
                <a:latin typeface="Microsoft YaHei UI" panose="020B0503020204020204" charset="-122"/>
                <a:ea typeface="Microsoft YaHei UI" panose="020B0503020204020204" charset="-122"/>
                <a:cs typeface="Microsoft YaHei UI" panose="020B0503020204020204" charset="-122"/>
              </a:defRPr>
            </a:pPr>
            <a:r>
              <a:rPr sz="1725" b="0">
                <a:solidFill>
                  <a:srgbClr val="FFC819"/>
                </a:solidFill>
                <a:latin typeface="Microsoft YaHei UI" panose="020B0503020204020204" charset="-122"/>
                <a:ea typeface="Microsoft YaHei UI" panose="020B0503020204020204" charset="-122"/>
                <a:cs typeface="Microsoft YaHei UI" panose="020B0503020204020204" charset="-122"/>
              </a:rPr>
              <a:t>AI服务中的反向代理套利、平台治理与市场失灵研究</a:t>
            </a:r>
            <a:endParaRPr sz="1725" b="0">
              <a:solidFill>
                <a:srgbClr val="FFC819"/>
              </a:solidFill>
              <a:latin typeface="Microsoft YaHei UI" panose="020B0503020204020204" charset="-122"/>
              <a:ea typeface="Microsoft YaHei UI" panose="020B0503020204020204" charset="-122"/>
              <a:cs typeface="Microsoft YaHei UI" panose="020B0503020204020204" charset="-122"/>
            </a:endParaRPr>
          </a:p>
        </p:txBody>
      </p:sp>
      <p:sp>
        <p:nvSpPr>
          <p:cNvPr id="7" name="圆角矩形 6"/>
          <p:cNvSpPr>
            <a:spLocks noGrp="1"/>
          </p:cNvSpPr>
          <p:nvPr/>
        </p:nvSpPr>
        <p:spPr>
          <a:xfrm>
            <a:off x="3143250" y="4000500"/>
            <a:ext cx="5905500" cy="323850"/>
          </a:xfrm>
          <a:prstGeom prst="roundRect">
            <a:avLst>
              <a:gd name="adj" fmla="val 23529"/>
            </a:avLst>
          </a:prstGeom>
          <a:solidFill>
            <a:srgbClr val="0B6B6B"/>
          </a:solidFill>
          <a:ln w="9525">
            <a:solidFill>
              <a:srgbClr val="2B8280"/>
            </a:solidFill>
            <a:prstDash val="solid"/>
          </a:ln>
        </p:spPr>
        <p:txBody>
          <a:bodyPr/>
          <a:p/>
        </p:txBody>
      </p:sp>
      <p:sp>
        <p:nvSpPr>
          <p:cNvPr id="8" name="矩形 7"/>
          <p:cNvSpPr>
            <a:spLocks noGrp="1"/>
          </p:cNvSpPr>
          <p:nvPr/>
        </p:nvSpPr>
        <p:spPr>
          <a:xfrm>
            <a:off x="3238500" y="4057650"/>
            <a:ext cx="57150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
        <p:nvSpPr>
          <p:cNvPr id="9" name="圆角矩形 8"/>
          <p:cNvSpPr>
            <a:spLocks noGrp="1"/>
          </p:cNvSpPr>
          <p:nvPr/>
        </p:nvSpPr>
        <p:spPr>
          <a:xfrm>
            <a:off x="3143250" y="4419600"/>
            <a:ext cx="5905500" cy="323850"/>
          </a:xfrm>
          <a:prstGeom prst="roundRect">
            <a:avLst>
              <a:gd name="adj" fmla="val 23529"/>
            </a:avLst>
          </a:prstGeom>
          <a:solidFill>
            <a:srgbClr val="0A4A4B"/>
          </a:solidFill>
          <a:ln w="9525">
            <a:solidFill>
              <a:srgbClr val="2B8280"/>
            </a:solidFill>
            <a:prstDash val="solid"/>
          </a:ln>
        </p:spPr>
        <p:txBody>
          <a:bodyPr/>
          <a:p/>
        </p:txBody>
      </p:sp>
      <p:sp>
        <p:nvSpPr>
          <p:cNvPr id="10" name="矩形 9"/>
          <p:cNvSpPr>
            <a:spLocks noGrp="1"/>
          </p:cNvSpPr>
          <p:nvPr/>
        </p:nvSpPr>
        <p:spPr>
          <a:xfrm>
            <a:off x="3238500" y="4476750"/>
            <a:ext cx="57150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r>
              <a:rPr sz="1350" b="0">
                <a:solidFill>
                  <a:srgbClr val="EEF8F6"/>
                </a:solidFill>
                <a:latin typeface="Microsoft YaHei UI" panose="020B0503020204020204" charset="-122"/>
                <a:ea typeface="Microsoft YaHei UI" panose="020B0503020204020204" charset="-122"/>
                <a:cs typeface="Microsoft YaHei UI" panose="020B0503020204020204" charset="-122"/>
              </a:rPr>
              <a:t>课程/项目名称 · 学术竞赛汇报</a:t>
            </a: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
        <p:nvSpPr>
          <p:cNvPr id="11" name="圆角矩形 10"/>
          <p:cNvSpPr>
            <a:spLocks noGrp="1"/>
          </p:cNvSpPr>
          <p:nvPr/>
        </p:nvSpPr>
        <p:spPr>
          <a:xfrm>
            <a:off x="3143250" y="4838700"/>
            <a:ext cx="5905500" cy="323850"/>
          </a:xfrm>
          <a:prstGeom prst="roundRect">
            <a:avLst>
              <a:gd name="adj" fmla="val 23529"/>
            </a:avLst>
          </a:prstGeom>
          <a:solidFill>
            <a:srgbClr val="0A4A4B"/>
          </a:solidFill>
          <a:ln w="9525">
            <a:solidFill>
              <a:srgbClr val="2B8280"/>
            </a:solidFill>
            <a:prstDash val="solid"/>
          </a:ln>
        </p:spPr>
        <p:txBody>
          <a:bodyPr/>
          <a:p/>
        </p:txBody>
      </p:sp>
      <p:sp>
        <p:nvSpPr>
          <p:cNvPr id="12" name="矩形 11"/>
          <p:cNvSpPr>
            <a:spLocks noGrp="1"/>
          </p:cNvSpPr>
          <p:nvPr/>
        </p:nvSpPr>
        <p:spPr>
          <a:xfrm>
            <a:off x="3238500" y="4895850"/>
            <a:ext cx="5715000" cy="209550"/>
          </a:xfrm>
          <a:prstGeom prst="rect">
            <a:avLst/>
          </a:prstGeom>
          <a:solidFill>
            <a:srgbClr val="000000">
              <a:alpha val="0"/>
            </a:srgbClr>
          </a:solidFill>
          <a:ln w="0">
            <a:solidFill>
              <a:srgbClr val="000000">
                <a:alpha val="0"/>
              </a:srgbClr>
            </a:solidFill>
            <a:prstDash val="solid"/>
          </a:ln>
        </p:spPr>
        <p:txBody>
          <a:bodyPr lIns="76200" tIns="38100" rIns="76200" bIns="38100" anchor="t"/>
          <a:lstStyle/>
          <a:p>
            <a:pPr algn="ctr">
              <a:defRPr sz="1350" b="0">
                <a:solidFill>
                  <a:srgbClr val="EEF8F6"/>
                </a:solidFill>
                <a:latin typeface="Microsoft YaHei UI" panose="020B0503020204020204" charset="-122"/>
                <a:ea typeface="Microsoft YaHei UI" panose="020B0503020204020204" charset="-122"/>
                <a:cs typeface="Microsoft YaHei UI" panose="020B0503020204020204" charset="-122"/>
              </a:defRPr>
            </a:pPr>
            <a:r>
              <a:rPr sz="1350" b="0">
                <a:solidFill>
                  <a:srgbClr val="EEF8F6"/>
                </a:solidFill>
                <a:latin typeface="Microsoft YaHei UI" panose="020B0503020204020204" charset="-122"/>
                <a:ea typeface="Microsoft YaHei UI" panose="020B0503020204020204" charset="-122"/>
                <a:cs typeface="Microsoft YaHei UI" panose="020B0503020204020204" charset="-122"/>
              </a:rPr>
              <a:t>欢迎围绕变量构造、识别策略与治理模拟提出建议</a:t>
            </a:r>
            <a:endParaRPr sz="1350" b="0">
              <a:solidFill>
                <a:srgbClr val="EEF8F6"/>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14010</Words>
  <Application>WPS 演示</Application>
  <PresentationFormat>宽屏</PresentationFormat>
  <Paragraphs>2195</Paragraphs>
  <Slides>42</Slides>
  <Notes>42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42</vt:i4>
      </vt:variant>
    </vt:vector>
  </HeadingPairs>
  <TitlesOfParts>
    <vt:vector size="51" baseType="lpstr">
      <vt:lpstr>Arial</vt:lpstr>
      <vt:lpstr>宋体</vt:lpstr>
      <vt:lpstr>Wingdings</vt:lpstr>
      <vt:lpstr>Microsoft YaHei UI</vt:lpstr>
      <vt:lpstr>思源宋体 CN Heavy</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今天的海风甚是喧嚣</cp:lastModifiedBy>
  <cp:revision>6</cp:revision>
  <dcterms:created xsi:type="dcterms:W3CDTF">2026-06-05T05:40:00Z</dcterms:created>
  <dcterms:modified xsi:type="dcterms:W3CDTF">2026-06-05T16:47:58Z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9B229C5070ED4AD5ADC7ABD64F3E765C_13</vt:lpwstr>
  </property>
  <property fmtid="{D5CDD505-2E9C-101B-9397-08002B2CF9AE}" pid="3" name="KSOProductBuildVer">
    <vt:lpwstr>2052-12.1.0.26895</vt:lpwstr>
  </property>
</Properties>
</file>